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6BF80-35E3-45DD-ACFC-573E5D11392C}" v="8" dt="2026-08-04T21:42:44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84" y="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Tiffany M Capt USAF USAFA DF/DFCS" userId="a0ed988f-3bd3-448a-ab68-f6eca8eadb00" providerId="ADAL" clId="{D74FDB2A-C6F9-423C-9DA7-5C8A44CC196C}"/>
    <pc:docChg chg="undo custSel modSld">
      <pc:chgData name="Phan, Tiffany M Capt USAF USAFA DF/DFCS" userId="a0ed988f-3bd3-448a-ab68-f6eca8eadb00" providerId="ADAL" clId="{D74FDB2A-C6F9-423C-9DA7-5C8A44CC196C}" dt="2026-08-04T21:43:43.036" v="302" actId="20577"/>
      <pc:docMkLst>
        <pc:docMk/>
      </pc:docMkLst>
      <pc:sldChg chg="addSp modSp mod">
        <pc:chgData name="Phan, Tiffany M Capt USAF USAFA DF/DFCS" userId="a0ed988f-3bd3-448a-ab68-f6eca8eadb00" providerId="ADAL" clId="{D74FDB2A-C6F9-423C-9DA7-5C8A44CC196C}" dt="2026-08-04T21:40:52.147" v="158" actId="27636"/>
        <pc:sldMkLst>
          <pc:docMk/>
          <pc:sldMk cId="0" sldId="256"/>
        </pc:sldMkLst>
        <pc:spChg chg="mod">
          <ac:chgData name="Phan, Tiffany M Capt USAF USAFA DF/DFCS" userId="a0ed988f-3bd3-448a-ab68-f6eca8eadb00" providerId="ADAL" clId="{D74FDB2A-C6F9-423C-9DA7-5C8A44CC196C}" dt="2026-08-04T21:40:52.147" v="158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07:31.110" v="9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35" v="154" actId="276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35" v="156" actId="2763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35" v="155" actId="2763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20" v="152" actId="2763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33" v="153" actId="2763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47" v="157" actId="2763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07:39.044" v="18" actId="20577"/>
          <ac:spMkLst>
            <pc:docMk/>
            <pc:sldMk cId="0" sldId="256"/>
            <ac:spMk id="26" creationId="{00000000-0000-0000-0000-000000000000}"/>
          </ac:spMkLst>
        </pc:spChg>
        <pc:picChg chg="add mod">
          <ac:chgData name="Phan, Tiffany M Capt USAF USAFA DF/DFCS" userId="a0ed988f-3bd3-448a-ab68-f6eca8eadb00" providerId="ADAL" clId="{D74FDB2A-C6F9-423C-9DA7-5C8A44CC196C}" dt="2026-08-04T21:08:47.999" v="30" actId="1076"/>
          <ac:picMkLst>
            <pc:docMk/>
            <pc:sldMk cId="0" sldId="256"/>
            <ac:picMk id="29" creationId="{34E350E8-585C-BB14-A76C-FEE690A8DA55}"/>
          </ac:picMkLst>
        </pc:picChg>
      </pc:sldChg>
      <pc:sldChg chg="modSp mod">
        <pc:chgData name="Phan, Tiffany M Capt USAF USAFA DF/DFCS" userId="a0ed988f-3bd3-448a-ab68-f6eca8eadb00" providerId="ADAL" clId="{D74FDB2A-C6F9-423C-9DA7-5C8A44CC196C}" dt="2026-08-04T21:40:52.169" v="161" actId="27636"/>
        <pc:sldMkLst>
          <pc:docMk/>
          <pc:sldMk cId="0" sldId="257"/>
        </pc:sldMkLst>
        <pc:spChg chg="mod">
          <ac:chgData name="Phan, Tiffany M Capt USAF USAFA DF/DFCS" userId="a0ed988f-3bd3-448a-ab68-f6eca8eadb00" providerId="ADAL" clId="{D74FDB2A-C6F9-423C-9DA7-5C8A44CC196C}" dt="2026-08-04T21:40:52.160" v="159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08:56.947" v="31" actId="179"/>
          <ac:spMkLst>
            <pc:docMk/>
            <pc:sldMk cId="0" sldId="257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60" v="160" actId="276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69" v="161" actId="27636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183" v="162" actId="27636"/>
        <pc:sldMkLst>
          <pc:docMk/>
          <pc:sldMk cId="0" sldId="258"/>
        </pc:sldMkLst>
        <pc:spChg chg="mod">
          <ac:chgData name="Phan, Tiffany M Capt USAF USAFA DF/DFCS" userId="a0ed988f-3bd3-448a-ab68-f6eca8eadb00" providerId="ADAL" clId="{D74FDB2A-C6F9-423C-9DA7-5C8A44CC196C}" dt="2026-08-04T21:40:52.183" v="162" actId="27636"/>
          <ac:spMkLst>
            <pc:docMk/>
            <pc:sldMk cId="0" sldId="258"/>
            <ac:spMk id="5" creationId="{00000000-0000-0000-0000-000000000000}"/>
          </ac:spMkLst>
        </pc:spChg>
        <pc:spChg chg="ord">
          <ac:chgData name="Phan, Tiffany M Capt USAF USAFA DF/DFCS" userId="a0ed988f-3bd3-448a-ab68-f6eca8eadb00" providerId="ADAL" clId="{D74FDB2A-C6F9-423C-9DA7-5C8A44CC196C}" dt="2026-08-04T21:29:08.937" v="33" actId="170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199" v="164" actId="27636"/>
        <pc:sldMkLst>
          <pc:docMk/>
          <pc:sldMk cId="0" sldId="259"/>
        </pc:sldMkLst>
        <pc:spChg chg="mod">
          <ac:chgData name="Phan, Tiffany M Capt USAF USAFA DF/DFCS" userId="a0ed988f-3bd3-448a-ab68-f6eca8eadb00" providerId="ADAL" clId="{D74FDB2A-C6F9-423C-9DA7-5C8A44CC196C}" dt="2026-08-04T21:29:25.233" v="37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99" v="164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83" v="163" actId="276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29:32.619" v="39" actId="12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238" v="165" actId="27636"/>
        <pc:sldMkLst>
          <pc:docMk/>
          <pc:sldMk cId="0" sldId="260"/>
        </pc:sldMkLst>
        <pc:spChg chg="mod">
          <ac:chgData name="Phan, Tiffany M Capt USAF USAFA DF/DFCS" userId="a0ed988f-3bd3-448a-ab68-f6eca8eadb00" providerId="ADAL" clId="{D74FDB2A-C6F9-423C-9DA7-5C8A44CC196C}" dt="2026-08-04T21:30:01.583" v="6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38" v="165" actId="276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0:31.146" v="110" actId="1036"/>
          <ac:spMkLst>
            <pc:docMk/>
            <pc:sldMk cId="0" sldId="260"/>
            <ac:spMk id="18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262" v="172" actId="27636"/>
        <pc:sldMkLst>
          <pc:docMk/>
          <pc:sldMk cId="0" sldId="261"/>
        </pc:sldMkLst>
        <pc:spChg chg="mod">
          <ac:chgData name="Phan, Tiffany M Capt USAF USAFA DF/DFCS" userId="a0ed988f-3bd3-448a-ab68-f6eca8eadb00" providerId="ADAL" clId="{D74FDB2A-C6F9-423C-9DA7-5C8A44CC196C}" dt="2026-08-04T21:40:52.262" v="172" actId="276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62" v="170" actId="2763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62" v="169" actId="2763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47" v="166" actId="276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62" v="171" actId="2763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62" v="168" actId="2763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47" v="167" actId="27636"/>
          <ac:spMkLst>
            <pc:docMk/>
            <pc:sldMk cId="0" sldId="261"/>
            <ac:spMk id="26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313" v="182" actId="27636"/>
        <pc:sldMkLst>
          <pc:docMk/>
          <pc:sldMk cId="0" sldId="262"/>
        </pc:sldMkLst>
        <pc:spChg chg="mod">
          <ac:chgData name="Phan, Tiffany M Capt USAF USAFA DF/DFCS" userId="a0ed988f-3bd3-448a-ab68-f6eca8eadb00" providerId="ADAL" clId="{D74FDB2A-C6F9-423C-9DA7-5C8A44CC196C}" dt="2026-08-04T21:40:52.293" v="178" actId="276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93" v="179" actId="276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78" v="174" actId="2763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78" v="173" actId="2763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93" v="176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93" v="177" actId="2763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293" v="175" actId="2763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10" v="180" actId="2763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12" v="181" actId="2763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13" v="182" actId="27636"/>
          <ac:spMkLst>
            <pc:docMk/>
            <pc:sldMk cId="0" sldId="262"/>
            <ac:spMk id="34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347" v="189" actId="27636"/>
        <pc:sldMkLst>
          <pc:docMk/>
          <pc:sldMk cId="0" sldId="263"/>
        </pc:sldMkLst>
        <pc:spChg chg="mod">
          <ac:chgData name="Phan, Tiffany M Capt USAF USAFA DF/DFCS" userId="a0ed988f-3bd3-448a-ab68-f6eca8eadb00" providerId="ADAL" clId="{D74FDB2A-C6F9-423C-9DA7-5C8A44CC196C}" dt="2026-08-04T21:40:52.347" v="189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27" v="186" actId="2763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27" v="183" actId="276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27" v="185" actId="2763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27" v="184" actId="276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41" v="188" actId="2763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41" v="187" actId="2763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7:13.694" v="118" actId="27636"/>
          <ac:spMkLst>
            <pc:docMk/>
            <pc:sldMk cId="0" sldId="263"/>
            <ac:spMk id="3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7:16.414" v="119" actId="14100"/>
          <ac:spMkLst>
            <pc:docMk/>
            <pc:sldMk cId="0" sldId="263"/>
            <ac:spMk id="38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388" v="199" actId="27636"/>
        <pc:sldMkLst>
          <pc:docMk/>
          <pc:sldMk cId="0" sldId="264"/>
        </pc:sldMkLst>
        <pc:spChg chg="mod">
          <ac:chgData name="Phan, Tiffany M Capt USAF USAFA DF/DFCS" userId="a0ed988f-3bd3-448a-ab68-f6eca8eadb00" providerId="ADAL" clId="{D74FDB2A-C6F9-423C-9DA7-5C8A44CC196C}" dt="2026-08-04T21:40:52.361" v="190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61" v="192" actId="2763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73" v="193" actId="2763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73" v="194" actId="2763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61" v="191" actId="2763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88" v="198" actId="2763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88" v="199" actId="2763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73" v="195" actId="2763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73" v="197" actId="2763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373" v="196" actId="27636"/>
          <ac:spMkLst>
            <pc:docMk/>
            <pc:sldMk cId="0" sldId="264"/>
            <ac:spMk id="34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411" v="200" actId="27636"/>
        <pc:sldMkLst>
          <pc:docMk/>
          <pc:sldMk cId="0" sldId="265"/>
        </pc:sldMkLst>
        <pc:spChg chg="mod">
          <ac:chgData name="Phan, Tiffany M Capt USAF USAFA DF/DFCS" userId="a0ed988f-3bd3-448a-ab68-f6eca8eadb00" providerId="ADAL" clId="{D74FDB2A-C6F9-423C-9DA7-5C8A44CC196C}" dt="2026-08-04T21:40:52.411" v="200" actId="27636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451" v="207" actId="27636"/>
        <pc:sldMkLst>
          <pc:docMk/>
          <pc:sldMk cId="0" sldId="266"/>
        </pc:sldMkLst>
        <pc:spChg chg="mod">
          <ac:chgData name="Phan, Tiffany M Capt USAF USAFA DF/DFCS" userId="a0ed988f-3bd3-448a-ab68-f6eca8eadb00" providerId="ADAL" clId="{D74FDB2A-C6F9-423C-9DA7-5C8A44CC196C}" dt="2026-08-04T21:40:52.436" v="204" actId="276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23" v="201" actId="2763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23" v="202" actId="276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51" v="207" actId="2763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45" v="205" actId="2763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47" v="206" actId="2763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23" v="203" actId="27636"/>
          <ac:spMkLst>
            <pc:docMk/>
            <pc:sldMk cId="0" sldId="266"/>
            <ac:spMk id="26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483" v="215" actId="27636"/>
        <pc:sldMkLst>
          <pc:docMk/>
          <pc:sldMk cId="0" sldId="267"/>
        </pc:sldMkLst>
        <pc:spChg chg="mod">
          <ac:chgData name="Phan, Tiffany M Capt USAF USAFA DF/DFCS" userId="a0ed988f-3bd3-448a-ab68-f6eca8eadb00" providerId="ADAL" clId="{D74FDB2A-C6F9-423C-9DA7-5C8A44CC196C}" dt="2026-08-04T21:40:52.474" v="211" actId="276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75" v="212" actId="2763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75" v="213" actId="2763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65" v="208" actId="2763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67" v="209" actId="2763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67" v="210" actId="2763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75" v="214" actId="27636"/>
          <ac:spMkLst>
            <pc:docMk/>
            <pc:sldMk cId="0" sldId="267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483" v="215" actId="27636"/>
          <ac:spMkLst>
            <pc:docMk/>
            <pc:sldMk cId="0" sldId="267"/>
            <ac:spMk id="32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531" v="216" actId="27636"/>
        <pc:sldMkLst>
          <pc:docMk/>
          <pc:sldMk cId="0" sldId="268"/>
        </pc:sldMkLst>
        <pc:spChg chg="mod">
          <ac:chgData name="Phan, Tiffany M Capt USAF USAFA DF/DFCS" userId="a0ed988f-3bd3-448a-ab68-f6eca8eadb00" providerId="ADAL" clId="{D74FDB2A-C6F9-423C-9DA7-5C8A44CC196C}" dt="2026-08-04T21:40:52.531" v="216" actId="27636"/>
          <ac:spMkLst>
            <pc:docMk/>
            <pc:sldMk cId="0" sldId="268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8:20.891" v="124" actId="1410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8:24.540" v="125" actId="14100"/>
          <ac:spMkLst>
            <pc:docMk/>
            <pc:sldMk cId="0" sldId="268"/>
            <ac:spMk id="1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38:11.649" v="123" actId="1036"/>
          <ac:spMkLst>
            <pc:docMk/>
            <pc:sldMk cId="0" sldId="268"/>
            <ac:spMk id="16" creationId="{00000000-0000-0000-0000-000000000000}"/>
          </ac:spMkLst>
        </pc:spChg>
      </pc:sldChg>
      <pc:sldChg chg="addSp modSp mod">
        <pc:chgData name="Phan, Tiffany M Capt USAF USAFA DF/DFCS" userId="a0ed988f-3bd3-448a-ab68-f6eca8eadb00" providerId="ADAL" clId="{D74FDB2A-C6F9-423C-9DA7-5C8A44CC196C}" dt="2026-08-04T21:41:41.015" v="281" actId="1036"/>
        <pc:sldMkLst>
          <pc:docMk/>
          <pc:sldMk cId="0" sldId="269"/>
        </pc:sldMkLst>
        <pc:spChg chg="mod">
          <ac:chgData name="Phan, Tiffany M Capt USAF USAFA DF/DFCS" userId="a0ed988f-3bd3-448a-ab68-f6eca8eadb00" providerId="ADAL" clId="{D74FDB2A-C6F9-423C-9DA7-5C8A44CC196C}" dt="2026-08-04T21:41:20.299" v="226" actId="1037"/>
          <ac:spMkLst>
            <pc:docMk/>
            <pc:sldMk cId="0" sldId="269"/>
            <ac:spMk id="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1.981" v="130" actId="27636"/>
          <ac:spMkLst>
            <pc:docMk/>
            <pc:sldMk cId="0" sldId="269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1.977" v="129" actId="2763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1.997" v="135" actId="276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1.982" v="131" actId="2763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1.993" v="134" actId="2763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0.267" v="127" actId="1076"/>
          <ac:spMkLst>
            <pc:docMk/>
            <pc:sldMk cId="0" sldId="269"/>
            <ac:spMk id="2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3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3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29.773" v="251" actId="1037"/>
          <ac:spMkLst>
            <pc:docMk/>
            <pc:sldMk cId="0" sldId="269"/>
            <ac:spMk id="33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29.773" v="251" actId="1037"/>
          <ac:spMkLst>
            <pc:docMk/>
            <pc:sldMk cId="0" sldId="269"/>
            <ac:spMk id="3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1:41.015" v="281" actId="1036"/>
          <ac:spMkLst>
            <pc:docMk/>
            <pc:sldMk cId="0" sldId="269"/>
            <ac:spMk id="36" creationId="{00000000-0000-0000-0000-000000000000}"/>
          </ac:spMkLst>
        </pc:spChg>
        <pc:spChg chg="add mod">
          <ac:chgData name="Phan, Tiffany M Capt USAF USAFA DF/DFCS" userId="a0ed988f-3bd3-448a-ab68-f6eca8eadb00" providerId="ADAL" clId="{D74FDB2A-C6F9-423C-9DA7-5C8A44CC196C}" dt="2026-08-04T21:41:00.106" v="217" actId="1076"/>
          <ac:spMkLst>
            <pc:docMk/>
            <pc:sldMk cId="0" sldId="269"/>
            <ac:spMk id="38" creationId="{52247C5B-64E7-668F-4DEE-49649F0D6715}"/>
          </ac:spMkLst>
        </pc:spChg>
      </pc:sldChg>
      <pc:sldChg chg="modSp mod modAnim">
        <pc:chgData name="Phan, Tiffany M Capt USAF USAFA DF/DFCS" userId="a0ed988f-3bd3-448a-ab68-f6eca8eadb00" providerId="ADAL" clId="{D74FDB2A-C6F9-423C-9DA7-5C8A44CC196C}" dt="2026-08-04T21:42:56.980" v="293" actId="27636"/>
        <pc:sldMkLst>
          <pc:docMk/>
          <pc:sldMk cId="0" sldId="270"/>
        </pc:sldMkLst>
        <pc:spChg chg="mod">
          <ac:chgData name="Phan, Tiffany M Capt USAF USAFA DF/DFCS" userId="a0ed988f-3bd3-448a-ab68-f6eca8eadb00" providerId="ADAL" clId="{D74FDB2A-C6F9-423C-9DA7-5C8A44CC196C}" dt="2026-08-04T21:40:52.047" v="137" actId="27636"/>
          <ac:spMkLst>
            <pc:docMk/>
            <pc:sldMk cId="0" sldId="270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2:56.980" v="292" actId="2763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2:56.980" v="293" actId="2763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2:56.904" v="291" actId="14100"/>
          <ac:spMkLst>
            <pc:docMk/>
            <pc:sldMk cId="0" sldId="270"/>
            <ac:spMk id="18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0:52.099" v="149" actId="27636"/>
        <pc:sldMkLst>
          <pc:docMk/>
          <pc:sldMk cId="0" sldId="271"/>
        </pc:sldMkLst>
        <pc:spChg chg="mod">
          <ac:chgData name="Phan, Tiffany M Capt USAF USAFA DF/DFCS" userId="a0ed988f-3bd3-448a-ab68-f6eca8eadb00" providerId="ADAL" clId="{D74FDB2A-C6F9-423C-9DA7-5C8A44CC196C}" dt="2026-08-04T21:40:52.088" v="148" actId="27636"/>
          <ac:spMkLst>
            <pc:docMk/>
            <pc:sldMk cId="0" sldId="271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0" actId="2763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2" actId="2763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39" actId="2763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66" v="138" actId="2763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1" actId="27636"/>
          <ac:spMkLst>
            <pc:docMk/>
            <pc:sldMk cId="0" sldId="271"/>
            <ac:spMk id="24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99" v="149" actId="2763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4" actId="2763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88" v="146" actId="27636"/>
          <ac:spMkLst>
            <pc:docMk/>
            <pc:sldMk cId="0" sldId="271"/>
            <ac:spMk id="29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88" v="147" actId="27636"/>
          <ac:spMkLst>
            <pc:docMk/>
            <pc:sldMk cId="0" sldId="271"/>
            <ac:spMk id="3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3" actId="2763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072" v="145" actId="27636"/>
          <ac:spMkLst>
            <pc:docMk/>
            <pc:sldMk cId="0" sldId="271"/>
            <ac:spMk id="32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4T21:43:43.036" v="302" actId="20577"/>
        <pc:sldMkLst>
          <pc:docMk/>
          <pc:sldMk cId="0" sldId="272"/>
        </pc:sldMkLst>
        <pc:spChg chg="mod">
          <ac:chgData name="Phan, Tiffany M Capt USAF USAFA DF/DFCS" userId="a0ed988f-3bd3-448a-ab68-f6eca8eadb00" providerId="ADAL" clId="{D74FDB2A-C6F9-423C-9DA7-5C8A44CC196C}" dt="2026-08-04T21:43:21.367" v="299" actId="20577"/>
          <ac:spMkLst>
            <pc:docMk/>
            <pc:sldMk cId="0" sldId="272"/>
            <ac:spMk id="5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0:52.120" v="151" actId="2763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Phan, Tiffany M Capt USAF USAFA DF/DFCS" userId="a0ed988f-3bd3-448a-ab68-f6eca8eadb00" providerId="ADAL" clId="{D74FDB2A-C6F9-423C-9DA7-5C8A44CC196C}" dt="2026-08-04T21:43:43.036" v="302" actId="20577"/>
          <ac:spMkLst>
            <pc:docMk/>
            <pc:sldMk cId="0" sldId="272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73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connecting to Lesson 1: fluent AI outputs require evaluation. Lesson 2 explains where those outputs come from and why reliability is a system-level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recall Lesson 1. Push them toward data, preprocessing, model choice, rules, evaluation, and human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directly to the syllabus lesson objectives. Emphasize that this lesson is conceptual and architectural, not a detailed algorithm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distinction. Keep returning to it: system reliability includes data, representation, method selection, evaluation, and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drone scenario as the running example. Ask students to generate inputs before revealing the whole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the anchor diagram for the lesson. Do not overload it with details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raw available data from appropriate system input. Ask what the drone planner would need before it recommends a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previews problem formulation without teaching Lesson 4 yet. Use examples: maps become graphs, prompts become tokens, uncertainty becomes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high level. Avoid algorithm detail. Students should be able to classify which method family belongs in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notice that inputs, internal representations, methods, outputs, and evaluation all appear across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distinction: a prediction says what may be true; a decision chooses what to do; an action changes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explicitly to Lesson 1. In higher-stakes systems, guardrails are not optional polish; they are part of the system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separate output from action. Use examples: recommending a movie versus rerouting a drone.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the pipeline as a loop, not a one-time computation. This previews model drift, monitoring, and data collection later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as a small-group activity. The point is not one perfect answer; it is learning to localize system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reconstruct the pipeline aloud. Emphasize that the course will revisit each stage in increasing technical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as an exit ticket or use as the first question next lesson. Preview Lesson 3 as experimentation with system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B515"/>
                </a:solidFill>
              </a:rPr>
              <a:t>CompSci 471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12471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062B49"/>
                </a:solidFill>
              </a:rPr>
              <a:t>Artificial Intelligence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49808" y="1874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B3440"/>
                </a:solidFill>
              </a:rPr>
              <a:t>Lesson 2: Anatomy of AI Systems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505456"/>
            <a:ext cx="5440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5E93"/>
                </a:solidFill>
              </a:rPr>
              <a:t>From input  </a:t>
            </a:r>
            <a:br>
              <a:rPr lang="en-US" sz="2000" b="1" dirty="0">
                <a:solidFill>
                  <a:srgbClr val="1D5E93"/>
                </a:solidFill>
              </a:rPr>
            </a:br>
            <a:r>
              <a:rPr lang="en-US" sz="2000" b="1" dirty="0">
                <a:solidFill>
                  <a:srgbClr val="1D5E93"/>
                </a:solidFill>
              </a:rPr>
              <a:t>	→  computation  </a:t>
            </a:r>
            <a:br>
              <a:rPr lang="en-US" sz="2000" b="1" dirty="0">
                <a:solidFill>
                  <a:srgbClr val="1D5E93"/>
                </a:solidFill>
              </a:rPr>
            </a:br>
            <a:r>
              <a:rPr lang="en-US" sz="2000" b="1" dirty="0">
                <a:solidFill>
                  <a:srgbClr val="1D5E93"/>
                </a:solidFill>
              </a:rPr>
              <a:t>		→  decision  </a:t>
            </a:r>
            <a:br>
              <a:rPr lang="en-US" sz="2000" b="1" dirty="0">
                <a:solidFill>
                  <a:srgbClr val="1D5E93"/>
                </a:solidFill>
              </a:rPr>
            </a:br>
            <a:r>
              <a:rPr lang="en-US" sz="2000" b="1" dirty="0">
                <a:solidFill>
                  <a:srgbClr val="1D5E93"/>
                </a:solidFill>
              </a:rPr>
              <a:t>			→  evaluation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67712" y="42428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96512" y="42428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25312" y="42428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54112" y="42428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42428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5420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968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3708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256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96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544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0284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832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857232" y="40690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12096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60920" y="1508760"/>
            <a:ext cx="3931920" cy="1417320"/>
          </a:xfrm>
          <a:prstGeom prst="rect">
            <a:avLst/>
          </a:prstGeom>
          <a:solidFill>
            <a:srgbClr val="FFE6A5"/>
          </a:solidFill>
          <a:ln>
            <a:solidFill>
              <a:srgbClr val="FFE6A5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2B49"/>
                </a:solidFill>
              </a:rPr>
              <a:t>Look under the hood before trusting the output.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49808" y="6236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F"/>
                </a:solidFill>
              </a:rPr>
              <a:t>Fall 2026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4E350E8-585C-BB14-A76C-FEE690A8DA55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warm-up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Lesson 1 ended with trust. Lesson 2 starts with system anatomy.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3794760" cy="960120"/>
          </a:xfrm>
          <a:prstGeom prst="rect">
            <a:avLst/>
          </a:prstGeom>
          <a:solidFill>
            <a:srgbClr val="062B49"/>
          </a:solidFill>
          <a:ln w="13970">
            <a:solidFill>
              <a:srgbClr val="062B49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</a:rPr>
              <a:t>An AI system gives a convincing answer.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4828032" y="2139696"/>
            <a:ext cx="731520" cy="347472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0" y="1719072"/>
            <a:ext cx="5440680" cy="1170432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117475" algn="ctr">
              <a:buNone/>
            </a:pPr>
            <a:r>
              <a:rPr lang="en-US" sz="2400" b="1" dirty="0">
                <a:solidFill>
                  <a:srgbClr val="1B2430"/>
                </a:solidFill>
              </a:rPr>
              <a:t>Before trusting it, what would you want to know about what happened behind the interface?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4069080"/>
            <a:ext cx="242316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What information went in?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3794760" y="4069080"/>
            <a:ext cx="242316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How was it represented?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583680" y="4069080"/>
            <a:ext cx="242316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What method produced the answer?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9372600" y="4069080"/>
            <a:ext cx="242316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What checks happened before action?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960120" y="5376672"/>
            <a:ext cx="10149840" cy="658368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Think-pair-share: name one invisible part of the system that could change the output.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24712" y="2450592"/>
            <a:ext cx="0" cy="233172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By the end of Lesson 2, students should be able to…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72768" y="1856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Identify the major components of an AI system pipeline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72768" y="30906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Explain how inputs are transformed into outputs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72768" y="432511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</a:rPr>
              <a:t>Relate search, learning, and inference to system components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0149840" cy="502920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Main idea: the model is only one part of the system.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model is not the whole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 model can generate an output; a system decides what the output means.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2788920" cy="914400"/>
          </a:xfrm>
          <a:prstGeom prst="rect">
            <a:avLst/>
          </a:prstGeom>
          <a:solidFill>
            <a:srgbClr val="062B49"/>
          </a:solidFill>
          <a:ln w="13970">
            <a:solidFill>
              <a:srgbClr val="062B49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AI model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3200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1B2430"/>
                </a:solidFill>
              </a:rPr>
              <a:t>The computational component that maps some representation to a prediction, route, label, score, or text.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251960" y="2331720"/>
            <a:ext cx="658368" cy="347472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0" y="1874520"/>
            <a:ext cx="5166360" cy="1234440"/>
          </a:xfrm>
          <a:prstGeom prst="rect">
            <a:avLst/>
          </a:prstGeom>
          <a:solidFill>
            <a:srgbClr val="FFE6A5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2B49"/>
                </a:solidFill>
              </a:rPr>
              <a:t>AI system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737860" y="3259410"/>
            <a:ext cx="4663440" cy="113045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B2430"/>
                </a:solidFill>
              </a:rPr>
              <a:t>Collects and prepares inputs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B2430"/>
                </a:solidFill>
              </a:rPr>
              <a:t>Runs one or more AI methods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B2430"/>
                </a:solidFill>
              </a:rPr>
              <a:t>Applies rules, thresholds, and guardrails</a:t>
            </a: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B2430"/>
                </a:solidFill>
              </a:rPr>
              <a:t>Supports a human or automated action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" y="5532120"/>
            <a:ext cx="10195560" cy="640080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Reliable AI depends on the entire pipeline, not just the intelligence of the model.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Running scenario: drone route planning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How does a messy mission become a recommended route?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804343"/>
            <a:ext cx="5166360" cy="1142999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430"/>
                </a:solidFill>
              </a:rPr>
              <a:t>Mission: get a drone from launch point to target location without violating constraints.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3255687"/>
            <a:ext cx="150876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Terrain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2651760" y="3255687"/>
            <a:ext cx="150876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Weather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4434840" y="3255687"/>
            <a:ext cx="150876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No-fly zones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868680" y="3822615"/>
            <a:ext cx="150876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Battery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2651760" y="3822615"/>
            <a:ext cx="150876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Goal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4434840" y="3822615"/>
            <a:ext cx="150876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Risk limits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6309360" y="3153404"/>
            <a:ext cx="777240" cy="420624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2520980"/>
            <a:ext cx="3246120" cy="1783080"/>
          </a:xfrm>
          <a:prstGeom prst="rect">
            <a:avLst/>
          </a:prstGeom>
          <a:solidFill>
            <a:srgbClr val="EAF4EE"/>
          </a:solidFill>
          <a:ln w="13970">
            <a:solidFill>
              <a:srgbClr val="1D7A5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Recommended route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+ explanation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+ confidence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062B49"/>
                </a:solidFill>
              </a:rPr>
              <a:t>+ constraints checked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5840" y="5349240"/>
            <a:ext cx="10104120" cy="658368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Question: what information would be dangerous to omit?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AI system pipeline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 reusable map for understanding almost any AI system.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24140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24140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24140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24140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241401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AI 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224028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94360" y="17556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06F"/>
                </a:solidFill>
              </a:rPr>
              <a:t>Raw world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16752" y="17556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06F"/>
                </a:solidFill>
              </a:rPr>
              <a:t>Candidate decision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51560" y="3703320"/>
            <a:ext cx="10012680" cy="1371600"/>
          </a:xfrm>
          <a:prstGeom prst="arc">
            <a:avLst/>
          </a:prstGeom>
          <a:noFill/>
          <a:ln w="2540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331720" y="4590288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5E93"/>
                </a:solidFill>
              </a:rPr>
              <a:t>Feedback and monitoring: observe outcomes, detect failures, adjust future behavior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55961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We will build this pipeline one stage at a time.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1: Inputs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AI systems begin with data, goals, constraints, and instructions.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279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" y="2971800"/>
            <a:ext cx="2240280" cy="530352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Sensor data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6112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20" dirty="0">
                <a:solidFill>
                  <a:srgbClr val="1B2430"/>
                </a:solidFill>
              </a:rPr>
              <a:t>location, images, radar, telemetry</a:t>
            </a:r>
            <a:endParaRPr lang="en-US" sz="1620" dirty="0"/>
          </a:p>
        </p:txBody>
      </p:sp>
      <p:sp>
        <p:nvSpPr>
          <p:cNvPr id="29" name="Text 27"/>
          <p:cNvSpPr/>
          <p:nvPr/>
        </p:nvSpPr>
        <p:spPr>
          <a:xfrm>
            <a:off x="3611880" y="2971800"/>
            <a:ext cx="2240280" cy="530352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Human input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85032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20" dirty="0">
                <a:solidFill>
                  <a:srgbClr val="1B2430"/>
                </a:solidFill>
              </a:rPr>
              <a:t>goals, prompts, tasking</a:t>
            </a:r>
            <a:endParaRPr lang="en-US" sz="1620" dirty="0"/>
          </a:p>
        </p:txBody>
      </p:sp>
      <p:sp>
        <p:nvSpPr>
          <p:cNvPr id="31" name="Text 29"/>
          <p:cNvSpPr/>
          <p:nvPr/>
        </p:nvSpPr>
        <p:spPr>
          <a:xfrm>
            <a:off x="6400800" y="2971800"/>
            <a:ext cx="2240280" cy="530352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Databases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73952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20" dirty="0">
                <a:solidFill>
                  <a:srgbClr val="1B2430"/>
                </a:solidFill>
              </a:rPr>
              <a:t>maps, rules, prior cases</a:t>
            </a:r>
            <a:endParaRPr lang="en-US" sz="1620" dirty="0"/>
          </a:p>
        </p:txBody>
      </p:sp>
      <p:sp>
        <p:nvSpPr>
          <p:cNvPr id="33" name="Text 31"/>
          <p:cNvSpPr/>
          <p:nvPr/>
        </p:nvSpPr>
        <p:spPr>
          <a:xfrm>
            <a:off x="9189720" y="2971800"/>
            <a:ext cx="2240280" cy="530352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Constraints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262872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20" dirty="0">
                <a:solidFill>
                  <a:srgbClr val="1B2430"/>
                </a:solidFill>
              </a:rPr>
              <a:t>time, safety, policy, resources</a:t>
            </a:r>
            <a:endParaRPr lang="en-US" sz="1620" dirty="0"/>
          </a:p>
        </p:txBody>
      </p:sp>
      <p:sp>
        <p:nvSpPr>
          <p:cNvPr id="35" name="Text 33"/>
          <p:cNvSpPr/>
          <p:nvPr/>
        </p:nvSpPr>
        <p:spPr>
          <a:xfrm>
            <a:off x="914400" y="5321808"/>
            <a:ext cx="10195560" cy="65836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Available data is not always relevant, correct, current, or sufficient.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2: Representation and processing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Raw information must become something the system can compute with.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279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" y="2743200"/>
            <a:ext cx="123444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</a:rPr>
              <a:t>Text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43584" y="3364992"/>
            <a:ext cx="384048" cy="411480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005072"/>
            <a:ext cx="1234440" cy="493776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tokens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035808" y="2743200"/>
            <a:ext cx="123444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</a:rPr>
              <a:t>Map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456432" y="3364992"/>
            <a:ext cx="384048" cy="411480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35808" y="4005072"/>
            <a:ext cx="1234440" cy="493776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graph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48656" y="2743200"/>
            <a:ext cx="123444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</a:rPr>
              <a:t>Mission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669280" y="3364992"/>
            <a:ext cx="384048" cy="411480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01767" y="4005072"/>
            <a:ext cx="1808385" cy="493776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state + actions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61504" y="2743200"/>
            <a:ext cx="123444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</a:rPr>
              <a:t>Evidence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882128" y="3364992"/>
            <a:ext cx="384048" cy="411480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84311" y="4005072"/>
            <a:ext cx="1481327" cy="493776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probabilities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674352" y="2743200"/>
            <a:ext cx="1234440" cy="493776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</a:rPr>
              <a:t>Images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94976" y="3364992"/>
            <a:ext cx="384048" cy="411480"/>
          </a:xfrm>
          <a:prstGeom prst="down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74352" y="4005072"/>
            <a:ext cx="1234440" cy="493776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features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4400" y="5440680"/>
            <a:ext cx="10195560" cy="566928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Representation choices can make a problem easy, hard, or impossible to solve well.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3: The AI method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Different problems call for different engines.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279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4400" y="2743200"/>
            <a:ext cx="2743200" cy="566928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2B49"/>
                </a:solidFill>
              </a:rPr>
              <a:t>Search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24128" y="3566160"/>
            <a:ext cx="25146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1B2430"/>
                </a:solidFill>
              </a:rPr>
              <a:t>Find a path or sequence of actions.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24128" y="4315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1606F"/>
                </a:solidFill>
              </a:rPr>
              <a:t>route planning, scheduling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617720" y="2743200"/>
            <a:ext cx="2743200" cy="566928"/>
          </a:xfrm>
          <a:prstGeom prst="rect">
            <a:avLst/>
          </a:prstGeom>
          <a:solidFill>
            <a:srgbClr val="EAF4EE"/>
          </a:solidFill>
          <a:ln w="13970">
            <a:solidFill>
              <a:srgbClr val="1D7A5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2B49"/>
                </a:solidFill>
              </a:rPr>
              <a:t>Learning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727448" y="3566160"/>
            <a:ext cx="25146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1B2430"/>
                </a:solidFill>
              </a:rPr>
              <a:t>Find patterns from examples.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4727448" y="4315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1606F"/>
                </a:solidFill>
              </a:rPr>
              <a:t>classification, prediction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21040" y="2743200"/>
            <a:ext cx="2743200" cy="566928"/>
          </a:xfrm>
          <a:prstGeom prst="rect">
            <a:avLst/>
          </a:prstGeom>
          <a:solidFill>
            <a:srgbClr val="EEEAF9"/>
          </a:solidFill>
          <a:ln w="13970">
            <a:solidFill>
              <a:srgbClr val="5B4BA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2B49"/>
                </a:solidFill>
              </a:rPr>
              <a:t>Inference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430768" y="3566160"/>
            <a:ext cx="25146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1B2430"/>
                </a:solidFill>
              </a:rPr>
              <a:t>Reason from evidence under uncertainty.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8430768" y="4315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1606F"/>
                </a:solidFill>
              </a:rPr>
              <a:t>diagnosis, belief updating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914400" y="5504688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This course teaches how to choose, apply, and evaluate these methods.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pipeline, different engine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The anatomy stays similar even when the AI method changes.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847088"/>
            <a:ext cx="2514600" cy="347472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1847088"/>
            <a:ext cx="2514600" cy="347472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Input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1847088"/>
            <a:ext cx="2514600" cy="347472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AI method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1847088"/>
            <a:ext cx="2514600" cy="347472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Output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2487168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B2430"/>
                </a:solidFill>
              </a:rPr>
              <a:t>Route planner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474720" y="2487168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map + constraints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263640" y="2487168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D5E93"/>
                </a:solidFill>
              </a:rPr>
              <a:t>search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052560" y="2487168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recommended path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5800" y="3291840"/>
            <a:ext cx="2514600" cy="502920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B2430"/>
                </a:solidFill>
              </a:rPr>
              <a:t>Image classifier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474720" y="3291840"/>
            <a:ext cx="2514600" cy="502920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pixels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263640" y="3291840"/>
            <a:ext cx="2514600" cy="502920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D5E93"/>
                </a:solidFill>
              </a:rPr>
              <a:t>learning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052560" y="3291840"/>
            <a:ext cx="2514600" cy="502920"/>
          </a:xfrm>
          <a:prstGeom prst="rect">
            <a:avLst/>
          </a:prstGeom>
          <a:solidFill>
            <a:srgbClr val="F0F5FA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class label + score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85800" y="4096512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B2430"/>
                </a:solidFill>
              </a:rPr>
              <a:t>Fault diagnosis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3474720" y="4096512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symptoms + evidence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263640" y="4096512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D5E93"/>
                </a:solidFill>
              </a:rPr>
              <a:t>inference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052560" y="4096512"/>
            <a:ext cx="2514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likely cause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14400" y="5394960"/>
            <a:ext cx="10195560" cy="566928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Prompt: what changes across systems? What stays the same?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4: Outputs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An output is not automatically a decision.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279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" y="2852928"/>
            <a:ext cx="214884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label</a:t>
            </a:r>
            <a:endParaRPr lang="en-US" sz="1480" dirty="0"/>
          </a:p>
        </p:txBody>
      </p:sp>
      <p:sp>
        <p:nvSpPr>
          <p:cNvPr id="28" name="Text 26"/>
          <p:cNvSpPr/>
          <p:nvPr/>
        </p:nvSpPr>
        <p:spPr>
          <a:xfrm>
            <a:off x="3429000" y="2852928"/>
            <a:ext cx="214884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ranking</a:t>
            </a:r>
            <a:endParaRPr lang="en-US" sz="1480" dirty="0"/>
          </a:p>
        </p:txBody>
      </p:sp>
      <p:sp>
        <p:nvSpPr>
          <p:cNvPr id="29" name="Text 27"/>
          <p:cNvSpPr/>
          <p:nvPr/>
        </p:nvSpPr>
        <p:spPr>
          <a:xfrm>
            <a:off x="6035040" y="2852928"/>
            <a:ext cx="214884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route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8641080" y="2852928"/>
            <a:ext cx="214884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score</a:t>
            </a:r>
            <a:endParaRPr lang="en-US" sz="1480" dirty="0"/>
          </a:p>
        </p:txBody>
      </p:sp>
      <p:sp>
        <p:nvSpPr>
          <p:cNvPr id="31" name="Text 29"/>
          <p:cNvSpPr/>
          <p:nvPr/>
        </p:nvSpPr>
        <p:spPr>
          <a:xfrm>
            <a:off x="822960" y="3511296"/>
            <a:ext cx="214884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generated text</a:t>
            </a:r>
            <a:endParaRPr lang="en-US" sz="1480" dirty="0"/>
          </a:p>
        </p:txBody>
      </p:sp>
      <p:sp>
        <p:nvSpPr>
          <p:cNvPr id="32" name="Text 30"/>
          <p:cNvSpPr/>
          <p:nvPr/>
        </p:nvSpPr>
        <p:spPr>
          <a:xfrm>
            <a:off x="3429000" y="3511296"/>
            <a:ext cx="2148840" cy="329184"/>
          </a:xfrm>
          <a:prstGeom prst="rect">
            <a:avLst/>
          </a:prstGeom>
          <a:solidFill>
            <a:srgbClr val="FFF3CE"/>
          </a:solidFill>
          <a:ln>
            <a:solidFill>
              <a:srgbClr val="FFF3C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probability</a:t>
            </a:r>
            <a:endParaRPr lang="en-US" sz="1480" dirty="0"/>
          </a:p>
        </p:txBody>
      </p:sp>
      <p:sp>
        <p:nvSpPr>
          <p:cNvPr id="33" name="Text 31"/>
          <p:cNvSpPr/>
          <p:nvPr/>
        </p:nvSpPr>
        <p:spPr>
          <a:xfrm>
            <a:off x="6035040" y="3511296"/>
            <a:ext cx="2148840" cy="329184"/>
          </a:xfrm>
          <a:prstGeom prst="rect">
            <a:avLst/>
          </a:prstGeom>
          <a:solidFill>
            <a:srgbClr val="E6F0F8"/>
          </a:solidFill>
          <a:ln>
            <a:solidFill>
              <a:srgbClr val="E6F0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62B49"/>
                </a:solidFill>
              </a:rPr>
              <a:t>recommended action</a:t>
            </a:r>
            <a:endParaRPr lang="en-US" sz="1480" dirty="0"/>
          </a:p>
        </p:txBody>
      </p:sp>
      <p:sp>
        <p:nvSpPr>
          <p:cNvPr id="34" name="Text 32"/>
          <p:cNvSpPr/>
          <p:nvPr/>
        </p:nvSpPr>
        <p:spPr>
          <a:xfrm>
            <a:off x="1508760" y="4617720"/>
            <a:ext cx="2057400" cy="658368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2B49"/>
                </a:solidFill>
              </a:rPr>
              <a:t>Output</a:t>
            </a:r>
            <a:endParaRPr lang="en-US" sz="2500" dirty="0"/>
          </a:p>
        </p:txBody>
      </p:sp>
      <p:sp>
        <p:nvSpPr>
          <p:cNvPr id="35" name="Shape 33"/>
          <p:cNvSpPr/>
          <p:nvPr/>
        </p:nvSpPr>
        <p:spPr>
          <a:xfrm>
            <a:off x="3840480" y="4773168"/>
            <a:ext cx="731520" cy="347472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4617720"/>
            <a:ext cx="2057400" cy="658368"/>
          </a:xfrm>
          <a:prstGeom prst="rect">
            <a:avLst/>
          </a:prstGeom>
          <a:solidFill>
            <a:srgbClr val="EAF4EE"/>
          </a:solidFill>
          <a:ln w="13970">
            <a:solidFill>
              <a:srgbClr val="1D7A5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2B49"/>
                </a:solidFill>
              </a:rPr>
              <a:t>Decision</a:t>
            </a:r>
            <a:endParaRPr lang="en-US" sz="2500" dirty="0"/>
          </a:p>
        </p:txBody>
      </p:sp>
      <p:sp>
        <p:nvSpPr>
          <p:cNvPr id="37" name="Shape 35"/>
          <p:cNvSpPr/>
          <p:nvPr/>
        </p:nvSpPr>
        <p:spPr>
          <a:xfrm>
            <a:off x="7223760" y="4773168"/>
            <a:ext cx="731520" cy="347472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75320" y="4617720"/>
            <a:ext cx="2057400" cy="658368"/>
          </a:xfrm>
          <a:prstGeom prst="rect">
            <a:avLst/>
          </a:prstGeom>
          <a:solidFill>
            <a:srgbClr val="FFE6A5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2B49"/>
                </a:solidFill>
              </a:rPr>
              <a:t>Action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5: Evaluation and guardrails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The system must decide whether the output is good enough to use.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1837944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2794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1664208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86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Validation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868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Does it satisfy known facts?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5720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Thresholds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Is confidence high enough?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27532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6403A"/>
                </a:solidFill>
              </a:rPr>
              <a:t>Constraints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7532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Does it violate rules or safety limits?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6868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Human review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68680" y="4270248"/>
            <a:ext cx="2560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Should a person approve?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457200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Fallback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572000" y="4270248"/>
            <a:ext cx="2560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B2430"/>
                </a:solidFill>
              </a:rPr>
              <a:t>What happens if it fails?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14400" y="5486400"/>
            <a:ext cx="10195560" cy="56692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Lesson 1 rule: outputs must be evaluated, not blindly trusted.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recommendation to action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The higher the stakes, the stronger the safeguards.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246120" cy="1005840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Prediction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“Obstacle likely ahead.”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977640" y="2176272"/>
            <a:ext cx="685800" cy="384048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2880360" cy="1005840"/>
          </a:xfrm>
          <a:prstGeom prst="rect">
            <a:avLst/>
          </a:prstGeom>
          <a:solidFill>
            <a:srgbClr val="EAF4EE"/>
          </a:solidFill>
          <a:ln w="13970">
            <a:solidFill>
              <a:srgbClr val="1D7A5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Decision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“Reroute is preferred.”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01000" y="2176272"/>
            <a:ext cx="685800" cy="384048"/>
          </a:xfrm>
          <a:prstGeom prst="rightArrow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15400" y="1874520"/>
            <a:ext cx="2788920" cy="1005840"/>
          </a:xfrm>
          <a:prstGeom prst="rect">
            <a:avLst/>
          </a:prstGeom>
          <a:solidFill>
            <a:srgbClr val="FFE6A5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Action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“Change flight path.”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3730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5E93"/>
                </a:solidFill>
              </a:rPr>
              <a:t>More autonomy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88920" y="3850474"/>
            <a:ext cx="6199632" cy="5210"/>
          </a:xfrm>
          <a:prstGeom prst="line">
            <a:avLst/>
          </a:prstGeom>
          <a:noFill/>
          <a:ln w="31750">
            <a:solidFill>
              <a:srgbClr val="1D5E9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15400" y="3730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5E93"/>
                </a:solidFill>
              </a:rPr>
              <a:t>More consequence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4617720"/>
            <a:ext cx="9326880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2000" dirty="0">
                <a:solidFill>
                  <a:srgbClr val="1B2430"/>
                </a:solidFill>
              </a:rPr>
              <a:t>Low-stakes outputs may only need light checking.</a:t>
            </a:r>
            <a:endParaRPr lang="en-US" sz="2000" dirty="0"/>
          </a:p>
          <a:p>
            <a:r>
              <a:rPr lang="en-US" sz="2000" dirty="0">
                <a:solidFill>
                  <a:srgbClr val="1B2430"/>
                </a:solidFill>
              </a:rPr>
              <a:t>Operational actions require validation, constraints, and accountability.</a:t>
            </a:r>
            <a:endParaRPr lang="en-US" sz="2000" dirty="0"/>
          </a:p>
          <a:p>
            <a:r>
              <a:rPr lang="en-US" sz="2000" dirty="0">
                <a:solidFill>
                  <a:srgbClr val="1B2430"/>
                </a:solidFill>
              </a:rPr>
              <a:t>A system should know when not to act.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58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and monitoring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AI systems operate in a changing world.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2320449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2320449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2320449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2320449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2320449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2146713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234788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97280" y="3655473"/>
            <a:ext cx="1920240" cy="530352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Observe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431384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1606F"/>
                </a:solidFill>
              </a:rPr>
              <a:t>Did the action work?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776472" y="3655473"/>
            <a:ext cx="1920240" cy="530352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Detect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85032" y="431384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1606F"/>
                </a:solidFill>
              </a:rPr>
              <a:t>Did performance drift?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629400" y="3655473"/>
            <a:ext cx="1920240" cy="530352"/>
          </a:xfrm>
          <a:prstGeom prst="rect">
            <a:avLst/>
          </a:prstGeom>
          <a:solidFill>
            <a:srgbClr val="F8E7E5"/>
          </a:solidFill>
          <a:ln w="13970">
            <a:solidFill>
              <a:srgbClr val="B6403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Diagnose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37960" y="431384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1606F"/>
                </a:solidFill>
              </a:rPr>
              <a:t>Where did it fail?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457450" y="3646967"/>
            <a:ext cx="1920240" cy="530352"/>
          </a:xfrm>
          <a:prstGeom prst="rect">
            <a:avLst/>
          </a:prstGeom>
          <a:solidFill>
            <a:srgbClr val="EAF4EE"/>
          </a:solidFill>
          <a:ln w="13970">
            <a:solidFill>
              <a:srgbClr val="1D7A5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49"/>
                </a:solidFill>
              </a:rPr>
              <a:t>Improve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366010" y="4305335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1606F"/>
                </a:solidFill>
              </a:rPr>
              <a:t>What should change?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3154680" y="3948081"/>
            <a:ext cx="457200" cy="292608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97880" y="3948081"/>
            <a:ext cx="457200" cy="292608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" y="562356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62B49"/>
                </a:solidFill>
              </a:rPr>
              <a:t>Feedback is how systems catch errors, update assumptions, and remain useful over time.</a:t>
            </a:r>
            <a:endParaRPr lang="en-US" sz="210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52247C5B-64E7-668F-4DEE-49649F0D6715}"/>
              </a:ext>
            </a:extLst>
          </p:cNvPr>
          <p:cNvSpPr/>
          <p:nvPr/>
        </p:nvSpPr>
        <p:spPr>
          <a:xfrm>
            <a:off x="8769096" y="3954177"/>
            <a:ext cx="457200" cy="292608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did the failure begin?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Diagnose the pipeline stage, then propose a safeguard.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2926080" cy="420624"/>
          </a:xfrm>
          <a:prstGeom prst="rect">
            <a:avLst/>
          </a:prstGeom>
          <a:solidFill>
            <a:srgbClr val="1D5E93"/>
          </a:solidFill>
          <a:ln>
            <a:solidFill>
              <a:srgbClr val="1D5E9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Case 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578608"/>
            <a:ext cx="292608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</a:rPr>
              <a:t>A sensor reports the wrong position.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19"/>
            <a:ext cx="2926080" cy="549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Likely stage: </a:t>
            </a:r>
            <a:br>
              <a:rPr lang="en-US" sz="1700" b="1" dirty="0">
                <a:solidFill>
                  <a:srgbClr val="062B49"/>
                </a:solidFill>
              </a:rPr>
            </a:br>
            <a:r>
              <a:rPr lang="en-US" sz="1700" b="1" dirty="0">
                <a:solidFill>
                  <a:srgbClr val="062B49"/>
                </a:solidFill>
              </a:rPr>
              <a:t>Input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1874520"/>
            <a:ext cx="2926080" cy="420624"/>
          </a:xfrm>
          <a:prstGeom prst="rect">
            <a:avLst/>
          </a:prstGeom>
          <a:solidFill>
            <a:srgbClr val="FDB515"/>
          </a:solidFill>
          <a:ln>
            <a:solidFill>
              <a:srgbClr val="FDB51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B49"/>
                </a:solidFill>
              </a:rPr>
              <a:t>Case 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578608"/>
            <a:ext cx="292608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</a:rPr>
              <a:t>A map is represented without restricted airspace.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4160519"/>
            <a:ext cx="2926080" cy="549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Likely stage: </a:t>
            </a:r>
            <a:br>
              <a:rPr lang="en-US" sz="1700" b="1" dirty="0">
                <a:solidFill>
                  <a:srgbClr val="062B49"/>
                </a:solidFill>
              </a:rPr>
            </a:br>
            <a:r>
              <a:rPr lang="en-US" sz="1700" b="1" dirty="0">
                <a:solidFill>
                  <a:srgbClr val="062B49"/>
                </a:solidFill>
              </a:rPr>
              <a:t>Representation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1874520"/>
            <a:ext cx="2926080" cy="420624"/>
          </a:xfrm>
          <a:prstGeom prst="rect">
            <a:avLst/>
          </a:prstGeom>
          <a:solidFill>
            <a:srgbClr val="B6403A"/>
          </a:solidFill>
          <a:ln>
            <a:solidFill>
              <a:srgbClr val="B6403A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Case 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578608"/>
            <a:ext cx="292608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9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</a:rPr>
              <a:t>The system optimizes only speed and ignores safety.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4160519"/>
            <a:ext cx="2926080" cy="549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2B49"/>
                </a:solidFill>
              </a:rPr>
              <a:t>Likely stage: </a:t>
            </a:r>
            <a:br>
              <a:rPr lang="en-US" sz="1700" b="1" dirty="0">
                <a:solidFill>
                  <a:srgbClr val="062B49"/>
                </a:solidFill>
              </a:rPr>
            </a:br>
            <a:r>
              <a:rPr lang="en-US" sz="1700" b="1" dirty="0">
                <a:solidFill>
                  <a:srgbClr val="062B49"/>
                </a:solidFill>
              </a:rPr>
              <a:t>AI method / objective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394960"/>
            <a:ext cx="10195560" cy="65836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Group task: for one case, name one safeguard that would reduce the risk.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Synthesis: anatomy of an AI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Rebuild the pipeline from memory.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67712" y="223113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96512" y="223113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25312" y="223113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54112" y="223113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82912" y="2231136"/>
            <a:ext cx="201168" cy="310896"/>
          </a:xfrm>
          <a:prstGeom prst="rightArrow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6F0F8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Inputs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5420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3C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968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Representation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708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EEAF9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AI Method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EAF4EE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Output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284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Evaluation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57232" y="2057400"/>
            <a:ext cx="1481328" cy="667512"/>
          </a:xfrm>
          <a:prstGeom prst="roundRect">
            <a:avLst>
              <a:gd name="adj" fmla="val 9589"/>
            </a:avLst>
          </a:prstGeom>
          <a:solidFill>
            <a:srgbClr val="FFE6A5"/>
          </a:solidFill>
          <a:ln w="15240">
            <a:solidFill>
              <a:srgbClr val="1D5E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12096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2B49"/>
                </a:solidFill>
              </a:rPr>
              <a:t>Action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132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What enters?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25420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How is it encoded?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3708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What method runs?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1996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What comes out?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0284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How is it checked?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857232" y="3127248"/>
            <a:ext cx="1481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1606F"/>
                </a:solidFill>
              </a:rPr>
              <a:t>Who or what acts?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005840" y="44348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062B49"/>
                </a:solidFill>
              </a:rPr>
              <a:t>Reliable AI is a system design problem.</a:t>
            </a:r>
            <a:endParaRPr lang="en-US" sz="3500" dirty="0"/>
          </a:p>
        </p:txBody>
      </p:sp>
      <p:sp>
        <p:nvSpPr>
          <p:cNvPr id="34" name="Text 32"/>
          <p:cNvSpPr/>
          <p:nvPr/>
        </p:nvSpPr>
        <p:spPr>
          <a:xfrm>
            <a:off x="914400" y="516636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B2430"/>
                </a:solidFill>
              </a:rPr>
              <a:t>The quality of the final action depends on every stage before it.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6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1606F"/>
                </a:solidFill>
              </a:rPr>
              <a:t>Apply the pipeline to an AI system of your choice.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920240" cy="0"/>
          </a:xfrm>
          <a:prstGeom prst="line">
            <a:avLst/>
          </a:prstGeom>
          <a:noFill/>
          <a:ln w="381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1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L02: Anatomy of AI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1606F"/>
                </a:solidFill>
              </a:rPr>
              <a:t>17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4206240" cy="621792"/>
          </a:xfrm>
          <a:prstGeom prst="rect">
            <a:avLst/>
          </a:prstGeom>
          <a:solidFill>
            <a:srgbClr val="062B49"/>
          </a:solidFill>
          <a:ln w="13970">
            <a:solidFill>
              <a:srgbClr val="062B49"/>
            </a:solidFill>
          </a:ln>
        </p:spPr>
        <p:txBody>
          <a:bodyPr wrap="square" lIns="2032" tIns="2032" rIns="2032" bIns="203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Choose one AI application and identify: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2148840" cy="566928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Input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03320" y="2788920"/>
            <a:ext cx="2148840" cy="566928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AI method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2148840" cy="566928"/>
          </a:xfrm>
          <a:prstGeom prst="rect">
            <a:avLst/>
          </a:prstGeom>
          <a:solidFill>
            <a:srgbClr val="E6F0F8"/>
          </a:solidFill>
          <a:ln w="13970">
            <a:solidFill>
              <a:srgbClr val="1D5E9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Output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89720" y="2788920"/>
            <a:ext cx="2148840" cy="566928"/>
          </a:xfrm>
          <a:prstGeom prst="rect">
            <a:avLst/>
          </a:prstGeom>
          <a:solidFill>
            <a:srgbClr val="FFF3CE"/>
          </a:solidFill>
          <a:ln w="13970">
            <a:solidFill>
              <a:srgbClr val="FDB515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49"/>
                </a:solidFill>
              </a:rPr>
              <a:t>Evaluation step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4069080"/>
            <a:ext cx="10012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B2430"/>
                </a:solidFill>
              </a:rPr>
              <a:t>Example answer: “Drone route planner: terrain + constraints → search → route → check safety and no-fly-zone compliance.”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4400" y="5577840"/>
            <a:ext cx="10195560" cy="658368"/>
          </a:xfrm>
          <a:prstGeom prst="rect">
            <a:avLst/>
          </a:prstGeom>
          <a:solidFill>
            <a:srgbClr val="062B49"/>
          </a:solidFill>
          <a:ln>
            <a:solidFill>
              <a:srgbClr val="062B4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Next class: Artificial Intelligence Workshop — change inputs, observe outputs, </a:t>
            </a:r>
            <a:br>
              <a:rPr lang="en-US" sz="2000" b="1" dirty="0">
                <a:solidFill>
                  <a:srgbClr val="FFFFFF"/>
                </a:solidFill>
              </a:rPr>
            </a:br>
            <a:r>
              <a:rPr lang="en-US" sz="2000" b="1" dirty="0">
                <a:solidFill>
                  <a:srgbClr val="FFFFFF"/>
                </a:solidFill>
              </a:rPr>
              <a:t>find failures.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1614</Words>
  <Application>Microsoft Office PowerPoint</Application>
  <PresentationFormat>Widescreen</PresentationFormat>
  <Paragraphs>309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CompSci 471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471 Lesson 2 Anatomy of AI Systems</dc:title>
  <dc:subject>Lesson 2: Anatomy of AI Systems</dc:subject>
  <dc:creator>CS 471</dc:creator>
  <cp:lastModifiedBy>Phan, Tiffany M Capt USAF USAFA DF/DFCS</cp:lastModifiedBy>
  <cp:revision>1</cp:revision>
  <dcterms:created xsi:type="dcterms:W3CDTF">2026-08-04T20:32:59Z</dcterms:created>
  <dcterms:modified xsi:type="dcterms:W3CDTF">2026-08-04T21:43:52Z</dcterms:modified>
</cp:coreProperties>
</file>