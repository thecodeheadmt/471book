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1" r:id="rId9"/>
    <p:sldId id="262" r:id="rId10"/>
    <p:sldId id="260" r:id="rId11"/>
    <p:sldId id="283" r:id="rId12"/>
    <p:sldId id="263" r:id="rId13"/>
    <p:sldId id="284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2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B845A-84E6-4044-81C1-949BAB4AAF4B}" v="27" dt="2026-08-17T23:33:12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67842" autoAdjust="0"/>
  </p:normalViewPr>
  <p:slideViewPr>
    <p:cSldViewPr snapToGrid="0" snapToObjects="1">
      <p:cViewPr>
        <p:scale>
          <a:sx n="62" d="100"/>
          <a:sy n="62" d="100"/>
        </p:scale>
        <p:origin x="108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Capt USAF USAFA AW/DFCS" userId="a0ed988f-3bd3-448a-ab68-f6eca8eadb00" providerId="ADAL" clId="{D74FDB2A-C6F9-423C-9DA7-5C8A44CC196C}"/>
    <pc:docChg chg="undo redo custSel modSld">
      <pc:chgData name="Phan, Tiffany M Capt USAF USAFA AW/DFCS" userId="a0ed988f-3bd3-448a-ab68-f6eca8eadb00" providerId="ADAL" clId="{D74FDB2A-C6F9-423C-9DA7-5C8A44CC196C}" dt="2026-08-17T23:34:45.410" v="249" actId="20577"/>
      <pc:docMkLst>
        <pc:docMk/>
      </pc:docMkLst>
      <pc:sldChg chg="modNotesTx">
        <pc:chgData name="Phan, Tiffany M Capt USAF USAFA AW/DFCS" userId="a0ed988f-3bd3-448a-ab68-f6eca8eadb00" providerId="ADAL" clId="{D74FDB2A-C6F9-423C-9DA7-5C8A44CC196C}" dt="2026-08-17T23:34:45.410" v="249" actId="20577"/>
        <pc:sldMkLst>
          <pc:docMk/>
          <pc:sldMk cId="0" sldId="266"/>
        </pc:sldMkLst>
      </pc:sldChg>
      <pc:sldChg chg="modNotesTx">
        <pc:chgData name="Phan, Tiffany M Capt USAF USAFA AW/DFCS" userId="a0ed988f-3bd3-448a-ab68-f6eca8eadb00" providerId="ADAL" clId="{D74FDB2A-C6F9-423C-9DA7-5C8A44CC196C}" dt="2026-08-17T23:33:36.496" v="223" actId="400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666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connecting Lesson 4 formulation to the need for a search procedure. Emphasize that this lesson is about how the frontier controls the next state to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infer that after formulation we need a systematic exploration procedure. The key missing idea is frontier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the lesson objectives and assessment expectations. Students should understand both execution and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 single graph that will be used throughout the lesson. Students should see that the objective and frontier rule can change the selected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supports later tracing and code interpretation. Do not overcomplicate tree-search versus graph-search; focus on path reconstruction and accumulated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 from Berkeley CS188 notes. Students should understand that duplicate states and cycles affect behavior. This prepares them for UCS update rules without requiring full pseudocode.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loop visible conceptually throughout the lesson. The pop/select operation is where BFS, DFS, and UCS diverge.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982D7-56DD-B732-C8EF-7BDDB5AC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73A2D-87B2-82A9-0E3D-C95600951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CFE88-E0BB-E94A-A569-B0F74154D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 from Berkeley CS188 notes. Students should understand that the modified algorithm to the right prevents expensive computation due to cycles or infinite branches.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F49C2-BE79-E02F-2288-064753E83A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42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heart of the lesson. Students should see BFS, DFS, and UCS as variants of the same general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7F87-015A-5909-A274-1A9E1DD22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7F1D6-4F17-8661-0B59-36A109600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91170-2924-9204-C455-7C5460CF4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EBBF2-ACF8-5F12-93D5-84D10E661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42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BFS and emphasize shallowest/layered exploration. Clarify that shallowest only means fewest steps, not least total cost when edge costs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trace correctly only after seeing the physical queue mechanics. Reinforce that successor ordering matters for deterministic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first rows together, then have pairs complete one or two rows. Keep the graph simpler by hiding costs because BFS is not using </a:t>
            </a:r>
            <a:r>
              <a:rPr lang="en-US"/>
              <a:t>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assessment language: completeness, optimality, memory use, and appropriate use. Make the conditions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DFS is branch-first and uses the newest node. Use highlighted path to show how it may quickly go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addresses a common tracing error: students may know LIFO but mishandle successor ordering. Align with the course convention of alphabetical 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deterministic DFS trace. Explain that different successor ordering could produce different DFS behavior, which is why we state the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BFS. Emphasize the memory advantage and the lack of optimality. Ask whether DFS is appropriate for a safety-critical least-cost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g(n). This creates the bridge to Lesson 6, where heuristics estimate remaining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simple table before the graph trace. It helps students distinguish UCS from BFS and 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frontier update behavior. This is crucial for executing UCS correctly and for understanding why UCS finds least-cost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complete the remaining UCS trace. Emphasize the standard exam expectations: expansion order, frontier updates, final path, total cost.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strike="sngStrike" dirty="0"/>
              <a:t>[((S),0)]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</a:t>
            </a:r>
            <a:r>
              <a:rPr lang="en-US" strike="sngStrike" dirty="0"/>
              <a:t>((S,A),1)</a:t>
            </a:r>
            <a:r>
              <a:rPr lang="en-US" dirty="0"/>
              <a:t>, ((S,C),2), ((S,B),4)]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</a:t>
            </a:r>
            <a:r>
              <a:rPr lang="en-US" strike="sngStrike" dirty="0"/>
              <a:t>((S,C),2), </a:t>
            </a:r>
            <a:r>
              <a:rPr lang="en-US" dirty="0"/>
              <a:t>((S,A,D),3), ((S,B),4), ((S,A,E),6)]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</a:t>
            </a:r>
            <a:r>
              <a:rPr lang="en-US" strike="sngStrike" dirty="0"/>
              <a:t>((S,A,D),3), </a:t>
            </a:r>
            <a:r>
              <a:rPr lang="en-US" dirty="0"/>
              <a:t>((S,B,4), ((S,C,F),4), ((S,A,E),6)]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</a:t>
            </a:r>
            <a:r>
              <a:rPr lang="en-US" strike="sngStrike" dirty="0"/>
              <a:t>((S,B),4)</a:t>
            </a:r>
            <a:r>
              <a:rPr lang="en-US" dirty="0"/>
              <a:t>, ((S,C,F),4), ((S,A,E),6), ((S,A,D,G),11)]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</a:t>
            </a:r>
            <a:r>
              <a:rPr lang="en-US" strike="sngStrike" dirty="0"/>
              <a:t>((S,C,F),4),</a:t>
            </a:r>
            <a:r>
              <a:rPr lang="en-US" dirty="0"/>
              <a:t> ((S,B,E),5), ((S,A,E),6), ((S,B,F,7), ((S,A,D,G),11)]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</a:t>
            </a:r>
            <a:r>
              <a:rPr lang="en-US" strike="sngStrike" dirty="0"/>
              <a:t>((S,B,E),5), </a:t>
            </a:r>
            <a:r>
              <a:rPr lang="en-US" dirty="0"/>
              <a:t>((S,A,E),6), ((S,B,F,7), ((S,C,F,G),10), ((S,A,D,G),11)]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</a:t>
            </a:r>
            <a:r>
              <a:rPr lang="en-US" strike="sngStrike" dirty="0"/>
              <a:t> ((S,A,E),6), </a:t>
            </a:r>
            <a:r>
              <a:rPr lang="en-US" dirty="0"/>
              <a:t>((S,B,F,7), ((S,B,E,G),7), ((S,C,F,G),10), ((S,A,D,G),11)]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</a:t>
            </a:r>
            <a:r>
              <a:rPr lang="en-US" strike="sngStrike" dirty="0"/>
              <a:t>((S,B,F,7), </a:t>
            </a:r>
            <a:r>
              <a:rPr lang="en-US" dirty="0"/>
              <a:t>((S,B,E,G),7), ((S,A,E,G),8), ((S,C,F,G),10), ((S,A,D,G),11)]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</a:t>
            </a:r>
            <a:r>
              <a:rPr lang="en-US" strike="sngStrike" dirty="0"/>
              <a:t>((S,B,E,G),7)</a:t>
            </a:r>
            <a:r>
              <a:rPr lang="en-US" dirty="0"/>
              <a:t>, ((S,A,E,G),8), ((S,C,F,G),10), ((S,A,D,G),11), ((S,B,F,G,13)]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((S,B,E,G),7)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UCS properties and contrast with BFS. Reinforce positive step costs and the least-cost goal acceptance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major synthesis before students move to selection and diagnosis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supports GR-style comparison and quiz-style true/false properties. Emphasize the conditions attached to each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quick formative practice. Have students give one-sentence justifications, not just algorithm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supports code interpretation and quick next-node questions. Ask students to identify the algorithm from frontier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as an exit ticket or use for rapid retrieval at the start of Lesson 6. Expected: queue, stack, priority queue. BFS selects A, DFS selects C, UCS selects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1017E2B-BFBC-500B-F3A1-F60A6E362ACC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E8E58F9-D19D-25A9-32DF-A983D9519C3F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5910"/>
            <a:ext cx="12191695" cy="6632089"/>
          </a:xfrm>
          <a:prstGeom prst="rect">
            <a:avLst/>
          </a:prstGeom>
          <a:solidFill>
            <a:srgbClr val="F4F8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CompSci 471</a:t>
            </a:r>
            <a:endParaRPr lang="en-US" sz="1800" dirty="0">
              <a:solidFill>
                <a:schemeClr val="accent4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112471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874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5: Uninformed Search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08" y="2450592"/>
            <a:ext cx="6038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map, different frontier, different behavior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43000" y="4279392"/>
            <a:ext cx="114300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715768" y="4279392"/>
            <a:ext cx="114300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41448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288536" y="4279392"/>
            <a:ext cx="114300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14216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861304" y="4279392"/>
            <a:ext cx="1143000" cy="0"/>
          </a:xfrm>
          <a:prstGeom prst="line">
            <a:avLst/>
          </a:prstGeom>
          <a:noFill/>
          <a:ln w="381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86984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178040" y="1600200"/>
            <a:ext cx="43434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26">
            <a:extLst>
              <a:ext uri="{FF2B5EF4-FFF2-40B4-BE49-F238E27FC236}">
                <a16:creationId xmlns:a16="http://schemas.microsoft.com/office/drawing/2014/main" id="{E0BF2036-D941-6C13-C4CB-40C0152D1C27}"/>
              </a:ext>
            </a:extLst>
          </p:cNvPr>
          <p:cNvSpPr/>
          <p:nvPr/>
        </p:nvSpPr>
        <p:spPr>
          <a:xfrm flipH="1">
            <a:off x="7592987" y="2829512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68297" y="3598522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11324" y="309651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7900" y="313309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568297" y="3598522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11324" y="348879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7900" y="352537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68297" y="3598522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11324" y="388107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47900" y="391764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73807" y="2813967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70326" y="265074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06902" y="268732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673807" y="2813967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41649" y="309651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78225" y="313309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673807" y="3598522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241649" y="348879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78225" y="352537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73807" y="3598522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23818" y="391673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60394" y="395331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73807" y="4383078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223818" y="4309011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60394" y="4345587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886301" y="2706982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418482" y="304302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455058" y="307960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028948" y="3598522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489805" y="348879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526381" y="352537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 flipV="1">
            <a:off x="9993286" y="3598522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0471974" y="391673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508550" y="395331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71701" y="3401926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71701" y="345679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477211" y="2617371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477211" y="2672235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477211" y="340192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477211" y="345679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477211" y="4186482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477211" y="4241346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9689705" y="251038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689705" y="256525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832352" y="340192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832352" y="345679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796690" y="4257805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796690" y="4312669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10973523" y="3401926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973523" y="345679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086600" y="58064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is systematic exploration controlled by a selection rule.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749808" y="62362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10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F441A86-D9D2-6912-CD24-9FF99BC0C4EE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warm-up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 gave the search algorithm a problem representation.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have: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311045" y="214884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39A875"/>
          </a:solidFill>
          <a:ln w="12700">
            <a:solidFill>
              <a:srgbClr val="39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56765" y="222199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state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7005" y="214884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22725" y="222199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2965" y="214884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88685" y="222199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test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08925" y="214884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D94E4E"/>
          </a:solidFill>
          <a:ln w="12700">
            <a:solidFill>
              <a:srgbClr val="D94E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54645" y="2221992"/>
            <a:ext cx="1508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costs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information is still missing before the system can find a solution?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251960"/>
            <a:ext cx="73152" cy="868680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4398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 is examined next?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566160" y="42519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66160" y="4251960"/>
            <a:ext cx="73152" cy="86868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49040" y="4398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gets remembered?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42519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55080" y="4251960"/>
            <a:ext cx="73152" cy="86868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4398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3796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do we stop?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144000" y="42519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0" y="4251960"/>
            <a:ext cx="73152" cy="868680"/>
          </a:xfrm>
          <a:prstGeom prst="rect">
            <a:avLst/>
          </a:prstGeom>
          <a:solidFill>
            <a:srgbClr val="6E60B8"/>
          </a:solidFill>
          <a:ln w="12700">
            <a:solidFill>
              <a:srgbClr val="6E6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26880" y="4398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2688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reconstruct the path?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Lesson 5, students should be able to…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2768" y="19019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how DFS, BFS, and UCS explore state spaces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3017520"/>
            <a:ext cx="502920" cy="50292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30449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search strategies based on completeness and optimality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206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2768" y="41879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frontier management affects algorithm behavior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4864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target: trace a small search, identify the next node, and justify the algorithm choice.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Running scenario: relay recovery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rover must reach a failed communications relay through waypoint routes.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6400800" y="1600200"/>
            <a:ext cx="48006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75120" y="1874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setup</a:t>
            </a:r>
            <a:endParaRPr lang="en-US" sz="2400" dirty="0"/>
          </a:p>
        </p:txBody>
      </p:sp>
      <p:sp>
        <p:nvSpPr>
          <p:cNvPr id="58" name="Shape 56"/>
          <p:cNvSpPr/>
          <p:nvPr/>
        </p:nvSpPr>
        <p:spPr>
          <a:xfrm>
            <a:off x="6720840" y="2450592"/>
            <a:ext cx="201168" cy="2011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720840" y="2496312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022592" y="23957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S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6720840" y="2889504"/>
            <a:ext cx="201168" cy="20116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720840" y="2935224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7022592" y="28346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relay: G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6720840" y="3328416"/>
            <a:ext cx="201168" cy="201168"/>
          </a:xfrm>
          <a:prstGeom prst="ellipse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720840" y="3374136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022592" y="32735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labels: energy cost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6720840" y="3767328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720840" y="3813048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7022592" y="37124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Ties: break alphabetically</a:t>
            </a:r>
            <a:endParaRPr lang="en-US" sz="1650" dirty="0"/>
          </a:p>
        </p:txBody>
      </p:sp>
      <p:sp>
        <p:nvSpPr>
          <p:cNvPr id="70" name="Shape 68"/>
          <p:cNvSpPr/>
          <p:nvPr/>
        </p:nvSpPr>
        <p:spPr>
          <a:xfrm>
            <a:off x="6720840" y="4206240"/>
            <a:ext cx="201168" cy="2011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720840" y="4251960"/>
            <a:ext cx="201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7022592" y="415137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graph, three search behaviors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6492240" y="5166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the rover prefer fewer moves or lower energy?</a:t>
            </a:r>
            <a:endParaRPr lang="en-US" sz="2100" dirty="0"/>
          </a:p>
        </p:txBody>
      </p:sp>
      <p:sp>
        <p:nvSpPr>
          <p:cNvPr id="75" name="Shape 26">
            <a:extLst>
              <a:ext uri="{FF2B5EF4-FFF2-40B4-BE49-F238E27FC236}">
                <a16:creationId xmlns:a16="http://schemas.microsoft.com/office/drawing/2014/main" id="{A1D000AB-7D1F-6F5F-AF13-78C74383F13C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14">
            <a:extLst>
              <a:ext uri="{FF2B5EF4-FFF2-40B4-BE49-F238E27FC236}">
                <a16:creationId xmlns:a16="http://schemas.microsoft.com/office/drawing/2014/main" id="{2CC1E942-A06D-8016-DA40-D3EE44EC98EF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16EBBF47-E633-FB5C-EF0B-652EF230D907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62B3E507-B193-73CA-7A89-1B4A2F33BB9B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83" name="Shape 17">
            <a:extLst>
              <a:ext uri="{FF2B5EF4-FFF2-40B4-BE49-F238E27FC236}">
                <a16:creationId xmlns:a16="http://schemas.microsoft.com/office/drawing/2014/main" id="{C318D6FF-4555-2AC4-CBCC-7E6FB419AE42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18">
            <a:extLst>
              <a:ext uri="{FF2B5EF4-FFF2-40B4-BE49-F238E27FC236}">
                <a16:creationId xmlns:a16="http://schemas.microsoft.com/office/drawing/2014/main" id="{DA389B05-ECD2-2667-1048-AF22BCB3F547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19">
            <a:extLst>
              <a:ext uri="{FF2B5EF4-FFF2-40B4-BE49-F238E27FC236}">
                <a16:creationId xmlns:a16="http://schemas.microsoft.com/office/drawing/2014/main" id="{195E836E-F3E8-F787-1745-677A11428FDC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89" name="Shape 20">
            <a:extLst>
              <a:ext uri="{FF2B5EF4-FFF2-40B4-BE49-F238E27FC236}">
                <a16:creationId xmlns:a16="http://schemas.microsoft.com/office/drawing/2014/main" id="{A49D9B0B-A460-0A8B-31CD-DF03E54D16E8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D340CE88-2D29-E9A0-1200-52233EA0D1D2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22">
            <a:extLst>
              <a:ext uri="{FF2B5EF4-FFF2-40B4-BE49-F238E27FC236}">
                <a16:creationId xmlns:a16="http://schemas.microsoft.com/office/drawing/2014/main" id="{31F3F00F-DD51-4300-D56C-0983712574F5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95" name="Shape 23">
            <a:extLst>
              <a:ext uri="{FF2B5EF4-FFF2-40B4-BE49-F238E27FC236}">
                <a16:creationId xmlns:a16="http://schemas.microsoft.com/office/drawing/2014/main" id="{24BEE74E-884F-664B-0708-166DF576DD6E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24">
            <a:extLst>
              <a:ext uri="{FF2B5EF4-FFF2-40B4-BE49-F238E27FC236}">
                <a16:creationId xmlns:a16="http://schemas.microsoft.com/office/drawing/2014/main" id="{D54D4C12-C835-3AE5-26EE-8BBBA092B95A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25">
            <a:extLst>
              <a:ext uri="{FF2B5EF4-FFF2-40B4-BE49-F238E27FC236}">
                <a16:creationId xmlns:a16="http://schemas.microsoft.com/office/drawing/2014/main" id="{A35FA903-42D1-54AF-5875-0DF9890A5BB6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01" name="Shape 26">
            <a:extLst>
              <a:ext uri="{FF2B5EF4-FFF2-40B4-BE49-F238E27FC236}">
                <a16:creationId xmlns:a16="http://schemas.microsoft.com/office/drawing/2014/main" id="{060CC193-98EA-37AD-BC1F-3C49925F4A4F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27">
            <a:extLst>
              <a:ext uri="{FF2B5EF4-FFF2-40B4-BE49-F238E27FC236}">
                <a16:creationId xmlns:a16="http://schemas.microsoft.com/office/drawing/2014/main" id="{EFB5F9F7-92B3-D78C-9CEB-1654C7E9B5F4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28">
            <a:extLst>
              <a:ext uri="{FF2B5EF4-FFF2-40B4-BE49-F238E27FC236}">
                <a16:creationId xmlns:a16="http://schemas.microsoft.com/office/drawing/2014/main" id="{6A94063C-4667-8BE8-6F5F-10B721794621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07" name="Shape 29">
            <a:extLst>
              <a:ext uri="{FF2B5EF4-FFF2-40B4-BE49-F238E27FC236}">
                <a16:creationId xmlns:a16="http://schemas.microsoft.com/office/drawing/2014/main" id="{BF07CC6B-92FD-6E4A-AC17-73328162695F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30">
            <a:extLst>
              <a:ext uri="{FF2B5EF4-FFF2-40B4-BE49-F238E27FC236}">
                <a16:creationId xmlns:a16="http://schemas.microsoft.com/office/drawing/2014/main" id="{994559FA-18F2-8237-3CF9-7F902DBC0ED4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31">
            <a:extLst>
              <a:ext uri="{FF2B5EF4-FFF2-40B4-BE49-F238E27FC236}">
                <a16:creationId xmlns:a16="http://schemas.microsoft.com/office/drawing/2014/main" id="{2BED002C-D039-942C-C2B4-3071E6CE7885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13" name="Shape 32">
            <a:extLst>
              <a:ext uri="{FF2B5EF4-FFF2-40B4-BE49-F238E27FC236}">
                <a16:creationId xmlns:a16="http://schemas.microsoft.com/office/drawing/2014/main" id="{242EE504-0823-CD6B-6AF0-58A16C2F72C4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33">
            <a:extLst>
              <a:ext uri="{FF2B5EF4-FFF2-40B4-BE49-F238E27FC236}">
                <a16:creationId xmlns:a16="http://schemas.microsoft.com/office/drawing/2014/main" id="{B90506BF-184C-470C-D0ED-0B98B30C0078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34">
            <a:extLst>
              <a:ext uri="{FF2B5EF4-FFF2-40B4-BE49-F238E27FC236}">
                <a16:creationId xmlns:a16="http://schemas.microsoft.com/office/drawing/2014/main" id="{E8A2384A-C618-218B-0AFC-374A41198A84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19" name="Shape 35">
            <a:extLst>
              <a:ext uri="{FF2B5EF4-FFF2-40B4-BE49-F238E27FC236}">
                <a16:creationId xmlns:a16="http://schemas.microsoft.com/office/drawing/2014/main" id="{B5C76B2C-8973-05ED-F562-587D47BAEB37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36">
            <a:extLst>
              <a:ext uri="{FF2B5EF4-FFF2-40B4-BE49-F238E27FC236}">
                <a16:creationId xmlns:a16="http://schemas.microsoft.com/office/drawing/2014/main" id="{C9140BFA-1ECD-F572-9412-A533D1046E7E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37">
            <a:extLst>
              <a:ext uri="{FF2B5EF4-FFF2-40B4-BE49-F238E27FC236}">
                <a16:creationId xmlns:a16="http://schemas.microsoft.com/office/drawing/2014/main" id="{D44ED60B-110F-7F96-96F2-A9C012D95E34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25" name="Shape 38">
            <a:extLst>
              <a:ext uri="{FF2B5EF4-FFF2-40B4-BE49-F238E27FC236}">
                <a16:creationId xmlns:a16="http://schemas.microsoft.com/office/drawing/2014/main" id="{6163A0AB-D148-9F62-3C1D-FE81A1D24DAD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1F422122-9A93-432D-90CE-9B3B0E518883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40">
            <a:extLst>
              <a:ext uri="{FF2B5EF4-FFF2-40B4-BE49-F238E27FC236}">
                <a16:creationId xmlns:a16="http://schemas.microsoft.com/office/drawing/2014/main" id="{DC60D85A-91B4-B8EA-3730-D641F401B622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31" name="Shape 41">
            <a:extLst>
              <a:ext uri="{FF2B5EF4-FFF2-40B4-BE49-F238E27FC236}">
                <a16:creationId xmlns:a16="http://schemas.microsoft.com/office/drawing/2014/main" id="{CA74DF74-ABC8-7619-93AD-398969229CE6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42">
            <a:extLst>
              <a:ext uri="{FF2B5EF4-FFF2-40B4-BE49-F238E27FC236}">
                <a16:creationId xmlns:a16="http://schemas.microsoft.com/office/drawing/2014/main" id="{D11B7AA7-EF05-956B-6856-79A3959C29CC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43">
            <a:extLst>
              <a:ext uri="{FF2B5EF4-FFF2-40B4-BE49-F238E27FC236}">
                <a16:creationId xmlns:a16="http://schemas.microsoft.com/office/drawing/2014/main" id="{DAE5451A-9DFB-4EB4-61FF-8648FB25C9F3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7" name="Shape 44">
            <a:extLst>
              <a:ext uri="{FF2B5EF4-FFF2-40B4-BE49-F238E27FC236}">
                <a16:creationId xmlns:a16="http://schemas.microsoft.com/office/drawing/2014/main" id="{842B8F71-A9FF-07E1-3628-694281772974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45">
            <a:extLst>
              <a:ext uri="{FF2B5EF4-FFF2-40B4-BE49-F238E27FC236}">
                <a16:creationId xmlns:a16="http://schemas.microsoft.com/office/drawing/2014/main" id="{5E4C4E28-57AE-EF5C-AC38-0EDA862988EC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46">
            <a:extLst>
              <a:ext uri="{FF2B5EF4-FFF2-40B4-BE49-F238E27FC236}">
                <a16:creationId xmlns:a16="http://schemas.microsoft.com/office/drawing/2014/main" id="{235BA393-4AEA-A689-CB8F-E87A9B71559D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43" name="Shape 47">
            <a:extLst>
              <a:ext uri="{FF2B5EF4-FFF2-40B4-BE49-F238E27FC236}">
                <a16:creationId xmlns:a16="http://schemas.microsoft.com/office/drawing/2014/main" id="{DC76DA8E-593A-74C1-04F7-ECF73DFD9F33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48">
            <a:extLst>
              <a:ext uri="{FF2B5EF4-FFF2-40B4-BE49-F238E27FC236}">
                <a16:creationId xmlns:a16="http://schemas.microsoft.com/office/drawing/2014/main" id="{5FCA9B55-97D0-4E82-A3D4-FC274503A1B9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47" name="Shape 49">
            <a:extLst>
              <a:ext uri="{FF2B5EF4-FFF2-40B4-BE49-F238E27FC236}">
                <a16:creationId xmlns:a16="http://schemas.microsoft.com/office/drawing/2014/main" id="{81DC4A27-4E97-B30B-83F6-84CC2CDE9CC3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50">
            <a:extLst>
              <a:ext uri="{FF2B5EF4-FFF2-40B4-BE49-F238E27FC236}">
                <a16:creationId xmlns:a16="http://schemas.microsoft.com/office/drawing/2014/main" id="{D4D82023-EB1E-69E3-9629-532A3EB18F29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51" name="Shape 51">
            <a:extLst>
              <a:ext uri="{FF2B5EF4-FFF2-40B4-BE49-F238E27FC236}">
                <a16:creationId xmlns:a16="http://schemas.microsoft.com/office/drawing/2014/main" id="{C90D05A0-6B56-6941-D392-371C0F770498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52">
            <a:extLst>
              <a:ext uri="{FF2B5EF4-FFF2-40B4-BE49-F238E27FC236}">
                <a16:creationId xmlns:a16="http://schemas.microsoft.com/office/drawing/2014/main" id="{E31B326C-ED3F-DC09-3314-996DAD11A3EA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55" name="Shape 53">
            <a:extLst>
              <a:ext uri="{FF2B5EF4-FFF2-40B4-BE49-F238E27FC236}">
                <a16:creationId xmlns:a16="http://schemas.microsoft.com/office/drawing/2014/main" id="{4D3D3EBC-8B5B-0F9D-3929-2D81EBD6F84F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54">
            <a:extLst>
              <a:ext uri="{FF2B5EF4-FFF2-40B4-BE49-F238E27FC236}">
                <a16:creationId xmlns:a16="http://schemas.microsoft.com/office/drawing/2014/main" id="{B4E8D3F2-CB38-06F4-5E62-2F450B5C3B1F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59" name="Shape 55">
            <a:extLst>
              <a:ext uri="{FF2B5EF4-FFF2-40B4-BE49-F238E27FC236}">
                <a16:creationId xmlns:a16="http://schemas.microsoft.com/office/drawing/2014/main" id="{0DE32E35-2389-431D-C197-54E52ABC4B89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56">
            <a:extLst>
              <a:ext uri="{FF2B5EF4-FFF2-40B4-BE49-F238E27FC236}">
                <a16:creationId xmlns:a16="http://schemas.microsoft.com/office/drawing/2014/main" id="{A18DEB64-7F08-EB16-A041-1D44426C1D04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63" name="Shape 57">
            <a:extLst>
              <a:ext uri="{FF2B5EF4-FFF2-40B4-BE49-F238E27FC236}">
                <a16:creationId xmlns:a16="http://schemas.microsoft.com/office/drawing/2014/main" id="{2E5CEB2E-14B2-DDBD-0F42-B5F898DF8AFD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58">
            <a:extLst>
              <a:ext uri="{FF2B5EF4-FFF2-40B4-BE49-F238E27FC236}">
                <a16:creationId xmlns:a16="http://schemas.microsoft.com/office/drawing/2014/main" id="{E3F892EE-79CC-63D6-5D7E-D870A0D674B2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67" name="Shape 59">
            <a:extLst>
              <a:ext uri="{FF2B5EF4-FFF2-40B4-BE49-F238E27FC236}">
                <a16:creationId xmlns:a16="http://schemas.microsoft.com/office/drawing/2014/main" id="{3BAF58A4-3121-C69F-B3C0-3B4C7633C3AA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60">
            <a:extLst>
              <a:ext uri="{FF2B5EF4-FFF2-40B4-BE49-F238E27FC236}">
                <a16:creationId xmlns:a16="http://schemas.microsoft.com/office/drawing/2014/main" id="{1559BB86-383F-2368-EFAD-71208981A72D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71" name="Shape 61">
            <a:extLst>
              <a:ext uri="{FF2B5EF4-FFF2-40B4-BE49-F238E27FC236}">
                <a16:creationId xmlns:a16="http://schemas.microsoft.com/office/drawing/2014/main" id="{04256E11-CD54-736F-7BD8-CC47CD0E4D52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62">
            <a:extLst>
              <a:ext uri="{FF2B5EF4-FFF2-40B4-BE49-F238E27FC236}">
                <a16:creationId xmlns:a16="http://schemas.microsoft.com/office/drawing/2014/main" id="{37B94AF7-763C-055C-82DF-7CEB56354FAB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search node?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node stores enough information to recover how a state was reached.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47548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2377440" cy="66294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28216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377440" cy="66294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728216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26314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38201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26314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38201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situation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2926080"/>
            <a:ext cx="2377440" cy="6629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04495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2926080"/>
            <a:ext cx="2377440" cy="6629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304495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node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358902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70789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46120" y="358902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370789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parent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" y="4251960"/>
            <a:ext cx="2377440" cy="6629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37083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46120" y="4251960"/>
            <a:ext cx="2377440" cy="66294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437083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actions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" y="491490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503377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46120" y="4914900"/>
            <a:ext cx="2377440" cy="66294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5033772"/>
            <a:ext cx="22860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from start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178308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2103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vs. node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92240" y="269748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State: one situation in the problem.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node: a record of one path that reaches that state.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state can appear through different paths with different costs.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space, search tree, repeated states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situation may be reached through several paths.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44348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space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5989320" y="1600200"/>
            <a:ext cx="5166360" cy="3703320"/>
          </a:xfrm>
          <a:prstGeom prst="roundRect">
            <a:avLst>
              <a:gd name="adj" fmla="val 1975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18745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tree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6355080" y="4357549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explored set helps prevent cycles and repeated expansion.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UCS, a cheaper path may need to replace a more expensive one.</a:t>
            </a:r>
            <a:endParaRPr lang="en-US" sz="17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4A10BDB-035D-6E6D-F646-2A49B02E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7" y="2330301"/>
            <a:ext cx="2941437" cy="22466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F24072E-CD23-9A51-A81E-3EC6347E4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209" y="2325191"/>
            <a:ext cx="2898802" cy="1982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is repeated selection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search algorithms share the same basic loop.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2070464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44168" y="2180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646536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start on frontier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96312" y="2664824"/>
            <a:ext cx="32004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2070464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4448" y="2180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54096" y="2646536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one frontier node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36592" y="2664824"/>
            <a:ext cx="32004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66360" y="2070464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24728" y="2180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94376" y="2646536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for goal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76872" y="2664824"/>
            <a:ext cx="32004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06640" y="2070464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65008" y="2180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34656" y="2646536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successors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17152" y="2664824"/>
            <a:ext cx="320040" cy="0"/>
          </a:xfrm>
          <a:prstGeom prst="line">
            <a:avLst/>
          </a:prstGeom>
          <a:noFill/>
          <a:ln w="2540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46920" y="2070464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305288" y="2180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774936" y="2646536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frontier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43708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changes when the selection rule changes.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1755648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01368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D55"/>
                </a:solidFill>
                <a:latin typeface="Aptos" pitchFamily="34" charset="0"/>
              </a:rPr>
              <a:t>Frontier</a:t>
            </a:r>
          </a:p>
        </p:txBody>
      </p:sp>
      <p:sp>
        <p:nvSpPr>
          <p:cNvPr id="28" name="Shape 26"/>
          <p:cNvSpPr/>
          <p:nvPr/>
        </p:nvSpPr>
        <p:spPr>
          <a:xfrm>
            <a:off x="3310128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75304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21024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5129784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94960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40680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20" b="1" dirty="0">
                <a:solidFill>
                  <a:srgbClr val="0B2D55"/>
                </a:solidFill>
                <a:latin typeface="Aptos" pitchFamily="34" charset="0"/>
              </a:rPr>
              <a:t>Goal test</a:t>
            </a:r>
          </a:p>
        </p:txBody>
      </p:sp>
      <p:sp>
        <p:nvSpPr>
          <p:cNvPr id="34" name="Shape 32"/>
          <p:cNvSpPr/>
          <p:nvPr/>
        </p:nvSpPr>
        <p:spPr>
          <a:xfrm>
            <a:off x="6949440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14616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60336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D55"/>
                </a:solidFill>
                <a:latin typeface="Aptos" pitchFamily="34" charset="0"/>
              </a:rPr>
              <a:t>Expand</a:t>
            </a:r>
          </a:p>
        </p:txBody>
      </p:sp>
      <p:sp>
        <p:nvSpPr>
          <p:cNvPr id="37" name="Shape 35"/>
          <p:cNvSpPr/>
          <p:nvPr/>
        </p:nvSpPr>
        <p:spPr>
          <a:xfrm>
            <a:off x="8769096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34272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79992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20" b="1" dirty="0">
                <a:solidFill>
                  <a:srgbClr val="0B2D55"/>
                </a:solidFill>
                <a:latin typeface="Aptos" pitchFamily="34" charset="0"/>
              </a:rPr>
              <a:t>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71233-CAE5-D134-B610-C5CB254D1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2B63A1-B2C4-4E03-A84E-986C5E5021F5}"/>
              </a:ext>
            </a:extLst>
          </p:cNvPr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pseudo-algorithms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FB4338-1FD5-C651-22EC-BD03A8CCD694}"/>
              </a:ext>
            </a:extLst>
          </p:cNvPr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Maintaining a fringe/frontier is the key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373E08-8356-B51F-4F38-6A9DEAFA3B71}"/>
              </a:ext>
            </a:extLst>
          </p:cNvPr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EB0ED7-F1A8-82B8-99DD-62524604F825}"/>
              </a:ext>
            </a:extLst>
          </p:cNvPr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F72C81-85D0-CB6F-395B-9AE442A92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76" y="1882683"/>
            <a:ext cx="5103144" cy="2221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37B339-D37F-5FAF-D14E-F86BAEA533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034"/>
          <a:stretch>
            <a:fillRect/>
          </a:stretch>
        </p:blipFill>
        <p:spPr>
          <a:xfrm>
            <a:off x="6261463" y="1888126"/>
            <a:ext cx="5124775" cy="2809796"/>
          </a:xfrm>
          <a:prstGeom prst="rect">
            <a:avLst/>
          </a:prstGeom>
        </p:spPr>
      </p:pic>
      <p:sp>
        <p:nvSpPr>
          <p:cNvPr id="7" name="Shape 24">
            <a:extLst>
              <a:ext uri="{FF2B5EF4-FFF2-40B4-BE49-F238E27FC236}">
                <a16:creationId xmlns:a16="http://schemas.microsoft.com/office/drawing/2014/main" id="{7A627455-F424-1AFB-B9F5-9D92CF402BD8}"/>
              </a:ext>
            </a:extLst>
          </p:cNvPr>
          <p:cNvSpPr/>
          <p:nvPr/>
        </p:nvSpPr>
        <p:spPr>
          <a:xfrm>
            <a:off x="1755648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25">
            <a:extLst>
              <a:ext uri="{FF2B5EF4-FFF2-40B4-BE49-F238E27FC236}">
                <a16:creationId xmlns:a16="http://schemas.microsoft.com/office/drawing/2014/main" id="{71230E3C-D58A-8626-1C0A-48B4489515B0}"/>
              </a:ext>
            </a:extLst>
          </p:cNvPr>
          <p:cNvSpPr/>
          <p:nvPr/>
        </p:nvSpPr>
        <p:spPr>
          <a:xfrm>
            <a:off x="1801368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D55"/>
                </a:solidFill>
                <a:latin typeface="Aptos" pitchFamily="34" charset="0"/>
              </a:rPr>
              <a:t>Frontier</a:t>
            </a:r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9B24B80A-0DFA-3D86-82AC-4F130CFCE539}"/>
              </a:ext>
            </a:extLst>
          </p:cNvPr>
          <p:cNvSpPr/>
          <p:nvPr/>
        </p:nvSpPr>
        <p:spPr>
          <a:xfrm>
            <a:off x="3310128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7">
            <a:extLst>
              <a:ext uri="{FF2B5EF4-FFF2-40B4-BE49-F238E27FC236}">
                <a16:creationId xmlns:a16="http://schemas.microsoft.com/office/drawing/2014/main" id="{3E6CC276-638F-EB26-5AA6-EFA02A202E51}"/>
              </a:ext>
            </a:extLst>
          </p:cNvPr>
          <p:cNvSpPr/>
          <p:nvPr/>
        </p:nvSpPr>
        <p:spPr>
          <a:xfrm>
            <a:off x="3575304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28">
            <a:extLst>
              <a:ext uri="{FF2B5EF4-FFF2-40B4-BE49-F238E27FC236}">
                <a16:creationId xmlns:a16="http://schemas.microsoft.com/office/drawing/2014/main" id="{9DC26BA9-4279-C66D-06B0-FA434DD8AC78}"/>
              </a:ext>
            </a:extLst>
          </p:cNvPr>
          <p:cNvSpPr/>
          <p:nvPr/>
        </p:nvSpPr>
        <p:spPr>
          <a:xfrm>
            <a:off x="3621024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020" dirty="0"/>
          </a:p>
        </p:txBody>
      </p:sp>
      <p:sp>
        <p:nvSpPr>
          <p:cNvPr id="19" name="Shape 29">
            <a:extLst>
              <a:ext uri="{FF2B5EF4-FFF2-40B4-BE49-F238E27FC236}">
                <a16:creationId xmlns:a16="http://schemas.microsoft.com/office/drawing/2014/main" id="{F8EFAB86-E874-CEA8-46B5-00C20F12AC59}"/>
              </a:ext>
            </a:extLst>
          </p:cNvPr>
          <p:cNvSpPr/>
          <p:nvPr/>
        </p:nvSpPr>
        <p:spPr>
          <a:xfrm>
            <a:off x="5129784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30">
            <a:extLst>
              <a:ext uri="{FF2B5EF4-FFF2-40B4-BE49-F238E27FC236}">
                <a16:creationId xmlns:a16="http://schemas.microsoft.com/office/drawing/2014/main" id="{333FCD09-D9CD-FAB7-0995-15FBE9310BAD}"/>
              </a:ext>
            </a:extLst>
          </p:cNvPr>
          <p:cNvSpPr/>
          <p:nvPr/>
        </p:nvSpPr>
        <p:spPr>
          <a:xfrm>
            <a:off x="5394960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31">
            <a:extLst>
              <a:ext uri="{FF2B5EF4-FFF2-40B4-BE49-F238E27FC236}">
                <a16:creationId xmlns:a16="http://schemas.microsoft.com/office/drawing/2014/main" id="{F7C090BA-34C4-27AF-BECA-214CC53E8F8D}"/>
              </a:ext>
            </a:extLst>
          </p:cNvPr>
          <p:cNvSpPr/>
          <p:nvPr/>
        </p:nvSpPr>
        <p:spPr>
          <a:xfrm>
            <a:off x="5440680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20" b="1" dirty="0">
                <a:solidFill>
                  <a:srgbClr val="0B2D55"/>
                </a:solidFill>
                <a:latin typeface="Aptos" pitchFamily="34" charset="0"/>
              </a:rPr>
              <a:t>Goal test</a:t>
            </a:r>
          </a:p>
        </p:txBody>
      </p:sp>
      <p:sp>
        <p:nvSpPr>
          <p:cNvPr id="25" name="Shape 32">
            <a:extLst>
              <a:ext uri="{FF2B5EF4-FFF2-40B4-BE49-F238E27FC236}">
                <a16:creationId xmlns:a16="http://schemas.microsoft.com/office/drawing/2014/main" id="{F10855E0-C0E0-1291-F690-0A8107765BA6}"/>
              </a:ext>
            </a:extLst>
          </p:cNvPr>
          <p:cNvSpPr/>
          <p:nvPr/>
        </p:nvSpPr>
        <p:spPr>
          <a:xfrm>
            <a:off x="6949440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33">
            <a:extLst>
              <a:ext uri="{FF2B5EF4-FFF2-40B4-BE49-F238E27FC236}">
                <a16:creationId xmlns:a16="http://schemas.microsoft.com/office/drawing/2014/main" id="{A2E1E14D-54EF-43F8-8B83-F7EF36D05549}"/>
              </a:ext>
            </a:extLst>
          </p:cNvPr>
          <p:cNvSpPr/>
          <p:nvPr/>
        </p:nvSpPr>
        <p:spPr>
          <a:xfrm>
            <a:off x="7214616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F51B1756-C846-EE29-9B8F-64628DBDF2A1}"/>
              </a:ext>
            </a:extLst>
          </p:cNvPr>
          <p:cNvSpPr/>
          <p:nvPr/>
        </p:nvSpPr>
        <p:spPr>
          <a:xfrm>
            <a:off x="7260336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D55"/>
                </a:solidFill>
                <a:latin typeface="Aptos" pitchFamily="34" charset="0"/>
              </a:rPr>
              <a:t>Expand</a:t>
            </a:r>
          </a:p>
        </p:txBody>
      </p:sp>
      <p:sp>
        <p:nvSpPr>
          <p:cNvPr id="31" name="Shape 35">
            <a:extLst>
              <a:ext uri="{FF2B5EF4-FFF2-40B4-BE49-F238E27FC236}">
                <a16:creationId xmlns:a16="http://schemas.microsoft.com/office/drawing/2014/main" id="{1431B600-9B79-9A5E-5968-B5002C3121A5}"/>
              </a:ext>
            </a:extLst>
          </p:cNvPr>
          <p:cNvSpPr/>
          <p:nvPr/>
        </p:nvSpPr>
        <p:spPr>
          <a:xfrm>
            <a:off x="8769096" y="5852160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6">
            <a:extLst>
              <a:ext uri="{FF2B5EF4-FFF2-40B4-BE49-F238E27FC236}">
                <a16:creationId xmlns:a16="http://schemas.microsoft.com/office/drawing/2014/main" id="{73F95E85-3617-EF0A-645F-145280987F4D}"/>
              </a:ext>
            </a:extLst>
          </p:cNvPr>
          <p:cNvSpPr/>
          <p:nvPr/>
        </p:nvSpPr>
        <p:spPr>
          <a:xfrm>
            <a:off x="9034272" y="5715000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06F0A0CF-C0D6-3C33-21C5-2E3293ACCC28}"/>
              </a:ext>
            </a:extLst>
          </p:cNvPr>
          <p:cNvSpPr/>
          <p:nvPr/>
        </p:nvSpPr>
        <p:spPr>
          <a:xfrm>
            <a:off x="9079992" y="584301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20" b="1" dirty="0">
                <a:solidFill>
                  <a:srgbClr val="0B2D55"/>
                </a:solidFill>
                <a:latin typeface="Aptos" pitchFamily="34" charset="0"/>
              </a:rPr>
              <a:t>Update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D166C6-0F6B-02B2-B22B-E0C4E05B2AD5}"/>
              </a:ext>
            </a:extLst>
          </p:cNvPr>
          <p:cNvSpPr txBox="1"/>
          <p:nvPr/>
        </p:nvSpPr>
        <p:spPr>
          <a:xfrm>
            <a:off x="8630840" y="1159502"/>
            <a:ext cx="2288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closed aka expanded</a:t>
            </a:r>
          </a:p>
        </p:txBody>
      </p:sp>
    </p:spTree>
    <p:extLst>
      <p:ext uri="{BB962C8B-B14F-4D97-AF65-F5344CB8AC3E}">
        <p14:creationId xmlns:p14="http://schemas.microsoft.com/office/powerpoint/2010/main" val="1580280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frontier controls the algorithm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search loop stays similar; the frontier rule changes behavior.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10195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339852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819656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2920" y="1691640"/>
            <a:ext cx="339852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58640" y="1819656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structure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11440" y="1691640"/>
            <a:ext cx="339852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57160" y="1819656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next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23774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4963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12920" y="23774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58640" y="24963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11440" y="23774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57160" y="24963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oldest / shallowest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3063240"/>
            <a:ext cx="339852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1821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12920" y="3063240"/>
            <a:ext cx="339852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8640" y="31821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11440" y="3063240"/>
            <a:ext cx="339852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57160" y="31821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newest / deepest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37490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38679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12920" y="37490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58640" y="38679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711440" y="37490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57160" y="38679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g(n)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50749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graph. Same goal. Different frontier. Different expansion order.</a:t>
            </a:r>
            <a:endParaRPr lang="en-US" sz="2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0811F8-7853-7217-7FF4-AFB65EA09D28}"/>
              </a:ext>
            </a:extLst>
          </p:cNvPr>
          <p:cNvSpPr txBox="1"/>
          <p:nvPr/>
        </p:nvSpPr>
        <p:spPr>
          <a:xfrm rot="21261188">
            <a:off x="1816192" y="226813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(aka fringe)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52A8-79A7-A8FA-DB27-C120EBD17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3D0BC9-308E-5030-BBF9-1F4D5A5C3914}"/>
              </a:ext>
            </a:extLst>
          </p:cNvPr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can be compared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2C5872-756D-55BB-9878-2FE571E2123A}"/>
              </a:ext>
            </a:extLst>
          </p:cNvPr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</a:rPr>
              <a:t>How to determine which algorithm is best for a problem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89B025-223B-32D5-2832-EDD766654671}"/>
              </a:ext>
            </a:extLst>
          </p:cNvPr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71A8CD-3079-980B-379B-4C74272AC580}"/>
              </a:ext>
            </a:extLst>
          </p:cNvPr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B7BB2D-14A1-0C28-190A-A5553E502E3C}"/>
              </a:ext>
            </a:extLst>
          </p:cNvPr>
          <p:cNvSpPr/>
          <p:nvPr/>
        </p:nvSpPr>
        <p:spPr>
          <a:xfrm>
            <a:off x="914400" y="1691640"/>
            <a:ext cx="10195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17E62F1-5CDE-056D-0B4B-A6EFEC78E5C1}"/>
              </a:ext>
            </a:extLst>
          </p:cNvPr>
          <p:cNvSpPr/>
          <p:nvPr/>
        </p:nvSpPr>
        <p:spPr>
          <a:xfrm>
            <a:off x="914400" y="1691640"/>
            <a:ext cx="339852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5C2A9C-F88C-13E7-D4B6-185F4311BC3A}"/>
              </a:ext>
            </a:extLst>
          </p:cNvPr>
          <p:cNvSpPr/>
          <p:nvPr/>
        </p:nvSpPr>
        <p:spPr>
          <a:xfrm>
            <a:off x="960120" y="1819656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70F2DAD-DCCE-A574-A0C6-36BCA5A5FC41}"/>
              </a:ext>
            </a:extLst>
          </p:cNvPr>
          <p:cNvSpPr/>
          <p:nvPr/>
        </p:nvSpPr>
        <p:spPr>
          <a:xfrm>
            <a:off x="4312920" y="1691640"/>
            <a:ext cx="6797040" cy="6858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8AEB50-B030-B022-9E15-81141CE40EFA}"/>
              </a:ext>
            </a:extLst>
          </p:cNvPr>
          <p:cNvSpPr/>
          <p:nvPr/>
        </p:nvSpPr>
        <p:spPr>
          <a:xfrm>
            <a:off x="4358640" y="1819656"/>
            <a:ext cx="330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534EDB4-B50F-E58F-9434-027CF59D295A}"/>
              </a:ext>
            </a:extLst>
          </p:cNvPr>
          <p:cNvSpPr/>
          <p:nvPr/>
        </p:nvSpPr>
        <p:spPr>
          <a:xfrm>
            <a:off x="914400" y="23774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E7AB726-6923-55E3-A3AB-E50913FDDEB1}"/>
              </a:ext>
            </a:extLst>
          </p:cNvPr>
          <p:cNvSpPr/>
          <p:nvPr/>
        </p:nvSpPr>
        <p:spPr>
          <a:xfrm>
            <a:off x="960120" y="24963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7F23B5F-62CA-2806-C42F-CEB3352ED8BA}"/>
              </a:ext>
            </a:extLst>
          </p:cNvPr>
          <p:cNvSpPr/>
          <p:nvPr/>
        </p:nvSpPr>
        <p:spPr>
          <a:xfrm>
            <a:off x="4312920" y="2377440"/>
            <a:ext cx="679704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B9CD237-D916-5E86-DECB-1996C179B953}"/>
              </a:ext>
            </a:extLst>
          </p:cNvPr>
          <p:cNvSpPr/>
          <p:nvPr/>
        </p:nvSpPr>
        <p:spPr>
          <a:xfrm>
            <a:off x="4358639" y="2496312"/>
            <a:ext cx="669580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dirty="0"/>
              <a:t>If there exists a solution to the search problem, is the</a:t>
            </a:r>
          </a:p>
          <a:p>
            <a:r>
              <a:rPr lang="en-US" dirty="0"/>
              <a:t>strategy guaranteed to find it given infinite computational resources?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A1B343E-6144-C4F4-F544-9F332FEE21E6}"/>
              </a:ext>
            </a:extLst>
          </p:cNvPr>
          <p:cNvSpPr/>
          <p:nvPr/>
        </p:nvSpPr>
        <p:spPr>
          <a:xfrm>
            <a:off x="914400" y="3063240"/>
            <a:ext cx="339852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353ECB3-3A3E-4CE5-3ED7-3E1F750FD6ED}"/>
              </a:ext>
            </a:extLst>
          </p:cNvPr>
          <p:cNvSpPr/>
          <p:nvPr/>
        </p:nvSpPr>
        <p:spPr>
          <a:xfrm>
            <a:off x="960120" y="31821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Optimality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734CA00-F9A7-DFE7-159C-81752446C2A9}"/>
              </a:ext>
            </a:extLst>
          </p:cNvPr>
          <p:cNvSpPr/>
          <p:nvPr/>
        </p:nvSpPr>
        <p:spPr>
          <a:xfrm>
            <a:off x="4312920" y="3063240"/>
            <a:ext cx="679704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99C2CE4-F5CC-854B-4021-2804E456E7CA}"/>
              </a:ext>
            </a:extLst>
          </p:cNvPr>
          <p:cNvSpPr/>
          <p:nvPr/>
        </p:nvSpPr>
        <p:spPr>
          <a:xfrm>
            <a:off x="4358639" y="3182112"/>
            <a:ext cx="664681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dirty="0"/>
              <a:t>Is the strategy guaranteed to find the lowest cost path to a</a:t>
            </a:r>
          </a:p>
          <a:p>
            <a:r>
              <a:rPr lang="en-US" dirty="0"/>
              <a:t>goal state?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4FA9B44-6CF7-35EC-3F41-49B94A294CC6}"/>
              </a:ext>
            </a:extLst>
          </p:cNvPr>
          <p:cNvSpPr/>
          <p:nvPr/>
        </p:nvSpPr>
        <p:spPr>
          <a:xfrm>
            <a:off x="914400" y="3749040"/>
            <a:ext cx="339852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BBB6422-D29B-B09A-FB0F-7E9F5496EC4C}"/>
              </a:ext>
            </a:extLst>
          </p:cNvPr>
          <p:cNvSpPr/>
          <p:nvPr/>
        </p:nvSpPr>
        <p:spPr>
          <a:xfrm>
            <a:off x="960120" y="3867912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Use</a:t>
            </a:r>
            <a:endParaRPr lang="en-US" sz="1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D858810-AE4D-6FDB-01D9-65E0236E5A90}"/>
              </a:ext>
            </a:extLst>
          </p:cNvPr>
          <p:cNvSpPr/>
          <p:nvPr/>
        </p:nvSpPr>
        <p:spPr>
          <a:xfrm>
            <a:off x="4312920" y="3749040"/>
            <a:ext cx="6797040" cy="6858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5EE1F96-E267-9AE7-DD38-F32A9776CF25}"/>
              </a:ext>
            </a:extLst>
          </p:cNvPr>
          <p:cNvSpPr/>
          <p:nvPr/>
        </p:nvSpPr>
        <p:spPr>
          <a:xfrm>
            <a:off x="4358640" y="3867912"/>
            <a:ext cx="66468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/>
              <a:t>How much memory is needed to store the searched nodes?</a:t>
            </a:r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8D5A279D-E91A-EEBA-F126-BA8FC712E25F}"/>
              </a:ext>
            </a:extLst>
          </p:cNvPr>
          <p:cNvSpPr/>
          <p:nvPr/>
        </p:nvSpPr>
        <p:spPr>
          <a:xfrm>
            <a:off x="914400" y="4425696"/>
            <a:ext cx="339852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187EB7B9-3A14-4A3E-7D26-93BAC1C1DEAA}"/>
              </a:ext>
            </a:extLst>
          </p:cNvPr>
          <p:cNvSpPr/>
          <p:nvPr/>
        </p:nvSpPr>
        <p:spPr>
          <a:xfrm>
            <a:off x="960120" y="4544568"/>
            <a:ext cx="3307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 Use</a:t>
            </a:r>
            <a:endParaRPr lang="en-US" sz="1800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22EEAEB2-4EFC-7B59-E1AA-048E3394A009}"/>
              </a:ext>
            </a:extLst>
          </p:cNvPr>
          <p:cNvSpPr/>
          <p:nvPr/>
        </p:nvSpPr>
        <p:spPr>
          <a:xfrm>
            <a:off x="4312920" y="4425696"/>
            <a:ext cx="679704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1914042D-7CCF-D09E-D3EB-9A6F355A3F47}"/>
              </a:ext>
            </a:extLst>
          </p:cNvPr>
          <p:cNvSpPr/>
          <p:nvPr/>
        </p:nvSpPr>
        <p:spPr>
          <a:xfrm>
            <a:off x="4358639" y="4544568"/>
            <a:ext cx="6646817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en-US" dirty="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FA9107E9-76D7-FEA1-AD20-5F578AA22DED}"/>
              </a:ext>
            </a:extLst>
          </p:cNvPr>
          <p:cNvSpPr/>
          <p:nvPr/>
        </p:nvSpPr>
        <p:spPr>
          <a:xfrm>
            <a:off x="4383132" y="4521708"/>
            <a:ext cx="66468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/>
              <a:t>In what case should the algorithm be used?</a:t>
            </a:r>
          </a:p>
        </p:txBody>
      </p:sp>
    </p:spTree>
    <p:extLst>
      <p:ext uri="{BB962C8B-B14F-4D97-AF65-F5344CB8AC3E}">
        <p14:creationId xmlns:p14="http://schemas.microsoft.com/office/powerpoint/2010/main" val="329363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Breadth-First Search: explore by layers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expands the shallowest available node first.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27468" y="221742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01788" y="24917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behavior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484668" y="31775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in, first out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1021080" y="5855361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does not know edge costs unless every step cost is effectively equal.</a:t>
            </a:r>
            <a:endParaRPr lang="en-US" sz="2100" dirty="0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AE179B7C-8CFB-2C1F-DE93-A47BE86304ED}"/>
              </a:ext>
            </a:extLst>
          </p:cNvPr>
          <p:cNvSpPr/>
          <p:nvPr/>
        </p:nvSpPr>
        <p:spPr>
          <a:xfrm>
            <a:off x="594360" y="1406348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CF97D686-E7FB-BE45-90F5-CE5217F0B1B9}"/>
              </a:ext>
            </a:extLst>
          </p:cNvPr>
          <p:cNvSpPr/>
          <p:nvPr/>
        </p:nvSpPr>
        <p:spPr>
          <a:xfrm flipH="1">
            <a:off x="1278332" y="2858415"/>
            <a:ext cx="1122883" cy="813817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r>
              <a:rPr lang="en-US" dirty="0"/>
              <a:t>F</a:t>
            </a:r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3BDDC66E-A519-0645-E89E-B38FAF3876E3}"/>
              </a:ext>
            </a:extLst>
          </p:cNvPr>
          <p:cNvSpPr/>
          <p:nvPr/>
        </p:nvSpPr>
        <p:spPr>
          <a:xfrm>
            <a:off x="1278331" y="3642970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B5C67DEE-4ABA-16C1-0729-0D16796A2290}"/>
              </a:ext>
            </a:extLst>
          </p:cNvPr>
          <p:cNvSpPr/>
          <p:nvPr/>
        </p:nvSpPr>
        <p:spPr>
          <a:xfrm>
            <a:off x="1278331" y="3642970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69268753-7FF3-38CE-057E-476F8068D848}"/>
              </a:ext>
            </a:extLst>
          </p:cNvPr>
          <p:cNvSpPr/>
          <p:nvPr/>
        </p:nvSpPr>
        <p:spPr>
          <a:xfrm>
            <a:off x="1278331" y="3642970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44DE6E69-3ABA-0C48-C30D-9E853CDD8AA4}"/>
              </a:ext>
            </a:extLst>
          </p:cNvPr>
          <p:cNvSpPr/>
          <p:nvPr/>
        </p:nvSpPr>
        <p:spPr>
          <a:xfrm>
            <a:off x="2383841" y="2858415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A911C52-91A7-C825-AD71-643C74964F2C}"/>
              </a:ext>
            </a:extLst>
          </p:cNvPr>
          <p:cNvSpPr/>
          <p:nvPr/>
        </p:nvSpPr>
        <p:spPr>
          <a:xfrm>
            <a:off x="2383841" y="2858415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A4604136-5DA2-FB86-7EB1-058DA81508A1}"/>
              </a:ext>
            </a:extLst>
          </p:cNvPr>
          <p:cNvSpPr/>
          <p:nvPr/>
        </p:nvSpPr>
        <p:spPr>
          <a:xfrm>
            <a:off x="2383841" y="3642970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51FDC032-B6E6-7784-1362-80677ACE68FC}"/>
              </a:ext>
            </a:extLst>
          </p:cNvPr>
          <p:cNvSpPr/>
          <p:nvPr/>
        </p:nvSpPr>
        <p:spPr>
          <a:xfrm>
            <a:off x="2383841" y="3642970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2">
            <a:extLst>
              <a:ext uri="{FF2B5EF4-FFF2-40B4-BE49-F238E27FC236}">
                <a16:creationId xmlns:a16="http://schemas.microsoft.com/office/drawing/2014/main" id="{7D7FF42B-B5A1-A9BF-62C6-1993B9822C45}"/>
              </a:ext>
            </a:extLst>
          </p:cNvPr>
          <p:cNvSpPr/>
          <p:nvPr/>
        </p:nvSpPr>
        <p:spPr>
          <a:xfrm>
            <a:off x="2383841" y="4427526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CCF3ACC9-DC47-85C2-9645-0538C17E5895}"/>
              </a:ext>
            </a:extLst>
          </p:cNvPr>
          <p:cNvSpPr/>
          <p:nvPr/>
        </p:nvSpPr>
        <p:spPr>
          <a:xfrm>
            <a:off x="3596335" y="2751430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5A5C9171-20A8-0E80-CE51-7C82AB21F14C}"/>
              </a:ext>
            </a:extLst>
          </p:cNvPr>
          <p:cNvSpPr/>
          <p:nvPr/>
        </p:nvSpPr>
        <p:spPr>
          <a:xfrm>
            <a:off x="3738982" y="3642970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92045DAA-E8DB-CC07-C643-0E7094ADFE1D}"/>
              </a:ext>
            </a:extLst>
          </p:cNvPr>
          <p:cNvSpPr/>
          <p:nvPr/>
        </p:nvSpPr>
        <p:spPr>
          <a:xfrm flipV="1">
            <a:off x="3703320" y="3642970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B051CB34-6EAA-6AC7-53E3-C4738F0089C1}"/>
              </a:ext>
            </a:extLst>
          </p:cNvPr>
          <p:cNvSpPr/>
          <p:nvPr/>
        </p:nvSpPr>
        <p:spPr>
          <a:xfrm>
            <a:off x="1081735" y="3446374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D253AFB4-B532-06AC-DC8E-571FA7E31B09}"/>
              </a:ext>
            </a:extLst>
          </p:cNvPr>
          <p:cNvSpPr/>
          <p:nvPr/>
        </p:nvSpPr>
        <p:spPr>
          <a:xfrm>
            <a:off x="1081735" y="350123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69" name="Shape 18">
            <a:extLst>
              <a:ext uri="{FF2B5EF4-FFF2-40B4-BE49-F238E27FC236}">
                <a16:creationId xmlns:a16="http://schemas.microsoft.com/office/drawing/2014/main" id="{6B7B3417-9D50-8E17-4B91-6A1A3B71CAFB}"/>
              </a:ext>
            </a:extLst>
          </p:cNvPr>
          <p:cNvSpPr/>
          <p:nvPr/>
        </p:nvSpPr>
        <p:spPr>
          <a:xfrm>
            <a:off x="2187245" y="2661819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5EC357A3-9316-6459-A022-FFD80241DCE8}"/>
              </a:ext>
            </a:extLst>
          </p:cNvPr>
          <p:cNvSpPr/>
          <p:nvPr/>
        </p:nvSpPr>
        <p:spPr>
          <a:xfrm>
            <a:off x="2187245" y="271668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73" name="Shape 20">
            <a:extLst>
              <a:ext uri="{FF2B5EF4-FFF2-40B4-BE49-F238E27FC236}">
                <a16:creationId xmlns:a16="http://schemas.microsoft.com/office/drawing/2014/main" id="{91CCDC0D-C045-172B-5B3C-5908AE076E6E}"/>
              </a:ext>
            </a:extLst>
          </p:cNvPr>
          <p:cNvSpPr/>
          <p:nvPr/>
        </p:nvSpPr>
        <p:spPr>
          <a:xfrm>
            <a:off x="2187245" y="344637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57FE5807-7F6E-96C1-3D8F-B4401154D814}"/>
              </a:ext>
            </a:extLst>
          </p:cNvPr>
          <p:cNvSpPr/>
          <p:nvPr/>
        </p:nvSpPr>
        <p:spPr>
          <a:xfrm>
            <a:off x="2187245" y="350123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77" name="Shape 22">
            <a:extLst>
              <a:ext uri="{FF2B5EF4-FFF2-40B4-BE49-F238E27FC236}">
                <a16:creationId xmlns:a16="http://schemas.microsoft.com/office/drawing/2014/main" id="{943B83A3-7C9D-C026-7679-953844D210DD}"/>
              </a:ext>
            </a:extLst>
          </p:cNvPr>
          <p:cNvSpPr/>
          <p:nvPr/>
        </p:nvSpPr>
        <p:spPr>
          <a:xfrm>
            <a:off x="2187245" y="4230930"/>
            <a:ext cx="393192" cy="39319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C8074A0B-B146-632A-8156-DD4AA07C6239}"/>
              </a:ext>
            </a:extLst>
          </p:cNvPr>
          <p:cNvSpPr/>
          <p:nvPr/>
        </p:nvSpPr>
        <p:spPr>
          <a:xfrm>
            <a:off x="2187245" y="4285794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81" name="Shape 24">
            <a:extLst>
              <a:ext uri="{FF2B5EF4-FFF2-40B4-BE49-F238E27FC236}">
                <a16:creationId xmlns:a16="http://schemas.microsoft.com/office/drawing/2014/main" id="{749A0834-293F-A40F-9C28-B621502D3331}"/>
              </a:ext>
            </a:extLst>
          </p:cNvPr>
          <p:cNvSpPr/>
          <p:nvPr/>
        </p:nvSpPr>
        <p:spPr>
          <a:xfrm>
            <a:off x="3399739" y="2554834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8DC01C47-9C8F-2318-5D79-BE8E3B11EC4F}"/>
              </a:ext>
            </a:extLst>
          </p:cNvPr>
          <p:cNvSpPr/>
          <p:nvPr/>
        </p:nvSpPr>
        <p:spPr>
          <a:xfrm>
            <a:off x="3399739" y="260969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48009C64-0ECB-7A33-17DE-5093843AC2D0}"/>
              </a:ext>
            </a:extLst>
          </p:cNvPr>
          <p:cNvSpPr/>
          <p:nvPr/>
        </p:nvSpPr>
        <p:spPr>
          <a:xfrm>
            <a:off x="3542386" y="344637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46612412-A367-E95D-BFF5-F49ED8429403}"/>
              </a:ext>
            </a:extLst>
          </p:cNvPr>
          <p:cNvSpPr/>
          <p:nvPr/>
        </p:nvSpPr>
        <p:spPr>
          <a:xfrm>
            <a:off x="3542386" y="350123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89" name="Shape 28">
            <a:extLst>
              <a:ext uri="{FF2B5EF4-FFF2-40B4-BE49-F238E27FC236}">
                <a16:creationId xmlns:a16="http://schemas.microsoft.com/office/drawing/2014/main" id="{06C2DC6E-F9AE-D6C9-2AEB-1D65203B20EF}"/>
              </a:ext>
            </a:extLst>
          </p:cNvPr>
          <p:cNvSpPr/>
          <p:nvPr/>
        </p:nvSpPr>
        <p:spPr>
          <a:xfrm>
            <a:off x="3506724" y="4302253"/>
            <a:ext cx="393192" cy="39319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5F97A042-A567-5B53-A8E7-88C304751363}"/>
              </a:ext>
            </a:extLst>
          </p:cNvPr>
          <p:cNvSpPr/>
          <p:nvPr/>
        </p:nvSpPr>
        <p:spPr>
          <a:xfrm>
            <a:off x="3506724" y="435711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93" name="Shape 30">
            <a:extLst>
              <a:ext uri="{FF2B5EF4-FFF2-40B4-BE49-F238E27FC236}">
                <a16:creationId xmlns:a16="http://schemas.microsoft.com/office/drawing/2014/main" id="{5297D925-C9EF-881B-F1BE-FB4E9844C337}"/>
              </a:ext>
            </a:extLst>
          </p:cNvPr>
          <p:cNvSpPr/>
          <p:nvPr/>
        </p:nvSpPr>
        <p:spPr>
          <a:xfrm>
            <a:off x="4683557" y="3446374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31">
            <a:extLst>
              <a:ext uri="{FF2B5EF4-FFF2-40B4-BE49-F238E27FC236}">
                <a16:creationId xmlns:a16="http://schemas.microsoft.com/office/drawing/2014/main" id="{8AF696D6-2510-F6B1-3D95-E467C0D01B08}"/>
              </a:ext>
            </a:extLst>
          </p:cNvPr>
          <p:cNvSpPr/>
          <p:nvPr/>
        </p:nvSpPr>
        <p:spPr>
          <a:xfrm>
            <a:off x="4683557" y="350123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BFS queue mechanics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oldest frontier node is expanded next.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76856" y="183739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here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962656" y="2157430"/>
            <a:ext cx="0" cy="411480"/>
          </a:xfrm>
          <a:prstGeom prst="line">
            <a:avLst/>
          </a:prstGeom>
          <a:noFill/>
          <a:ln w="31750">
            <a:solidFill>
              <a:srgbClr val="D94E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2606040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26791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94760" y="2606040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26791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74920" y="2606040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267919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20840" y="2880360"/>
            <a:ext cx="91440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new successors here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732520" y="2148840"/>
            <a:ext cx="0" cy="411480"/>
          </a:xfrm>
          <a:prstGeom prst="line">
            <a:avLst/>
          </a:prstGeom>
          <a:noFill/>
          <a:ln w="31750">
            <a:solidFill>
              <a:srgbClr val="39A87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update: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60320" y="44520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 A → add D, E → frontier becomes [B, C, D, E]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750205" y="5559552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95925" y="56875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304685" y="5696712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9861" y="5559552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15581" y="56875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124341" y="5696712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89517" y="5559552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35237" y="56875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test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943997" y="5696712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09173" y="5559552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254893" y="56875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763653" y="5696712"/>
            <a:ext cx="164592" cy="164592"/>
          </a:xfrm>
          <a:prstGeom prst="chevron">
            <a:avLst/>
          </a:prstGeom>
          <a:solidFill>
            <a:srgbClr val="B8C7D8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028829" y="5559552"/>
            <a:ext cx="1481328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74549" y="568756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02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65B83383-62FA-D4E7-04D8-74F643054B04}"/>
              </a:ext>
            </a:extLst>
          </p:cNvPr>
          <p:cNvSpPr/>
          <p:nvPr/>
        </p:nvSpPr>
        <p:spPr>
          <a:xfrm>
            <a:off x="7772400" y="2607425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B18BC4F3-149C-51E9-AF3B-80346E61DEED}"/>
              </a:ext>
            </a:extLst>
          </p:cNvPr>
          <p:cNvSpPr/>
          <p:nvPr/>
        </p:nvSpPr>
        <p:spPr>
          <a:xfrm>
            <a:off x="7818120" y="2680577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</a:rPr>
              <a:t>D</a:t>
            </a:r>
            <a:endParaRPr lang="en-US" sz="180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F5F749A9-DE40-5562-49C8-8ED2EEC2A590}"/>
              </a:ext>
            </a:extLst>
          </p:cNvPr>
          <p:cNvSpPr/>
          <p:nvPr/>
        </p:nvSpPr>
        <p:spPr>
          <a:xfrm>
            <a:off x="8854440" y="2587752"/>
            <a:ext cx="822960" cy="530352"/>
          </a:xfrm>
          <a:prstGeom prst="roundRect">
            <a:avLst>
              <a:gd name="adj" fmla="val 13793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A55036C8-8110-E273-6B3F-E481163CE94B}"/>
              </a:ext>
            </a:extLst>
          </p:cNvPr>
          <p:cNvSpPr/>
          <p:nvPr/>
        </p:nvSpPr>
        <p:spPr>
          <a:xfrm>
            <a:off x="8900160" y="266090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</a:rPr>
              <a:t>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BFS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expansion order, frontier, and returned path separately.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63640" y="1463040"/>
            <a:ext cx="56616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636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209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666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772369" y="1463040"/>
            <a:ext cx="3152932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09958" y="1591056"/>
            <a:ext cx="29236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093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75209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666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8772369" y="2065020"/>
            <a:ext cx="3152932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909958" y="2183892"/>
            <a:ext cx="2923626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)]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62636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093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80" dirty="0"/>
          </a:p>
        </p:txBody>
      </p:sp>
      <p:sp>
        <p:nvSpPr>
          <p:cNvPr id="53" name="Shape 51"/>
          <p:cNvSpPr/>
          <p:nvPr/>
        </p:nvSpPr>
        <p:spPr>
          <a:xfrm>
            <a:off x="75209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666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80" dirty="0"/>
          </a:p>
        </p:txBody>
      </p:sp>
      <p:sp>
        <p:nvSpPr>
          <p:cNvPr id="57" name="Shape 55"/>
          <p:cNvSpPr/>
          <p:nvPr/>
        </p:nvSpPr>
        <p:spPr>
          <a:xfrm>
            <a:off x="8772369" y="2667000"/>
            <a:ext cx="3152932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909958" y="2785872"/>
            <a:ext cx="2923626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)]</a:t>
            </a:r>
            <a:endParaRPr lang="en-US" sz="1180" dirty="0"/>
          </a:p>
        </p:txBody>
      </p:sp>
      <p:sp>
        <p:nvSpPr>
          <p:cNvPr id="59" name="Shape 57"/>
          <p:cNvSpPr/>
          <p:nvPr/>
        </p:nvSpPr>
        <p:spPr>
          <a:xfrm>
            <a:off x="62636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093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80" dirty="0"/>
          </a:p>
        </p:txBody>
      </p:sp>
      <p:sp>
        <p:nvSpPr>
          <p:cNvPr id="61" name="Shape 59"/>
          <p:cNvSpPr/>
          <p:nvPr/>
        </p:nvSpPr>
        <p:spPr>
          <a:xfrm>
            <a:off x="75209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5666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80" dirty="0"/>
          </a:p>
        </p:txBody>
      </p:sp>
      <p:sp>
        <p:nvSpPr>
          <p:cNvPr id="65" name="Shape 63"/>
          <p:cNvSpPr/>
          <p:nvPr/>
        </p:nvSpPr>
        <p:spPr>
          <a:xfrm>
            <a:off x="8772369" y="3268980"/>
            <a:ext cx="3152932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909958" y="3387852"/>
            <a:ext cx="2923626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(S,A,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(S,A,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)]</a:t>
            </a:r>
            <a:endParaRPr lang="en-US" sz="1180" dirty="0"/>
          </a:p>
        </p:txBody>
      </p:sp>
      <p:sp>
        <p:nvSpPr>
          <p:cNvPr id="67" name="Shape 65"/>
          <p:cNvSpPr/>
          <p:nvPr/>
        </p:nvSpPr>
        <p:spPr>
          <a:xfrm>
            <a:off x="62636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093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80" dirty="0"/>
          </a:p>
        </p:txBody>
      </p:sp>
      <p:sp>
        <p:nvSpPr>
          <p:cNvPr id="69" name="Shape 67"/>
          <p:cNvSpPr/>
          <p:nvPr/>
        </p:nvSpPr>
        <p:spPr>
          <a:xfrm>
            <a:off x="75209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5666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80" dirty="0"/>
          </a:p>
        </p:txBody>
      </p:sp>
      <p:sp>
        <p:nvSpPr>
          <p:cNvPr id="73" name="Shape 71"/>
          <p:cNvSpPr/>
          <p:nvPr/>
        </p:nvSpPr>
        <p:spPr>
          <a:xfrm>
            <a:off x="8772369" y="3870960"/>
            <a:ext cx="3152932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909958" y="3989832"/>
            <a:ext cx="2923626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(S,A,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(S,A,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(S,B,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(S,B,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)]</a:t>
            </a:r>
            <a:endParaRPr lang="en-US" sz="1180" dirty="0"/>
          </a:p>
        </p:txBody>
      </p:sp>
      <p:sp>
        <p:nvSpPr>
          <p:cNvPr id="75" name="Shape 73"/>
          <p:cNvSpPr/>
          <p:nvPr/>
        </p:nvSpPr>
        <p:spPr>
          <a:xfrm>
            <a:off x="62636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3093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180" dirty="0"/>
          </a:p>
        </p:txBody>
      </p:sp>
      <p:sp>
        <p:nvSpPr>
          <p:cNvPr id="77" name="Shape 75"/>
          <p:cNvSpPr/>
          <p:nvPr/>
        </p:nvSpPr>
        <p:spPr>
          <a:xfrm>
            <a:off x="7520940" y="447294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566660" y="459181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</a:t>
            </a:r>
            <a:endParaRPr lang="en-US" sz="1180" dirty="0"/>
          </a:p>
        </p:txBody>
      </p:sp>
      <p:sp>
        <p:nvSpPr>
          <p:cNvPr id="81" name="Shape 79"/>
          <p:cNvSpPr/>
          <p:nvPr/>
        </p:nvSpPr>
        <p:spPr>
          <a:xfrm>
            <a:off x="8772369" y="4472940"/>
            <a:ext cx="3152932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909958" y="4591812"/>
            <a:ext cx="2923626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…</a:t>
            </a:r>
            <a:endParaRPr lang="en-US" sz="1180" dirty="0"/>
          </a:p>
        </p:txBody>
      </p:sp>
      <p:sp>
        <p:nvSpPr>
          <p:cNvPr id="83" name="Text 81"/>
          <p:cNvSpPr/>
          <p:nvPr/>
        </p:nvSpPr>
        <p:spPr>
          <a:xfrm>
            <a:off x="914400" y="5921829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expanded order, frontier contents, and solution path.</a:t>
            </a:r>
            <a:endParaRPr lang="en-US" sz="2000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DAA6F3AC-D5D6-D944-FC43-034CA28E8981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14">
            <a:extLst>
              <a:ext uri="{FF2B5EF4-FFF2-40B4-BE49-F238E27FC236}">
                <a16:creationId xmlns:a16="http://schemas.microsoft.com/office/drawing/2014/main" id="{B0F32EA8-7274-C0DC-81B2-6810045222F4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15">
            <a:extLst>
              <a:ext uri="{FF2B5EF4-FFF2-40B4-BE49-F238E27FC236}">
                <a16:creationId xmlns:a16="http://schemas.microsoft.com/office/drawing/2014/main" id="{91C5893B-23AF-AB7B-57B9-6FFCB2429641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62C13CBD-C7C1-05D7-C70D-AEC4858B4B86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3" name="Shape 17">
            <a:extLst>
              <a:ext uri="{FF2B5EF4-FFF2-40B4-BE49-F238E27FC236}">
                <a16:creationId xmlns:a16="http://schemas.microsoft.com/office/drawing/2014/main" id="{B92421E7-3219-2C61-AD8B-3D1821EF1814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18">
            <a:extLst>
              <a:ext uri="{FF2B5EF4-FFF2-40B4-BE49-F238E27FC236}">
                <a16:creationId xmlns:a16="http://schemas.microsoft.com/office/drawing/2014/main" id="{BCF2E01A-C18D-7750-E0CD-5AB5B0BC93C8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19">
            <a:extLst>
              <a:ext uri="{FF2B5EF4-FFF2-40B4-BE49-F238E27FC236}">
                <a16:creationId xmlns:a16="http://schemas.microsoft.com/office/drawing/2014/main" id="{CDD38573-ECED-C7AA-8CDA-F5B9C2894291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99" name="Shape 20">
            <a:extLst>
              <a:ext uri="{FF2B5EF4-FFF2-40B4-BE49-F238E27FC236}">
                <a16:creationId xmlns:a16="http://schemas.microsoft.com/office/drawing/2014/main" id="{84B18728-69DC-6A47-9258-4724E281F5E9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21">
            <a:extLst>
              <a:ext uri="{FF2B5EF4-FFF2-40B4-BE49-F238E27FC236}">
                <a16:creationId xmlns:a16="http://schemas.microsoft.com/office/drawing/2014/main" id="{B6E307AF-6DE5-7F5E-036A-DC6E99BC22A5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A3E9CD67-E1C6-2809-FE42-9E30CD0AEF8A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05" name="Shape 23">
            <a:extLst>
              <a:ext uri="{FF2B5EF4-FFF2-40B4-BE49-F238E27FC236}">
                <a16:creationId xmlns:a16="http://schemas.microsoft.com/office/drawing/2014/main" id="{70A1EE16-3764-8108-E007-72435F426CCA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24">
            <a:extLst>
              <a:ext uri="{FF2B5EF4-FFF2-40B4-BE49-F238E27FC236}">
                <a16:creationId xmlns:a16="http://schemas.microsoft.com/office/drawing/2014/main" id="{450F5243-0733-97CA-89EE-7EBC1B4BE2CE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25">
            <a:extLst>
              <a:ext uri="{FF2B5EF4-FFF2-40B4-BE49-F238E27FC236}">
                <a16:creationId xmlns:a16="http://schemas.microsoft.com/office/drawing/2014/main" id="{E9E32B0E-22F8-EFBA-2DA5-03589569191F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11" name="Shape 26">
            <a:extLst>
              <a:ext uri="{FF2B5EF4-FFF2-40B4-BE49-F238E27FC236}">
                <a16:creationId xmlns:a16="http://schemas.microsoft.com/office/drawing/2014/main" id="{336FA4F8-401D-A6C1-D023-8261EC8AB58B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27">
            <a:extLst>
              <a:ext uri="{FF2B5EF4-FFF2-40B4-BE49-F238E27FC236}">
                <a16:creationId xmlns:a16="http://schemas.microsoft.com/office/drawing/2014/main" id="{D12C0C2C-1AB1-AE5A-2649-BD08FB398453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28">
            <a:extLst>
              <a:ext uri="{FF2B5EF4-FFF2-40B4-BE49-F238E27FC236}">
                <a16:creationId xmlns:a16="http://schemas.microsoft.com/office/drawing/2014/main" id="{3D13D1C1-22E6-D37A-2289-3EAD182A6864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E512E30C-7A15-C652-4D16-A4BAD7BAAB0F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30">
            <a:extLst>
              <a:ext uri="{FF2B5EF4-FFF2-40B4-BE49-F238E27FC236}">
                <a16:creationId xmlns:a16="http://schemas.microsoft.com/office/drawing/2014/main" id="{5FCDA57F-CA30-8738-EC19-C19440425051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31">
            <a:extLst>
              <a:ext uri="{FF2B5EF4-FFF2-40B4-BE49-F238E27FC236}">
                <a16:creationId xmlns:a16="http://schemas.microsoft.com/office/drawing/2014/main" id="{89461E93-FC36-3768-B07D-6DBFEAF8502A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23" name="Shape 32">
            <a:extLst>
              <a:ext uri="{FF2B5EF4-FFF2-40B4-BE49-F238E27FC236}">
                <a16:creationId xmlns:a16="http://schemas.microsoft.com/office/drawing/2014/main" id="{218C8E3E-C13A-149F-2183-118B4C8E2615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33">
            <a:extLst>
              <a:ext uri="{FF2B5EF4-FFF2-40B4-BE49-F238E27FC236}">
                <a16:creationId xmlns:a16="http://schemas.microsoft.com/office/drawing/2014/main" id="{B0F02001-93E9-C72E-D429-1A20565CB959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34">
            <a:extLst>
              <a:ext uri="{FF2B5EF4-FFF2-40B4-BE49-F238E27FC236}">
                <a16:creationId xmlns:a16="http://schemas.microsoft.com/office/drawing/2014/main" id="{D4FB8A86-7C16-315A-BFFB-57EDDB064A69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29" name="Shape 35">
            <a:extLst>
              <a:ext uri="{FF2B5EF4-FFF2-40B4-BE49-F238E27FC236}">
                <a16:creationId xmlns:a16="http://schemas.microsoft.com/office/drawing/2014/main" id="{4A379364-87DC-622F-C84F-9D92631E1E14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36">
            <a:extLst>
              <a:ext uri="{FF2B5EF4-FFF2-40B4-BE49-F238E27FC236}">
                <a16:creationId xmlns:a16="http://schemas.microsoft.com/office/drawing/2014/main" id="{FE7647EB-650B-26CE-A6AF-E5A08AC85684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37">
            <a:extLst>
              <a:ext uri="{FF2B5EF4-FFF2-40B4-BE49-F238E27FC236}">
                <a16:creationId xmlns:a16="http://schemas.microsoft.com/office/drawing/2014/main" id="{CDE6837D-66A4-F3B2-E1A3-7B7C0D1A8904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5" name="Shape 38">
            <a:extLst>
              <a:ext uri="{FF2B5EF4-FFF2-40B4-BE49-F238E27FC236}">
                <a16:creationId xmlns:a16="http://schemas.microsoft.com/office/drawing/2014/main" id="{6EB36611-344A-AE19-13E6-71BEF3FA6A08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39">
            <a:extLst>
              <a:ext uri="{FF2B5EF4-FFF2-40B4-BE49-F238E27FC236}">
                <a16:creationId xmlns:a16="http://schemas.microsoft.com/office/drawing/2014/main" id="{963F7053-4B96-BCC0-1AFE-037A130843FD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40">
            <a:extLst>
              <a:ext uri="{FF2B5EF4-FFF2-40B4-BE49-F238E27FC236}">
                <a16:creationId xmlns:a16="http://schemas.microsoft.com/office/drawing/2014/main" id="{A05C9157-1B20-EFEA-0EEB-8788B99B3E09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41" name="Shape 41">
            <a:extLst>
              <a:ext uri="{FF2B5EF4-FFF2-40B4-BE49-F238E27FC236}">
                <a16:creationId xmlns:a16="http://schemas.microsoft.com/office/drawing/2014/main" id="{FCDCD416-DB86-E291-5063-0FA5D59AAE63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42">
            <a:extLst>
              <a:ext uri="{FF2B5EF4-FFF2-40B4-BE49-F238E27FC236}">
                <a16:creationId xmlns:a16="http://schemas.microsoft.com/office/drawing/2014/main" id="{1E7C24B0-785B-E604-4EB4-D1BC37F7D56C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43">
            <a:extLst>
              <a:ext uri="{FF2B5EF4-FFF2-40B4-BE49-F238E27FC236}">
                <a16:creationId xmlns:a16="http://schemas.microsoft.com/office/drawing/2014/main" id="{6FA5F9C2-893E-9580-BD0C-1DD4F28AD686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7" name="Shape 44">
            <a:extLst>
              <a:ext uri="{FF2B5EF4-FFF2-40B4-BE49-F238E27FC236}">
                <a16:creationId xmlns:a16="http://schemas.microsoft.com/office/drawing/2014/main" id="{BFB2361A-E842-7959-EBDA-C79105CC4DE8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45">
            <a:extLst>
              <a:ext uri="{FF2B5EF4-FFF2-40B4-BE49-F238E27FC236}">
                <a16:creationId xmlns:a16="http://schemas.microsoft.com/office/drawing/2014/main" id="{49CD03B8-DF62-B15B-03ED-5AC36DCBAE52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46">
            <a:extLst>
              <a:ext uri="{FF2B5EF4-FFF2-40B4-BE49-F238E27FC236}">
                <a16:creationId xmlns:a16="http://schemas.microsoft.com/office/drawing/2014/main" id="{5C5DC131-A316-3F5B-D399-B1AC2A1289EA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53" name="Shape 47">
            <a:extLst>
              <a:ext uri="{FF2B5EF4-FFF2-40B4-BE49-F238E27FC236}">
                <a16:creationId xmlns:a16="http://schemas.microsoft.com/office/drawing/2014/main" id="{EA2DC66A-CB0F-7AE1-50F0-CB4AA6E6A7A3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48">
            <a:extLst>
              <a:ext uri="{FF2B5EF4-FFF2-40B4-BE49-F238E27FC236}">
                <a16:creationId xmlns:a16="http://schemas.microsoft.com/office/drawing/2014/main" id="{13E48B33-4CEA-B0AE-CF04-686ED7BB22D1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57" name="Shape 49">
            <a:extLst>
              <a:ext uri="{FF2B5EF4-FFF2-40B4-BE49-F238E27FC236}">
                <a16:creationId xmlns:a16="http://schemas.microsoft.com/office/drawing/2014/main" id="{0C5031D3-B33D-DADF-D9B2-959AA8467E8D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50">
            <a:extLst>
              <a:ext uri="{FF2B5EF4-FFF2-40B4-BE49-F238E27FC236}">
                <a16:creationId xmlns:a16="http://schemas.microsoft.com/office/drawing/2014/main" id="{7121A980-EE9B-1E96-C117-9E040352DB00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61" name="Shape 51">
            <a:extLst>
              <a:ext uri="{FF2B5EF4-FFF2-40B4-BE49-F238E27FC236}">
                <a16:creationId xmlns:a16="http://schemas.microsoft.com/office/drawing/2014/main" id="{BB123430-48B4-DFEB-8B28-6EC37D5E3B3B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Text 52">
            <a:extLst>
              <a:ext uri="{FF2B5EF4-FFF2-40B4-BE49-F238E27FC236}">
                <a16:creationId xmlns:a16="http://schemas.microsoft.com/office/drawing/2014/main" id="{382C1CC2-340E-3BDF-C28E-6461D4ABBE3E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65" name="Shape 53">
            <a:extLst>
              <a:ext uri="{FF2B5EF4-FFF2-40B4-BE49-F238E27FC236}">
                <a16:creationId xmlns:a16="http://schemas.microsoft.com/office/drawing/2014/main" id="{52352CD3-7564-99C4-EA24-4AAAE3B31919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54">
            <a:extLst>
              <a:ext uri="{FF2B5EF4-FFF2-40B4-BE49-F238E27FC236}">
                <a16:creationId xmlns:a16="http://schemas.microsoft.com/office/drawing/2014/main" id="{CCE71645-BB67-AF4E-524A-4800DCC317B1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69" name="Shape 55">
            <a:extLst>
              <a:ext uri="{FF2B5EF4-FFF2-40B4-BE49-F238E27FC236}">
                <a16:creationId xmlns:a16="http://schemas.microsoft.com/office/drawing/2014/main" id="{41C174C8-FD54-14BF-13D2-3019650E0603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56">
            <a:extLst>
              <a:ext uri="{FF2B5EF4-FFF2-40B4-BE49-F238E27FC236}">
                <a16:creationId xmlns:a16="http://schemas.microsoft.com/office/drawing/2014/main" id="{71E05D65-2090-404F-4100-CD89F1F4CE11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73" name="Shape 57">
            <a:extLst>
              <a:ext uri="{FF2B5EF4-FFF2-40B4-BE49-F238E27FC236}">
                <a16:creationId xmlns:a16="http://schemas.microsoft.com/office/drawing/2014/main" id="{A2398541-3E0F-E082-3F7B-F2085470A589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 58">
            <a:extLst>
              <a:ext uri="{FF2B5EF4-FFF2-40B4-BE49-F238E27FC236}">
                <a16:creationId xmlns:a16="http://schemas.microsoft.com/office/drawing/2014/main" id="{1495020D-E6EA-CF7D-BCD2-62DD8BAFA4A0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77" name="Shape 59">
            <a:extLst>
              <a:ext uri="{FF2B5EF4-FFF2-40B4-BE49-F238E27FC236}">
                <a16:creationId xmlns:a16="http://schemas.microsoft.com/office/drawing/2014/main" id="{27B5922D-15A4-D62B-2941-F117AAFD7B32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Text 60">
            <a:extLst>
              <a:ext uri="{FF2B5EF4-FFF2-40B4-BE49-F238E27FC236}">
                <a16:creationId xmlns:a16="http://schemas.microsoft.com/office/drawing/2014/main" id="{DB0C10C9-AC38-1D0E-A0DE-24F9C69BDB29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81" name="Shape 61">
            <a:extLst>
              <a:ext uri="{FF2B5EF4-FFF2-40B4-BE49-F238E27FC236}">
                <a16:creationId xmlns:a16="http://schemas.microsoft.com/office/drawing/2014/main" id="{827E87AB-7AD7-019E-08D6-D3E7A740F2EB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Text 62">
            <a:extLst>
              <a:ext uri="{FF2B5EF4-FFF2-40B4-BE49-F238E27FC236}">
                <a16:creationId xmlns:a16="http://schemas.microsoft.com/office/drawing/2014/main" id="{021C32E9-39F0-D124-4E80-9BC00BAC3B05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184" name="Shape 26">
            <a:extLst>
              <a:ext uri="{FF2B5EF4-FFF2-40B4-BE49-F238E27FC236}">
                <a16:creationId xmlns:a16="http://schemas.microsoft.com/office/drawing/2014/main" id="{0CF09B68-DE58-BC5B-39BF-2617BE881550}"/>
              </a:ext>
            </a:extLst>
          </p:cNvPr>
          <p:cNvSpPr/>
          <p:nvPr/>
        </p:nvSpPr>
        <p:spPr>
          <a:xfrm flipH="1">
            <a:off x="1671524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4">
            <a:extLst>
              <a:ext uri="{FF2B5EF4-FFF2-40B4-BE49-F238E27FC236}">
                <a16:creationId xmlns:a16="http://schemas.microsoft.com/office/drawing/2014/main" id="{FFE01453-26E7-71E8-D600-9EB992428B55}"/>
              </a:ext>
            </a:extLst>
          </p:cNvPr>
          <p:cNvSpPr/>
          <p:nvPr/>
        </p:nvSpPr>
        <p:spPr>
          <a:xfrm>
            <a:off x="1646834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5">
            <a:extLst>
              <a:ext uri="{FF2B5EF4-FFF2-40B4-BE49-F238E27FC236}">
                <a16:creationId xmlns:a16="http://schemas.microsoft.com/office/drawing/2014/main" id="{454ED2B0-30F8-92A9-ACC6-BAF2FE3E8FBE}"/>
              </a:ext>
            </a:extLst>
          </p:cNvPr>
          <p:cNvSpPr/>
          <p:nvPr/>
        </p:nvSpPr>
        <p:spPr>
          <a:xfrm>
            <a:off x="2089861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6">
            <a:extLst>
              <a:ext uri="{FF2B5EF4-FFF2-40B4-BE49-F238E27FC236}">
                <a16:creationId xmlns:a16="http://schemas.microsoft.com/office/drawing/2014/main" id="{0E177FC2-01B4-D8DF-DBA5-F6469AFB8208}"/>
              </a:ext>
            </a:extLst>
          </p:cNvPr>
          <p:cNvSpPr/>
          <p:nvPr/>
        </p:nvSpPr>
        <p:spPr>
          <a:xfrm>
            <a:off x="2126437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88" name="Shape 17">
            <a:extLst>
              <a:ext uri="{FF2B5EF4-FFF2-40B4-BE49-F238E27FC236}">
                <a16:creationId xmlns:a16="http://schemas.microsoft.com/office/drawing/2014/main" id="{06FCB9A5-D19F-3515-1844-EFABDAE65542}"/>
              </a:ext>
            </a:extLst>
          </p:cNvPr>
          <p:cNvSpPr/>
          <p:nvPr/>
        </p:nvSpPr>
        <p:spPr>
          <a:xfrm>
            <a:off x="1646834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">
            <a:extLst>
              <a:ext uri="{FF2B5EF4-FFF2-40B4-BE49-F238E27FC236}">
                <a16:creationId xmlns:a16="http://schemas.microsoft.com/office/drawing/2014/main" id="{CB34BAE2-0B85-EAB7-27D9-6C574904AF7C}"/>
              </a:ext>
            </a:extLst>
          </p:cNvPr>
          <p:cNvSpPr/>
          <p:nvPr/>
        </p:nvSpPr>
        <p:spPr>
          <a:xfrm>
            <a:off x="2089861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9">
            <a:extLst>
              <a:ext uri="{FF2B5EF4-FFF2-40B4-BE49-F238E27FC236}">
                <a16:creationId xmlns:a16="http://schemas.microsoft.com/office/drawing/2014/main" id="{124695AA-117C-7E86-FACE-F865B593AF7A}"/>
              </a:ext>
            </a:extLst>
          </p:cNvPr>
          <p:cNvSpPr/>
          <p:nvPr/>
        </p:nvSpPr>
        <p:spPr>
          <a:xfrm>
            <a:off x="2126437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91" name="Shape 20">
            <a:extLst>
              <a:ext uri="{FF2B5EF4-FFF2-40B4-BE49-F238E27FC236}">
                <a16:creationId xmlns:a16="http://schemas.microsoft.com/office/drawing/2014/main" id="{1D8B3DA3-E269-5914-C9B5-73169165FEB3}"/>
              </a:ext>
            </a:extLst>
          </p:cNvPr>
          <p:cNvSpPr/>
          <p:nvPr/>
        </p:nvSpPr>
        <p:spPr>
          <a:xfrm>
            <a:off x="1646834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21">
            <a:extLst>
              <a:ext uri="{FF2B5EF4-FFF2-40B4-BE49-F238E27FC236}">
                <a16:creationId xmlns:a16="http://schemas.microsoft.com/office/drawing/2014/main" id="{C07056CA-DF02-2C79-69BA-55CFC27B2F83}"/>
              </a:ext>
            </a:extLst>
          </p:cNvPr>
          <p:cNvSpPr/>
          <p:nvPr/>
        </p:nvSpPr>
        <p:spPr>
          <a:xfrm>
            <a:off x="2089861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22">
            <a:extLst>
              <a:ext uri="{FF2B5EF4-FFF2-40B4-BE49-F238E27FC236}">
                <a16:creationId xmlns:a16="http://schemas.microsoft.com/office/drawing/2014/main" id="{CE625A2A-5440-2B40-DD38-C0FFE97E97EA}"/>
              </a:ext>
            </a:extLst>
          </p:cNvPr>
          <p:cNvSpPr/>
          <p:nvPr/>
        </p:nvSpPr>
        <p:spPr>
          <a:xfrm>
            <a:off x="2126437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4" name="Shape 23">
            <a:extLst>
              <a:ext uri="{FF2B5EF4-FFF2-40B4-BE49-F238E27FC236}">
                <a16:creationId xmlns:a16="http://schemas.microsoft.com/office/drawing/2014/main" id="{65888940-EF0D-EC3C-7FC9-C766D3B81C0C}"/>
              </a:ext>
            </a:extLst>
          </p:cNvPr>
          <p:cNvSpPr/>
          <p:nvPr/>
        </p:nvSpPr>
        <p:spPr>
          <a:xfrm>
            <a:off x="2752344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24">
            <a:extLst>
              <a:ext uri="{FF2B5EF4-FFF2-40B4-BE49-F238E27FC236}">
                <a16:creationId xmlns:a16="http://schemas.microsoft.com/office/drawing/2014/main" id="{E2345D14-E47D-B8AF-3C48-2F7AE146C14F}"/>
              </a:ext>
            </a:extLst>
          </p:cNvPr>
          <p:cNvSpPr/>
          <p:nvPr/>
        </p:nvSpPr>
        <p:spPr>
          <a:xfrm>
            <a:off x="3248863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25">
            <a:extLst>
              <a:ext uri="{FF2B5EF4-FFF2-40B4-BE49-F238E27FC236}">
                <a16:creationId xmlns:a16="http://schemas.microsoft.com/office/drawing/2014/main" id="{B9036992-6DC7-E65F-D0C0-65A214467F32}"/>
              </a:ext>
            </a:extLst>
          </p:cNvPr>
          <p:cNvSpPr/>
          <p:nvPr/>
        </p:nvSpPr>
        <p:spPr>
          <a:xfrm>
            <a:off x="3285439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7" name="Shape 26">
            <a:extLst>
              <a:ext uri="{FF2B5EF4-FFF2-40B4-BE49-F238E27FC236}">
                <a16:creationId xmlns:a16="http://schemas.microsoft.com/office/drawing/2014/main" id="{ABB50F62-F0D6-091D-1FE9-D71276542373}"/>
              </a:ext>
            </a:extLst>
          </p:cNvPr>
          <p:cNvSpPr/>
          <p:nvPr/>
        </p:nvSpPr>
        <p:spPr>
          <a:xfrm>
            <a:off x="2752344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27">
            <a:extLst>
              <a:ext uri="{FF2B5EF4-FFF2-40B4-BE49-F238E27FC236}">
                <a16:creationId xmlns:a16="http://schemas.microsoft.com/office/drawing/2014/main" id="{86301711-34B9-9EF4-84FD-F2485D2020AD}"/>
              </a:ext>
            </a:extLst>
          </p:cNvPr>
          <p:cNvSpPr/>
          <p:nvPr/>
        </p:nvSpPr>
        <p:spPr>
          <a:xfrm>
            <a:off x="3320186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28">
            <a:extLst>
              <a:ext uri="{FF2B5EF4-FFF2-40B4-BE49-F238E27FC236}">
                <a16:creationId xmlns:a16="http://schemas.microsoft.com/office/drawing/2014/main" id="{CCA120EA-AB83-89A0-3865-53C07ABB6A39}"/>
              </a:ext>
            </a:extLst>
          </p:cNvPr>
          <p:cNvSpPr/>
          <p:nvPr/>
        </p:nvSpPr>
        <p:spPr>
          <a:xfrm>
            <a:off x="3356762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00" name="Shape 29">
            <a:extLst>
              <a:ext uri="{FF2B5EF4-FFF2-40B4-BE49-F238E27FC236}">
                <a16:creationId xmlns:a16="http://schemas.microsoft.com/office/drawing/2014/main" id="{B7759955-37B5-9495-B57B-D5DAF941B13E}"/>
              </a:ext>
            </a:extLst>
          </p:cNvPr>
          <p:cNvSpPr/>
          <p:nvPr/>
        </p:nvSpPr>
        <p:spPr>
          <a:xfrm>
            <a:off x="2752344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30">
            <a:extLst>
              <a:ext uri="{FF2B5EF4-FFF2-40B4-BE49-F238E27FC236}">
                <a16:creationId xmlns:a16="http://schemas.microsoft.com/office/drawing/2014/main" id="{E4610164-662E-A214-2561-AF3C4F92A960}"/>
              </a:ext>
            </a:extLst>
          </p:cNvPr>
          <p:cNvSpPr/>
          <p:nvPr/>
        </p:nvSpPr>
        <p:spPr>
          <a:xfrm>
            <a:off x="3320186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31">
            <a:extLst>
              <a:ext uri="{FF2B5EF4-FFF2-40B4-BE49-F238E27FC236}">
                <a16:creationId xmlns:a16="http://schemas.microsoft.com/office/drawing/2014/main" id="{AC527E3A-F53F-C246-F14B-228EE53CB400}"/>
              </a:ext>
            </a:extLst>
          </p:cNvPr>
          <p:cNvSpPr/>
          <p:nvPr/>
        </p:nvSpPr>
        <p:spPr>
          <a:xfrm>
            <a:off x="3356762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3" name="Shape 32">
            <a:extLst>
              <a:ext uri="{FF2B5EF4-FFF2-40B4-BE49-F238E27FC236}">
                <a16:creationId xmlns:a16="http://schemas.microsoft.com/office/drawing/2014/main" id="{74908D7B-5A53-AD4D-E641-6C6D1965AA03}"/>
              </a:ext>
            </a:extLst>
          </p:cNvPr>
          <p:cNvSpPr/>
          <p:nvPr/>
        </p:nvSpPr>
        <p:spPr>
          <a:xfrm>
            <a:off x="2752344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33">
            <a:extLst>
              <a:ext uri="{FF2B5EF4-FFF2-40B4-BE49-F238E27FC236}">
                <a16:creationId xmlns:a16="http://schemas.microsoft.com/office/drawing/2014/main" id="{1FD48147-930B-E100-8DC1-B1A7D596D2C5}"/>
              </a:ext>
            </a:extLst>
          </p:cNvPr>
          <p:cNvSpPr/>
          <p:nvPr/>
        </p:nvSpPr>
        <p:spPr>
          <a:xfrm>
            <a:off x="3302355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Text 34">
            <a:extLst>
              <a:ext uri="{FF2B5EF4-FFF2-40B4-BE49-F238E27FC236}">
                <a16:creationId xmlns:a16="http://schemas.microsoft.com/office/drawing/2014/main" id="{843ACE8F-DB9A-AB27-A9D6-27AF1815B64E}"/>
              </a:ext>
            </a:extLst>
          </p:cNvPr>
          <p:cNvSpPr/>
          <p:nvPr/>
        </p:nvSpPr>
        <p:spPr>
          <a:xfrm>
            <a:off x="3338931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06" name="Shape 35">
            <a:extLst>
              <a:ext uri="{FF2B5EF4-FFF2-40B4-BE49-F238E27FC236}">
                <a16:creationId xmlns:a16="http://schemas.microsoft.com/office/drawing/2014/main" id="{410EB163-944C-AC8B-90F5-2300AA2EE54D}"/>
              </a:ext>
            </a:extLst>
          </p:cNvPr>
          <p:cNvSpPr/>
          <p:nvPr/>
        </p:nvSpPr>
        <p:spPr>
          <a:xfrm>
            <a:off x="2752344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36">
            <a:extLst>
              <a:ext uri="{FF2B5EF4-FFF2-40B4-BE49-F238E27FC236}">
                <a16:creationId xmlns:a16="http://schemas.microsoft.com/office/drawing/2014/main" id="{A7D860CA-6903-E5D1-CB27-9875F7C13914}"/>
              </a:ext>
            </a:extLst>
          </p:cNvPr>
          <p:cNvSpPr/>
          <p:nvPr/>
        </p:nvSpPr>
        <p:spPr>
          <a:xfrm>
            <a:off x="3302355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37">
            <a:extLst>
              <a:ext uri="{FF2B5EF4-FFF2-40B4-BE49-F238E27FC236}">
                <a16:creationId xmlns:a16="http://schemas.microsoft.com/office/drawing/2014/main" id="{5545AD6A-9213-10F9-EB42-D63698D55FED}"/>
              </a:ext>
            </a:extLst>
          </p:cNvPr>
          <p:cNvSpPr/>
          <p:nvPr/>
        </p:nvSpPr>
        <p:spPr>
          <a:xfrm>
            <a:off x="3338931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09" name="Shape 38">
            <a:extLst>
              <a:ext uri="{FF2B5EF4-FFF2-40B4-BE49-F238E27FC236}">
                <a16:creationId xmlns:a16="http://schemas.microsoft.com/office/drawing/2014/main" id="{95ADD20D-F312-D8EB-3F6A-528DDF09D8C9}"/>
              </a:ext>
            </a:extLst>
          </p:cNvPr>
          <p:cNvSpPr/>
          <p:nvPr/>
        </p:nvSpPr>
        <p:spPr>
          <a:xfrm>
            <a:off x="3964838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39">
            <a:extLst>
              <a:ext uri="{FF2B5EF4-FFF2-40B4-BE49-F238E27FC236}">
                <a16:creationId xmlns:a16="http://schemas.microsoft.com/office/drawing/2014/main" id="{D7A50B9B-AD99-E171-CAC9-64E46BBAE012}"/>
              </a:ext>
            </a:extLst>
          </p:cNvPr>
          <p:cNvSpPr/>
          <p:nvPr/>
        </p:nvSpPr>
        <p:spPr>
          <a:xfrm>
            <a:off x="4497019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Text 40">
            <a:extLst>
              <a:ext uri="{FF2B5EF4-FFF2-40B4-BE49-F238E27FC236}">
                <a16:creationId xmlns:a16="http://schemas.microsoft.com/office/drawing/2014/main" id="{6F3361E2-2D4D-BAB2-A0E4-213CB3A60EFE}"/>
              </a:ext>
            </a:extLst>
          </p:cNvPr>
          <p:cNvSpPr/>
          <p:nvPr/>
        </p:nvSpPr>
        <p:spPr>
          <a:xfrm>
            <a:off x="4533595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212" name="Shape 41">
            <a:extLst>
              <a:ext uri="{FF2B5EF4-FFF2-40B4-BE49-F238E27FC236}">
                <a16:creationId xmlns:a16="http://schemas.microsoft.com/office/drawing/2014/main" id="{CB0A7075-E677-AD40-C314-4F0C59D21467}"/>
              </a:ext>
            </a:extLst>
          </p:cNvPr>
          <p:cNvSpPr/>
          <p:nvPr/>
        </p:nvSpPr>
        <p:spPr>
          <a:xfrm>
            <a:off x="4107485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42">
            <a:extLst>
              <a:ext uri="{FF2B5EF4-FFF2-40B4-BE49-F238E27FC236}">
                <a16:creationId xmlns:a16="http://schemas.microsoft.com/office/drawing/2014/main" id="{435C5326-05BE-F9CC-DD66-4EFC61C5AFDB}"/>
              </a:ext>
            </a:extLst>
          </p:cNvPr>
          <p:cNvSpPr/>
          <p:nvPr/>
        </p:nvSpPr>
        <p:spPr>
          <a:xfrm>
            <a:off x="4568342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 43">
            <a:extLst>
              <a:ext uri="{FF2B5EF4-FFF2-40B4-BE49-F238E27FC236}">
                <a16:creationId xmlns:a16="http://schemas.microsoft.com/office/drawing/2014/main" id="{715EAA5C-3F74-A3F9-6B7F-C5B0A4F0F5A7}"/>
              </a:ext>
            </a:extLst>
          </p:cNvPr>
          <p:cNvSpPr/>
          <p:nvPr/>
        </p:nvSpPr>
        <p:spPr>
          <a:xfrm>
            <a:off x="4604918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5" name="Shape 44">
            <a:extLst>
              <a:ext uri="{FF2B5EF4-FFF2-40B4-BE49-F238E27FC236}">
                <a16:creationId xmlns:a16="http://schemas.microsoft.com/office/drawing/2014/main" id="{2A68F90A-917B-5BA8-A0B6-E031B13F019A}"/>
              </a:ext>
            </a:extLst>
          </p:cNvPr>
          <p:cNvSpPr/>
          <p:nvPr/>
        </p:nvSpPr>
        <p:spPr>
          <a:xfrm flipV="1">
            <a:off x="4071823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45">
            <a:extLst>
              <a:ext uri="{FF2B5EF4-FFF2-40B4-BE49-F238E27FC236}">
                <a16:creationId xmlns:a16="http://schemas.microsoft.com/office/drawing/2014/main" id="{2C313FD6-872D-FDF5-1016-C33C25945E24}"/>
              </a:ext>
            </a:extLst>
          </p:cNvPr>
          <p:cNvSpPr/>
          <p:nvPr/>
        </p:nvSpPr>
        <p:spPr>
          <a:xfrm>
            <a:off x="4550511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46">
            <a:extLst>
              <a:ext uri="{FF2B5EF4-FFF2-40B4-BE49-F238E27FC236}">
                <a16:creationId xmlns:a16="http://schemas.microsoft.com/office/drawing/2014/main" id="{895B88B1-9763-0468-9371-D27777DA0CEE}"/>
              </a:ext>
            </a:extLst>
          </p:cNvPr>
          <p:cNvSpPr/>
          <p:nvPr/>
        </p:nvSpPr>
        <p:spPr>
          <a:xfrm>
            <a:off x="4587087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218" name="Shape 47">
            <a:extLst>
              <a:ext uri="{FF2B5EF4-FFF2-40B4-BE49-F238E27FC236}">
                <a16:creationId xmlns:a16="http://schemas.microsoft.com/office/drawing/2014/main" id="{9E1558F2-105B-6139-02FA-99FCA5BACFCD}"/>
              </a:ext>
            </a:extLst>
          </p:cNvPr>
          <p:cNvSpPr/>
          <p:nvPr/>
        </p:nvSpPr>
        <p:spPr>
          <a:xfrm>
            <a:off x="1450238" y="3287268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Text 48">
            <a:extLst>
              <a:ext uri="{FF2B5EF4-FFF2-40B4-BE49-F238E27FC236}">
                <a16:creationId xmlns:a16="http://schemas.microsoft.com/office/drawing/2014/main" id="{958DA4BF-D764-3E41-DDC0-B24F9FD52EAB}"/>
              </a:ext>
            </a:extLst>
          </p:cNvPr>
          <p:cNvSpPr/>
          <p:nvPr/>
        </p:nvSpPr>
        <p:spPr>
          <a:xfrm>
            <a:off x="145023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220" name="Shape 49">
            <a:extLst>
              <a:ext uri="{FF2B5EF4-FFF2-40B4-BE49-F238E27FC236}">
                <a16:creationId xmlns:a16="http://schemas.microsoft.com/office/drawing/2014/main" id="{1A85A636-408E-9051-A35A-8A453FF6EF01}"/>
              </a:ext>
            </a:extLst>
          </p:cNvPr>
          <p:cNvSpPr/>
          <p:nvPr/>
        </p:nvSpPr>
        <p:spPr>
          <a:xfrm>
            <a:off x="2555748" y="2502713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 50">
            <a:extLst>
              <a:ext uri="{FF2B5EF4-FFF2-40B4-BE49-F238E27FC236}">
                <a16:creationId xmlns:a16="http://schemas.microsoft.com/office/drawing/2014/main" id="{B8CC06B4-8AE0-9BDA-F827-BFC009A24B4B}"/>
              </a:ext>
            </a:extLst>
          </p:cNvPr>
          <p:cNvSpPr/>
          <p:nvPr/>
        </p:nvSpPr>
        <p:spPr>
          <a:xfrm>
            <a:off x="2555748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22" name="Shape 51">
            <a:extLst>
              <a:ext uri="{FF2B5EF4-FFF2-40B4-BE49-F238E27FC236}">
                <a16:creationId xmlns:a16="http://schemas.microsoft.com/office/drawing/2014/main" id="{A79DB022-FE10-06C8-889D-43C0E36204DD}"/>
              </a:ext>
            </a:extLst>
          </p:cNvPr>
          <p:cNvSpPr/>
          <p:nvPr/>
        </p:nvSpPr>
        <p:spPr>
          <a:xfrm>
            <a:off x="2555748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Text 52">
            <a:extLst>
              <a:ext uri="{FF2B5EF4-FFF2-40B4-BE49-F238E27FC236}">
                <a16:creationId xmlns:a16="http://schemas.microsoft.com/office/drawing/2014/main" id="{E6FBD5FC-0418-1F9E-F896-16F3D9D137F0}"/>
              </a:ext>
            </a:extLst>
          </p:cNvPr>
          <p:cNvSpPr/>
          <p:nvPr/>
        </p:nvSpPr>
        <p:spPr>
          <a:xfrm>
            <a:off x="255574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24" name="Shape 53">
            <a:extLst>
              <a:ext uri="{FF2B5EF4-FFF2-40B4-BE49-F238E27FC236}">
                <a16:creationId xmlns:a16="http://schemas.microsoft.com/office/drawing/2014/main" id="{8A95AB7B-BCEB-9096-7F23-A5B3B0C99982}"/>
              </a:ext>
            </a:extLst>
          </p:cNvPr>
          <p:cNvSpPr/>
          <p:nvPr/>
        </p:nvSpPr>
        <p:spPr>
          <a:xfrm>
            <a:off x="2555748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54">
            <a:extLst>
              <a:ext uri="{FF2B5EF4-FFF2-40B4-BE49-F238E27FC236}">
                <a16:creationId xmlns:a16="http://schemas.microsoft.com/office/drawing/2014/main" id="{39A889C8-57DF-8982-4792-A7382912B41C}"/>
              </a:ext>
            </a:extLst>
          </p:cNvPr>
          <p:cNvSpPr/>
          <p:nvPr/>
        </p:nvSpPr>
        <p:spPr>
          <a:xfrm>
            <a:off x="2555748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226" name="Shape 55">
            <a:extLst>
              <a:ext uri="{FF2B5EF4-FFF2-40B4-BE49-F238E27FC236}">
                <a16:creationId xmlns:a16="http://schemas.microsoft.com/office/drawing/2014/main" id="{1E60F372-3321-F6BA-4A47-5FF9416F0AC4}"/>
              </a:ext>
            </a:extLst>
          </p:cNvPr>
          <p:cNvSpPr/>
          <p:nvPr/>
        </p:nvSpPr>
        <p:spPr>
          <a:xfrm>
            <a:off x="3768242" y="2456687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Text 56">
            <a:extLst>
              <a:ext uri="{FF2B5EF4-FFF2-40B4-BE49-F238E27FC236}">
                <a16:creationId xmlns:a16="http://schemas.microsoft.com/office/drawing/2014/main" id="{1E4C79EE-4A15-FAEA-F1CE-30547797FEF8}"/>
              </a:ext>
            </a:extLst>
          </p:cNvPr>
          <p:cNvSpPr/>
          <p:nvPr/>
        </p:nvSpPr>
        <p:spPr>
          <a:xfrm>
            <a:off x="3773784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228" name="Shape 57">
            <a:extLst>
              <a:ext uri="{FF2B5EF4-FFF2-40B4-BE49-F238E27FC236}">
                <a16:creationId xmlns:a16="http://schemas.microsoft.com/office/drawing/2014/main" id="{A4F1FC33-E80F-7B35-566A-2AC5739FE1CC}"/>
              </a:ext>
            </a:extLst>
          </p:cNvPr>
          <p:cNvSpPr/>
          <p:nvPr/>
        </p:nvSpPr>
        <p:spPr>
          <a:xfrm>
            <a:off x="3910889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 58">
            <a:extLst>
              <a:ext uri="{FF2B5EF4-FFF2-40B4-BE49-F238E27FC236}">
                <a16:creationId xmlns:a16="http://schemas.microsoft.com/office/drawing/2014/main" id="{AEC44C86-7869-4FC3-4082-2FE629EC6F9F}"/>
              </a:ext>
            </a:extLst>
          </p:cNvPr>
          <p:cNvSpPr/>
          <p:nvPr/>
        </p:nvSpPr>
        <p:spPr>
          <a:xfrm>
            <a:off x="3910889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30" name="Shape 59">
            <a:extLst>
              <a:ext uri="{FF2B5EF4-FFF2-40B4-BE49-F238E27FC236}">
                <a16:creationId xmlns:a16="http://schemas.microsoft.com/office/drawing/2014/main" id="{56E7AC4B-75F2-9E78-4E7F-7795D19BB8FA}"/>
              </a:ext>
            </a:extLst>
          </p:cNvPr>
          <p:cNvSpPr/>
          <p:nvPr/>
        </p:nvSpPr>
        <p:spPr>
          <a:xfrm>
            <a:off x="3875227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Text 60">
            <a:extLst>
              <a:ext uri="{FF2B5EF4-FFF2-40B4-BE49-F238E27FC236}">
                <a16:creationId xmlns:a16="http://schemas.microsoft.com/office/drawing/2014/main" id="{7865D05E-9EB5-D804-0481-38239537864F}"/>
              </a:ext>
            </a:extLst>
          </p:cNvPr>
          <p:cNvSpPr/>
          <p:nvPr/>
        </p:nvSpPr>
        <p:spPr>
          <a:xfrm>
            <a:off x="3875227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232" name="Shape 61">
            <a:extLst>
              <a:ext uri="{FF2B5EF4-FFF2-40B4-BE49-F238E27FC236}">
                <a16:creationId xmlns:a16="http://schemas.microsoft.com/office/drawing/2014/main" id="{B23C5F2E-8249-067F-1018-EFE6572A07E3}"/>
              </a:ext>
            </a:extLst>
          </p:cNvPr>
          <p:cNvSpPr/>
          <p:nvPr/>
        </p:nvSpPr>
        <p:spPr>
          <a:xfrm>
            <a:off x="5052060" y="3287268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Text 62">
            <a:extLst>
              <a:ext uri="{FF2B5EF4-FFF2-40B4-BE49-F238E27FC236}">
                <a16:creationId xmlns:a16="http://schemas.microsoft.com/office/drawing/2014/main" id="{EF528386-9122-16B1-5F72-C452294788BC}"/>
              </a:ext>
            </a:extLst>
          </p:cNvPr>
          <p:cNvSpPr/>
          <p:nvPr/>
        </p:nvSpPr>
        <p:spPr>
          <a:xfrm>
            <a:off x="5052060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BFS guarantees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is strongest when every action has the same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73152" cy="100584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with finite branching (i.e., a solution exists)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73152" cy="100584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No, unless all edge costs are equal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73152" cy="1005840"/>
          </a:xfrm>
          <a:prstGeom prst="rect">
            <a:avLst/>
          </a:prstGeom>
          <a:solidFill>
            <a:srgbClr val="D94E4E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high: stores a full frontier layer (O(b</a:t>
            </a:r>
            <a:r>
              <a:rPr lang="en-US" sz="1350" baseline="300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200400"/>
            <a:ext cx="73152" cy="1005840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fewest actions, shallow goals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misconception: shallowest does not necessarily mean cheapest.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Depth-First Search: follow one branch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expands the most recently added frontier node.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75D28C72-E68D-DB17-6AD4-69349ECB56E9}"/>
              </a:ext>
            </a:extLst>
          </p:cNvPr>
          <p:cNvSpPr/>
          <p:nvPr/>
        </p:nvSpPr>
        <p:spPr>
          <a:xfrm flipH="1">
            <a:off x="1369772" y="2869387"/>
            <a:ext cx="1122883" cy="813817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r>
              <a:rPr lang="en-US" dirty="0"/>
              <a:t>F</a:t>
            </a:r>
          </a:p>
        </p:txBody>
      </p:sp>
      <p:sp>
        <p:nvSpPr>
          <p:cNvPr id="7" name="Shape 5"/>
          <p:cNvSpPr/>
          <p:nvPr/>
        </p:nvSpPr>
        <p:spPr>
          <a:xfrm>
            <a:off x="1369771" y="3653942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69771" y="3653942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69771" y="3653942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75281" y="2869387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75281" y="2869387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75281" y="3653942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75281" y="3653942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75281" y="4438498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87775" y="2762402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30422" y="3653942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3794760" y="3653942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73175" y="3457346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73175" y="351221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78685" y="2672791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78685" y="2727655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78685" y="345734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78685" y="351221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78685" y="4241902"/>
            <a:ext cx="393192" cy="393192"/>
          </a:xfrm>
          <a:prstGeom prst="ellipse">
            <a:avLst/>
          </a:prstGeom>
          <a:solidFill>
            <a:srgbClr val="D94E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78685" y="4296766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91179" y="256580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91179" y="26206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33826" y="3457346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33826" y="351221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98164" y="4313225"/>
            <a:ext cx="393192" cy="393192"/>
          </a:xfrm>
          <a:prstGeom prst="ellipse">
            <a:avLst/>
          </a:prstGeom>
          <a:solidFill>
            <a:srgbClr val="D94E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98164" y="4368089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74997" y="3457346"/>
            <a:ext cx="393192" cy="393192"/>
          </a:xfrm>
          <a:prstGeom prst="ellipse">
            <a:avLst/>
          </a:prstGeom>
          <a:solidFill>
            <a:srgbClr val="D94E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4997" y="351221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1783080"/>
            <a:ext cx="4480560" cy="3246120"/>
          </a:xfrm>
          <a:prstGeom prst="roundRect">
            <a:avLst>
              <a:gd name="adj" fmla="val 2254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751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behavior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6903720" y="2743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2700" dirty="0"/>
          </a:p>
          <a:p>
            <a:pPr marL="0" indent="0" algn="ctr">
              <a:buNone/>
            </a:pPr>
            <a:r>
              <a:rPr lang="en-US" sz="27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in, first out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676656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can reach a solution quickly, but it may commit to a poor branch first.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DFS stack mechanics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newest frontier node is expanded next.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of stack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017520" y="2029968"/>
            <a:ext cx="0" cy="457200"/>
          </a:xfrm>
          <a:prstGeom prst="line">
            <a:avLst/>
          </a:prstGeom>
          <a:noFill/>
          <a:ln w="31750">
            <a:solidFill>
              <a:srgbClr val="6E60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2606040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26791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3264408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33375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14600" y="3922776"/>
            <a:ext cx="1005840" cy="530352"/>
          </a:xfrm>
          <a:prstGeom prst="roundRect">
            <a:avLst>
              <a:gd name="adj" fmla="val 13793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39959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9240" y="23042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Successor-order convention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394960" y="29260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successors are placed on the frontier alphabetically, DFS removes the most recently added one.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can make the last alphabetical successor expand first.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60120" y="53035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LIFO is simple; tracing it consistently is the hard part.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DFS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graph; only the frontier rule changes.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63639" y="1463040"/>
            <a:ext cx="5057503" cy="30099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636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093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520940" y="1463040"/>
            <a:ext cx="12573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66660" y="1591056"/>
            <a:ext cx="1165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778239" y="1460863"/>
            <a:ext cx="2542903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823959" y="1588879"/>
            <a:ext cx="23579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093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7520940" y="206502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66660" y="218389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8778239" y="2062843"/>
            <a:ext cx="2542903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823959" y="2181715"/>
            <a:ext cx="2357965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)]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62636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093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80" dirty="0"/>
          </a:p>
        </p:txBody>
      </p:sp>
      <p:sp>
        <p:nvSpPr>
          <p:cNvPr id="53" name="Shape 51"/>
          <p:cNvSpPr/>
          <p:nvPr/>
        </p:nvSpPr>
        <p:spPr>
          <a:xfrm>
            <a:off x="7520940" y="266700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66660" y="278587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80" dirty="0"/>
          </a:p>
        </p:txBody>
      </p:sp>
      <p:sp>
        <p:nvSpPr>
          <p:cNvPr id="57" name="Shape 55"/>
          <p:cNvSpPr/>
          <p:nvPr/>
        </p:nvSpPr>
        <p:spPr>
          <a:xfrm>
            <a:off x="8778239" y="2664823"/>
            <a:ext cx="2542903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823959" y="2783695"/>
            <a:ext cx="2357965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)]</a:t>
            </a:r>
            <a:endParaRPr lang="en-US" sz="1180" dirty="0"/>
          </a:p>
        </p:txBody>
      </p:sp>
      <p:sp>
        <p:nvSpPr>
          <p:cNvPr id="59" name="Shape 57"/>
          <p:cNvSpPr/>
          <p:nvPr/>
        </p:nvSpPr>
        <p:spPr>
          <a:xfrm>
            <a:off x="62636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093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80" dirty="0"/>
          </a:p>
        </p:txBody>
      </p:sp>
      <p:sp>
        <p:nvSpPr>
          <p:cNvPr id="61" name="Shape 59"/>
          <p:cNvSpPr/>
          <p:nvPr/>
        </p:nvSpPr>
        <p:spPr>
          <a:xfrm>
            <a:off x="7520940" y="3268980"/>
            <a:ext cx="12573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566660" y="338785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80" dirty="0"/>
          </a:p>
        </p:txBody>
      </p:sp>
      <p:sp>
        <p:nvSpPr>
          <p:cNvPr id="65" name="Shape 63"/>
          <p:cNvSpPr/>
          <p:nvPr/>
        </p:nvSpPr>
        <p:spPr>
          <a:xfrm>
            <a:off x="8778239" y="3266803"/>
            <a:ext cx="2542903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823959" y="3385675"/>
            <a:ext cx="2357965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(S,C,</a:t>
            </a:r>
            <a:r>
              <a:rPr lang="en-US" sz="11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r>
              <a:rPr lang="en-US" sz="11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)]</a:t>
            </a:r>
            <a:endParaRPr lang="en-US" sz="1180" dirty="0"/>
          </a:p>
        </p:txBody>
      </p:sp>
      <p:sp>
        <p:nvSpPr>
          <p:cNvPr id="67" name="Shape 65"/>
          <p:cNvSpPr/>
          <p:nvPr/>
        </p:nvSpPr>
        <p:spPr>
          <a:xfrm>
            <a:off x="62636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093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</a:rPr>
              <a:t>…</a:t>
            </a:r>
            <a:endParaRPr lang="en-US" sz="1180" dirty="0"/>
          </a:p>
        </p:txBody>
      </p:sp>
      <p:sp>
        <p:nvSpPr>
          <p:cNvPr id="69" name="Shape 67"/>
          <p:cNvSpPr/>
          <p:nvPr/>
        </p:nvSpPr>
        <p:spPr>
          <a:xfrm>
            <a:off x="7520940" y="3870960"/>
            <a:ext cx="12573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566660" y="3989832"/>
            <a:ext cx="11658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32033"/>
                </a:solidFill>
                <a:latin typeface="Aptos" pitchFamily="34" charset="0"/>
              </a:rPr>
              <a:t>partner</a:t>
            </a:r>
            <a:endParaRPr lang="en-US" sz="1180" dirty="0"/>
          </a:p>
        </p:txBody>
      </p:sp>
      <p:sp>
        <p:nvSpPr>
          <p:cNvPr id="73" name="Shape 71"/>
          <p:cNvSpPr/>
          <p:nvPr/>
        </p:nvSpPr>
        <p:spPr>
          <a:xfrm>
            <a:off x="8778239" y="3868783"/>
            <a:ext cx="2542903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823959" y="3987655"/>
            <a:ext cx="2357965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/>
              <a:t>complete …</a:t>
            </a:r>
          </a:p>
        </p:txBody>
      </p:sp>
      <p:sp>
        <p:nvSpPr>
          <p:cNvPr id="83" name="Text 81"/>
          <p:cNvSpPr/>
          <p:nvPr/>
        </p:nvSpPr>
        <p:spPr>
          <a:xfrm>
            <a:off x="914400" y="57150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this ordering, DFS returns the first deep solution it finds.</a:t>
            </a:r>
            <a:endParaRPr lang="en-US" sz="2000" dirty="0"/>
          </a:p>
        </p:txBody>
      </p:sp>
      <p:sp>
        <p:nvSpPr>
          <p:cNvPr id="86" name="Shape 26">
            <a:extLst>
              <a:ext uri="{FF2B5EF4-FFF2-40B4-BE49-F238E27FC236}">
                <a16:creationId xmlns:a16="http://schemas.microsoft.com/office/drawing/2014/main" id="{149AAA46-AF71-5534-9BB3-C74653069D5E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14">
            <a:extLst>
              <a:ext uri="{FF2B5EF4-FFF2-40B4-BE49-F238E27FC236}">
                <a16:creationId xmlns:a16="http://schemas.microsoft.com/office/drawing/2014/main" id="{EAE405D6-47B8-B479-2084-EDE38EF1B4F8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15">
            <a:extLst>
              <a:ext uri="{FF2B5EF4-FFF2-40B4-BE49-F238E27FC236}">
                <a16:creationId xmlns:a16="http://schemas.microsoft.com/office/drawing/2014/main" id="{1C048E25-83B2-BB97-D235-74D2B3296F9F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2106C0CC-F165-D195-8819-FE1E46F1EB4C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4" name="Shape 17">
            <a:extLst>
              <a:ext uri="{FF2B5EF4-FFF2-40B4-BE49-F238E27FC236}">
                <a16:creationId xmlns:a16="http://schemas.microsoft.com/office/drawing/2014/main" id="{060C8AA4-1061-06FB-A263-2619F33E1F38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18">
            <a:extLst>
              <a:ext uri="{FF2B5EF4-FFF2-40B4-BE49-F238E27FC236}">
                <a16:creationId xmlns:a16="http://schemas.microsoft.com/office/drawing/2014/main" id="{D699A219-D6B4-B5CC-7429-F196674E403D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19">
            <a:extLst>
              <a:ext uri="{FF2B5EF4-FFF2-40B4-BE49-F238E27FC236}">
                <a16:creationId xmlns:a16="http://schemas.microsoft.com/office/drawing/2014/main" id="{919412FF-5F8D-0464-1771-7FBC50E984AA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00" name="Shape 20">
            <a:extLst>
              <a:ext uri="{FF2B5EF4-FFF2-40B4-BE49-F238E27FC236}">
                <a16:creationId xmlns:a16="http://schemas.microsoft.com/office/drawing/2014/main" id="{EAE7D583-E428-5E10-0073-A05C11BA09CA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5DE7D55B-ABD8-C136-CFDA-5291CD3BAEC9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6511D70E-6678-11EA-8D53-35FA76735B7F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06" name="Shape 23">
            <a:extLst>
              <a:ext uri="{FF2B5EF4-FFF2-40B4-BE49-F238E27FC236}">
                <a16:creationId xmlns:a16="http://schemas.microsoft.com/office/drawing/2014/main" id="{14BF2D35-BE49-6DBC-1783-2D5030F14BFF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24">
            <a:extLst>
              <a:ext uri="{FF2B5EF4-FFF2-40B4-BE49-F238E27FC236}">
                <a16:creationId xmlns:a16="http://schemas.microsoft.com/office/drawing/2014/main" id="{7995010D-3B09-4F0D-75DA-A087F0EB1BDD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25">
            <a:extLst>
              <a:ext uri="{FF2B5EF4-FFF2-40B4-BE49-F238E27FC236}">
                <a16:creationId xmlns:a16="http://schemas.microsoft.com/office/drawing/2014/main" id="{06E061CC-ADD5-1200-F15B-F318284908B4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12" name="Shape 26">
            <a:extLst>
              <a:ext uri="{FF2B5EF4-FFF2-40B4-BE49-F238E27FC236}">
                <a16:creationId xmlns:a16="http://schemas.microsoft.com/office/drawing/2014/main" id="{04DB4621-0571-2AA2-79CF-F6258DF9C4A7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27">
            <a:extLst>
              <a:ext uri="{FF2B5EF4-FFF2-40B4-BE49-F238E27FC236}">
                <a16:creationId xmlns:a16="http://schemas.microsoft.com/office/drawing/2014/main" id="{5284D09D-440E-2160-26BF-902FFD8169EA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28">
            <a:extLst>
              <a:ext uri="{FF2B5EF4-FFF2-40B4-BE49-F238E27FC236}">
                <a16:creationId xmlns:a16="http://schemas.microsoft.com/office/drawing/2014/main" id="{8EE68DEF-D52A-F018-DDD0-3D7BA3A42C1A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18" name="Shape 29">
            <a:extLst>
              <a:ext uri="{FF2B5EF4-FFF2-40B4-BE49-F238E27FC236}">
                <a16:creationId xmlns:a16="http://schemas.microsoft.com/office/drawing/2014/main" id="{2DA60EDE-77B3-029C-0EC3-03F60034D266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30">
            <a:extLst>
              <a:ext uri="{FF2B5EF4-FFF2-40B4-BE49-F238E27FC236}">
                <a16:creationId xmlns:a16="http://schemas.microsoft.com/office/drawing/2014/main" id="{B5509960-837D-527D-4C19-AB8BB88497D2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31">
            <a:extLst>
              <a:ext uri="{FF2B5EF4-FFF2-40B4-BE49-F238E27FC236}">
                <a16:creationId xmlns:a16="http://schemas.microsoft.com/office/drawing/2014/main" id="{42394EB9-EF73-9603-230B-832ED00EE4C5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24" name="Shape 32">
            <a:extLst>
              <a:ext uri="{FF2B5EF4-FFF2-40B4-BE49-F238E27FC236}">
                <a16:creationId xmlns:a16="http://schemas.microsoft.com/office/drawing/2014/main" id="{6738A055-DD90-69E7-8124-E7B749D2C42C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33">
            <a:extLst>
              <a:ext uri="{FF2B5EF4-FFF2-40B4-BE49-F238E27FC236}">
                <a16:creationId xmlns:a16="http://schemas.microsoft.com/office/drawing/2014/main" id="{02D19297-07C6-D4A6-7734-C5D75CF547B5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34">
            <a:extLst>
              <a:ext uri="{FF2B5EF4-FFF2-40B4-BE49-F238E27FC236}">
                <a16:creationId xmlns:a16="http://schemas.microsoft.com/office/drawing/2014/main" id="{C4B8A647-81DA-4282-E15E-510EACCF4DE7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30" name="Shape 35">
            <a:extLst>
              <a:ext uri="{FF2B5EF4-FFF2-40B4-BE49-F238E27FC236}">
                <a16:creationId xmlns:a16="http://schemas.microsoft.com/office/drawing/2014/main" id="{213A4BDA-3ECA-9612-6791-8AC29C6487CB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36">
            <a:extLst>
              <a:ext uri="{FF2B5EF4-FFF2-40B4-BE49-F238E27FC236}">
                <a16:creationId xmlns:a16="http://schemas.microsoft.com/office/drawing/2014/main" id="{7CE9721A-6E05-CA64-4AEB-C3F5BFC2DC8C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37">
            <a:extLst>
              <a:ext uri="{FF2B5EF4-FFF2-40B4-BE49-F238E27FC236}">
                <a16:creationId xmlns:a16="http://schemas.microsoft.com/office/drawing/2014/main" id="{19817851-DF82-F1F1-0BC7-377880DBD917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6" name="Shape 38">
            <a:extLst>
              <a:ext uri="{FF2B5EF4-FFF2-40B4-BE49-F238E27FC236}">
                <a16:creationId xmlns:a16="http://schemas.microsoft.com/office/drawing/2014/main" id="{BC912CB1-5EBE-2E2E-00CC-7C0FFFB16CAB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39">
            <a:extLst>
              <a:ext uri="{FF2B5EF4-FFF2-40B4-BE49-F238E27FC236}">
                <a16:creationId xmlns:a16="http://schemas.microsoft.com/office/drawing/2014/main" id="{34CBD1A3-5C36-77FF-EC9B-91AFCB7D8E0F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25F2E0B4-DC82-61DA-35E2-70E22B483E1E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42" name="Shape 41">
            <a:extLst>
              <a:ext uri="{FF2B5EF4-FFF2-40B4-BE49-F238E27FC236}">
                <a16:creationId xmlns:a16="http://schemas.microsoft.com/office/drawing/2014/main" id="{84295908-2481-797F-2453-D6E199CF94C9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42">
            <a:extLst>
              <a:ext uri="{FF2B5EF4-FFF2-40B4-BE49-F238E27FC236}">
                <a16:creationId xmlns:a16="http://schemas.microsoft.com/office/drawing/2014/main" id="{4C2439D2-555E-54F0-00A1-0E0938E320C8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43">
            <a:extLst>
              <a:ext uri="{FF2B5EF4-FFF2-40B4-BE49-F238E27FC236}">
                <a16:creationId xmlns:a16="http://schemas.microsoft.com/office/drawing/2014/main" id="{6DEF4CC2-F62D-8253-18D1-480241FC7CA7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8" name="Shape 44">
            <a:extLst>
              <a:ext uri="{FF2B5EF4-FFF2-40B4-BE49-F238E27FC236}">
                <a16:creationId xmlns:a16="http://schemas.microsoft.com/office/drawing/2014/main" id="{6E6EE61E-D3CA-BB48-8642-233AB2D5F1AE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45">
            <a:extLst>
              <a:ext uri="{FF2B5EF4-FFF2-40B4-BE49-F238E27FC236}">
                <a16:creationId xmlns:a16="http://schemas.microsoft.com/office/drawing/2014/main" id="{289BD238-0C0E-F596-BEC1-C1BA3E12551B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46">
            <a:extLst>
              <a:ext uri="{FF2B5EF4-FFF2-40B4-BE49-F238E27FC236}">
                <a16:creationId xmlns:a16="http://schemas.microsoft.com/office/drawing/2014/main" id="{2FE798E1-5302-9B86-F45A-968E150BCAAC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54" name="Shape 47">
            <a:extLst>
              <a:ext uri="{FF2B5EF4-FFF2-40B4-BE49-F238E27FC236}">
                <a16:creationId xmlns:a16="http://schemas.microsoft.com/office/drawing/2014/main" id="{59AAB2B9-DC0D-0D47-0771-D7E8F4161BC4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48">
            <a:extLst>
              <a:ext uri="{FF2B5EF4-FFF2-40B4-BE49-F238E27FC236}">
                <a16:creationId xmlns:a16="http://schemas.microsoft.com/office/drawing/2014/main" id="{060D9633-8E28-D0FC-5E0E-3DBA783F4A4B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58" name="Shape 49">
            <a:extLst>
              <a:ext uri="{FF2B5EF4-FFF2-40B4-BE49-F238E27FC236}">
                <a16:creationId xmlns:a16="http://schemas.microsoft.com/office/drawing/2014/main" id="{1AF66E67-22A0-6289-E1CF-294F0BBD5FE1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50">
            <a:extLst>
              <a:ext uri="{FF2B5EF4-FFF2-40B4-BE49-F238E27FC236}">
                <a16:creationId xmlns:a16="http://schemas.microsoft.com/office/drawing/2014/main" id="{0372D6E0-A97E-C2FB-4A6B-8E67454F5F87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62" name="Shape 51">
            <a:extLst>
              <a:ext uri="{FF2B5EF4-FFF2-40B4-BE49-F238E27FC236}">
                <a16:creationId xmlns:a16="http://schemas.microsoft.com/office/drawing/2014/main" id="{D3873990-ADD7-D6CB-796B-D67794780F6C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52">
            <a:extLst>
              <a:ext uri="{FF2B5EF4-FFF2-40B4-BE49-F238E27FC236}">
                <a16:creationId xmlns:a16="http://schemas.microsoft.com/office/drawing/2014/main" id="{D3129F47-E448-3B9D-30C9-C18024604819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66" name="Shape 53">
            <a:extLst>
              <a:ext uri="{FF2B5EF4-FFF2-40B4-BE49-F238E27FC236}">
                <a16:creationId xmlns:a16="http://schemas.microsoft.com/office/drawing/2014/main" id="{16DEE53E-7AE3-F912-F382-2D120F1B5ED8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54">
            <a:extLst>
              <a:ext uri="{FF2B5EF4-FFF2-40B4-BE49-F238E27FC236}">
                <a16:creationId xmlns:a16="http://schemas.microsoft.com/office/drawing/2014/main" id="{AF03947A-14D4-D69B-2F13-2F44AF100605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70" name="Shape 55">
            <a:extLst>
              <a:ext uri="{FF2B5EF4-FFF2-40B4-BE49-F238E27FC236}">
                <a16:creationId xmlns:a16="http://schemas.microsoft.com/office/drawing/2014/main" id="{BAD968F7-CE01-858D-7C6A-B3EECAB03A02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56">
            <a:extLst>
              <a:ext uri="{FF2B5EF4-FFF2-40B4-BE49-F238E27FC236}">
                <a16:creationId xmlns:a16="http://schemas.microsoft.com/office/drawing/2014/main" id="{06F56BA5-C574-FFDE-82CA-7C455BA25632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74" name="Shape 57">
            <a:extLst>
              <a:ext uri="{FF2B5EF4-FFF2-40B4-BE49-F238E27FC236}">
                <a16:creationId xmlns:a16="http://schemas.microsoft.com/office/drawing/2014/main" id="{FA999E84-A403-E06A-6371-F19918FA02A1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58">
            <a:extLst>
              <a:ext uri="{FF2B5EF4-FFF2-40B4-BE49-F238E27FC236}">
                <a16:creationId xmlns:a16="http://schemas.microsoft.com/office/drawing/2014/main" id="{9BA4AAB0-D6A5-1AD9-BA2B-90ABA3CCDAA7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78" name="Shape 59">
            <a:extLst>
              <a:ext uri="{FF2B5EF4-FFF2-40B4-BE49-F238E27FC236}">
                <a16:creationId xmlns:a16="http://schemas.microsoft.com/office/drawing/2014/main" id="{9707421A-7225-2239-07A1-9C8079FAFC75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60">
            <a:extLst>
              <a:ext uri="{FF2B5EF4-FFF2-40B4-BE49-F238E27FC236}">
                <a16:creationId xmlns:a16="http://schemas.microsoft.com/office/drawing/2014/main" id="{2C39E4AA-AE40-A4FB-7051-B8AC09592D0A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82" name="Shape 61">
            <a:extLst>
              <a:ext uri="{FF2B5EF4-FFF2-40B4-BE49-F238E27FC236}">
                <a16:creationId xmlns:a16="http://schemas.microsoft.com/office/drawing/2014/main" id="{7D3DB5C1-C55D-DE09-9C96-9D61EE5EAA75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62">
            <a:extLst>
              <a:ext uri="{FF2B5EF4-FFF2-40B4-BE49-F238E27FC236}">
                <a16:creationId xmlns:a16="http://schemas.microsoft.com/office/drawing/2014/main" id="{C2FE560F-2C9B-6E39-160D-65ACF6A8E7B7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185" name="Shape 26">
            <a:extLst>
              <a:ext uri="{FF2B5EF4-FFF2-40B4-BE49-F238E27FC236}">
                <a16:creationId xmlns:a16="http://schemas.microsoft.com/office/drawing/2014/main" id="{FECD5963-823A-3EF2-DA43-AC7197AF0C33}"/>
              </a:ext>
            </a:extLst>
          </p:cNvPr>
          <p:cNvSpPr/>
          <p:nvPr/>
        </p:nvSpPr>
        <p:spPr>
          <a:xfrm flipH="1">
            <a:off x="1666952" y="2715685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4">
            <a:extLst>
              <a:ext uri="{FF2B5EF4-FFF2-40B4-BE49-F238E27FC236}">
                <a16:creationId xmlns:a16="http://schemas.microsoft.com/office/drawing/2014/main" id="{174419FB-5F80-CDE5-55BA-5EDFAD7A5C11}"/>
              </a:ext>
            </a:extLst>
          </p:cNvPr>
          <p:cNvSpPr/>
          <p:nvPr/>
        </p:nvSpPr>
        <p:spPr>
          <a:xfrm>
            <a:off x="1642262" y="3484695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5">
            <a:extLst>
              <a:ext uri="{FF2B5EF4-FFF2-40B4-BE49-F238E27FC236}">
                <a16:creationId xmlns:a16="http://schemas.microsoft.com/office/drawing/2014/main" id="{9AE8927C-B054-5567-ACB0-58084B27AE74}"/>
              </a:ext>
            </a:extLst>
          </p:cNvPr>
          <p:cNvSpPr/>
          <p:nvPr/>
        </p:nvSpPr>
        <p:spPr>
          <a:xfrm>
            <a:off x="2085289" y="2982690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6">
            <a:extLst>
              <a:ext uri="{FF2B5EF4-FFF2-40B4-BE49-F238E27FC236}">
                <a16:creationId xmlns:a16="http://schemas.microsoft.com/office/drawing/2014/main" id="{FCE4BBE3-D819-0B1D-31EB-B14CA172A98E}"/>
              </a:ext>
            </a:extLst>
          </p:cNvPr>
          <p:cNvSpPr/>
          <p:nvPr/>
        </p:nvSpPr>
        <p:spPr>
          <a:xfrm>
            <a:off x="2121865" y="301926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89" name="Shape 17">
            <a:extLst>
              <a:ext uri="{FF2B5EF4-FFF2-40B4-BE49-F238E27FC236}">
                <a16:creationId xmlns:a16="http://schemas.microsoft.com/office/drawing/2014/main" id="{D481D32D-06D4-08FA-7E68-2841B04E9EF4}"/>
              </a:ext>
            </a:extLst>
          </p:cNvPr>
          <p:cNvSpPr/>
          <p:nvPr/>
        </p:nvSpPr>
        <p:spPr>
          <a:xfrm>
            <a:off x="1642262" y="3484695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">
            <a:extLst>
              <a:ext uri="{FF2B5EF4-FFF2-40B4-BE49-F238E27FC236}">
                <a16:creationId xmlns:a16="http://schemas.microsoft.com/office/drawing/2014/main" id="{79D86FB1-B303-A11D-AC44-FD57A2750788}"/>
              </a:ext>
            </a:extLst>
          </p:cNvPr>
          <p:cNvSpPr/>
          <p:nvPr/>
        </p:nvSpPr>
        <p:spPr>
          <a:xfrm>
            <a:off x="2085289" y="337496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19">
            <a:extLst>
              <a:ext uri="{FF2B5EF4-FFF2-40B4-BE49-F238E27FC236}">
                <a16:creationId xmlns:a16="http://schemas.microsoft.com/office/drawing/2014/main" id="{F56E3B25-5837-B292-74B3-7EE4EDCEE6C9}"/>
              </a:ext>
            </a:extLst>
          </p:cNvPr>
          <p:cNvSpPr/>
          <p:nvPr/>
        </p:nvSpPr>
        <p:spPr>
          <a:xfrm>
            <a:off x="2121865" y="341154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92" name="Shape 20">
            <a:extLst>
              <a:ext uri="{FF2B5EF4-FFF2-40B4-BE49-F238E27FC236}">
                <a16:creationId xmlns:a16="http://schemas.microsoft.com/office/drawing/2014/main" id="{169D4FA7-7818-B72E-07A5-2423D590BA5A}"/>
              </a:ext>
            </a:extLst>
          </p:cNvPr>
          <p:cNvSpPr/>
          <p:nvPr/>
        </p:nvSpPr>
        <p:spPr>
          <a:xfrm>
            <a:off x="1642262" y="3484695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21">
            <a:extLst>
              <a:ext uri="{FF2B5EF4-FFF2-40B4-BE49-F238E27FC236}">
                <a16:creationId xmlns:a16="http://schemas.microsoft.com/office/drawing/2014/main" id="{213C74DE-B0C0-9DF7-CB1C-5143EFD009DF}"/>
              </a:ext>
            </a:extLst>
          </p:cNvPr>
          <p:cNvSpPr/>
          <p:nvPr/>
        </p:nvSpPr>
        <p:spPr>
          <a:xfrm>
            <a:off x="2085289" y="3767245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22">
            <a:extLst>
              <a:ext uri="{FF2B5EF4-FFF2-40B4-BE49-F238E27FC236}">
                <a16:creationId xmlns:a16="http://schemas.microsoft.com/office/drawing/2014/main" id="{79649F14-40E9-281D-F543-40FEA8C4D76D}"/>
              </a:ext>
            </a:extLst>
          </p:cNvPr>
          <p:cNvSpPr/>
          <p:nvPr/>
        </p:nvSpPr>
        <p:spPr>
          <a:xfrm>
            <a:off x="2121865" y="3803821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5" name="Shape 23">
            <a:extLst>
              <a:ext uri="{FF2B5EF4-FFF2-40B4-BE49-F238E27FC236}">
                <a16:creationId xmlns:a16="http://schemas.microsoft.com/office/drawing/2014/main" id="{D60E5C7B-4005-7D04-22DF-6CA440FC839A}"/>
              </a:ext>
            </a:extLst>
          </p:cNvPr>
          <p:cNvSpPr/>
          <p:nvPr/>
        </p:nvSpPr>
        <p:spPr>
          <a:xfrm>
            <a:off x="2747772" y="2700140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24">
            <a:extLst>
              <a:ext uri="{FF2B5EF4-FFF2-40B4-BE49-F238E27FC236}">
                <a16:creationId xmlns:a16="http://schemas.microsoft.com/office/drawing/2014/main" id="{A08B527C-4610-E699-DFFE-6C28AC682D81}"/>
              </a:ext>
            </a:extLst>
          </p:cNvPr>
          <p:cNvSpPr/>
          <p:nvPr/>
        </p:nvSpPr>
        <p:spPr>
          <a:xfrm>
            <a:off x="3244291" y="2536920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25">
            <a:extLst>
              <a:ext uri="{FF2B5EF4-FFF2-40B4-BE49-F238E27FC236}">
                <a16:creationId xmlns:a16="http://schemas.microsoft.com/office/drawing/2014/main" id="{A26F01D3-48FE-0871-3FB7-160882C72198}"/>
              </a:ext>
            </a:extLst>
          </p:cNvPr>
          <p:cNvSpPr/>
          <p:nvPr/>
        </p:nvSpPr>
        <p:spPr>
          <a:xfrm>
            <a:off x="3280867" y="257349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8" name="Shape 26">
            <a:extLst>
              <a:ext uri="{FF2B5EF4-FFF2-40B4-BE49-F238E27FC236}">
                <a16:creationId xmlns:a16="http://schemas.microsoft.com/office/drawing/2014/main" id="{D354B355-6095-B222-9BED-469E597ABB57}"/>
              </a:ext>
            </a:extLst>
          </p:cNvPr>
          <p:cNvSpPr/>
          <p:nvPr/>
        </p:nvSpPr>
        <p:spPr>
          <a:xfrm>
            <a:off x="2747772" y="2700140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27">
            <a:extLst>
              <a:ext uri="{FF2B5EF4-FFF2-40B4-BE49-F238E27FC236}">
                <a16:creationId xmlns:a16="http://schemas.microsoft.com/office/drawing/2014/main" id="{FF52F692-A72A-917F-7B6C-BA837F45F2BE}"/>
              </a:ext>
            </a:extLst>
          </p:cNvPr>
          <p:cNvSpPr/>
          <p:nvPr/>
        </p:nvSpPr>
        <p:spPr>
          <a:xfrm>
            <a:off x="3315614" y="2982690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28">
            <a:extLst>
              <a:ext uri="{FF2B5EF4-FFF2-40B4-BE49-F238E27FC236}">
                <a16:creationId xmlns:a16="http://schemas.microsoft.com/office/drawing/2014/main" id="{D368C586-2085-748F-1BC2-B772097FC523}"/>
              </a:ext>
            </a:extLst>
          </p:cNvPr>
          <p:cNvSpPr/>
          <p:nvPr/>
        </p:nvSpPr>
        <p:spPr>
          <a:xfrm>
            <a:off x="3352190" y="301926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01" name="Shape 29">
            <a:extLst>
              <a:ext uri="{FF2B5EF4-FFF2-40B4-BE49-F238E27FC236}">
                <a16:creationId xmlns:a16="http://schemas.microsoft.com/office/drawing/2014/main" id="{6D36556C-F75B-3BFA-AB11-EFAD99557395}"/>
              </a:ext>
            </a:extLst>
          </p:cNvPr>
          <p:cNvSpPr/>
          <p:nvPr/>
        </p:nvSpPr>
        <p:spPr>
          <a:xfrm>
            <a:off x="2747772" y="3484695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30">
            <a:extLst>
              <a:ext uri="{FF2B5EF4-FFF2-40B4-BE49-F238E27FC236}">
                <a16:creationId xmlns:a16="http://schemas.microsoft.com/office/drawing/2014/main" id="{02F655C8-58BD-1B69-3160-BB1F9DE9A12F}"/>
              </a:ext>
            </a:extLst>
          </p:cNvPr>
          <p:cNvSpPr/>
          <p:nvPr/>
        </p:nvSpPr>
        <p:spPr>
          <a:xfrm>
            <a:off x="3315614" y="337496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Text 31">
            <a:extLst>
              <a:ext uri="{FF2B5EF4-FFF2-40B4-BE49-F238E27FC236}">
                <a16:creationId xmlns:a16="http://schemas.microsoft.com/office/drawing/2014/main" id="{82B3DF2F-2DFA-A8F3-95C1-AADE7C865367}"/>
              </a:ext>
            </a:extLst>
          </p:cNvPr>
          <p:cNvSpPr/>
          <p:nvPr/>
        </p:nvSpPr>
        <p:spPr>
          <a:xfrm>
            <a:off x="3352190" y="341154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04" name="Shape 32">
            <a:extLst>
              <a:ext uri="{FF2B5EF4-FFF2-40B4-BE49-F238E27FC236}">
                <a16:creationId xmlns:a16="http://schemas.microsoft.com/office/drawing/2014/main" id="{139326E3-531A-4313-D200-C5597F135C07}"/>
              </a:ext>
            </a:extLst>
          </p:cNvPr>
          <p:cNvSpPr/>
          <p:nvPr/>
        </p:nvSpPr>
        <p:spPr>
          <a:xfrm>
            <a:off x="2747772" y="3484695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33">
            <a:extLst>
              <a:ext uri="{FF2B5EF4-FFF2-40B4-BE49-F238E27FC236}">
                <a16:creationId xmlns:a16="http://schemas.microsoft.com/office/drawing/2014/main" id="{628F1178-D89B-2CBF-D45B-C50793866772}"/>
              </a:ext>
            </a:extLst>
          </p:cNvPr>
          <p:cNvSpPr/>
          <p:nvPr/>
        </p:nvSpPr>
        <p:spPr>
          <a:xfrm>
            <a:off x="3297783" y="380290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34">
            <a:extLst>
              <a:ext uri="{FF2B5EF4-FFF2-40B4-BE49-F238E27FC236}">
                <a16:creationId xmlns:a16="http://schemas.microsoft.com/office/drawing/2014/main" id="{F502DD4C-F98B-1959-B96A-B34920177B4F}"/>
              </a:ext>
            </a:extLst>
          </p:cNvPr>
          <p:cNvSpPr/>
          <p:nvPr/>
        </p:nvSpPr>
        <p:spPr>
          <a:xfrm>
            <a:off x="3334359" y="383948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07" name="Shape 35">
            <a:extLst>
              <a:ext uri="{FF2B5EF4-FFF2-40B4-BE49-F238E27FC236}">
                <a16:creationId xmlns:a16="http://schemas.microsoft.com/office/drawing/2014/main" id="{A8B54E45-F353-1462-11A6-87A11A50C83D}"/>
              </a:ext>
            </a:extLst>
          </p:cNvPr>
          <p:cNvSpPr/>
          <p:nvPr/>
        </p:nvSpPr>
        <p:spPr>
          <a:xfrm>
            <a:off x="2747772" y="4269251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36">
            <a:extLst>
              <a:ext uri="{FF2B5EF4-FFF2-40B4-BE49-F238E27FC236}">
                <a16:creationId xmlns:a16="http://schemas.microsoft.com/office/drawing/2014/main" id="{F64266BE-656C-51BF-AAB6-20AC5BBF4101}"/>
              </a:ext>
            </a:extLst>
          </p:cNvPr>
          <p:cNvSpPr/>
          <p:nvPr/>
        </p:nvSpPr>
        <p:spPr>
          <a:xfrm>
            <a:off x="3297783" y="419518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37">
            <a:extLst>
              <a:ext uri="{FF2B5EF4-FFF2-40B4-BE49-F238E27FC236}">
                <a16:creationId xmlns:a16="http://schemas.microsoft.com/office/drawing/2014/main" id="{CB5D301C-FAB7-33C8-3E5E-3E1F96617236}"/>
              </a:ext>
            </a:extLst>
          </p:cNvPr>
          <p:cNvSpPr/>
          <p:nvPr/>
        </p:nvSpPr>
        <p:spPr>
          <a:xfrm>
            <a:off x="3334359" y="423176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0" name="Shape 38">
            <a:extLst>
              <a:ext uri="{FF2B5EF4-FFF2-40B4-BE49-F238E27FC236}">
                <a16:creationId xmlns:a16="http://schemas.microsoft.com/office/drawing/2014/main" id="{B88797E6-37E8-5F37-8740-830A334FA2BF}"/>
              </a:ext>
            </a:extLst>
          </p:cNvPr>
          <p:cNvSpPr/>
          <p:nvPr/>
        </p:nvSpPr>
        <p:spPr>
          <a:xfrm>
            <a:off x="3960266" y="2593155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39">
            <a:extLst>
              <a:ext uri="{FF2B5EF4-FFF2-40B4-BE49-F238E27FC236}">
                <a16:creationId xmlns:a16="http://schemas.microsoft.com/office/drawing/2014/main" id="{1D572DE1-C3A9-CCD7-C7AD-FB008FD1B5ED}"/>
              </a:ext>
            </a:extLst>
          </p:cNvPr>
          <p:cNvSpPr/>
          <p:nvPr/>
        </p:nvSpPr>
        <p:spPr>
          <a:xfrm>
            <a:off x="4492447" y="292919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40">
            <a:extLst>
              <a:ext uri="{FF2B5EF4-FFF2-40B4-BE49-F238E27FC236}">
                <a16:creationId xmlns:a16="http://schemas.microsoft.com/office/drawing/2014/main" id="{95618135-16F6-9460-785F-98D42D90B384}"/>
              </a:ext>
            </a:extLst>
          </p:cNvPr>
          <p:cNvSpPr/>
          <p:nvPr/>
        </p:nvSpPr>
        <p:spPr>
          <a:xfrm>
            <a:off x="4529023" y="296577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213" name="Shape 41">
            <a:extLst>
              <a:ext uri="{FF2B5EF4-FFF2-40B4-BE49-F238E27FC236}">
                <a16:creationId xmlns:a16="http://schemas.microsoft.com/office/drawing/2014/main" id="{DD61434C-3E27-3972-237E-EE10AFFB3543}"/>
              </a:ext>
            </a:extLst>
          </p:cNvPr>
          <p:cNvSpPr/>
          <p:nvPr/>
        </p:nvSpPr>
        <p:spPr>
          <a:xfrm>
            <a:off x="4102913" y="3484695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42">
            <a:extLst>
              <a:ext uri="{FF2B5EF4-FFF2-40B4-BE49-F238E27FC236}">
                <a16:creationId xmlns:a16="http://schemas.microsoft.com/office/drawing/2014/main" id="{24CEB348-DF2E-AF05-461A-05EFF51919B9}"/>
              </a:ext>
            </a:extLst>
          </p:cNvPr>
          <p:cNvSpPr/>
          <p:nvPr/>
        </p:nvSpPr>
        <p:spPr>
          <a:xfrm>
            <a:off x="4563770" y="337496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43">
            <a:extLst>
              <a:ext uri="{FF2B5EF4-FFF2-40B4-BE49-F238E27FC236}">
                <a16:creationId xmlns:a16="http://schemas.microsoft.com/office/drawing/2014/main" id="{87FB5BEC-EE45-B734-E9F7-24D0E13CB520}"/>
              </a:ext>
            </a:extLst>
          </p:cNvPr>
          <p:cNvSpPr/>
          <p:nvPr/>
        </p:nvSpPr>
        <p:spPr>
          <a:xfrm>
            <a:off x="4600346" y="341154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6" name="Shape 44">
            <a:extLst>
              <a:ext uri="{FF2B5EF4-FFF2-40B4-BE49-F238E27FC236}">
                <a16:creationId xmlns:a16="http://schemas.microsoft.com/office/drawing/2014/main" id="{6704487B-8ECD-7526-490C-BFD2272E3DEF}"/>
              </a:ext>
            </a:extLst>
          </p:cNvPr>
          <p:cNvSpPr/>
          <p:nvPr/>
        </p:nvSpPr>
        <p:spPr>
          <a:xfrm flipV="1">
            <a:off x="4067251" y="3484695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45">
            <a:extLst>
              <a:ext uri="{FF2B5EF4-FFF2-40B4-BE49-F238E27FC236}">
                <a16:creationId xmlns:a16="http://schemas.microsoft.com/office/drawing/2014/main" id="{74C061C6-AFAA-825D-8F6F-45703DBA2AB6}"/>
              </a:ext>
            </a:extLst>
          </p:cNvPr>
          <p:cNvSpPr/>
          <p:nvPr/>
        </p:nvSpPr>
        <p:spPr>
          <a:xfrm>
            <a:off x="4545939" y="3802907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46">
            <a:extLst>
              <a:ext uri="{FF2B5EF4-FFF2-40B4-BE49-F238E27FC236}">
                <a16:creationId xmlns:a16="http://schemas.microsoft.com/office/drawing/2014/main" id="{1A8978C3-2562-1955-5362-6F8EF727384B}"/>
              </a:ext>
            </a:extLst>
          </p:cNvPr>
          <p:cNvSpPr/>
          <p:nvPr/>
        </p:nvSpPr>
        <p:spPr>
          <a:xfrm>
            <a:off x="4582515" y="3839483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219" name="Shape 47">
            <a:extLst>
              <a:ext uri="{FF2B5EF4-FFF2-40B4-BE49-F238E27FC236}">
                <a16:creationId xmlns:a16="http://schemas.microsoft.com/office/drawing/2014/main" id="{2732D733-1E54-2D66-DF33-A80D97C200E0}"/>
              </a:ext>
            </a:extLst>
          </p:cNvPr>
          <p:cNvSpPr/>
          <p:nvPr/>
        </p:nvSpPr>
        <p:spPr>
          <a:xfrm>
            <a:off x="1445666" y="3288099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48">
            <a:extLst>
              <a:ext uri="{FF2B5EF4-FFF2-40B4-BE49-F238E27FC236}">
                <a16:creationId xmlns:a16="http://schemas.microsoft.com/office/drawing/2014/main" id="{0E55603E-7174-A885-4C90-8103F018B06F}"/>
              </a:ext>
            </a:extLst>
          </p:cNvPr>
          <p:cNvSpPr/>
          <p:nvPr/>
        </p:nvSpPr>
        <p:spPr>
          <a:xfrm>
            <a:off x="1445666" y="334296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221" name="Shape 49">
            <a:extLst>
              <a:ext uri="{FF2B5EF4-FFF2-40B4-BE49-F238E27FC236}">
                <a16:creationId xmlns:a16="http://schemas.microsoft.com/office/drawing/2014/main" id="{928955C2-949F-5DA3-7EDF-DFBC85398F76}"/>
              </a:ext>
            </a:extLst>
          </p:cNvPr>
          <p:cNvSpPr/>
          <p:nvPr/>
        </p:nvSpPr>
        <p:spPr>
          <a:xfrm>
            <a:off x="2551176" y="250354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50">
            <a:extLst>
              <a:ext uri="{FF2B5EF4-FFF2-40B4-BE49-F238E27FC236}">
                <a16:creationId xmlns:a16="http://schemas.microsoft.com/office/drawing/2014/main" id="{4572C6D7-8626-1A75-C5F1-8765334B4110}"/>
              </a:ext>
            </a:extLst>
          </p:cNvPr>
          <p:cNvSpPr/>
          <p:nvPr/>
        </p:nvSpPr>
        <p:spPr>
          <a:xfrm>
            <a:off x="2551176" y="255840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23" name="Shape 51">
            <a:extLst>
              <a:ext uri="{FF2B5EF4-FFF2-40B4-BE49-F238E27FC236}">
                <a16:creationId xmlns:a16="http://schemas.microsoft.com/office/drawing/2014/main" id="{87D948DC-D025-E5B4-228D-78AC1FEC1228}"/>
              </a:ext>
            </a:extLst>
          </p:cNvPr>
          <p:cNvSpPr/>
          <p:nvPr/>
        </p:nvSpPr>
        <p:spPr>
          <a:xfrm>
            <a:off x="2551176" y="3288099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52">
            <a:extLst>
              <a:ext uri="{FF2B5EF4-FFF2-40B4-BE49-F238E27FC236}">
                <a16:creationId xmlns:a16="http://schemas.microsoft.com/office/drawing/2014/main" id="{0DCE0B79-7A92-1679-708B-6884939B2B8E}"/>
              </a:ext>
            </a:extLst>
          </p:cNvPr>
          <p:cNvSpPr/>
          <p:nvPr/>
        </p:nvSpPr>
        <p:spPr>
          <a:xfrm>
            <a:off x="2551176" y="334296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25" name="Shape 53">
            <a:extLst>
              <a:ext uri="{FF2B5EF4-FFF2-40B4-BE49-F238E27FC236}">
                <a16:creationId xmlns:a16="http://schemas.microsoft.com/office/drawing/2014/main" id="{F36C1656-BE6E-106E-53D8-9F67388AC1FF}"/>
              </a:ext>
            </a:extLst>
          </p:cNvPr>
          <p:cNvSpPr/>
          <p:nvPr/>
        </p:nvSpPr>
        <p:spPr>
          <a:xfrm>
            <a:off x="2551176" y="4072655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54">
            <a:extLst>
              <a:ext uri="{FF2B5EF4-FFF2-40B4-BE49-F238E27FC236}">
                <a16:creationId xmlns:a16="http://schemas.microsoft.com/office/drawing/2014/main" id="{B8032946-F99F-F218-5C61-20CC2CA3793B}"/>
              </a:ext>
            </a:extLst>
          </p:cNvPr>
          <p:cNvSpPr/>
          <p:nvPr/>
        </p:nvSpPr>
        <p:spPr>
          <a:xfrm>
            <a:off x="2551176" y="4127519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227" name="Shape 55">
            <a:extLst>
              <a:ext uri="{FF2B5EF4-FFF2-40B4-BE49-F238E27FC236}">
                <a16:creationId xmlns:a16="http://schemas.microsoft.com/office/drawing/2014/main" id="{2EB351C5-2C76-C6E1-A13D-353AC7789120}"/>
              </a:ext>
            </a:extLst>
          </p:cNvPr>
          <p:cNvSpPr/>
          <p:nvPr/>
        </p:nvSpPr>
        <p:spPr>
          <a:xfrm>
            <a:off x="3763670" y="245751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56">
            <a:extLst>
              <a:ext uri="{FF2B5EF4-FFF2-40B4-BE49-F238E27FC236}">
                <a16:creationId xmlns:a16="http://schemas.microsoft.com/office/drawing/2014/main" id="{9275EFA8-D5F3-FB7D-8FD2-9667CCE1ED29}"/>
              </a:ext>
            </a:extLst>
          </p:cNvPr>
          <p:cNvSpPr/>
          <p:nvPr/>
        </p:nvSpPr>
        <p:spPr>
          <a:xfrm>
            <a:off x="3769212" y="250130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229" name="Shape 57">
            <a:extLst>
              <a:ext uri="{FF2B5EF4-FFF2-40B4-BE49-F238E27FC236}">
                <a16:creationId xmlns:a16="http://schemas.microsoft.com/office/drawing/2014/main" id="{6EA9F4D5-1DD4-0CA2-64BC-8E6BB5EA8E3C}"/>
              </a:ext>
            </a:extLst>
          </p:cNvPr>
          <p:cNvSpPr/>
          <p:nvPr/>
        </p:nvSpPr>
        <p:spPr>
          <a:xfrm>
            <a:off x="3906317" y="3288099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58">
            <a:extLst>
              <a:ext uri="{FF2B5EF4-FFF2-40B4-BE49-F238E27FC236}">
                <a16:creationId xmlns:a16="http://schemas.microsoft.com/office/drawing/2014/main" id="{ABB58C81-BD54-90AD-F850-F6629966A7A5}"/>
              </a:ext>
            </a:extLst>
          </p:cNvPr>
          <p:cNvSpPr/>
          <p:nvPr/>
        </p:nvSpPr>
        <p:spPr>
          <a:xfrm>
            <a:off x="3906317" y="334296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31" name="Shape 59">
            <a:extLst>
              <a:ext uri="{FF2B5EF4-FFF2-40B4-BE49-F238E27FC236}">
                <a16:creationId xmlns:a16="http://schemas.microsoft.com/office/drawing/2014/main" id="{A98CAFB4-6E12-5C5E-32CA-9EDC80424F9E}"/>
              </a:ext>
            </a:extLst>
          </p:cNvPr>
          <p:cNvSpPr/>
          <p:nvPr/>
        </p:nvSpPr>
        <p:spPr>
          <a:xfrm>
            <a:off x="3870655" y="4143978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 60">
            <a:extLst>
              <a:ext uri="{FF2B5EF4-FFF2-40B4-BE49-F238E27FC236}">
                <a16:creationId xmlns:a16="http://schemas.microsoft.com/office/drawing/2014/main" id="{2B259C64-CFBE-5A59-6682-90080867AF8E}"/>
              </a:ext>
            </a:extLst>
          </p:cNvPr>
          <p:cNvSpPr/>
          <p:nvPr/>
        </p:nvSpPr>
        <p:spPr>
          <a:xfrm>
            <a:off x="3870655" y="419884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233" name="Shape 61">
            <a:extLst>
              <a:ext uri="{FF2B5EF4-FFF2-40B4-BE49-F238E27FC236}">
                <a16:creationId xmlns:a16="http://schemas.microsoft.com/office/drawing/2014/main" id="{FCEBC6D6-C2EF-512F-C2F5-49E167E1F035}"/>
              </a:ext>
            </a:extLst>
          </p:cNvPr>
          <p:cNvSpPr/>
          <p:nvPr/>
        </p:nvSpPr>
        <p:spPr>
          <a:xfrm>
            <a:off x="5047488" y="3288099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Text 62">
            <a:extLst>
              <a:ext uri="{FF2B5EF4-FFF2-40B4-BE49-F238E27FC236}">
                <a16:creationId xmlns:a16="http://schemas.microsoft.com/office/drawing/2014/main" id="{9F2A94A8-8457-18E4-6DC5-AC48D852B11D}"/>
              </a:ext>
            </a:extLst>
          </p:cNvPr>
          <p:cNvSpPr/>
          <p:nvPr/>
        </p:nvSpPr>
        <p:spPr>
          <a:xfrm>
            <a:off x="5047488" y="334296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DFS guarantees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trades weaker guarantees for lower memory.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73152" cy="1005840"/>
          </a:xfrm>
          <a:prstGeom prst="rect">
            <a:avLst/>
          </a:prstGeom>
          <a:solidFill>
            <a:srgbClr val="D94E4E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guaranteed with cycles or infinite depth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73152" cy="1005840"/>
          </a:xfrm>
          <a:prstGeom prst="rect">
            <a:avLst/>
          </a:prstGeom>
          <a:solidFill>
            <a:srgbClr val="D94E4E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(it will find the leftmost solution without regard for path </a:t>
            </a:r>
            <a:r>
              <a:rPr lang="en-US" sz="1350" dirty="0" err="1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coses</a:t>
            </a: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73152" cy="100584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low: stores a branch and alternatives, so O(bm)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200400"/>
            <a:ext cx="73152" cy="1005840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search when any solution is acceptable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is not “bad BFS.” It is a different tradeoff.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Uniform-Cost Search: follow accumulated cost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expands the frontier node with the smallest path cost g(n).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309360" y="1645920"/>
            <a:ext cx="4800600" cy="3657600"/>
          </a:xfrm>
          <a:prstGeom prst="roundRect">
            <a:avLst>
              <a:gd name="adj" fmla="val 2000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62940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UCS knows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6812280" y="2606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 = cost already accumulated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start to node n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6629400" y="388620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is still uninformed: it does not estimate the remaining cost to the goal.</a:t>
            </a:r>
            <a:endParaRPr lang="en-US" sz="1900" dirty="0"/>
          </a:p>
        </p:txBody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8FAC8BF4-A106-47BB-7824-6284F0F6DEBC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14">
            <a:extLst>
              <a:ext uri="{FF2B5EF4-FFF2-40B4-BE49-F238E27FC236}">
                <a16:creationId xmlns:a16="http://schemas.microsoft.com/office/drawing/2014/main" id="{E6251FF2-F60C-0DAC-F320-95B3FDE7C417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15">
            <a:extLst>
              <a:ext uri="{FF2B5EF4-FFF2-40B4-BE49-F238E27FC236}">
                <a16:creationId xmlns:a16="http://schemas.microsoft.com/office/drawing/2014/main" id="{88EA77C9-C160-11E2-9BBF-98636C59C211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75C26755-BB6B-708D-7A89-504C42836ED2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D7186064-DB36-E9E2-0264-F2E1177C191A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18">
            <a:extLst>
              <a:ext uri="{FF2B5EF4-FFF2-40B4-BE49-F238E27FC236}">
                <a16:creationId xmlns:a16="http://schemas.microsoft.com/office/drawing/2014/main" id="{52D5DD2F-3A3B-13AC-96DE-A87E5E7CF948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0303401E-5338-FA9F-046B-70A6F00CB23F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75" name="Shape 20">
            <a:extLst>
              <a:ext uri="{FF2B5EF4-FFF2-40B4-BE49-F238E27FC236}">
                <a16:creationId xmlns:a16="http://schemas.microsoft.com/office/drawing/2014/main" id="{DB13F46B-9275-B7E7-2D39-1038AA4F551B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1EBBAB1C-D8B0-1FF1-051A-73B059F578C8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2">
            <a:extLst>
              <a:ext uri="{FF2B5EF4-FFF2-40B4-BE49-F238E27FC236}">
                <a16:creationId xmlns:a16="http://schemas.microsoft.com/office/drawing/2014/main" id="{DC322BB9-EACC-1EA1-C0F3-7F6E07648FDE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6F5E9346-299A-AD7E-1E36-BAB38A108CD3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7975E54B-B938-45AA-203A-43E78026760F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25">
            <a:extLst>
              <a:ext uri="{FF2B5EF4-FFF2-40B4-BE49-F238E27FC236}">
                <a16:creationId xmlns:a16="http://schemas.microsoft.com/office/drawing/2014/main" id="{9F77A32A-C3E9-27B8-B65A-4BC49D4AD6AD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87" name="Shape 26">
            <a:extLst>
              <a:ext uri="{FF2B5EF4-FFF2-40B4-BE49-F238E27FC236}">
                <a16:creationId xmlns:a16="http://schemas.microsoft.com/office/drawing/2014/main" id="{15FA472D-B906-02C9-A0B0-4D97098759D7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27">
            <a:extLst>
              <a:ext uri="{FF2B5EF4-FFF2-40B4-BE49-F238E27FC236}">
                <a16:creationId xmlns:a16="http://schemas.microsoft.com/office/drawing/2014/main" id="{42F31945-D57A-A582-B6A2-89AF29C2D334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28">
            <a:extLst>
              <a:ext uri="{FF2B5EF4-FFF2-40B4-BE49-F238E27FC236}">
                <a16:creationId xmlns:a16="http://schemas.microsoft.com/office/drawing/2014/main" id="{C752E2D8-0BB7-5BC1-3A76-0BD01EFCDCD7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93" name="Shape 29">
            <a:extLst>
              <a:ext uri="{FF2B5EF4-FFF2-40B4-BE49-F238E27FC236}">
                <a16:creationId xmlns:a16="http://schemas.microsoft.com/office/drawing/2014/main" id="{7EE571E6-CE89-255B-2964-53BC9EC9DF4C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30">
            <a:extLst>
              <a:ext uri="{FF2B5EF4-FFF2-40B4-BE49-F238E27FC236}">
                <a16:creationId xmlns:a16="http://schemas.microsoft.com/office/drawing/2014/main" id="{A3121522-3263-F05E-AB39-310D577366C5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F5D013FB-84FB-B5A4-7166-6371AD47E1A4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9" name="Shape 32">
            <a:extLst>
              <a:ext uri="{FF2B5EF4-FFF2-40B4-BE49-F238E27FC236}">
                <a16:creationId xmlns:a16="http://schemas.microsoft.com/office/drawing/2014/main" id="{BEECECED-1E90-C962-0ED4-15B0D54265AD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33">
            <a:extLst>
              <a:ext uri="{FF2B5EF4-FFF2-40B4-BE49-F238E27FC236}">
                <a16:creationId xmlns:a16="http://schemas.microsoft.com/office/drawing/2014/main" id="{29C23BDA-63A7-0DE7-F5C1-12DC12F18DE7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34">
            <a:extLst>
              <a:ext uri="{FF2B5EF4-FFF2-40B4-BE49-F238E27FC236}">
                <a16:creationId xmlns:a16="http://schemas.microsoft.com/office/drawing/2014/main" id="{AC282998-B99A-E7A2-ADA1-D8240977F775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05" name="Shape 35">
            <a:extLst>
              <a:ext uri="{FF2B5EF4-FFF2-40B4-BE49-F238E27FC236}">
                <a16:creationId xmlns:a16="http://schemas.microsoft.com/office/drawing/2014/main" id="{E8DD5DDB-2E46-81B4-7B78-7337511D94EB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36">
            <a:extLst>
              <a:ext uri="{FF2B5EF4-FFF2-40B4-BE49-F238E27FC236}">
                <a16:creationId xmlns:a16="http://schemas.microsoft.com/office/drawing/2014/main" id="{FF4AF7C2-3696-587F-064C-861914836098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37">
            <a:extLst>
              <a:ext uri="{FF2B5EF4-FFF2-40B4-BE49-F238E27FC236}">
                <a16:creationId xmlns:a16="http://schemas.microsoft.com/office/drawing/2014/main" id="{C39C9C41-563C-20D8-CA54-CCE578F4368F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11" name="Shape 38">
            <a:extLst>
              <a:ext uri="{FF2B5EF4-FFF2-40B4-BE49-F238E27FC236}">
                <a16:creationId xmlns:a16="http://schemas.microsoft.com/office/drawing/2014/main" id="{A0348EE0-AEF1-7961-1CA6-0B5031DBD3BB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39">
            <a:extLst>
              <a:ext uri="{FF2B5EF4-FFF2-40B4-BE49-F238E27FC236}">
                <a16:creationId xmlns:a16="http://schemas.microsoft.com/office/drawing/2014/main" id="{06A42A16-DFF0-9938-4926-3072CA0B3B4B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40">
            <a:extLst>
              <a:ext uri="{FF2B5EF4-FFF2-40B4-BE49-F238E27FC236}">
                <a16:creationId xmlns:a16="http://schemas.microsoft.com/office/drawing/2014/main" id="{FA9C0DF0-2C82-9F2C-7766-4CDA3FCD67AD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17" name="Shape 41">
            <a:extLst>
              <a:ext uri="{FF2B5EF4-FFF2-40B4-BE49-F238E27FC236}">
                <a16:creationId xmlns:a16="http://schemas.microsoft.com/office/drawing/2014/main" id="{A822202C-DCFF-9ACE-FA4F-29D036CA2D6F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42">
            <a:extLst>
              <a:ext uri="{FF2B5EF4-FFF2-40B4-BE49-F238E27FC236}">
                <a16:creationId xmlns:a16="http://schemas.microsoft.com/office/drawing/2014/main" id="{61E3B68F-2866-0D6D-4785-6279DD27BDF6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43">
            <a:extLst>
              <a:ext uri="{FF2B5EF4-FFF2-40B4-BE49-F238E27FC236}">
                <a16:creationId xmlns:a16="http://schemas.microsoft.com/office/drawing/2014/main" id="{1835CF0A-6716-E72C-6412-795F4F211421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23" name="Shape 44">
            <a:extLst>
              <a:ext uri="{FF2B5EF4-FFF2-40B4-BE49-F238E27FC236}">
                <a16:creationId xmlns:a16="http://schemas.microsoft.com/office/drawing/2014/main" id="{95BA3E51-5EE3-05E9-D1F7-B957DEA337BD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45">
            <a:extLst>
              <a:ext uri="{FF2B5EF4-FFF2-40B4-BE49-F238E27FC236}">
                <a16:creationId xmlns:a16="http://schemas.microsoft.com/office/drawing/2014/main" id="{7EF1783F-2CAB-0396-B984-4DE8AB21629A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46">
            <a:extLst>
              <a:ext uri="{FF2B5EF4-FFF2-40B4-BE49-F238E27FC236}">
                <a16:creationId xmlns:a16="http://schemas.microsoft.com/office/drawing/2014/main" id="{589936BF-05CE-6105-AB92-1CA2F8F1F634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29" name="Shape 47">
            <a:extLst>
              <a:ext uri="{FF2B5EF4-FFF2-40B4-BE49-F238E27FC236}">
                <a16:creationId xmlns:a16="http://schemas.microsoft.com/office/drawing/2014/main" id="{579408A9-DA3C-F4D7-69D6-CEC5A35FE0A7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48">
            <a:extLst>
              <a:ext uri="{FF2B5EF4-FFF2-40B4-BE49-F238E27FC236}">
                <a16:creationId xmlns:a16="http://schemas.microsoft.com/office/drawing/2014/main" id="{5409E205-829A-C6E7-5EEE-38BA81D822B4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33" name="Shape 49">
            <a:extLst>
              <a:ext uri="{FF2B5EF4-FFF2-40B4-BE49-F238E27FC236}">
                <a16:creationId xmlns:a16="http://schemas.microsoft.com/office/drawing/2014/main" id="{DE55C258-F99B-7D77-B0B0-9FECE7E65BCE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50">
            <a:extLst>
              <a:ext uri="{FF2B5EF4-FFF2-40B4-BE49-F238E27FC236}">
                <a16:creationId xmlns:a16="http://schemas.microsoft.com/office/drawing/2014/main" id="{5A35E2CA-6C97-A998-6C2C-A98E7752549D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37" name="Shape 51">
            <a:extLst>
              <a:ext uri="{FF2B5EF4-FFF2-40B4-BE49-F238E27FC236}">
                <a16:creationId xmlns:a16="http://schemas.microsoft.com/office/drawing/2014/main" id="{49D31A58-53BB-E4A7-A02F-E5B027DBDEA6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52">
            <a:extLst>
              <a:ext uri="{FF2B5EF4-FFF2-40B4-BE49-F238E27FC236}">
                <a16:creationId xmlns:a16="http://schemas.microsoft.com/office/drawing/2014/main" id="{2F08A951-F6EF-845C-1B01-3D8838F630AF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41" name="Shape 53">
            <a:extLst>
              <a:ext uri="{FF2B5EF4-FFF2-40B4-BE49-F238E27FC236}">
                <a16:creationId xmlns:a16="http://schemas.microsoft.com/office/drawing/2014/main" id="{0CE7F026-66E5-F5D8-1D17-59B6C6BF1C84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54">
            <a:extLst>
              <a:ext uri="{FF2B5EF4-FFF2-40B4-BE49-F238E27FC236}">
                <a16:creationId xmlns:a16="http://schemas.microsoft.com/office/drawing/2014/main" id="{8318AEA4-4B61-91D7-8748-BE2888B771B6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45" name="Shape 55">
            <a:extLst>
              <a:ext uri="{FF2B5EF4-FFF2-40B4-BE49-F238E27FC236}">
                <a16:creationId xmlns:a16="http://schemas.microsoft.com/office/drawing/2014/main" id="{818C97B7-777A-E4CD-EED5-B524220933B2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56">
            <a:extLst>
              <a:ext uri="{FF2B5EF4-FFF2-40B4-BE49-F238E27FC236}">
                <a16:creationId xmlns:a16="http://schemas.microsoft.com/office/drawing/2014/main" id="{D6B8B1B3-BEBA-89E0-7637-15F0763B95C9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49" name="Shape 57">
            <a:extLst>
              <a:ext uri="{FF2B5EF4-FFF2-40B4-BE49-F238E27FC236}">
                <a16:creationId xmlns:a16="http://schemas.microsoft.com/office/drawing/2014/main" id="{ED17AB32-8030-1674-D251-95555C6D9AEA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58">
            <a:extLst>
              <a:ext uri="{FF2B5EF4-FFF2-40B4-BE49-F238E27FC236}">
                <a16:creationId xmlns:a16="http://schemas.microsoft.com/office/drawing/2014/main" id="{8B689EBD-B2E0-BFCF-5391-41A1814D83EC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53" name="Shape 59">
            <a:extLst>
              <a:ext uri="{FF2B5EF4-FFF2-40B4-BE49-F238E27FC236}">
                <a16:creationId xmlns:a16="http://schemas.microsoft.com/office/drawing/2014/main" id="{DAC39439-FFC0-1E87-54ED-5FE43F120D7B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60">
            <a:extLst>
              <a:ext uri="{FF2B5EF4-FFF2-40B4-BE49-F238E27FC236}">
                <a16:creationId xmlns:a16="http://schemas.microsoft.com/office/drawing/2014/main" id="{14179243-A3E9-046C-357D-F01086878581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57" name="Shape 61">
            <a:extLst>
              <a:ext uri="{FF2B5EF4-FFF2-40B4-BE49-F238E27FC236}">
                <a16:creationId xmlns:a16="http://schemas.microsoft.com/office/drawing/2014/main" id="{AC15291D-4B3E-CAC0-69A1-0C35F1019D39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62">
            <a:extLst>
              <a:ext uri="{FF2B5EF4-FFF2-40B4-BE49-F238E27FC236}">
                <a16:creationId xmlns:a16="http://schemas.microsoft.com/office/drawing/2014/main" id="{BB36CFA6-5DEB-77CC-CE0D-BCF6EDBABB7D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UCS priority-queue mechanics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frontier is ordered by lowest accumulated path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1920240" cy="5715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865376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1737360"/>
            <a:ext cx="1920240" cy="57150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0360" y="1865376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308860"/>
            <a:ext cx="1920240" cy="5715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4277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2834640" y="2308860"/>
            <a:ext cx="1920240" cy="5715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80360" y="24277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2880360"/>
            <a:ext cx="1920240" cy="5715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834640" y="2880360"/>
            <a:ext cx="1920240" cy="5715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80360" y="29992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3451860"/>
            <a:ext cx="1920240" cy="5715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5707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2834640" y="3451860"/>
            <a:ext cx="1920240" cy="57150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80360" y="3570732"/>
            <a:ext cx="1828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166360" y="2880360"/>
            <a:ext cx="105156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19659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DCEE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037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selects B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95160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g(B) is smallest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oldest. Not shallowest. Not closest-looking. Lowest accumulated cost.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cheaper path can replace an expensive 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must keep the best known path to a frontier state.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path to 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9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→ A → E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D94E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g(E) = 6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983480" y="2926080"/>
            <a:ext cx="1005840" cy="0"/>
          </a:xfrm>
          <a:prstGeom prst="line">
            <a:avLst/>
          </a:prstGeom>
          <a:noFill/>
          <a:ln w="31750">
            <a:solidFill>
              <a:srgbClr val="F2C14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F1FBF5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path to 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76656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→ B → E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g(E) = 5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E: lower cost changes its priority and parent path.</a:t>
            </a:r>
            <a:endParaRPr lang="en-US" sz="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UCS trace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expansion order, frontier updates, final path, and total cost.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257800" cy="3916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63640" y="1463040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263640" y="1463040"/>
            <a:ext cx="16764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09360" y="1591056"/>
            <a:ext cx="15849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080" dirty="0"/>
          </a:p>
        </p:txBody>
      </p:sp>
      <p:sp>
        <p:nvSpPr>
          <p:cNvPr id="59" name="Shape 57"/>
          <p:cNvSpPr/>
          <p:nvPr/>
        </p:nvSpPr>
        <p:spPr>
          <a:xfrm>
            <a:off x="7940040" y="1463040"/>
            <a:ext cx="16764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985760" y="1591056"/>
            <a:ext cx="15849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9616440" y="1463040"/>
            <a:ext cx="1676400" cy="60198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662160" y="1591056"/>
            <a:ext cx="15849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after update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6263640" y="206502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09360" y="218389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7940040" y="206502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985760" y="218389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80" dirty="0"/>
          </a:p>
        </p:txBody>
      </p:sp>
      <p:sp>
        <p:nvSpPr>
          <p:cNvPr id="67" name="Shape 65"/>
          <p:cNvSpPr/>
          <p:nvPr/>
        </p:nvSpPr>
        <p:spPr>
          <a:xfrm>
            <a:off x="9616440" y="206502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662160" y="218389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[((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 0)]</a:t>
            </a:r>
            <a:endParaRPr lang="en-US" sz="1080" dirty="0"/>
          </a:p>
        </p:txBody>
      </p:sp>
      <p:sp>
        <p:nvSpPr>
          <p:cNvPr id="69" name="Shape 67"/>
          <p:cNvSpPr/>
          <p:nvPr/>
        </p:nvSpPr>
        <p:spPr>
          <a:xfrm>
            <a:off x="6263640" y="266700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309360" y="278587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80" dirty="0"/>
          </a:p>
        </p:txBody>
      </p:sp>
      <p:sp>
        <p:nvSpPr>
          <p:cNvPr id="71" name="Shape 69"/>
          <p:cNvSpPr/>
          <p:nvPr/>
        </p:nvSpPr>
        <p:spPr>
          <a:xfrm>
            <a:off x="7940040" y="266700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985760" y="278587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80" dirty="0"/>
          </a:p>
        </p:txBody>
      </p:sp>
      <p:sp>
        <p:nvSpPr>
          <p:cNvPr id="73" name="Shape 71"/>
          <p:cNvSpPr/>
          <p:nvPr/>
        </p:nvSpPr>
        <p:spPr>
          <a:xfrm>
            <a:off x="9616440" y="266700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662160" y="278587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[((S,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),1), ((S,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),2), ((S,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),4)]</a:t>
            </a:r>
            <a:endParaRPr lang="en-US" sz="1080" dirty="0"/>
          </a:p>
        </p:txBody>
      </p:sp>
      <p:sp>
        <p:nvSpPr>
          <p:cNvPr id="75" name="Shape 73"/>
          <p:cNvSpPr/>
          <p:nvPr/>
        </p:nvSpPr>
        <p:spPr>
          <a:xfrm>
            <a:off x="6263640" y="326898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309360" y="338785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80" dirty="0"/>
          </a:p>
        </p:txBody>
      </p:sp>
      <p:sp>
        <p:nvSpPr>
          <p:cNvPr id="77" name="Shape 75"/>
          <p:cNvSpPr/>
          <p:nvPr/>
        </p:nvSpPr>
        <p:spPr>
          <a:xfrm>
            <a:off x="7940040" y="326898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985760" y="338785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80" dirty="0"/>
          </a:p>
        </p:txBody>
      </p:sp>
      <p:sp>
        <p:nvSpPr>
          <p:cNvPr id="79" name="Shape 77"/>
          <p:cNvSpPr/>
          <p:nvPr/>
        </p:nvSpPr>
        <p:spPr>
          <a:xfrm>
            <a:off x="9616440" y="326898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9662160" y="338785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[((S,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),2), ((S,A,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),3), ((S,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),4), ((S,A,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),6)]</a:t>
            </a:r>
            <a:endParaRPr lang="en-US" sz="1080" dirty="0"/>
          </a:p>
        </p:txBody>
      </p:sp>
      <p:sp>
        <p:nvSpPr>
          <p:cNvPr id="81" name="Shape 79"/>
          <p:cNvSpPr/>
          <p:nvPr/>
        </p:nvSpPr>
        <p:spPr>
          <a:xfrm>
            <a:off x="6263640" y="387096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309360" y="398983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80" dirty="0"/>
          </a:p>
        </p:txBody>
      </p:sp>
      <p:sp>
        <p:nvSpPr>
          <p:cNvPr id="83" name="Shape 81"/>
          <p:cNvSpPr/>
          <p:nvPr/>
        </p:nvSpPr>
        <p:spPr>
          <a:xfrm>
            <a:off x="7940040" y="387096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985760" y="398983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80" dirty="0"/>
          </a:p>
        </p:txBody>
      </p:sp>
      <p:sp>
        <p:nvSpPr>
          <p:cNvPr id="85" name="Shape 83"/>
          <p:cNvSpPr/>
          <p:nvPr/>
        </p:nvSpPr>
        <p:spPr>
          <a:xfrm>
            <a:off x="9616440" y="3870960"/>
            <a:ext cx="1676400" cy="60198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662160" y="398983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[((S,A,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),3), ((S,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),4), ((S,C,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),4), ((S,A,</a:t>
            </a:r>
            <a:r>
              <a:rPr lang="en-US" sz="108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),6)]</a:t>
            </a:r>
            <a:endParaRPr lang="en-US" sz="1080" dirty="0"/>
          </a:p>
        </p:txBody>
      </p:sp>
      <p:sp>
        <p:nvSpPr>
          <p:cNvPr id="87" name="Shape 85"/>
          <p:cNvSpPr/>
          <p:nvPr/>
        </p:nvSpPr>
        <p:spPr>
          <a:xfrm>
            <a:off x="6263640" y="447294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309360" y="459181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080" dirty="0"/>
          </a:p>
        </p:txBody>
      </p:sp>
      <p:sp>
        <p:nvSpPr>
          <p:cNvPr id="89" name="Shape 87"/>
          <p:cNvSpPr/>
          <p:nvPr/>
        </p:nvSpPr>
        <p:spPr>
          <a:xfrm>
            <a:off x="7940040" y="447294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985760" y="459181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</a:t>
            </a:r>
            <a:endParaRPr lang="en-US" sz="1080" dirty="0"/>
          </a:p>
        </p:txBody>
      </p:sp>
      <p:sp>
        <p:nvSpPr>
          <p:cNvPr id="91" name="Shape 89"/>
          <p:cNvSpPr/>
          <p:nvPr/>
        </p:nvSpPr>
        <p:spPr>
          <a:xfrm>
            <a:off x="9616440" y="4472940"/>
            <a:ext cx="1676400" cy="60198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9662160" y="4591812"/>
            <a:ext cx="158496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trace</a:t>
            </a:r>
            <a:endParaRPr lang="en-US" sz="1080" dirty="0"/>
          </a:p>
        </p:txBody>
      </p:sp>
      <p:sp>
        <p:nvSpPr>
          <p:cNvPr id="93" name="Text 91"/>
          <p:cNvSpPr/>
          <p:nvPr/>
        </p:nvSpPr>
        <p:spPr>
          <a:xfrm>
            <a:off x="914400" y="57150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rule: return G when it is removed as the lowest-cost frontier node.</a:t>
            </a:r>
            <a:endParaRPr lang="en-US" sz="2000" dirty="0"/>
          </a:p>
        </p:txBody>
      </p:sp>
      <p:sp>
        <p:nvSpPr>
          <p:cNvPr id="96" name="Shape 26">
            <a:extLst>
              <a:ext uri="{FF2B5EF4-FFF2-40B4-BE49-F238E27FC236}">
                <a16:creationId xmlns:a16="http://schemas.microsoft.com/office/drawing/2014/main" id="{B5747421-D6F6-58AD-0B12-EBC2E32EA4AF}"/>
              </a:ext>
            </a:extLst>
          </p:cNvPr>
          <p:cNvSpPr/>
          <p:nvPr/>
        </p:nvSpPr>
        <p:spPr>
          <a:xfrm flipH="1">
            <a:off x="1666952" y="2714854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14">
            <a:extLst>
              <a:ext uri="{FF2B5EF4-FFF2-40B4-BE49-F238E27FC236}">
                <a16:creationId xmlns:a16="http://schemas.microsoft.com/office/drawing/2014/main" id="{ACC19A62-B4D9-6982-B89D-FD4CDD7DEF49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3ECBB114-D03A-336C-5EC9-DFA4D59B252A}"/>
              </a:ext>
            </a:extLst>
          </p:cNvPr>
          <p:cNvSpPr/>
          <p:nvPr/>
        </p:nvSpPr>
        <p:spPr>
          <a:xfrm>
            <a:off x="2085289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3536B4D9-3BED-75A8-1A08-8642716713B4}"/>
              </a:ext>
            </a:extLst>
          </p:cNvPr>
          <p:cNvSpPr/>
          <p:nvPr/>
        </p:nvSpPr>
        <p:spPr>
          <a:xfrm>
            <a:off x="2121865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04" name="Shape 17">
            <a:extLst>
              <a:ext uri="{FF2B5EF4-FFF2-40B4-BE49-F238E27FC236}">
                <a16:creationId xmlns:a16="http://schemas.microsoft.com/office/drawing/2014/main" id="{3419BAB5-9A90-7617-21C8-67B155B882F6}"/>
              </a:ext>
            </a:extLst>
          </p:cNvPr>
          <p:cNvSpPr/>
          <p:nvPr/>
        </p:nvSpPr>
        <p:spPr>
          <a:xfrm>
            <a:off x="1642262" y="3483864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01C585B-693D-C128-6A4F-1B56DAAB8541}"/>
              </a:ext>
            </a:extLst>
          </p:cNvPr>
          <p:cNvSpPr/>
          <p:nvPr/>
        </p:nvSpPr>
        <p:spPr>
          <a:xfrm>
            <a:off x="2085289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9">
            <a:extLst>
              <a:ext uri="{FF2B5EF4-FFF2-40B4-BE49-F238E27FC236}">
                <a16:creationId xmlns:a16="http://schemas.microsoft.com/office/drawing/2014/main" id="{40D465FF-0968-2EAE-490C-14DD0A4D0275}"/>
              </a:ext>
            </a:extLst>
          </p:cNvPr>
          <p:cNvSpPr/>
          <p:nvPr/>
        </p:nvSpPr>
        <p:spPr>
          <a:xfrm>
            <a:off x="2121865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10" name="Shape 20">
            <a:extLst>
              <a:ext uri="{FF2B5EF4-FFF2-40B4-BE49-F238E27FC236}">
                <a16:creationId xmlns:a16="http://schemas.microsoft.com/office/drawing/2014/main" id="{CC542E2F-F65D-02A0-9A2F-1985221B3C42}"/>
              </a:ext>
            </a:extLst>
          </p:cNvPr>
          <p:cNvSpPr/>
          <p:nvPr/>
        </p:nvSpPr>
        <p:spPr>
          <a:xfrm>
            <a:off x="1642262" y="3483864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21">
            <a:extLst>
              <a:ext uri="{FF2B5EF4-FFF2-40B4-BE49-F238E27FC236}">
                <a16:creationId xmlns:a16="http://schemas.microsoft.com/office/drawing/2014/main" id="{3306F8A2-578D-EA36-0B33-959A61B6A90A}"/>
              </a:ext>
            </a:extLst>
          </p:cNvPr>
          <p:cNvSpPr/>
          <p:nvPr/>
        </p:nvSpPr>
        <p:spPr>
          <a:xfrm>
            <a:off x="2085289" y="3766414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22">
            <a:extLst>
              <a:ext uri="{FF2B5EF4-FFF2-40B4-BE49-F238E27FC236}">
                <a16:creationId xmlns:a16="http://schemas.microsoft.com/office/drawing/2014/main" id="{9B943F23-8112-41D8-CC64-AD5CDACCABA9}"/>
              </a:ext>
            </a:extLst>
          </p:cNvPr>
          <p:cNvSpPr/>
          <p:nvPr/>
        </p:nvSpPr>
        <p:spPr>
          <a:xfrm>
            <a:off x="2121865" y="380299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16" name="Shape 23">
            <a:extLst>
              <a:ext uri="{FF2B5EF4-FFF2-40B4-BE49-F238E27FC236}">
                <a16:creationId xmlns:a16="http://schemas.microsoft.com/office/drawing/2014/main" id="{04FFC16A-522D-FADB-F414-B1217302A273}"/>
              </a:ext>
            </a:extLst>
          </p:cNvPr>
          <p:cNvSpPr/>
          <p:nvPr/>
        </p:nvSpPr>
        <p:spPr>
          <a:xfrm>
            <a:off x="2747772" y="2699309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24">
            <a:extLst>
              <a:ext uri="{FF2B5EF4-FFF2-40B4-BE49-F238E27FC236}">
                <a16:creationId xmlns:a16="http://schemas.microsoft.com/office/drawing/2014/main" id="{2D6A7316-D27D-8984-62EA-42A5C18B9E6B}"/>
              </a:ext>
            </a:extLst>
          </p:cNvPr>
          <p:cNvSpPr/>
          <p:nvPr/>
        </p:nvSpPr>
        <p:spPr>
          <a:xfrm>
            <a:off x="3244291" y="253608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25">
            <a:extLst>
              <a:ext uri="{FF2B5EF4-FFF2-40B4-BE49-F238E27FC236}">
                <a16:creationId xmlns:a16="http://schemas.microsoft.com/office/drawing/2014/main" id="{BAB4E110-0AC8-E239-DF31-AE6BC25AE488}"/>
              </a:ext>
            </a:extLst>
          </p:cNvPr>
          <p:cNvSpPr/>
          <p:nvPr/>
        </p:nvSpPr>
        <p:spPr>
          <a:xfrm>
            <a:off x="3280867" y="257266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22" name="Shape 26">
            <a:extLst>
              <a:ext uri="{FF2B5EF4-FFF2-40B4-BE49-F238E27FC236}">
                <a16:creationId xmlns:a16="http://schemas.microsoft.com/office/drawing/2014/main" id="{29E334C5-9482-8248-EED3-DDEDB2774B83}"/>
              </a:ext>
            </a:extLst>
          </p:cNvPr>
          <p:cNvSpPr/>
          <p:nvPr/>
        </p:nvSpPr>
        <p:spPr>
          <a:xfrm>
            <a:off x="2747772" y="2699309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27">
            <a:extLst>
              <a:ext uri="{FF2B5EF4-FFF2-40B4-BE49-F238E27FC236}">
                <a16:creationId xmlns:a16="http://schemas.microsoft.com/office/drawing/2014/main" id="{CD4F93CA-E31F-EBBA-D379-167FB753E6B8}"/>
              </a:ext>
            </a:extLst>
          </p:cNvPr>
          <p:cNvSpPr/>
          <p:nvPr/>
        </p:nvSpPr>
        <p:spPr>
          <a:xfrm>
            <a:off x="3315614" y="298185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28">
            <a:extLst>
              <a:ext uri="{FF2B5EF4-FFF2-40B4-BE49-F238E27FC236}">
                <a16:creationId xmlns:a16="http://schemas.microsoft.com/office/drawing/2014/main" id="{5F6FE912-39E7-0D16-E923-BD8C4E77A312}"/>
              </a:ext>
            </a:extLst>
          </p:cNvPr>
          <p:cNvSpPr/>
          <p:nvPr/>
        </p:nvSpPr>
        <p:spPr>
          <a:xfrm>
            <a:off x="3352190" y="301843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28" name="Shape 29">
            <a:extLst>
              <a:ext uri="{FF2B5EF4-FFF2-40B4-BE49-F238E27FC236}">
                <a16:creationId xmlns:a16="http://schemas.microsoft.com/office/drawing/2014/main" id="{2C6F4F1D-D563-9F3B-4F42-118C64022227}"/>
              </a:ext>
            </a:extLst>
          </p:cNvPr>
          <p:cNvSpPr/>
          <p:nvPr/>
        </p:nvSpPr>
        <p:spPr>
          <a:xfrm>
            <a:off x="2747772" y="3483864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30">
            <a:extLst>
              <a:ext uri="{FF2B5EF4-FFF2-40B4-BE49-F238E27FC236}">
                <a16:creationId xmlns:a16="http://schemas.microsoft.com/office/drawing/2014/main" id="{36D7CE6E-2508-34FC-3E6F-3D2EC0A7B5AE}"/>
              </a:ext>
            </a:extLst>
          </p:cNvPr>
          <p:cNvSpPr/>
          <p:nvPr/>
        </p:nvSpPr>
        <p:spPr>
          <a:xfrm>
            <a:off x="3315614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31">
            <a:extLst>
              <a:ext uri="{FF2B5EF4-FFF2-40B4-BE49-F238E27FC236}">
                <a16:creationId xmlns:a16="http://schemas.microsoft.com/office/drawing/2014/main" id="{4D9FD43D-FDC7-F029-B7FB-5D39F88A1F42}"/>
              </a:ext>
            </a:extLst>
          </p:cNvPr>
          <p:cNvSpPr/>
          <p:nvPr/>
        </p:nvSpPr>
        <p:spPr>
          <a:xfrm>
            <a:off x="3352190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34" name="Shape 32">
            <a:extLst>
              <a:ext uri="{FF2B5EF4-FFF2-40B4-BE49-F238E27FC236}">
                <a16:creationId xmlns:a16="http://schemas.microsoft.com/office/drawing/2014/main" id="{FD4BDF87-FEA5-2471-12AE-B6F9755ADE68}"/>
              </a:ext>
            </a:extLst>
          </p:cNvPr>
          <p:cNvSpPr/>
          <p:nvPr/>
        </p:nvSpPr>
        <p:spPr>
          <a:xfrm>
            <a:off x="2747772" y="3483864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33">
            <a:extLst>
              <a:ext uri="{FF2B5EF4-FFF2-40B4-BE49-F238E27FC236}">
                <a16:creationId xmlns:a16="http://schemas.microsoft.com/office/drawing/2014/main" id="{BF95D548-34E9-E138-FABE-9CC1C25E1F14}"/>
              </a:ext>
            </a:extLst>
          </p:cNvPr>
          <p:cNvSpPr/>
          <p:nvPr/>
        </p:nvSpPr>
        <p:spPr>
          <a:xfrm>
            <a:off x="3297783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34">
            <a:extLst>
              <a:ext uri="{FF2B5EF4-FFF2-40B4-BE49-F238E27FC236}">
                <a16:creationId xmlns:a16="http://schemas.microsoft.com/office/drawing/2014/main" id="{3B773C3E-AB34-C5F7-7261-75EBCBDEE424}"/>
              </a:ext>
            </a:extLst>
          </p:cNvPr>
          <p:cNvSpPr/>
          <p:nvPr/>
        </p:nvSpPr>
        <p:spPr>
          <a:xfrm>
            <a:off x="3334359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40" name="Shape 35">
            <a:extLst>
              <a:ext uri="{FF2B5EF4-FFF2-40B4-BE49-F238E27FC236}">
                <a16:creationId xmlns:a16="http://schemas.microsoft.com/office/drawing/2014/main" id="{7D1EC04C-C971-BCEC-B7A3-0E619A8E1CFB}"/>
              </a:ext>
            </a:extLst>
          </p:cNvPr>
          <p:cNvSpPr/>
          <p:nvPr/>
        </p:nvSpPr>
        <p:spPr>
          <a:xfrm>
            <a:off x="2747772" y="4268420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36">
            <a:extLst>
              <a:ext uri="{FF2B5EF4-FFF2-40B4-BE49-F238E27FC236}">
                <a16:creationId xmlns:a16="http://schemas.microsoft.com/office/drawing/2014/main" id="{CB96319E-888A-9332-85D6-C7A3FB6C115D}"/>
              </a:ext>
            </a:extLst>
          </p:cNvPr>
          <p:cNvSpPr/>
          <p:nvPr/>
        </p:nvSpPr>
        <p:spPr>
          <a:xfrm>
            <a:off x="3297783" y="4194353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37">
            <a:extLst>
              <a:ext uri="{FF2B5EF4-FFF2-40B4-BE49-F238E27FC236}">
                <a16:creationId xmlns:a16="http://schemas.microsoft.com/office/drawing/2014/main" id="{C14C880E-5F1F-F5B6-6188-D0368F32DF9C}"/>
              </a:ext>
            </a:extLst>
          </p:cNvPr>
          <p:cNvSpPr/>
          <p:nvPr/>
        </p:nvSpPr>
        <p:spPr>
          <a:xfrm>
            <a:off x="3334359" y="4230929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46" name="Shape 38">
            <a:extLst>
              <a:ext uri="{FF2B5EF4-FFF2-40B4-BE49-F238E27FC236}">
                <a16:creationId xmlns:a16="http://schemas.microsoft.com/office/drawing/2014/main" id="{4146FE0A-BB4A-EFCA-7AA1-BE2B2780A15B}"/>
              </a:ext>
            </a:extLst>
          </p:cNvPr>
          <p:cNvSpPr/>
          <p:nvPr/>
        </p:nvSpPr>
        <p:spPr>
          <a:xfrm>
            <a:off x="3960266" y="2592324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39">
            <a:extLst>
              <a:ext uri="{FF2B5EF4-FFF2-40B4-BE49-F238E27FC236}">
                <a16:creationId xmlns:a16="http://schemas.microsoft.com/office/drawing/2014/main" id="{C3C0C79B-1590-3746-D52B-9E8BFCDBA690}"/>
              </a:ext>
            </a:extLst>
          </p:cNvPr>
          <p:cNvSpPr/>
          <p:nvPr/>
        </p:nvSpPr>
        <p:spPr>
          <a:xfrm>
            <a:off x="4492447" y="292836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5B32FDB4-8D3C-ED72-BA5D-26CFC1F90685}"/>
              </a:ext>
            </a:extLst>
          </p:cNvPr>
          <p:cNvSpPr/>
          <p:nvPr/>
        </p:nvSpPr>
        <p:spPr>
          <a:xfrm>
            <a:off x="4529023" y="296494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52" name="Shape 41">
            <a:extLst>
              <a:ext uri="{FF2B5EF4-FFF2-40B4-BE49-F238E27FC236}">
                <a16:creationId xmlns:a16="http://schemas.microsoft.com/office/drawing/2014/main" id="{71E0B18F-6B36-2D84-D956-091DD857EE25}"/>
              </a:ext>
            </a:extLst>
          </p:cNvPr>
          <p:cNvSpPr/>
          <p:nvPr/>
        </p:nvSpPr>
        <p:spPr>
          <a:xfrm>
            <a:off x="4102913" y="3483864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42">
            <a:extLst>
              <a:ext uri="{FF2B5EF4-FFF2-40B4-BE49-F238E27FC236}">
                <a16:creationId xmlns:a16="http://schemas.microsoft.com/office/drawing/2014/main" id="{4E41BA60-FFE5-A36E-6648-23C2D1F9557A}"/>
              </a:ext>
            </a:extLst>
          </p:cNvPr>
          <p:cNvSpPr/>
          <p:nvPr/>
        </p:nvSpPr>
        <p:spPr>
          <a:xfrm>
            <a:off x="4563770" y="337413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43">
            <a:extLst>
              <a:ext uri="{FF2B5EF4-FFF2-40B4-BE49-F238E27FC236}">
                <a16:creationId xmlns:a16="http://schemas.microsoft.com/office/drawing/2014/main" id="{42026977-2D42-F9B9-10A7-595F51509834}"/>
              </a:ext>
            </a:extLst>
          </p:cNvPr>
          <p:cNvSpPr/>
          <p:nvPr/>
        </p:nvSpPr>
        <p:spPr>
          <a:xfrm>
            <a:off x="4600346" y="341071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58" name="Shape 44">
            <a:extLst>
              <a:ext uri="{FF2B5EF4-FFF2-40B4-BE49-F238E27FC236}">
                <a16:creationId xmlns:a16="http://schemas.microsoft.com/office/drawing/2014/main" id="{E94AF755-D822-B997-4174-08DF39DDC1E0}"/>
              </a:ext>
            </a:extLst>
          </p:cNvPr>
          <p:cNvSpPr/>
          <p:nvPr/>
        </p:nvSpPr>
        <p:spPr>
          <a:xfrm flipV="1">
            <a:off x="4067251" y="3483864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45">
            <a:extLst>
              <a:ext uri="{FF2B5EF4-FFF2-40B4-BE49-F238E27FC236}">
                <a16:creationId xmlns:a16="http://schemas.microsoft.com/office/drawing/2014/main" id="{CF90BC46-02D3-B8CA-6702-1E7C26512C6D}"/>
              </a:ext>
            </a:extLst>
          </p:cNvPr>
          <p:cNvSpPr/>
          <p:nvPr/>
        </p:nvSpPr>
        <p:spPr>
          <a:xfrm>
            <a:off x="4545939" y="3802076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46">
            <a:extLst>
              <a:ext uri="{FF2B5EF4-FFF2-40B4-BE49-F238E27FC236}">
                <a16:creationId xmlns:a16="http://schemas.microsoft.com/office/drawing/2014/main" id="{3CB110BD-D720-A4C0-88CD-0238BD2F30B7}"/>
              </a:ext>
            </a:extLst>
          </p:cNvPr>
          <p:cNvSpPr/>
          <p:nvPr/>
        </p:nvSpPr>
        <p:spPr>
          <a:xfrm>
            <a:off x="4582515" y="383865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64" name="Shape 47">
            <a:extLst>
              <a:ext uri="{FF2B5EF4-FFF2-40B4-BE49-F238E27FC236}">
                <a16:creationId xmlns:a16="http://schemas.microsoft.com/office/drawing/2014/main" id="{F2631720-8A76-BFC6-0915-BF3368C49062}"/>
              </a:ext>
            </a:extLst>
          </p:cNvPr>
          <p:cNvSpPr/>
          <p:nvPr/>
        </p:nvSpPr>
        <p:spPr>
          <a:xfrm>
            <a:off x="1445666" y="3287268"/>
            <a:ext cx="393192" cy="393192"/>
          </a:xfrm>
          <a:prstGeom prst="ellipse">
            <a:avLst/>
          </a:prstGeom>
          <a:solidFill>
            <a:srgbClr val="39A87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48">
            <a:extLst>
              <a:ext uri="{FF2B5EF4-FFF2-40B4-BE49-F238E27FC236}">
                <a16:creationId xmlns:a16="http://schemas.microsoft.com/office/drawing/2014/main" id="{E07C07D9-32C4-9385-FA4C-FAC5D4EAF0F8}"/>
              </a:ext>
            </a:extLst>
          </p:cNvPr>
          <p:cNvSpPr/>
          <p:nvPr/>
        </p:nvSpPr>
        <p:spPr>
          <a:xfrm>
            <a:off x="144566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168" name="Shape 49">
            <a:extLst>
              <a:ext uri="{FF2B5EF4-FFF2-40B4-BE49-F238E27FC236}">
                <a16:creationId xmlns:a16="http://schemas.microsoft.com/office/drawing/2014/main" id="{EF11C4FF-530F-8DD1-3FEE-03A8E651F23C}"/>
              </a:ext>
            </a:extLst>
          </p:cNvPr>
          <p:cNvSpPr/>
          <p:nvPr/>
        </p:nvSpPr>
        <p:spPr>
          <a:xfrm>
            <a:off x="2551176" y="250271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50">
            <a:extLst>
              <a:ext uri="{FF2B5EF4-FFF2-40B4-BE49-F238E27FC236}">
                <a16:creationId xmlns:a16="http://schemas.microsoft.com/office/drawing/2014/main" id="{E5296CA1-04C8-97F4-2CFD-A0F659C03964}"/>
              </a:ext>
            </a:extLst>
          </p:cNvPr>
          <p:cNvSpPr/>
          <p:nvPr/>
        </p:nvSpPr>
        <p:spPr>
          <a:xfrm>
            <a:off x="2551176" y="255757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72" name="Shape 51">
            <a:extLst>
              <a:ext uri="{FF2B5EF4-FFF2-40B4-BE49-F238E27FC236}">
                <a16:creationId xmlns:a16="http://schemas.microsoft.com/office/drawing/2014/main" id="{D7EAF420-2D5E-AA21-1190-9E67CFEBD083}"/>
              </a:ext>
            </a:extLst>
          </p:cNvPr>
          <p:cNvSpPr/>
          <p:nvPr/>
        </p:nvSpPr>
        <p:spPr>
          <a:xfrm>
            <a:off x="2551176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52">
            <a:extLst>
              <a:ext uri="{FF2B5EF4-FFF2-40B4-BE49-F238E27FC236}">
                <a16:creationId xmlns:a16="http://schemas.microsoft.com/office/drawing/2014/main" id="{958D0ABE-D693-6985-05DC-E9B9E097E706}"/>
              </a:ext>
            </a:extLst>
          </p:cNvPr>
          <p:cNvSpPr/>
          <p:nvPr/>
        </p:nvSpPr>
        <p:spPr>
          <a:xfrm>
            <a:off x="2551176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76" name="Shape 53">
            <a:extLst>
              <a:ext uri="{FF2B5EF4-FFF2-40B4-BE49-F238E27FC236}">
                <a16:creationId xmlns:a16="http://schemas.microsoft.com/office/drawing/2014/main" id="{B3475923-093B-2BBE-9CB7-AF1E7C7F6604}"/>
              </a:ext>
            </a:extLst>
          </p:cNvPr>
          <p:cNvSpPr/>
          <p:nvPr/>
        </p:nvSpPr>
        <p:spPr>
          <a:xfrm>
            <a:off x="2551176" y="4071824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54">
            <a:extLst>
              <a:ext uri="{FF2B5EF4-FFF2-40B4-BE49-F238E27FC236}">
                <a16:creationId xmlns:a16="http://schemas.microsoft.com/office/drawing/2014/main" id="{DCDEC1E7-60AC-E70B-5B78-AD88B2C02A4C}"/>
              </a:ext>
            </a:extLst>
          </p:cNvPr>
          <p:cNvSpPr/>
          <p:nvPr/>
        </p:nvSpPr>
        <p:spPr>
          <a:xfrm>
            <a:off x="2551176" y="41266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80" name="Shape 55">
            <a:extLst>
              <a:ext uri="{FF2B5EF4-FFF2-40B4-BE49-F238E27FC236}">
                <a16:creationId xmlns:a16="http://schemas.microsoft.com/office/drawing/2014/main" id="{7E591F8A-AEC3-69A9-C984-B4770845BC8B}"/>
              </a:ext>
            </a:extLst>
          </p:cNvPr>
          <p:cNvSpPr/>
          <p:nvPr/>
        </p:nvSpPr>
        <p:spPr>
          <a:xfrm>
            <a:off x="3763670" y="245668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56">
            <a:extLst>
              <a:ext uri="{FF2B5EF4-FFF2-40B4-BE49-F238E27FC236}">
                <a16:creationId xmlns:a16="http://schemas.microsoft.com/office/drawing/2014/main" id="{51818304-6AC4-EAB7-12DE-4EBD99D34E91}"/>
              </a:ext>
            </a:extLst>
          </p:cNvPr>
          <p:cNvSpPr/>
          <p:nvPr/>
        </p:nvSpPr>
        <p:spPr>
          <a:xfrm>
            <a:off x="3769212" y="2500470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184" name="Shape 57">
            <a:extLst>
              <a:ext uri="{FF2B5EF4-FFF2-40B4-BE49-F238E27FC236}">
                <a16:creationId xmlns:a16="http://schemas.microsoft.com/office/drawing/2014/main" id="{2687CEB5-CDDD-264C-ADBE-D0353F868556}"/>
              </a:ext>
            </a:extLst>
          </p:cNvPr>
          <p:cNvSpPr/>
          <p:nvPr/>
        </p:nvSpPr>
        <p:spPr>
          <a:xfrm>
            <a:off x="3906317" y="3287268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58">
            <a:extLst>
              <a:ext uri="{FF2B5EF4-FFF2-40B4-BE49-F238E27FC236}">
                <a16:creationId xmlns:a16="http://schemas.microsoft.com/office/drawing/2014/main" id="{B75B0004-3AC8-F2FB-BA69-3AE4F836B86C}"/>
              </a:ext>
            </a:extLst>
          </p:cNvPr>
          <p:cNvSpPr/>
          <p:nvPr/>
        </p:nvSpPr>
        <p:spPr>
          <a:xfrm>
            <a:off x="3906317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188" name="Shape 59">
            <a:extLst>
              <a:ext uri="{FF2B5EF4-FFF2-40B4-BE49-F238E27FC236}">
                <a16:creationId xmlns:a16="http://schemas.microsoft.com/office/drawing/2014/main" id="{4DF544A4-C54C-3A53-A407-0BDC679C6B4F}"/>
              </a:ext>
            </a:extLst>
          </p:cNvPr>
          <p:cNvSpPr/>
          <p:nvPr/>
        </p:nvSpPr>
        <p:spPr>
          <a:xfrm>
            <a:off x="3870655" y="4143147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60">
            <a:extLst>
              <a:ext uri="{FF2B5EF4-FFF2-40B4-BE49-F238E27FC236}">
                <a16:creationId xmlns:a16="http://schemas.microsoft.com/office/drawing/2014/main" id="{BDC98D04-78CB-13AC-CCA7-0C8640C33108}"/>
              </a:ext>
            </a:extLst>
          </p:cNvPr>
          <p:cNvSpPr/>
          <p:nvPr/>
        </p:nvSpPr>
        <p:spPr>
          <a:xfrm>
            <a:off x="3870655" y="4198011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192" name="Shape 61">
            <a:extLst>
              <a:ext uri="{FF2B5EF4-FFF2-40B4-BE49-F238E27FC236}">
                <a16:creationId xmlns:a16="http://schemas.microsoft.com/office/drawing/2014/main" id="{7DE6169E-D95A-6691-8238-54DE9CD8BAE0}"/>
              </a:ext>
            </a:extLst>
          </p:cNvPr>
          <p:cNvSpPr/>
          <p:nvPr/>
        </p:nvSpPr>
        <p:spPr>
          <a:xfrm>
            <a:off x="5047488" y="3287268"/>
            <a:ext cx="393192" cy="39319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62">
            <a:extLst>
              <a:ext uri="{FF2B5EF4-FFF2-40B4-BE49-F238E27FC236}">
                <a16:creationId xmlns:a16="http://schemas.microsoft.com/office/drawing/2014/main" id="{038DF47C-1CF0-DB6D-AA3B-EAFE04C844DA}"/>
              </a:ext>
            </a:extLst>
          </p:cNvPr>
          <p:cNvSpPr/>
          <p:nvPr/>
        </p:nvSpPr>
        <p:spPr>
          <a:xfrm>
            <a:off x="5047488" y="3342132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  <p:sp>
        <p:nvSpPr>
          <p:cNvPr id="195" name="Shape 26">
            <a:extLst>
              <a:ext uri="{FF2B5EF4-FFF2-40B4-BE49-F238E27FC236}">
                <a16:creationId xmlns:a16="http://schemas.microsoft.com/office/drawing/2014/main" id="{8D70C897-5C87-C441-6347-8744F5A9F4FB}"/>
              </a:ext>
            </a:extLst>
          </p:cNvPr>
          <p:cNvSpPr/>
          <p:nvPr/>
        </p:nvSpPr>
        <p:spPr>
          <a:xfrm flipH="1">
            <a:off x="1666952" y="2715810"/>
            <a:ext cx="1105509" cy="723292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4">
            <a:extLst>
              <a:ext uri="{FF2B5EF4-FFF2-40B4-BE49-F238E27FC236}">
                <a16:creationId xmlns:a16="http://schemas.microsoft.com/office/drawing/2014/main" id="{E874853C-7A4E-90EB-9F6B-B8A5DA529BBE}"/>
              </a:ext>
            </a:extLst>
          </p:cNvPr>
          <p:cNvSpPr/>
          <p:nvPr/>
        </p:nvSpPr>
        <p:spPr>
          <a:xfrm>
            <a:off x="1642262" y="3484820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5">
            <a:extLst>
              <a:ext uri="{FF2B5EF4-FFF2-40B4-BE49-F238E27FC236}">
                <a16:creationId xmlns:a16="http://schemas.microsoft.com/office/drawing/2014/main" id="{462C7EF4-D91C-28F6-7515-D56E1CE90707}"/>
              </a:ext>
            </a:extLst>
          </p:cNvPr>
          <p:cNvSpPr/>
          <p:nvPr/>
        </p:nvSpPr>
        <p:spPr>
          <a:xfrm>
            <a:off x="2085289" y="2982815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 16">
            <a:extLst>
              <a:ext uri="{FF2B5EF4-FFF2-40B4-BE49-F238E27FC236}">
                <a16:creationId xmlns:a16="http://schemas.microsoft.com/office/drawing/2014/main" id="{EC0C0E04-A641-02C4-F733-AB0A0C96B778}"/>
              </a:ext>
            </a:extLst>
          </p:cNvPr>
          <p:cNvSpPr/>
          <p:nvPr/>
        </p:nvSpPr>
        <p:spPr>
          <a:xfrm>
            <a:off x="2121865" y="3019391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99" name="Shape 17">
            <a:extLst>
              <a:ext uri="{FF2B5EF4-FFF2-40B4-BE49-F238E27FC236}">
                <a16:creationId xmlns:a16="http://schemas.microsoft.com/office/drawing/2014/main" id="{C17EB742-8420-99AE-2555-3C81DA5E89DB}"/>
              </a:ext>
            </a:extLst>
          </p:cNvPr>
          <p:cNvSpPr/>
          <p:nvPr/>
        </p:nvSpPr>
        <p:spPr>
          <a:xfrm>
            <a:off x="1642262" y="3484820"/>
            <a:ext cx="1105510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8">
            <a:extLst>
              <a:ext uri="{FF2B5EF4-FFF2-40B4-BE49-F238E27FC236}">
                <a16:creationId xmlns:a16="http://schemas.microsoft.com/office/drawing/2014/main" id="{CD89F2C5-5CD8-A000-FDFF-44F87B91FCEB}"/>
              </a:ext>
            </a:extLst>
          </p:cNvPr>
          <p:cNvSpPr/>
          <p:nvPr/>
        </p:nvSpPr>
        <p:spPr>
          <a:xfrm>
            <a:off x="2085289" y="337509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19">
            <a:extLst>
              <a:ext uri="{FF2B5EF4-FFF2-40B4-BE49-F238E27FC236}">
                <a16:creationId xmlns:a16="http://schemas.microsoft.com/office/drawing/2014/main" id="{41C2FBBB-C36D-2B4A-4226-E645F4255069}"/>
              </a:ext>
            </a:extLst>
          </p:cNvPr>
          <p:cNvSpPr/>
          <p:nvPr/>
        </p:nvSpPr>
        <p:spPr>
          <a:xfrm>
            <a:off x="2121865" y="34116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02" name="Shape 20">
            <a:extLst>
              <a:ext uri="{FF2B5EF4-FFF2-40B4-BE49-F238E27FC236}">
                <a16:creationId xmlns:a16="http://schemas.microsoft.com/office/drawing/2014/main" id="{361E0F32-B56C-BFCF-E719-815805A1FEAC}"/>
              </a:ext>
            </a:extLst>
          </p:cNvPr>
          <p:cNvSpPr/>
          <p:nvPr/>
        </p:nvSpPr>
        <p:spPr>
          <a:xfrm>
            <a:off x="1642262" y="3484820"/>
            <a:ext cx="1105510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1">
            <a:extLst>
              <a:ext uri="{FF2B5EF4-FFF2-40B4-BE49-F238E27FC236}">
                <a16:creationId xmlns:a16="http://schemas.microsoft.com/office/drawing/2014/main" id="{187003BA-92A8-964F-9FD8-0B4F53432FE8}"/>
              </a:ext>
            </a:extLst>
          </p:cNvPr>
          <p:cNvSpPr/>
          <p:nvPr/>
        </p:nvSpPr>
        <p:spPr>
          <a:xfrm>
            <a:off x="2085289" y="3767370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2">
            <a:extLst>
              <a:ext uri="{FF2B5EF4-FFF2-40B4-BE49-F238E27FC236}">
                <a16:creationId xmlns:a16="http://schemas.microsoft.com/office/drawing/2014/main" id="{ED36041C-3762-2749-D2A1-F52EDFF81CB3}"/>
              </a:ext>
            </a:extLst>
          </p:cNvPr>
          <p:cNvSpPr/>
          <p:nvPr/>
        </p:nvSpPr>
        <p:spPr>
          <a:xfrm>
            <a:off x="2121865" y="380394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05" name="Shape 23">
            <a:extLst>
              <a:ext uri="{FF2B5EF4-FFF2-40B4-BE49-F238E27FC236}">
                <a16:creationId xmlns:a16="http://schemas.microsoft.com/office/drawing/2014/main" id="{ED09367D-C219-BBE4-C528-B58B171CE483}"/>
              </a:ext>
            </a:extLst>
          </p:cNvPr>
          <p:cNvSpPr/>
          <p:nvPr/>
        </p:nvSpPr>
        <p:spPr>
          <a:xfrm>
            <a:off x="2747772" y="2700265"/>
            <a:ext cx="1212494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4">
            <a:extLst>
              <a:ext uri="{FF2B5EF4-FFF2-40B4-BE49-F238E27FC236}">
                <a16:creationId xmlns:a16="http://schemas.microsoft.com/office/drawing/2014/main" id="{63C1EF28-2EA8-CFF6-AFF3-D6521D9551BD}"/>
              </a:ext>
            </a:extLst>
          </p:cNvPr>
          <p:cNvSpPr/>
          <p:nvPr/>
        </p:nvSpPr>
        <p:spPr>
          <a:xfrm>
            <a:off x="3244291" y="2537045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25">
            <a:extLst>
              <a:ext uri="{FF2B5EF4-FFF2-40B4-BE49-F238E27FC236}">
                <a16:creationId xmlns:a16="http://schemas.microsoft.com/office/drawing/2014/main" id="{04FF30F3-1409-1DF0-0948-58BE9CBC42CF}"/>
              </a:ext>
            </a:extLst>
          </p:cNvPr>
          <p:cNvSpPr/>
          <p:nvPr/>
        </p:nvSpPr>
        <p:spPr>
          <a:xfrm>
            <a:off x="3280867" y="2573621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08" name="Shape 26">
            <a:extLst>
              <a:ext uri="{FF2B5EF4-FFF2-40B4-BE49-F238E27FC236}">
                <a16:creationId xmlns:a16="http://schemas.microsoft.com/office/drawing/2014/main" id="{AE16B41C-89CC-F78C-F9FB-AC1384DF2D87}"/>
              </a:ext>
            </a:extLst>
          </p:cNvPr>
          <p:cNvSpPr/>
          <p:nvPr/>
        </p:nvSpPr>
        <p:spPr>
          <a:xfrm>
            <a:off x="2747772" y="2700265"/>
            <a:ext cx="1355141" cy="784555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7">
            <a:extLst>
              <a:ext uri="{FF2B5EF4-FFF2-40B4-BE49-F238E27FC236}">
                <a16:creationId xmlns:a16="http://schemas.microsoft.com/office/drawing/2014/main" id="{0EB0F33F-DFAD-1CC7-6152-9B1CEF166D18}"/>
              </a:ext>
            </a:extLst>
          </p:cNvPr>
          <p:cNvSpPr/>
          <p:nvPr/>
        </p:nvSpPr>
        <p:spPr>
          <a:xfrm>
            <a:off x="3315614" y="2982815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8">
            <a:extLst>
              <a:ext uri="{FF2B5EF4-FFF2-40B4-BE49-F238E27FC236}">
                <a16:creationId xmlns:a16="http://schemas.microsoft.com/office/drawing/2014/main" id="{45076DCC-7D47-7460-87DB-E18BD0EFA300}"/>
              </a:ext>
            </a:extLst>
          </p:cNvPr>
          <p:cNvSpPr/>
          <p:nvPr/>
        </p:nvSpPr>
        <p:spPr>
          <a:xfrm>
            <a:off x="3352190" y="3019391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11" name="Shape 29">
            <a:extLst>
              <a:ext uri="{FF2B5EF4-FFF2-40B4-BE49-F238E27FC236}">
                <a16:creationId xmlns:a16="http://schemas.microsoft.com/office/drawing/2014/main" id="{211E6D01-284A-74D7-4213-DAF41C1335AE}"/>
              </a:ext>
            </a:extLst>
          </p:cNvPr>
          <p:cNvSpPr/>
          <p:nvPr/>
        </p:nvSpPr>
        <p:spPr>
          <a:xfrm>
            <a:off x="2747772" y="3484820"/>
            <a:ext cx="135514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30">
            <a:extLst>
              <a:ext uri="{FF2B5EF4-FFF2-40B4-BE49-F238E27FC236}">
                <a16:creationId xmlns:a16="http://schemas.microsoft.com/office/drawing/2014/main" id="{665F71CC-4CB4-46FC-1236-4B5927CBD1CC}"/>
              </a:ext>
            </a:extLst>
          </p:cNvPr>
          <p:cNvSpPr/>
          <p:nvPr/>
        </p:nvSpPr>
        <p:spPr>
          <a:xfrm>
            <a:off x="3315614" y="337509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31">
            <a:extLst>
              <a:ext uri="{FF2B5EF4-FFF2-40B4-BE49-F238E27FC236}">
                <a16:creationId xmlns:a16="http://schemas.microsoft.com/office/drawing/2014/main" id="{1D7A7699-5593-8245-3443-FD62B6D48D21}"/>
              </a:ext>
            </a:extLst>
          </p:cNvPr>
          <p:cNvSpPr/>
          <p:nvPr/>
        </p:nvSpPr>
        <p:spPr>
          <a:xfrm>
            <a:off x="3352190" y="34116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14" name="Shape 32">
            <a:extLst>
              <a:ext uri="{FF2B5EF4-FFF2-40B4-BE49-F238E27FC236}">
                <a16:creationId xmlns:a16="http://schemas.microsoft.com/office/drawing/2014/main" id="{71904B40-CD1B-4699-DE48-1DC86E260846}"/>
              </a:ext>
            </a:extLst>
          </p:cNvPr>
          <p:cNvSpPr/>
          <p:nvPr/>
        </p:nvSpPr>
        <p:spPr>
          <a:xfrm>
            <a:off x="2747772" y="3484820"/>
            <a:ext cx="1319479" cy="855878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33">
            <a:extLst>
              <a:ext uri="{FF2B5EF4-FFF2-40B4-BE49-F238E27FC236}">
                <a16:creationId xmlns:a16="http://schemas.microsoft.com/office/drawing/2014/main" id="{B244D535-74BC-2652-EDA4-A16E3E171FCA}"/>
              </a:ext>
            </a:extLst>
          </p:cNvPr>
          <p:cNvSpPr/>
          <p:nvPr/>
        </p:nvSpPr>
        <p:spPr>
          <a:xfrm>
            <a:off x="3297783" y="380303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34">
            <a:extLst>
              <a:ext uri="{FF2B5EF4-FFF2-40B4-BE49-F238E27FC236}">
                <a16:creationId xmlns:a16="http://schemas.microsoft.com/office/drawing/2014/main" id="{9AADD7BC-7E42-1C39-F11A-F3D5C5F90BBA}"/>
              </a:ext>
            </a:extLst>
          </p:cNvPr>
          <p:cNvSpPr/>
          <p:nvPr/>
        </p:nvSpPr>
        <p:spPr>
          <a:xfrm>
            <a:off x="3334359" y="383960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17" name="Shape 35">
            <a:extLst>
              <a:ext uri="{FF2B5EF4-FFF2-40B4-BE49-F238E27FC236}">
                <a16:creationId xmlns:a16="http://schemas.microsoft.com/office/drawing/2014/main" id="{67A7D87B-8487-AEAF-C61A-312D899DC482}"/>
              </a:ext>
            </a:extLst>
          </p:cNvPr>
          <p:cNvSpPr/>
          <p:nvPr/>
        </p:nvSpPr>
        <p:spPr>
          <a:xfrm>
            <a:off x="2747772" y="4269376"/>
            <a:ext cx="1319479" cy="71323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36">
            <a:extLst>
              <a:ext uri="{FF2B5EF4-FFF2-40B4-BE49-F238E27FC236}">
                <a16:creationId xmlns:a16="http://schemas.microsoft.com/office/drawing/2014/main" id="{CBC13889-0DEB-5209-A8E4-8C98795AD164}"/>
              </a:ext>
            </a:extLst>
          </p:cNvPr>
          <p:cNvSpPr/>
          <p:nvPr/>
        </p:nvSpPr>
        <p:spPr>
          <a:xfrm>
            <a:off x="3297783" y="4195309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Text 37">
            <a:extLst>
              <a:ext uri="{FF2B5EF4-FFF2-40B4-BE49-F238E27FC236}">
                <a16:creationId xmlns:a16="http://schemas.microsoft.com/office/drawing/2014/main" id="{7BC059FD-8105-1A2D-D28C-2C85D286FE68}"/>
              </a:ext>
            </a:extLst>
          </p:cNvPr>
          <p:cNvSpPr/>
          <p:nvPr/>
        </p:nvSpPr>
        <p:spPr>
          <a:xfrm>
            <a:off x="3334359" y="4231885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20" name="Shape 38">
            <a:extLst>
              <a:ext uri="{FF2B5EF4-FFF2-40B4-BE49-F238E27FC236}">
                <a16:creationId xmlns:a16="http://schemas.microsoft.com/office/drawing/2014/main" id="{BB82C300-4B65-6C16-456C-1635326F04BA}"/>
              </a:ext>
            </a:extLst>
          </p:cNvPr>
          <p:cNvSpPr/>
          <p:nvPr/>
        </p:nvSpPr>
        <p:spPr>
          <a:xfrm>
            <a:off x="3960266" y="2593280"/>
            <a:ext cx="1283818" cy="89154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39">
            <a:extLst>
              <a:ext uri="{FF2B5EF4-FFF2-40B4-BE49-F238E27FC236}">
                <a16:creationId xmlns:a16="http://schemas.microsoft.com/office/drawing/2014/main" id="{A8642E2B-A133-7D1A-A714-81263E7DB352}"/>
              </a:ext>
            </a:extLst>
          </p:cNvPr>
          <p:cNvSpPr/>
          <p:nvPr/>
        </p:nvSpPr>
        <p:spPr>
          <a:xfrm>
            <a:off x="4492447" y="292932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40">
            <a:extLst>
              <a:ext uri="{FF2B5EF4-FFF2-40B4-BE49-F238E27FC236}">
                <a16:creationId xmlns:a16="http://schemas.microsoft.com/office/drawing/2014/main" id="{41A43B81-DA75-4C9D-3DCF-3038DBD7D407}"/>
              </a:ext>
            </a:extLst>
          </p:cNvPr>
          <p:cNvSpPr/>
          <p:nvPr/>
        </p:nvSpPr>
        <p:spPr>
          <a:xfrm>
            <a:off x="4529023" y="296589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223" name="Shape 41">
            <a:extLst>
              <a:ext uri="{FF2B5EF4-FFF2-40B4-BE49-F238E27FC236}">
                <a16:creationId xmlns:a16="http://schemas.microsoft.com/office/drawing/2014/main" id="{E8D378CB-6512-7087-0E3A-3E732694035C}"/>
              </a:ext>
            </a:extLst>
          </p:cNvPr>
          <p:cNvSpPr/>
          <p:nvPr/>
        </p:nvSpPr>
        <p:spPr>
          <a:xfrm>
            <a:off x="4102913" y="3484820"/>
            <a:ext cx="1141171" cy="0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42">
            <a:extLst>
              <a:ext uri="{FF2B5EF4-FFF2-40B4-BE49-F238E27FC236}">
                <a16:creationId xmlns:a16="http://schemas.microsoft.com/office/drawing/2014/main" id="{B9DFB192-50AB-445D-9E2C-0369CD64E07F}"/>
              </a:ext>
            </a:extLst>
          </p:cNvPr>
          <p:cNvSpPr/>
          <p:nvPr/>
        </p:nvSpPr>
        <p:spPr>
          <a:xfrm>
            <a:off x="4563770" y="337509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43">
            <a:extLst>
              <a:ext uri="{FF2B5EF4-FFF2-40B4-BE49-F238E27FC236}">
                <a16:creationId xmlns:a16="http://schemas.microsoft.com/office/drawing/2014/main" id="{8E542A26-BEC2-4587-8685-9CB30A578000}"/>
              </a:ext>
            </a:extLst>
          </p:cNvPr>
          <p:cNvSpPr/>
          <p:nvPr/>
        </p:nvSpPr>
        <p:spPr>
          <a:xfrm>
            <a:off x="4600346" y="34116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26" name="Shape 44">
            <a:extLst>
              <a:ext uri="{FF2B5EF4-FFF2-40B4-BE49-F238E27FC236}">
                <a16:creationId xmlns:a16="http://schemas.microsoft.com/office/drawing/2014/main" id="{775F4F87-D4CA-DBD2-D581-6BE22BCF9B13}"/>
              </a:ext>
            </a:extLst>
          </p:cNvPr>
          <p:cNvSpPr/>
          <p:nvPr/>
        </p:nvSpPr>
        <p:spPr>
          <a:xfrm flipV="1">
            <a:off x="4067251" y="3484820"/>
            <a:ext cx="1176833" cy="855879"/>
          </a:xfrm>
          <a:prstGeom prst="line">
            <a:avLst/>
          </a:prstGeom>
          <a:noFill/>
          <a:ln w="1905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45">
            <a:extLst>
              <a:ext uri="{FF2B5EF4-FFF2-40B4-BE49-F238E27FC236}">
                <a16:creationId xmlns:a16="http://schemas.microsoft.com/office/drawing/2014/main" id="{45848C26-0565-BC91-5A75-D8CCDAC5E9A4}"/>
              </a:ext>
            </a:extLst>
          </p:cNvPr>
          <p:cNvSpPr/>
          <p:nvPr/>
        </p:nvSpPr>
        <p:spPr>
          <a:xfrm>
            <a:off x="4545939" y="3803032"/>
            <a:ext cx="219456" cy="21945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2C1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46">
            <a:extLst>
              <a:ext uri="{FF2B5EF4-FFF2-40B4-BE49-F238E27FC236}">
                <a16:creationId xmlns:a16="http://schemas.microsoft.com/office/drawing/2014/main" id="{5EF50B48-70ED-E54F-A815-2E328CA1840A}"/>
              </a:ext>
            </a:extLst>
          </p:cNvPr>
          <p:cNvSpPr/>
          <p:nvPr/>
        </p:nvSpPr>
        <p:spPr>
          <a:xfrm>
            <a:off x="4582515" y="383960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229" name="Shape 47">
            <a:extLst>
              <a:ext uri="{FF2B5EF4-FFF2-40B4-BE49-F238E27FC236}">
                <a16:creationId xmlns:a16="http://schemas.microsoft.com/office/drawing/2014/main" id="{0557719B-ED6D-0DA5-D1E8-900F10F6BF37}"/>
              </a:ext>
            </a:extLst>
          </p:cNvPr>
          <p:cNvSpPr/>
          <p:nvPr/>
        </p:nvSpPr>
        <p:spPr>
          <a:xfrm>
            <a:off x="1445666" y="3288224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48">
            <a:extLst>
              <a:ext uri="{FF2B5EF4-FFF2-40B4-BE49-F238E27FC236}">
                <a16:creationId xmlns:a16="http://schemas.microsoft.com/office/drawing/2014/main" id="{F58289C6-29FF-2220-037E-95421D78C027}"/>
              </a:ext>
            </a:extLst>
          </p:cNvPr>
          <p:cNvSpPr/>
          <p:nvPr/>
        </p:nvSpPr>
        <p:spPr>
          <a:xfrm>
            <a:off x="1445666" y="33430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400" dirty="0"/>
          </a:p>
        </p:txBody>
      </p:sp>
      <p:sp>
        <p:nvSpPr>
          <p:cNvPr id="231" name="Shape 49">
            <a:extLst>
              <a:ext uri="{FF2B5EF4-FFF2-40B4-BE49-F238E27FC236}">
                <a16:creationId xmlns:a16="http://schemas.microsoft.com/office/drawing/2014/main" id="{CCF8D994-1FAB-6318-939D-5ED505435FE9}"/>
              </a:ext>
            </a:extLst>
          </p:cNvPr>
          <p:cNvSpPr/>
          <p:nvPr/>
        </p:nvSpPr>
        <p:spPr>
          <a:xfrm>
            <a:off x="2551176" y="2503669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 50">
            <a:extLst>
              <a:ext uri="{FF2B5EF4-FFF2-40B4-BE49-F238E27FC236}">
                <a16:creationId xmlns:a16="http://schemas.microsoft.com/office/drawing/2014/main" id="{012D5467-DF2D-B974-9990-4602FBD4BF4D}"/>
              </a:ext>
            </a:extLst>
          </p:cNvPr>
          <p:cNvSpPr/>
          <p:nvPr/>
        </p:nvSpPr>
        <p:spPr>
          <a:xfrm>
            <a:off x="2551176" y="2558533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233" name="Shape 51">
            <a:extLst>
              <a:ext uri="{FF2B5EF4-FFF2-40B4-BE49-F238E27FC236}">
                <a16:creationId xmlns:a16="http://schemas.microsoft.com/office/drawing/2014/main" id="{7237AFAF-9E1B-99C2-A89F-2DEC2E26CE4A}"/>
              </a:ext>
            </a:extLst>
          </p:cNvPr>
          <p:cNvSpPr/>
          <p:nvPr/>
        </p:nvSpPr>
        <p:spPr>
          <a:xfrm>
            <a:off x="2551176" y="3288224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Text 52">
            <a:extLst>
              <a:ext uri="{FF2B5EF4-FFF2-40B4-BE49-F238E27FC236}">
                <a16:creationId xmlns:a16="http://schemas.microsoft.com/office/drawing/2014/main" id="{A2998EB0-3863-59C8-7022-71308010A09C}"/>
              </a:ext>
            </a:extLst>
          </p:cNvPr>
          <p:cNvSpPr/>
          <p:nvPr/>
        </p:nvSpPr>
        <p:spPr>
          <a:xfrm>
            <a:off x="2551176" y="33430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235" name="Shape 53">
            <a:extLst>
              <a:ext uri="{FF2B5EF4-FFF2-40B4-BE49-F238E27FC236}">
                <a16:creationId xmlns:a16="http://schemas.microsoft.com/office/drawing/2014/main" id="{20113DC8-1FFB-1965-0F83-BAB61087D61E}"/>
              </a:ext>
            </a:extLst>
          </p:cNvPr>
          <p:cNvSpPr/>
          <p:nvPr/>
        </p:nvSpPr>
        <p:spPr>
          <a:xfrm>
            <a:off x="2551176" y="4072780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 54">
            <a:extLst>
              <a:ext uri="{FF2B5EF4-FFF2-40B4-BE49-F238E27FC236}">
                <a16:creationId xmlns:a16="http://schemas.microsoft.com/office/drawing/2014/main" id="{D6AE79E7-35F3-5C32-9984-230451FA24B5}"/>
              </a:ext>
            </a:extLst>
          </p:cNvPr>
          <p:cNvSpPr/>
          <p:nvPr/>
        </p:nvSpPr>
        <p:spPr>
          <a:xfrm>
            <a:off x="2551176" y="4127644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237" name="Shape 55">
            <a:extLst>
              <a:ext uri="{FF2B5EF4-FFF2-40B4-BE49-F238E27FC236}">
                <a16:creationId xmlns:a16="http://schemas.microsoft.com/office/drawing/2014/main" id="{077202E4-CEA5-97E4-ABA4-30754786FA26}"/>
              </a:ext>
            </a:extLst>
          </p:cNvPr>
          <p:cNvSpPr/>
          <p:nvPr/>
        </p:nvSpPr>
        <p:spPr>
          <a:xfrm>
            <a:off x="3763670" y="245764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Text 56">
            <a:extLst>
              <a:ext uri="{FF2B5EF4-FFF2-40B4-BE49-F238E27FC236}">
                <a16:creationId xmlns:a16="http://schemas.microsoft.com/office/drawing/2014/main" id="{711B8B53-121F-848C-08B0-2316485B2DDF}"/>
              </a:ext>
            </a:extLst>
          </p:cNvPr>
          <p:cNvSpPr/>
          <p:nvPr/>
        </p:nvSpPr>
        <p:spPr>
          <a:xfrm>
            <a:off x="3769212" y="2501426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239" name="Shape 57">
            <a:extLst>
              <a:ext uri="{FF2B5EF4-FFF2-40B4-BE49-F238E27FC236}">
                <a16:creationId xmlns:a16="http://schemas.microsoft.com/office/drawing/2014/main" id="{2086C5B3-4B2F-797B-14D7-233433FC7703}"/>
              </a:ext>
            </a:extLst>
          </p:cNvPr>
          <p:cNvSpPr/>
          <p:nvPr/>
        </p:nvSpPr>
        <p:spPr>
          <a:xfrm>
            <a:off x="3906317" y="3288224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Text 58">
            <a:extLst>
              <a:ext uri="{FF2B5EF4-FFF2-40B4-BE49-F238E27FC236}">
                <a16:creationId xmlns:a16="http://schemas.microsoft.com/office/drawing/2014/main" id="{DE9E159B-E191-CD80-29AB-A0ED29890B28}"/>
              </a:ext>
            </a:extLst>
          </p:cNvPr>
          <p:cNvSpPr/>
          <p:nvPr/>
        </p:nvSpPr>
        <p:spPr>
          <a:xfrm>
            <a:off x="3906317" y="33430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41" name="Shape 59">
            <a:extLst>
              <a:ext uri="{FF2B5EF4-FFF2-40B4-BE49-F238E27FC236}">
                <a16:creationId xmlns:a16="http://schemas.microsoft.com/office/drawing/2014/main" id="{4F2DB02A-9CCE-03E5-DA7A-94238992FB35}"/>
              </a:ext>
            </a:extLst>
          </p:cNvPr>
          <p:cNvSpPr/>
          <p:nvPr/>
        </p:nvSpPr>
        <p:spPr>
          <a:xfrm>
            <a:off x="3870655" y="4144103"/>
            <a:ext cx="393192" cy="393192"/>
          </a:xfrm>
          <a:prstGeom prst="ellipse">
            <a:avLst/>
          </a:prstGeom>
          <a:solidFill>
            <a:srgbClr val="1D5FA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Text 60">
            <a:extLst>
              <a:ext uri="{FF2B5EF4-FFF2-40B4-BE49-F238E27FC236}">
                <a16:creationId xmlns:a16="http://schemas.microsoft.com/office/drawing/2014/main" id="{08F1F52E-2C43-4F1B-1A85-69A924EB9E16}"/>
              </a:ext>
            </a:extLst>
          </p:cNvPr>
          <p:cNvSpPr/>
          <p:nvPr/>
        </p:nvSpPr>
        <p:spPr>
          <a:xfrm>
            <a:off x="3870655" y="4198967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243" name="Shape 61">
            <a:extLst>
              <a:ext uri="{FF2B5EF4-FFF2-40B4-BE49-F238E27FC236}">
                <a16:creationId xmlns:a16="http://schemas.microsoft.com/office/drawing/2014/main" id="{81251C5C-252A-B259-DBC6-52244CC80DB9}"/>
              </a:ext>
            </a:extLst>
          </p:cNvPr>
          <p:cNvSpPr/>
          <p:nvPr/>
        </p:nvSpPr>
        <p:spPr>
          <a:xfrm>
            <a:off x="5047488" y="3288224"/>
            <a:ext cx="393192" cy="393192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Text 62">
            <a:extLst>
              <a:ext uri="{FF2B5EF4-FFF2-40B4-BE49-F238E27FC236}">
                <a16:creationId xmlns:a16="http://schemas.microsoft.com/office/drawing/2014/main" id="{ACE3AFA3-7091-E859-688F-C620CCBCF15C}"/>
              </a:ext>
            </a:extLst>
          </p:cNvPr>
          <p:cNvSpPr/>
          <p:nvPr/>
        </p:nvSpPr>
        <p:spPr>
          <a:xfrm>
            <a:off x="5047488" y="3343088"/>
            <a:ext cx="393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UCS guarantees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is designed for least-cost solutions.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73152" cy="100584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with positive edge costs and finite branching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73152" cy="1005840"/>
          </a:xfrm>
          <a:prstGeom prst="rect">
            <a:avLst/>
          </a:prstGeom>
          <a:solidFill>
            <a:srgbClr val="39A875"/>
          </a:solidFill>
          <a:ln w="12700">
            <a:solidFill>
              <a:srgbClr val="39A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837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762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least total path cost (assume all nonnegative edge costs)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73152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D94E4E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4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Potentially high, dependent on number of nodes at level of cheapest solution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200400"/>
            <a:ext cx="73152" cy="1005840"/>
          </a:xfrm>
          <a:prstGeom prst="rect">
            <a:avLst/>
          </a:prstGeom>
          <a:solidFill>
            <a:srgbClr val="1D5FA7"/>
          </a:solidFill>
          <a:ln w="12700">
            <a:solidFill>
              <a:srgbClr val="1D5F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varying route costs; cost matters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may take more steps if doing so reduces total cost.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graph, three behaviors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frontier rule changes the expansion order and returned route.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10469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2617470" cy="6515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28216"/>
            <a:ext cx="25260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86150" y="1600200"/>
            <a:ext cx="2617470" cy="6515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31870" y="1728216"/>
            <a:ext cx="25260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03620" y="1600200"/>
            <a:ext cx="2617470" cy="6515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49340" y="1728216"/>
            <a:ext cx="25260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return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721090" y="1600200"/>
            <a:ext cx="2617470" cy="65151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66810" y="1728216"/>
            <a:ext cx="252603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225171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37058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486150" y="225171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31870" y="237058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by layer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103620" y="225171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49340" y="237058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fewest actions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721090" y="225171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66810" y="237058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ignore cost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68680" y="2903220"/>
            <a:ext cx="2617470" cy="6515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302209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3486150" y="2903220"/>
            <a:ext cx="2617470" cy="6515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31870" y="302209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by branch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103620" y="2903220"/>
            <a:ext cx="2617470" cy="6515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9340" y="302209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deep solution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721090" y="2903220"/>
            <a:ext cx="2617470" cy="65151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766810" y="302209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memory, no optimality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68680" y="355473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367360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3486150" y="355473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31870" y="367360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by cost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6103620" y="355473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49340" y="367360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path cost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8721090" y="3554730"/>
            <a:ext cx="2617470" cy="65151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766810" y="3673602"/>
            <a:ext cx="252603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g(n)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960120" y="48006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did not change. The frontier did.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960120" y="546811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is why frontier management is algorithm behavior.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Completeness, optimality, and memory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Guarantees depend on assumptions.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108356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852928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2898648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rule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20056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5065776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187184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7232904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354312" y="1554480"/>
            <a:ext cx="2167128" cy="788670"/>
          </a:xfrm>
          <a:prstGeom prst="rect">
            <a:avLst/>
          </a:prstGeom>
          <a:solidFill>
            <a:srgbClr val="F4F8FC"/>
          </a:solidFill>
          <a:ln w="762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9400032" y="1682496"/>
            <a:ext cx="2075688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85800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731520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852928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2898648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shallowest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0056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5065776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finite branching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87184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232904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w/equal step costs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54312" y="234315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9400032" y="246202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731520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852928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2898648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newest / deepest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20056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5065776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guaranteed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87184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Text 32"/>
          <p:cNvSpPr/>
          <p:nvPr/>
        </p:nvSpPr>
        <p:spPr>
          <a:xfrm>
            <a:off x="7232904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354312" y="3131820"/>
            <a:ext cx="2167128" cy="78867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9400032" y="325069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731520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852928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8"/>
          <p:cNvSpPr/>
          <p:nvPr/>
        </p:nvSpPr>
        <p:spPr>
          <a:xfrm>
            <a:off x="2898648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g(n)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20056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5065776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positive costs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7184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/>
          <p:nvPr/>
        </p:nvSpPr>
        <p:spPr>
          <a:xfrm>
            <a:off x="7232904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yes, nonnegative costs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354312" y="3920490"/>
            <a:ext cx="2167128" cy="788670"/>
          </a:xfrm>
          <a:prstGeom prst="rect">
            <a:avLst/>
          </a:prstGeom>
          <a:solidFill>
            <a:srgbClr val="F4F8FC">
              <a:alpha val="80000"/>
            </a:srgbClr>
          </a:solidFill>
          <a:ln w="6350">
            <a:solidFill>
              <a:srgbClr val="B8C7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Text 44"/>
          <p:cNvSpPr/>
          <p:nvPr/>
        </p:nvSpPr>
        <p:spPr>
          <a:xfrm>
            <a:off x="9400032" y="4039362"/>
            <a:ext cx="2075688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potentially high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60120" y="51663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memorize guarantees without their conditions.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algorithm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the problem objective to the frontier rule.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154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Fewest actions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5146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repair action takes one hour; minimize number of repairs.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783080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40507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26280" y="1691640"/>
            <a:ext cx="3154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6E60B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27448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limited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25146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deep configuration may work; any solution is acceptable.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0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32120" y="40507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1546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30768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cost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have different fuel costs; minimize total fuel.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89720" y="39776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39A875"/>
          </a:solidFill>
          <a:ln w="12700">
            <a:solidFill>
              <a:srgbClr val="39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35440" y="40507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5440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 matters: name the property that makes the algorithm fit.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 the frontier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 reveals search behavior.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1D5FA7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[A, B, C]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783080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1D5FA7"/>
          </a:solidFill>
          <a:ln w="12700">
            <a:solidFill>
              <a:srgbClr val="1D5F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3867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6E60B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6E6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80060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top: C, B, A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40680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6E60B8"/>
          </a:solidFill>
          <a:ln w="12700">
            <a:solidFill>
              <a:srgbClr val="6E60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0" y="3867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150876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39A875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1783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9A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A:5, B:2, C:4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B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098280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39A875"/>
          </a:solidFill>
          <a:ln w="12700">
            <a:solidFill>
              <a:srgbClr val="39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0" y="386791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5440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interpretation: same loop, different frontier type.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5669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the search comparison from memory.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28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L05: Uninformed Search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402568" y="652881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D7C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8FC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4440" y="242316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→ ______ → shallowest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→ ______ → newest/deepest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→ ______ → lowest g(n)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444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frontier determines which node is expanded next.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48006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B8C7D8"/>
            </a:solidFill>
            <a:prstDash val="solid"/>
          </a:ln>
          <a:effectLst>
            <a:outerShdw blurRad="12700" dist="50800" dir="2700000" algn="bl" rotWithShape="0">
              <a:srgbClr val="D4DEE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783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2D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720840" y="2331720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snapshot: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depth 1, g=5, added first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depth 2, g=2, added second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depth 1, g=4, added third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3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node does BFS select? DFS? UCS?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9893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5F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class: Informed Search — what changes when the system has an estimate of what remains?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7D154A9B6B4745A92074A700A40869" ma:contentTypeVersion="24" ma:contentTypeDescription="Create a new document." ma:contentTypeScope="" ma:versionID="49c36a49e684e25092aa685b0fe35842">
  <xsd:schema xmlns:xsd="http://www.w3.org/2001/XMLSchema" xmlns:xs="http://www.w3.org/2001/XMLSchema" xmlns:p="http://schemas.microsoft.com/office/2006/metadata/properties" xmlns:ns1="http://schemas.microsoft.com/sharepoint/v3" xmlns:ns2="fcae3b96-bd14-4ee2-8386-a94084e60018" xmlns:ns3="56f87f42-bac6-49e2-b9d5-04744cb514ee" targetNamespace="http://schemas.microsoft.com/office/2006/metadata/properties" ma:root="true" ma:fieldsID="9c960b9d532a5d3a9032170b89435a2d" ns1:_="" ns2:_="" ns3:_="">
    <xsd:import namespace="http://schemas.microsoft.com/sharepoint/v3"/>
    <xsd:import namespace="fcae3b96-bd14-4ee2-8386-a94084e60018"/>
    <xsd:import namespace="56f87f42-bac6-49e2-b9d5-04744cb514e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e3b96-bd14-4ee2-8386-a94084e60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87f42-bac6-49e2-b9d5-04744cb514e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8e345d7-e916-42f7-ade4-36d8c15b0911}" ma:internalName="TaxCatchAll" ma:showField="CatchAllData" ma:web="56f87f42-bac6-49e2-b9d5-04744cb514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56f87f42-bac6-49e2-b9d5-04744cb514ee" xsi:nil="true"/>
    <lcf76f155ced4ddcb4097134ff3c332f xmlns="fcae3b96-bd14-4ee2-8386-a94084e60018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BD9254E-3EAA-4130-8AEF-826763D411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BC576F-ECF6-4A05-95D7-3B6FC2898F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cae3b96-bd14-4ee2-8386-a94084e60018"/>
    <ds:schemaRef ds:uri="56f87f42-bac6-49e2-b9d5-04744cb514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D44872-B05F-4031-8C44-564B53B08026}">
  <ds:schemaRefs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sharepoint/v3"/>
    <ds:schemaRef ds:uri="fcae3b96-bd14-4ee2-8386-a94084e60018"/>
    <ds:schemaRef ds:uri="http://schemas.microsoft.com/office/2006/metadata/properties"/>
    <ds:schemaRef ds:uri="http://schemas.microsoft.com/office/infopath/2007/PartnerControls"/>
    <ds:schemaRef ds:uri="56f87f42-bac6-49e2-b9d5-04744cb514ee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3258</Words>
  <Application>Microsoft Office PowerPoint</Application>
  <PresentationFormat>Widescreen</PresentationFormat>
  <Paragraphs>695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United States Air Force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5 Uninformed Search</dc:title>
  <dc:subject>Lesson 5: Uninformed Search</dc:subject>
  <dc:creator>CS 471</dc:creator>
  <cp:lastModifiedBy>Phan, Tiffany M Capt USAF USAFA AW/DFCS</cp:lastModifiedBy>
  <cp:revision>3</cp:revision>
  <dcterms:created xsi:type="dcterms:W3CDTF">2026-08-04T23:01:19Z</dcterms:created>
  <dcterms:modified xsi:type="dcterms:W3CDTF">2026-08-17T23:34:52Z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0x0101006A7D154A9B6B4745A92074A700A40869</vt:lpwstr>
  </property>
  <property fmtid="{D5CDD505-2E9C-101B-9397-08002B2CF9AE}" pid="3" name="MediaServiceImageTags">
    <vt:lpwstr/>
  </property>
</Properties>
</file>