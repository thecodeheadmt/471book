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84" y="1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2493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emphasizing that Lesson 3 is a guided investigation. Students use LLMs because they make AI system behavior visible quickly, but the goal is evidence-based evaluation rather than prompt tricks.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 workshop to the revised lesson objectives. This slide replaces a standard lecture agenda with an experimental frame. Point out that different groups may use different prompts or LLMs as long as comparisons remain controlled.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missing wind-adjusted consumption is intentional. The target behavior is not necessarily a particular route; students are evaluating whether the system recognizes uncertainty, assumptions, and required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presentation block is deliberate. Students should not create slide decks; they will use the final page of the handout or one screenshot plus notes. Keep transitions tight.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students to assign roles quickly and write names on the handout. Emphasize that roles are about accountability, not hierarchy.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out the controlled-comparison requirement. This is the main guardrail that lets students make meaningful claims when different prompts or LLMs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tracks efficiently. For a class of 14–24, groups of 3–4 usually create 4–8 presentations. Encourage different LLMs only if students can keep the prompt fixed for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all groups run the same baseline prompt first. This gives the class a common reference before prompts or models diverge.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this block, circulate and ask: What changed? What stayed constant? What evidence will you present? Redirect groups that are trying many variables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 to classify at least three important claims. They do not need to audit the entire response word-for-word, but their final judgment should be evidence-based.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groups exactly three minutes to prepare. Require the four-part format so the presentation block stays concise and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Enforce time limits. Prompt presenters to focus on a single evidence-based finding. Audience members fill out the listening task while groups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can remain visible during the presentation round if the room allows. It helps the audience listen for comparisons instead of waiting passively.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final two minutes to connect findings back to Lesson 2. LLMs are components in a larger AI system, and reliable deployment requires safeguards beyond prompting.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exit responses or use them as a bridge into Lesson 4. The key transition is from input design in LLM systems to problem representation in classical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028687D1-9890-B83A-9D96-78E57CA51AEA}"/>
              </a:ext>
            </a:extLst>
          </p:cNvPr>
          <p:cNvSpPr/>
          <p:nvPr userDrawn="1"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3E6CE6B-B7BD-B823-A251-3E599DDC1E30}"/>
              </a:ext>
            </a:extLst>
          </p:cNvPr>
          <p:cNvSpPr/>
          <p:nvPr userDrawn="1"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>
            <a:extLst>
              <a:ext uri="{FF2B5EF4-FFF2-40B4-BE49-F238E27FC236}">
                <a16:creationId xmlns:a16="http://schemas.microsoft.com/office/drawing/2014/main" id="{84449097-006A-16B9-CD8A-63E9112F0DFA}"/>
              </a:ext>
            </a:extLst>
          </p:cNvPr>
          <p:cNvSpPr/>
          <p:nvPr/>
        </p:nvSpPr>
        <p:spPr>
          <a:xfrm>
            <a:off x="0" y="202020"/>
            <a:ext cx="12191695" cy="6655980"/>
          </a:xfrm>
          <a:prstGeom prst="rect">
            <a:avLst/>
          </a:prstGeom>
          <a:solidFill>
            <a:srgbClr val="F4F8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31520" y="685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CompSci 471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12471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Intelligence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49808" y="187452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3: LLM Behavior Investigation Workshop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9808" y="2450592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Investigate → Compare → Audit → Brief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4507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1234440" cy="310896"/>
          </a:xfrm>
          <a:prstGeom prst="rect">
            <a:avLst/>
          </a:prstGeom>
          <a:solidFill>
            <a:srgbClr val="EAF2FA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868680" y="40325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48840" y="4005072"/>
            <a:ext cx="228600" cy="256032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2450592" y="4507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450592" y="3977640"/>
            <a:ext cx="1234440" cy="310896"/>
          </a:xfrm>
          <a:prstGeom prst="rect">
            <a:avLst/>
          </a:prstGeom>
          <a:solidFill>
            <a:srgbClr val="EAF2FA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2450592" y="40325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30752" y="4005072"/>
            <a:ext cx="228600" cy="256032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4032504" y="4507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032504" y="3977640"/>
            <a:ext cx="1234440" cy="310896"/>
          </a:xfrm>
          <a:prstGeom prst="rect">
            <a:avLst/>
          </a:prstGeom>
          <a:solidFill>
            <a:srgbClr val="EAF2FA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4032504" y="40325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excerpt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12664" y="4005072"/>
            <a:ext cx="228600" cy="256032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5614416" y="4507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14416" y="3977640"/>
            <a:ext cx="1234440" cy="310896"/>
          </a:xfrm>
          <a:prstGeom prst="rect">
            <a:avLst/>
          </a:prstGeom>
          <a:solidFill>
            <a:srgbClr val="FFF4CF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" name="Text 18"/>
          <p:cNvSpPr/>
          <p:nvPr/>
        </p:nvSpPr>
        <p:spPr>
          <a:xfrm>
            <a:off x="5614416" y="40325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94576" y="4005072"/>
            <a:ext cx="228600" cy="256032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7196328" y="4507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196328" y="3977640"/>
            <a:ext cx="1234440" cy="310896"/>
          </a:xfrm>
          <a:prstGeom prst="rect">
            <a:avLst/>
          </a:prstGeom>
          <a:solidFill>
            <a:srgbClr val="EAF2FA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" name="Text 22"/>
          <p:cNvSpPr/>
          <p:nvPr/>
        </p:nvSpPr>
        <p:spPr>
          <a:xfrm>
            <a:off x="7196328" y="40325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79792" y="1005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LLM-as-system component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79792" y="1508760"/>
            <a:ext cx="1691640" cy="310896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491472" y="1508760"/>
            <a:ext cx="1691640" cy="310896"/>
          </a:xfrm>
          <a:prstGeom prst="rect">
            <a:avLst/>
          </a:prstGeom>
          <a:solidFill>
            <a:srgbClr val="1D5FA7"/>
          </a:solidFill>
          <a:ln>
            <a:solidFill>
              <a:srgbClr val="1D5FA7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output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047988" y="2363618"/>
            <a:ext cx="2514600" cy="384048"/>
          </a:xfrm>
          <a:prstGeom prst="rect">
            <a:avLst/>
          </a:prstGeom>
          <a:solidFill>
            <a:srgbClr val="FFF4CF"/>
          </a:solidFill>
          <a:ln>
            <a:solidFill>
              <a:srgbClr val="F2C14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audit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253728" y="1554480"/>
            <a:ext cx="228600" cy="219456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131552" y="1906524"/>
            <a:ext cx="411480" cy="320040"/>
          </a:xfrm>
          <a:prstGeom prst="downArrow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86600" y="571500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 LLM as the experimental platform,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as the whole definition of AI.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9808" y="6236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 2026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6A1F93D-FA24-E35E-1D68-759AD8619F16}"/>
              </a:ext>
            </a:extLst>
          </p:cNvPr>
          <p:cNvPicPr/>
          <p:nvPr/>
        </p:nvPicPr>
        <p:blipFill>
          <a:blip r:embed="rId3"/>
          <a:srcRect/>
          <a:stretch/>
        </p:blipFill>
        <p:spPr bwMode="auto">
          <a:xfrm>
            <a:off x="530565" y="5148923"/>
            <a:ext cx="980535" cy="98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frame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is a guided investigation, not a lecture.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L03: LLM Behavior Workshop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72768" y="171907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LLMs are one type of AI system, with characteristic strengths and weaknesses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72768" y="254203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how changes in prompts affect LLM outputs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383280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336499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inconsistencies and failure cases in LLM-based AI systems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206240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72768" y="418795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input design influences output quality across AI systems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5074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cycle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5532120"/>
            <a:ext cx="128016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2203704" y="5614416"/>
            <a:ext cx="228600" cy="292608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0" y="5532120"/>
            <a:ext cx="128016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3895344" y="5614416"/>
            <a:ext cx="228600" cy="292608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51960" y="5532120"/>
            <a:ext cx="128016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5586984" y="5614416"/>
            <a:ext cx="228600" cy="292608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0" y="5532120"/>
            <a:ext cx="128016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7278624" y="5614416"/>
            <a:ext cx="228600" cy="292608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35240" y="5532120"/>
            <a:ext cx="128016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8970264" y="5614416"/>
            <a:ext cx="228600" cy="292608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26880" y="5532120"/>
            <a:ext cx="1280160" cy="457200"/>
          </a:xfrm>
          <a:prstGeom prst="rect">
            <a:avLst/>
          </a:prstGeom>
          <a:solidFill>
            <a:srgbClr val="F2C14E"/>
          </a:solidFill>
          <a:ln>
            <a:solidFill>
              <a:srgbClr val="F2C14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 Lifeline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Investigate different responses to a mission.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L03: LLM Behavior Workshop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79" y="1572767"/>
            <a:ext cx="3571477" cy="1856233"/>
          </a:xfrm>
          <a:prstGeom prst="rect">
            <a:avLst/>
          </a:prstGeom>
          <a:solidFill>
            <a:srgbClr val="EEF3F8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autonomous aircraft must deliver emergency medical supplies to an isolated field team after a severe storm.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97518" y="1572768"/>
            <a:ext cx="2606040" cy="1874520"/>
          </a:xfrm>
          <a:prstGeom prst="rect">
            <a:avLst/>
          </a:prstGeom>
          <a:solidFill>
            <a:srgbClr val="EAF2FA"/>
          </a:solidFill>
          <a:ln w="12700">
            <a:solidFill>
              <a:srgbClr val="1D5FA7"/>
            </a:solidFill>
          </a:ln>
        </p:spPr>
        <p:txBody>
          <a:bodyPr wrap="square" lIns="1270" tIns="1270" rIns="1270" bIns="1270" rtlCol="0" anchor="t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North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km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headwinds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 restricted airspace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42% normal-weather energy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minutes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60920" y="1572768"/>
            <a:ext cx="2839212" cy="1874520"/>
          </a:xfrm>
          <a:prstGeom prst="rect">
            <a:avLst/>
          </a:prstGeom>
          <a:solidFill>
            <a:srgbClr val="EAF6EF"/>
          </a:solidFill>
          <a:ln w="12700">
            <a:solidFill>
              <a:srgbClr val="2F7D4E"/>
            </a:solidFill>
          </a:ln>
        </p:spPr>
        <p:txBody>
          <a:bodyPr wrap="square" lIns="1270" tIns="1270" rIns="1270" bIns="1270" rtlCol="0" anchor="t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South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km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winds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known restriction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48% normal-weather energy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minutes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3559780" cy="1389888"/>
          </a:xfrm>
          <a:prstGeom prst="rect">
            <a:avLst/>
          </a:prstGeom>
          <a:solidFill>
            <a:srgbClr val="EEF3F8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conditions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62%; reserve 15%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Deadline 25 minutes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may be intermittent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87240" y="3886200"/>
            <a:ext cx="3017520" cy="914400"/>
          </a:xfrm>
          <a:prstGeom prst="rect">
            <a:avLst/>
          </a:prstGeom>
          <a:solidFill>
            <a:srgbClr val="FFF4CF"/>
          </a:solidFill>
          <a:ln w="12700">
            <a:solidFill>
              <a:srgbClr val="F2C14E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Intentional gap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Wind-adjusted energy consumption is not provided.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6972" y="3886200"/>
            <a:ext cx="2423160" cy="914400"/>
          </a:xfrm>
          <a:prstGeom prst="rect">
            <a:avLst/>
          </a:prstGeom>
          <a:solidFill>
            <a:srgbClr val="EEF3F8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human operator must authorize the final route.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55778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prompt: “Recommend the best route for the medical-delivery mission. Make one clear recommendation.”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schedule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 investigate for about 20 minutes, then brief findings.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L03: LLM Behavior Workshop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1051560" cy="384048"/>
          </a:xfrm>
          <a:prstGeom prst="rect">
            <a:avLst/>
          </a:prstGeom>
          <a:solidFill>
            <a:srgbClr val="0B2D55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828800" y="1600200"/>
            <a:ext cx="1920240" cy="384048"/>
          </a:xfrm>
          <a:prstGeom prst="rect">
            <a:avLst/>
          </a:prstGeom>
          <a:solidFill>
            <a:srgbClr val="0B2D55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749040" y="1600200"/>
            <a:ext cx="3886200" cy="384048"/>
          </a:xfrm>
          <a:prstGeom prst="rect">
            <a:avLst/>
          </a:prstGeom>
          <a:solidFill>
            <a:srgbClr val="0B2D55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984248"/>
            <a:ext cx="10515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0–5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984248"/>
            <a:ext cx="1920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1984248"/>
            <a:ext cx="38862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Objectives, scenario, rules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10515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5–8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423160"/>
            <a:ext cx="1920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 + tracks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423160"/>
            <a:ext cx="38862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roles and investigation focus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862072"/>
            <a:ext cx="10515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8–29 min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2862072"/>
            <a:ext cx="1920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2862072"/>
            <a:ext cx="38862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trials and collect evidence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10515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29–32 min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300984"/>
            <a:ext cx="1920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prep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3300984"/>
            <a:ext cx="38862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2–3 minute finding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739896"/>
            <a:ext cx="10515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32–51 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3739896"/>
            <a:ext cx="1920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3739896"/>
            <a:ext cx="38862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group reports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178808"/>
            <a:ext cx="10515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51–53 min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28800" y="4178808"/>
            <a:ext cx="1920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4178808"/>
            <a:ext cx="38862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wrap-up and exit response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1600200"/>
            <a:ext cx="2606040" cy="822960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3–4 students per group
</a:t>
            </a: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roles before opening the LLM.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29600" y="2788920"/>
            <a:ext cx="2606040" cy="822960"/>
          </a:xfrm>
          <a:prstGeom prst="rect">
            <a:avLst/>
          </a:prstGeom>
          <a:solidFill>
            <a:srgbClr val="FFF4CF"/>
          </a:solidFill>
          <a:ln w="12700">
            <a:solidFill>
              <a:srgbClr val="F2C14E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2–3 minute reports
</a:t>
            </a: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first; no slides required.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0" y="3977640"/>
            <a:ext cx="2606040" cy="822960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across class
</a:t>
            </a: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prompts or LLMs are encouraged.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 roles before opening the LLM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group needs an operator, experiment designer, auditor, and briefer.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L03: LLM Behavior Workshop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4754880" cy="960120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Enters prompts. Saves exact outputs. Notes model name and settings.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55080" y="1737360"/>
            <a:ext cx="4754880" cy="960120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designer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one variable changing at a time. Protects the comparison.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754880" cy="960120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assumptions, omissions, contradictions, and unsupported claims.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3246120"/>
            <a:ext cx="4754880" cy="960120"/>
          </a:xfrm>
          <a:prstGeom prst="rect">
            <a:avLst/>
          </a:prstGeom>
          <a:solidFill>
            <a:srgbClr val="FFF4CF"/>
          </a:solidFill>
          <a:ln w="12700">
            <a:solidFill>
              <a:srgbClr val="F2C14E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Recorder / Briefer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Completes the handout and presents the finding.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120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group of three, combine Recorder and Briefer. Rotate roles after the baseline trial if needed.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rules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workshop findings come from controlled comparisons.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L03: LLM Behavior Workshop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72768" y="16093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system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343400" y="162763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LLM/platform, model name if visible, fresh chat or continued chat, and obvious tools/settings.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2768" y="2633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one variable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43400" y="2651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comparison: keep LLM fixed. Model comparison: keep exact prompt fixed.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3675888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72768" y="3657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evidence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343400" y="367588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the exact prompt and one short output excerpt that supports your claim.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4700016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72768" y="46817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sensitive content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343400" y="470001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only the fictional mission. Do not enter personal, operational, controlled, or assessment information.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4400" y="577900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finding must be supported by evidence, not just “the answer seemed better.”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Investigation tracks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group tests one behavior while the class builds a broader picture.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L03: LLM Behavior Workshop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719072"/>
            <a:ext cx="438912" cy="402336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755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+ constraints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657600" y="1719072"/>
            <a:ext cx="438912" cy="402336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51960" y="1755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information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38912" cy="402336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1755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Ambiguity + wording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235440" y="1719072"/>
            <a:ext cx="438912" cy="402336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29800" y="1755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Conflicting facts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2953512"/>
            <a:ext cx="438912" cy="402336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990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structure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57600" y="2953512"/>
            <a:ext cx="438912" cy="402336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51960" y="2990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Repeatability / model comparison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46520" y="2953512"/>
            <a:ext cx="438912" cy="402336"/>
          </a:xfrm>
          <a:prstGeom prst="rect">
            <a:avLst/>
          </a:prstGeom>
          <a:solidFill>
            <a:srgbClr val="F2C14E"/>
          </a:solidFill>
          <a:ln>
            <a:solidFill>
              <a:srgbClr val="F2C14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2990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premise + authority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235440" y="2953512"/>
            <a:ext cx="438912" cy="402336"/>
          </a:xfrm>
          <a:prstGeom prst="rect">
            <a:avLst/>
          </a:prstGeom>
          <a:solidFill>
            <a:srgbClr val="F2C14E"/>
          </a:solidFill>
          <a:ln>
            <a:solidFill>
              <a:srgbClr val="F2C14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829800" y="2990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+ safeguards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4572000"/>
            <a:ext cx="4846320" cy="731520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tracks repeat
</a:t>
            </a: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a track with a different approved LLM or a different prompt variant.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4572000"/>
            <a:ext cx="4846320" cy="731520"/>
          </a:xfrm>
          <a:prstGeom prst="rect">
            <a:avLst/>
          </a:prstGeom>
          <a:solidFill>
            <a:srgbClr val="FFF4CF"/>
          </a:solidFill>
          <a:ln w="12700">
            <a:solidFill>
              <a:srgbClr val="F2C14E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class is large
</a:t>
            </a: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A–F first, then add G–H or split model-comparison groups.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the baseline trial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Everyone begins from the same prompt before changing anything.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L03: LLM Behavior Workshop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572768"/>
            <a:ext cx="10058400" cy="868680"/>
          </a:xfrm>
          <a:prstGeom prst="rect">
            <a:avLst/>
          </a:prstGeom>
          <a:solidFill>
            <a:srgbClr val="FFF4CF"/>
          </a:solidFill>
          <a:ln w="12700">
            <a:solidFill>
              <a:srgbClr val="F2C14E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prompt
</a:t>
            </a: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“Recommend the best route for the medical-delivery mission. Make one clear recommendation.”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3886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what may go wrong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11880" y="3246120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46120" y="3886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exact prompt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263640" y="3246120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97880" y="3886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one strength and one weakness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915400" y="3246120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49640" y="3886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one thing to verify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92640" y="5065776"/>
            <a:ext cx="914400" cy="457200"/>
          </a:xfrm>
          <a:prstGeom prst="rect">
            <a:avLst/>
          </a:prstGeom>
          <a:solidFill>
            <a:srgbClr val="1D5FA7"/>
          </a:solidFill>
          <a:ln>
            <a:solidFill>
              <a:srgbClr val="1D5FA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56875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judge the LLM by polish. Judge by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Group investigation time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controlled trials and preserve evidence.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L03: LLM Behavior Workshop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1097280" cy="502920"/>
          </a:xfrm>
          <a:prstGeom prst="rect">
            <a:avLst/>
          </a:prstGeom>
          <a:solidFill>
            <a:srgbClr val="1D5FA7"/>
          </a:solidFill>
          <a:ln>
            <a:solidFill>
              <a:srgbClr val="1D5FA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min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148840" y="174650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group should complete at least three trials: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3017520" cy="914400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Baseline
</a:t>
            </a: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exact shared prompt. Record the output.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2606040"/>
            <a:ext cx="3017520" cy="914400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Controlled change
</a:t>
            </a: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one prompt feature or one model.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26680" y="2606040"/>
            <a:ext cx="3017520" cy="914400"/>
          </a:xfrm>
          <a:prstGeom prst="rect">
            <a:avLst/>
          </a:prstGeom>
          <a:solidFill>
            <a:srgbClr val="FFF4CF"/>
          </a:solidFill>
          <a:ln w="12700">
            <a:solidFill>
              <a:srgbClr val="F2C14E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Follow-up trial
</a:t>
            </a: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whether the observed behavior repeats or improves.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977640"/>
            <a:ext cx="1051560" cy="310896"/>
          </a:xfrm>
          <a:prstGeom prst="rect">
            <a:avLst/>
          </a:prstGeom>
          <a:solidFill>
            <a:srgbClr val="0B2D55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3977640"/>
            <a:ext cx="1508760" cy="310896"/>
          </a:xfrm>
          <a:prstGeom prst="rect">
            <a:avLst/>
          </a:prstGeom>
          <a:solidFill>
            <a:srgbClr val="0B2D55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LLM/model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20440" y="3977640"/>
            <a:ext cx="1965960" cy="310896"/>
          </a:xfrm>
          <a:prstGeom prst="rect">
            <a:avLst/>
          </a:prstGeom>
          <a:solidFill>
            <a:srgbClr val="0B2D55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change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0" y="3977640"/>
            <a:ext cx="1828800" cy="310896"/>
          </a:xfrm>
          <a:prstGeom prst="rect">
            <a:avLst/>
          </a:prstGeom>
          <a:solidFill>
            <a:srgbClr val="0B2D55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0" y="3977640"/>
            <a:ext cx="3520440" cy="310896"/>
          </a:xfrm>
          <a:prstGeom prst="rect">
            <a:avLst/>
          </a:prstGeom>
          <a:solidFill>
            <a:srgbClr val="0B2D55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output evidence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4288536"/>
            <a:ext cx="1051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0" y="4288536"/>
            <a:ext cx="15087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4288536"/>
            <a:ext cx="19659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4288536"/>
            <a:ext cx="1828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4288536"/>
            <a:ext cx="35204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" y="4599432"/>
            <a:ext cx="1051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4599432"/>
            <a:ext cx="15087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20440" y="4599432"/>
            <a:ext cx="19659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4599432"/>
            <a:ext cx="1828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4599432"/>
            <a:ext cx="35204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" y="4910328"/>
            <a:ext cx="1051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11680" y="4910328"/>
            <a:ext cx="15087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20440" y="4910328"/>
            <a:ext cx="19659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4910328"/>
            <a:ext cx="1828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0" y="4910328"/>
            <a:ext cx="35204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57607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conclusion names the variable changed and cites a short output excerpt.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audit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claims before deciding whether the output should be used.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L03: LLM Behavior Workshop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1920240" cy="384048"/>
          </a:xfrm>
          <a:prstGeom prst="rect">
            <a:avLst/>
          </a:prstGeom>
          <a:solidFill>
            <a:srgbClr val="0B2D55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88920" y="1600200"/>
            <a:ext cx="3931920" cy="384048"/>
          </a:xfrm>
          <a:prstGeom prst="rect">
            <a:avLst/>
          </a:prstGeom>
          <a:solidFill>
            <a:srgbClr val="0B2D55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1984248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88920" y="1984248"/>
            <a:ext cx="3931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Directly grounded in the mission brief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441448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Reasonable inference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2441448"/>
            <a:ext cx="3931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Logically supported, but not stated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898648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898648"/>
            <a:ext cx="3931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 without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355848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Contradicted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3355848"/>
            <a:ext cx="3931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Conflicts with provided information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813048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Unverifiable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88920" y="3813048"/>
            <a:ext cx="3931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Cannot be checked with available information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1600200"/>
            <a:ext cx="3154680" cy="566928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assumption
</a:t>
            </a:r>
            <a:r>
              <a:rPr lang="en-US" sz="122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depends on something not stated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7315200" y="2350008"/>
            <a:ext cx="3154680" cy="566928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constraint
</a:t>
            </a:r>
            <a:r>
              <a:rPr lang="en-US" sz="122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ignores battery, reserve, deadline, or authority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7315200" y="3099816"/>
            <a:ext cx="3154680" cy="566928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Unjustified confidence
</a:t>
            </a:r>
            <a:r>
              <a:rPr lang="en-US" sz="122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sounds certain despite missing information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7315200" y="3849624"/>
            <a:ext cx="3154680" cy="566928"/>
          </a:xfrm>
          <a:prstGeom prst="rect">
            <a:avLst/>
          </a:prstGeom>
          <a:solidFill>
            <a:srgbClr val="FFF4CF"/>
          </a:solidFill>
          <a:ln w="12700">
            <a:solidFill>
              <a:srgbClr val="F2C14E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Requested clarification
</a:t>
            </a:r>
            <a:r>
              <a:rPr lang="en-US" sz="122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recognizes data needed before decision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914400" y="5257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options: usable as written | human review | more information needed | should not be used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Prepare your findings brief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have 3 minutes to convert evidence into a 2–3 minute report.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L03: LLM Behavior Workshop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664208"/>
            <a:ext cx="4663440" cy="914400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Investigation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you test?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664208"/>
            <a:ext cx="4663440" cy="914400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Comparison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and what stayed constant?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081528"/>
            <a:ext cx="4663440" cy="914400"/>
          </a:xfrm>
          <a:prstGeom prst="rect">
            <a:avLst/>
          </a:prstGeom>
          <a:solidFill>
            <a:srgbClr val="FFF4CF"/>
          </a:solidFill>
          <a:ln w="12700">
            <a:solidFill>
              <a:srgbClr val="F2C14E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Evidence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output excerpt supports your finding?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63640" y="3081528"/>
            <a:ext cx="4663440" cy="914400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Safeguard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a user or AI system do next?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4892040"/>
            <a:ext cx="914400" cy="502920"/>
          </a:xfrm>
          <a:prstGeom prst="rect">
            <a:avLst/>
          </a:prstGeom>
          <a:solidFill>
            <a:srgbClr val="1D5FA7"/>
          </a:solidFill>
          <a:ln>
            <a:solidFill>
              <a:srgbClr val="1D5FA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0" y="49560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slide deck required. Present from your final handout page or one screenshot plus notes.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round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group gives a concise evidence-based finding.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L03: LLM Behavior Workshop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1097280" cy="384048"/>
          </a:xfrm>
          <a:prstGeom prst="rect">
            <a:avLst/>
          </a:prstGeom>
          <a:solidFill>
            <a:srgbClr val="0B2D55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1965960" y="1600200"/>
            <a:ext cx="2194560" cy="384048"/>
          </a:xfrm>
          <a:prstGeom prst="rect">
            <a:avLst/>
          </a:prstGeom>
          <a:solidFill>
            <a:srgbClr val="0B2D55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4160520" y="1600200"/>
            <a:ext cx="4023360" cy="384048"/>
          </a:xfrm>
          <a:prstGeom prst="rect">
            <a:avLst/>
          </a:prstGeom>
          <a:solidFill>
            <a:srgbClr val="0B2D55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say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868680" y="1984248"/>
            <a:ext cx="10972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sec</a:t>
            </a:r>
            <a:endParaRPr lang="en-US" sz="1190" dirty="0"/>
          </a:p>
        </p:txBody>
      </p:sp>
      <p:sp>
        <p:nvSpPr>
          <p:cNvPr id="10" name="Text 8"/>
          <p:cNvSpPr/>
          <p:nvPr/>
        </p:nvSpPr>
        <p:spPr>
          <a:xfrm>
            <a:off x="1965960" y="1984248"/>
            <a:ext cx="2194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</a:t>
            </a:r>
            <a:endParaRPr lang="en-US" sz="1190" dirty="0"/>
          </a:p>
        </p:txBody>
      </p:sp>
      <p:sp>
        <p:nvSpPr>
          <p:cNvPr id="11" name="Text 9"/>
          <p:cNvSpPr/>
          <p:nvPr/>
        </p:nvSpPr>
        <p:spPr>
          <a:xfrm>
            <a:off x="4160520" y="1984248"/>
            <a:ext cx="4023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“We tested whether…”</a:t>
            </a:r>
            <a:endParaRPr lang="en-US" sz="1190" dirty="0"/>
          </a:p>
        </p:txBody>
      </p:sp>
      <p:sp>
        <p:nvSpPr>
          <p:cNvPr id="12" name="Text 10"/>
          <p:cNvSpPr/>
          <p:nvPr/>
        </p:nvSpPr>
        <p:spPr>
          <a:xfrm>
            <a:off x="868680" y="2487168"/>
            <a:ext cx="10972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sec</a:t>
            </a:r>
            <a:endParaRPr lang="en-US" sz="1190" dirty="0"/>
          </a:p>
        </p:txBody>
      </p:sp>
      <p:sp>
        <p:nvSpPr>
          <p:cNvPr id="13" name="Text 11"/>
          <p:cNvSpPr/>
          <p:nvPr/>
        </p:nvSpPr>
        <p:spPr>
          <a:xfrm>
            <a:off x="1965960" y="2487168"/>
            <a:ext cx="2194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190" dirty="0"/>
          </a:p>
        </p:txBody>
      </p:sp>
      <p:sp>
        <p:nvSpPr>
          <p:cNvPr id="14" name="Text 12"/>
          <p:cNvSpPr/>
          <p:nvPr/>
        </p:nvSpPr>
        <p:spPr>
          <a:xfrm>
            <a:off x="4160520" y="2487168"/>
            <a:ext cx="4023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versus changed prompt or model</a:t>
            </a:r>
            <a:endParaRPr lang="en-US" sz="1190" dirty="0"/>
          </a:p>
        </p:txBody>
      </p:sp>
      <p:sp>
        <p:nvSpPr>
          <p:cNvPr id="15" name="Text 13"/>
          <p:cNvSpPr/>
          <p:nvPr/>
        </p:nvSpPr>
        <p:spPr>
          <a:xfrm>
            <a:off x="868680" y="2990088"/>
            <a:ext cx="10972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sec</a:t>
            </a:r>
            <a:endParaRPr lang="en-US" sz="1190" dirty="0"/>
          </a:p>
        </p:txBody>
      </p:sp>
      <p:sp>
        <p:nvSpPr>
          <p:cNvPr id="16" name="Text 14"/>
          <p:cNvSpPr/>
          <p:nvPr/>
        </p:nvSpPr>
        <p:spPr>
          <a:xfrm>
            <a:off x="1965960" y="2990088"/>
            <a:ext cx="2194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finding</a:t>
            </a:r>
            <a:endParaRPr lang="en-US" sz="1190" dirty="0"/>
          </a:p>
        </p:txBody>
      </p:sp>
      <p:sp>
        <p:nvSpPr>
          <p:cNvPr id="17" name="Text 15"/>
          <p:cNvSpPr/>
          <p:nvPr/>
        </p:nvSpPr>
        <p:spPr>
          <a:xfrm>
            <a:off x="4160520" y="2990088"/>
            <a:ext cx="4023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observed behavior + short output evidence</a:t>
            </a:r>
            <a:endParaRPr lang="en-US" sz="1190" dirty="0"/>
          </a:p>
        </p:txBody>
      </p:sp>
      <p:sp>
        <p:nvSpPr>
          <p:cNvPr id="18" name="Text 16"/>
          <p:cNvSpPr/>
          <p:nvPr/>
        </p:nvSpPr>
        <p:spPr>
          <a:xfrm>
            <a:off x="868680" y="3493008"/>
            <a:ext cx="10972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sec</a:t>
            </a:r>
            <a:endParaRPr lang="en-US" sz="1190" dirty="0"/>
          </a:p>
        </p:txBody>
      </p:sp>
      <p:sp>
        <p:nvSpPr>
          <p:cNvPr id="19" name="Text 17"/>
          <p:cNvSpPr/>
          <p:nvPr/>
        </p:nvSpPr>
        <p:spPr>
          <a:xfrm>
            <a:off x="1965960" y="3493008"/>
            <a:ext cx="2194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 / safeguard</a:t>
            </a:r>
            <a:endParaRPr lang="en-US" sz="1190" dirty="0"/>
          </a:p>
        </p:txBody>
      </p:sp>
      <p:sp>
        <p:nvSpPr>
          <p:cNvPr id="20" name="Text 18"/>
          <p:cNvSpPr/>
          <p:nvPr/>
        </p:nvSpPr>
        <p:spPr>
          <a:xfrm>
            <a:off x="4160520" y="3493008"/>
            <a:ext cx="4023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 user or larger AI system should do</a:t>
            </a:r>
            <a:endParaRPr lang="en-US" sz="1190" dirty="0"/>
          </a:p>
        </p:txBody>
      </p:sp>
      <p:sp>
        <p:nvSpPr>
          <p:cNvPr id="21" name="Text 19"/>
          <p:cNvSpPr/>
          <p:nvPr/>
        </p:nvSpPr>
        <p:spPr>
          <a:xfrm>
            <a:off x="8595360" y="1600200"/>
            <a:ext cx="2377440" cy="713232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4–6 groups
</a:t>
            </a: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2.5–3 minutes each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95360" y="2606040"/>
            <a:ext cx="2377440" cy="713232"/>
          </a:xfrm>
          <a:prstGeom prst="rect">
            <a:avLst/>
          </a:prstGeom>
          <a:solidFill>
            <a:srgbClr val="FFF4CF"/>
          </a:solidFill>
          <a:ln w="12700">
            <a:solidFill>
              <a:srgbClr val="F2C14E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7–8 groups
</a:t>
            </a: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minutes each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595360" y="3611880"/>
            <a:ext cx="2377440" cy="713232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task
</a:t>
            </a: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findings from two other groups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4400" y="53492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at time. The goal is class comparison, not long reports.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Listen for patterns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class is comparing behaviors across prompts, groups, and LLMs.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L03: LLM Behavior Workshop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960120" cy="384048"/>
          </a:xfrm>
          <a:prstGeom prst="rect">
            <a:avLst/>
          </a:prstGeom>
          <a:solidFill>
            <a:srgbClr val="0B2D55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600200"/>
            <a:ext cx="2286000" cy="384048"/>
          </a:xfrm>
          <a:prstGeom prst="rect">
            <a:avLst/>
          </a:prstGeom>
          <a:solidFill>
            <a:srgbClr val="0B2D55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tested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600200"/>
            <a:ext cx="3749040" cy="384048"/>
          </a:xfrm>
          <a:prstGeom prst="rect">
            <a:avLst/>
          </a:prstGeom>
          <a:solidFill>
            <a:srgbClr val="0B2D55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observed behavior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1600200"/>
            <a:ext cx="2971800" cy="384048"/>
          </a:xfrm>
          <a:prstGeom prst="rect">
            <a:avLst/>
          </a:prstGeom>
          <a:solidFill>
            <a:srgbClr val="0B2D55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lesson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984248"/>
            <a:ext cx="960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28800" y="1984248"/>
            <a:ext cx="22860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0" y="1984248"/>
            <a:ext cx="37490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63840" y="1984248"/>
            <a:ext cx="29718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960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828800" y="2514600"/>
            <a:ext cx="22860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0" y="2514600"/>
            <a:ext cx="37490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63840" y="2514600"/>
            <a:ext cx="29718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3044952"/>
            <a:ext cx="960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828800" y="3044952"/>
            <a:ext cx="22860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0" y="3044952"/>
            <a:ext cx="37490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63840" y="3044952"/>
            <a:ext cx="29718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0120" y="4297680"/>
            <a:ext cx="2880360" cy="822960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Prompt-specific?
</a:t>
            </a:r>
            <a:r>
              <a:rPr lang="en-US" sz="13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wording or output format seem to drive the difference?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4297680"/>
            <a:ext cx="2880360" cy="822960"/>
          </a:xfrm>
          <a:prstGeom prst="rect">
            <a:avLst/>
          </a:prstGeom>
          <a:solidFill>
            <a:srgbClr val="FFF4CF"/>
          </a:solidFill>
          <a:ln w="12700">
            <a:solidFill>
              <a:srgbClr val="F2C14E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Model-specific?
</a:t>
            </a:r>
            <a:r>
              <a:rPr lang="en-US" sz="13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a difference appear tied to a particular LLM or repeated run?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18120" y="4297680"/>
            <a:ext cx="2880360" cy="822960"/>
          </a:xfrm>
          <a:prstGeom prst="rect">
            <a:avLst/>
          </a:prstGeom>
          <a:solidFill>
            <a:srgbClr val="EAF2FA"/>
          </a:solidFill>
          <a:ln w="12700">
            <a:solidFill>
              <a:srgbClr val="DCE5E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principle?
</a:t>
            </a:r>
            <a:r>
              <a:rPr lang="en-US" sz="13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pattern seem likely to apply across AI systems?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two presentations, start looking for patterns—not just isolated examples.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Synthesis: what did we learn?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outputs depend on inputs, model behavior, and external verification.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L03: LLM Behavior Workshop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645920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72768" y="162763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LLMs can summarize, structure, reason, and expose questions quickly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72768" y="258775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may miss constraints, assume missing facts, or sound overconfident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8680" y="3566160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354787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design changes what the model notices, assumes, and communicates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8680" y="4526280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72768" y="450799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data, deterministic checks, monitoring, and human review remain essential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4400" y="57150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prompting can improve communication, but it cannot create missing facts or guarantee truth.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response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individually before leaving.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L03: LLM Behavior Workshop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72768" y="1673352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prompt or model change produced the most important output change?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72768" y="2587752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inconsistency, failure, or limitation did your group observe?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3502152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a responsible user or larger AI system verify before acting?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502920" cy="457200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72768" y="4416552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this workshop reveal about LLMs as AI-system components?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5715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class: Problem Formulation — turning real-world tasks into searchable models.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1883</Words>
  <Application>Microsoft Office PowerPoint</Application>
  <PresentationFormat>Widescreen</PresentationFormat>
  <Paragraphs>294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United States Air Force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CS471 Lesson 3 LLM Behavior Investigation Workshop</dc:title>
  <dc:subject>Lesson 3 facilitator slides, redesigned to match CS471 template</dc:subject>
  <dc:creator>CS 471 Instructional Team</dc:creator>
  <cp:lastModifiedBy>Phan, Tiffany M Capt USAF USAFA AW/DFCS</cp:lastModifiedBy>
  <cp:revision>2</cp:revision>
  <dcterms:created xsi:type="dcterms:W3CDTF">2026-08-06T21:47:48Z</dcterms:created>
  <dcterms:modified xsi:type="dcterms:W3CDTF">2026-08-06T23:03:27Z</dcterms:modified>
</cp:coreProperties>
</file>