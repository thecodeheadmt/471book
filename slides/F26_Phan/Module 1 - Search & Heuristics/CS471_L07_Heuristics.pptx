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E6772-1876-4CB3-9126-9774D204C037}" v="9" dt="2026-08-21T22:22:02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5628" autoAdjust="0"/>
  </p:normalViewPr>
  <p:slideViewPr>
    <p:cSldViewPr snapToGrid="0" snapToObjects="1">
      <p:cViewPr varScale="1">
        <p:scale>
          <a:sx n="89" d="100"/>
          <a:sy n="89" d="100"/>
        </p:scale>
        <p:origin x="6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DFCS" userId="a0ed988f-3bd3-448a-ab68-f6eca8eadb00" providerId="ADAL" clId="{D74FDB2A-C6F9-423C-9DA7-5C8A44CC196C}"/>
    <pc:docChg chg="undo custSel modSld">
      <pc:chgData name="Phan, Tiffany M Capt USAF USAFA AW/DFCS" userId="a0ed988f-3bd3-448a-ab68-f6eca8eadb00" providerId="ADAL" clId="{D74FDB2A-C6F9-423C-9DA7-5C8A44CC196C}" dt="2026-08-21T22:23:31.767" v="516" actId="27636"/>
      <pc:docMkLst>
        <pc:docMk/>
      </pc:docMkLst>
      <pc:sldChg chg="addSp delSp modSp mod">
        <pc:chgData name="Phan, Tiffany M Capt USAF USAFA AW/DFCS" userId="a0ed988f-3bd3-448a-ab68-f6eca8eadb00" providerId="ADAL" clId="{D74FDB2A-C6F9-423C-9DA7-5C8A44CC196C}" dt="2026-08-20T23:17:56.637" v="206" actId="1076"/>
        <pc:sldMkLst>
          <pc:docMk/>
          <pc:sldMk cId="0" sldId="256"/>
        </pc:sldMkLst>
        <pc:spChg chg="del">
          <ac:chgData name="Phan, Tiffany M Capt USAF USAFA AW/DFCS" userId="a0ed988f-3bd3-448a-ab68-f6eca8eadb00" providerId="ADAL" clId="{D74FDB2A-C6F9-423C-9DA7-5C8A44CC196C}" dt="2026-08-20T23:16:58.663" v="18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08.198" v="191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27.681" v="194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7:56.637" v="206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4.891" v="149" actId="27636"/>
          <ac:spMkLst>
            <pc:docMk/>
            <pc:sldMk cId="0" sldId="256"/>
            <ac:spMk id="20" creationId="{00000000-0000-0000-0000-000000000000}"/>
          </ac:spMkLst>
        </pc:spChg>
        <pc:spChg chg="add del mod">
          <ac:chgData name="Phan, Tiffany M Capt USAF USAFA AW/DFCS" userId="a0ed988f-3bd3-448a-ab68-f6eca8eadb00" providerId="ADAL" clId="{D74FDB2A-C6F9-423C-9DA7-5C8A44CC196C}" dt="2026-08-20T23:17:15.256" v="193" actId="1076"/>
          <ac:spMkLst>
            <pc:docMk/>
            <pc:sldMk cId="0" sldId="256"/>
            <ac:spMk id="23" creationId="{BD67DA15-E435-E87B-1699-886FFA9EF271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23:31.767" v="516" actId="27636"/>
        <pc:sldMkLst>
          <pc:docMk/>
          <pc:sldMk cId="0" sldId="257"/>
        </pc:sldMkLst>
        <pc:spChg chg="mod">
          <ac:chgData name="Phan, Tiffany M Capt USAF USAFA AW/DFCS" userId="a0ed988f-3bd3-448a-ab68-f6eca8eadb00" providerId="ADAL" clId="{D74FDB2A-C6F9-423C-9DA7-5C8A44CC196C}" dt="2026-08-07T15:47:15.180" v="150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3:31.767" v="515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3:31.767" v="516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3:31.767" v="514" actId="404"/>
          <ac:spMkLst>
            <pc:docMk/>
            <pc:sldMk cId="0" sldId="257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8:35.398" v="207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19:22.950" v="218" actId="20577"/>
        <pc:sldMkLst>
          <pc:docMk/>
          <pc:sldMk cId="0" sldId="258"/>
        </pc:sldMkLst>
        <pc:spChg chg="mod">
          <ac:chgData name="Phan, Tiffany M Capt USAF USAFA AW/DFCS" userId="a0ed988f-3bd3-448a-ab68-f6eca8eadb00" providerId="ADAL" clId="{D74FDB2A-C6F9-423C-9DA7-5C8A44CC196C}" dt="2026-08-07T15:47:15.462" v="152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3:40.305" v="2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8:59.983" v="212" actId="179"/>
          <ac:spMkLst>
            <pc:docMk/>
            <pc:sldMk cId="0" sldId="258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9:03.653" v="213" actId="179"/>
          <ac:spMkLst>
            <pc:docMk/>
            <pc:sldMk cId="0" sldId="258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19:22.950" v="218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07T15:47:15.763" v="154" actId="27636"/>
        <pc:sldMkLst>
          <pc:docMk/>
          <pc:sldMk cId="0" sldId="259"/>
        </pc:sldMkLst>
        <pc:spChg chg="mod">
          <ac:chgData name="Phan, Tiffany M Capt USAF USAFA AW/DFCS" userId="a0ed988f-3bd3-448a-ab68-f6eca8eadb00" providerId="ADAL" clId="{D74FDB2A-C6F9-423C-9DA7-5C8A44CC196C}" dt="2026-08-07T15:47:15.763" v="154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5.762" v="153" actId="27636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0:51.279" v="223" actId="57"/>
        <pc:sldMkLst>
          <pc:docMk/>
          <pc:sldMk cId="0" sldId="260"/>
        </pc:sldMkLst>
        <pc:spChg chg="mod">
          <ac:chgData name="Phan, Tiffany M Capt USAF USAFA AW/DFCS" userId="a0ed988f-3bd3-448a-ab68-f6eca8eadb00" providerId="ADAL" clId="{D74FDB2A-C6F9-423C-9DA7-5C8A44CC196C}" dt="2026-08-20T23:20:41.341" v="221" actId="5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0:38.355" v="220" actId="57"/>
          <ac:spMkLst>
            <pc:docMk/>
            <pc:sldMk cId="0" sldId="260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3:53.424" v="31" actId="179"/>
          <ac:spMkLst>
            <pc:docMk/>
            <pc:sldMk cId="0" sldId="260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0:46.474" v="222" actId="57"/>
          <ac:spMkLst>
            <pc:docMk/>
            <pc:sldMk cId="0" sldId="260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0:51.279" v="223" actId="5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1:16.822" v="249" actId="1037"/>
        <pc:sldMkLst>
          <pc:docMk/>
          <pc:sldMk cId="0" sldId="261"/>
        </pc:sldMkLst>
        <pc:spChg chg="mod">
          <ac:chgData name="Phan, Tiffany M Capt USAF USAFA AW/DFCS" userId="a0ed988f-3bd3-448a-ab68-f6eca8eadb00" providerId="ADAL" clId="{D74FDB2A-C6F9-423C-9DA7-5C8A44CC196C}" dt="2026-08-07T15:47:16.340" v="157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05.877" v="228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16.822" v="249" actId="103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6.340" v="158" actId="27636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1:41.338" v="254" actId="14100"/>
        <pc:sldMkLst>
          <pc:docMk/>
          <pc:sldMk cId="0" sldId="262"/>
        </pc:sldMkLst>
        <pc:spChg chg="mod">
          <ac:chgData name="Phan, Tiffany M Capt USAF USAFA AW/DFCS" userId="a0ed988f-3bd3-448a-ab68-f6eca8eadb00" providerId="ADAL" clId="{D74FDB2A-C6F9-423C-9DA7-5C8A44CC196C}" dt="2026-08-07T15:47:16.667" v="159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27.748" v="252" actId="57"/>
          <ac:spMkLst>
            <pc:docMk/>
            <pc:sldMk cId="0" sldId="262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4:31.466" v="38" actId="179"/>
          <ac:spMkLst>
            <pc:docMk/>
            <pc:sldMk cId="0" sldId="26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4:35.055" v="39" actId="179"/>
          <ac:spMkLst>
            <pc:docMk/>
            <pc:sldMk cId="0" sldId="26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1:41.338" v="254" actId="14100"/>
          <ac:spMkLst>
            <pc:docMk/>
            <pc:sldMk cId="0" sldId="262"/>
            <ac:spMk id="9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20T23:23:42.685" v="269" actId="58"/>
        <pc:sldMkLst>
          <pc:docMk/>
          <pc:sldMk cId="0" sldId="263"/>
        </pc:sldMkLst>
        <pc:spChg chg="mod">
          <ac:chgData name="Phan, Tiffany M Capt USAF USAFA AW/DFCS" userId="a0ed988f-3bd3-448a-ab68-f6eca8eadb00" providerId="ADAL" clId="{D74FDB2A-C6F9-423C-9DA7-5C8A44CC196C}" dt="2026-08-07T15:47:16.926" v="160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36.081" v="267" actId="57"/>
          <ac:spMkLst>
            <pc:docMk/>
            <pc:sldMk cId="0" sldId="263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31.297" v="265" actId="58"/>
          <ac:spMkLst>
            <pc:docMk/>
            <pc:sldMk cId="0" sldId="263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33.890" v="266" actId="58"/>
          <ac:spMkLst>
            <pc:docMk/>
            <pc:sldMk cId="0" sldId="263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01.662" v="261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10.397" v="57" actId="10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10.397" v="57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10.397" v="57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3:42.685" v="269" actId="58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10.397" v="57" actId="1036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07T15:47:17.210" v="161" actId="27636"/>
        <pc:sldMkLst>
          <pc:docMk/>
          <pc:sldMk cId="0" sldId="264"/>
        </pc:sldMkLst>
        <pc:spChg chg="mod">
          <ac:chgData name="Phan, Tiffany M Capt USAF USAFA AW/DFCS" userId="a0ed988f-3bd3-448a-ab68-f6eca8eadb00" providerId="ADAL" clId="{D74FDB2A-C6F9-423C-9DA7-5C8A44CC196C}" dt="2026-08-07T15:47:17.210" v="161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22.525" v="58" actId="179"/>
          <ac:spMkLst>
            <pc:docMk/>
            <pc:sldMk cId="0" sldId="264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26.601" v="59" actId="179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07T15:47:17.513" v="162" actId="27636"/>
        <pc:sldMkLst>
          <pc:docMk/>
          <pc:sldMk cId="0" sldId="265"/>
        </pc:sldMkLst>
        <pc:spChg chg="mod">
          <ac:chgData name="Phan, Tiffany M Capt USAF USAFA AW/DFCS" userId="a0ed988f-3bd3-448a-ab68-f6eca8eadb00" providerId="ADAL" clId="{D74FDB2A-C6F9-423C-9DA7-5C8A44CC196C}" dt="2026-08-07T15:47:17.513" v="162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34.921" v="60" actId="179"/>
          <ac:spMkLst>
            <pc:docMk/>
            <pc:sldMk cId="0" sldId="265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39.125" v="61" actId="179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07T15:47:17.803" v="165" actId="27636"/>
        <pc:sldMkLst>
          <pc:docMk/>
          <pc:sldMk cId="0" sldId="266"/>
        </pc:sldMkLst>
        <pc:spChg chg="mod">
          <ac:chgData name="Phan, Tiffany M Capt USAF USAFA AW/DFCS" userId="a0ed988f-3bd3-448a-ab68-f6eca8eadb00" providerId="ADAL" clId="{D74FDB2A-C6F9-423C-9DA7-5C8A44CC196C}" dt="2026-08-07T15:47:17.803" v="165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45.327" v="62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47.769" v="63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50.207" v="64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5:54.916" v="66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7.790" v="164" actId="2763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7.790" v="163" actId="27636"/>
          <ac:spMkLst>
            <pc:docMk/>
            <pc:sldMk cId="0" sldId="266"/>
            <ac:spMk id="14" creationId="{00000000-0000-0000-0000-000000000000}"/>
          </ac:spMkLst>
        </pc:spChg>
      </pc:sldChg>
      <pc:sldChg chg="modSp mod addAnim delAnim modAnim">
        <pc:chgData name="Phan, Tiffany M Capt USAF USAFA AW/DFCS" userId="a0ed988f-3bd3-448a-ab68-f6eca8eadb00" providerId="ADAL" clId="{D74FDB2A-C6F9-423C-9DA7-5C8A44CC196C}" dt="2026-08-07T15:47:10.750" v="136" actId="27636"/>
        <pc:sldMkLst>
          <pc:docMk/>
          <pc:sldMk cId="0" sldId="267"/>
        </pc:sldMkLst>
        <pc:spChg chg="mod">
          <ac:chgData name="Phan, Tiffany M Capt USAF USAFA AW/DFCS" userId="a0ed988f-3bd3-448a-ab68-f6eca8eadb00" providerId="ADAL" clId="{D74FDB2A-C6F9-423C-9DA7-5C8A44CC196C}" dt="2026-08-07T15:47:10.750" v="136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00.842" v="134" actId="179"/>
          <ac:spMkLst>
            <pc:docMk/>
            <pc:sldMk cId="0" sldId="267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0.581" v="135" actId="179"/>
          <ac:spMkLst>
            <pc:docMk/>
            <pc:sldMk cId="0" sldId="267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5:33.136" v="279" actId="179"/>
        <pc:sldMkLst>
          <pc:docMk/>
          <pc:sldMk cId="0" sldId="268"/>
        </pc:sldMkLst>
        <pc:spChg chg="mod">
          <ac:chgData name="Phan, Tiffany M Capt USAF USAFA AW/DFCS" userId="a0ed988f-3bd3-448a-ab68-f6eca8eadb00" providerId="ADAL" clId="{D74FDB2A-C6F9-423C-9DA7-5C8A44CC196C}" dt="2026-08-07T15:47:11.013" v="137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04.603" v="273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33.136" v="279" actId="179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5:48.928" v="280" actId="179"/>
        <pc:sldMkLst>
          <pc:docMk/>
          <pc:sldMk cId="0" sldId="269"/>
        </pc:sldMkLst>
        <pc:spChg chg="mod">
          <ac:chgData name="Phan, Tiffany M Capt USAF USAFA AW/DFCS" userId="a0ed988f-3bd3-448a-ab68-f6eca8eadb00" providerId="ADAL" clId="{D74FDB2A-C6F9-423C-9DA7-5C8A44CC196C}" dt="2026-08-07T15:47:11.514" v="138" actId="276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7:00.294" v="108" actId="10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7:00.294" v="108" actId="10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7:00.294" v="108" actId="10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7:00.294" v="108" actId="10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5:48.928" v="280" actId="179"/>
          <ac:spMkLst>
            <pc:docMk/>
            <pc:sldMk cId="0" sldId="269"/>
            <ac:spMk id="10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6:22.278" v="281" actId="179"/>
        <pc:sldMkLst>
          <pc:docMk/>
          <pc:sldMk cId="0" sldId="270"/>
        </pc:sldMkLst>
        <pc:spChg chg="mod">
          <ac:chgData name="Phan, Tiffany M Capt USAF USAFA AW/DFCS" userId="a0ed988f-3bd3-448a-ab68-f6eca8eadb00" providerId="ADAL" clId="{D74FDB2A-C6F9-423C-9DA7-5C8A44CC196C}" dt="2026-08-07T15:47:11.933" v="139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6:22.278" v="281" actId="179"/>
          <ac:spMkLst>
            <pc:docMk/>
            <pc:sldMk cId="0" sldId="270"/>
            <ac:spMk id="1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7:13.161" v="288" actId="57"/>
        <pc:sldMkLst>
          <pc:docMk/>
          <pc:sldMk cId="0" sldId="271"/>
        </pc:sldMkLst>
        <pc:spChg chg="mod">
          <ac:chgData name="Phan, Tiffany M Capt USAF USAFA AW/DFCS" userId="a0ed988f-3bd3-448a-ab68-f6eca8eadb00" providerId="ADAL" clId="{D74FDB2A-C6F9-423C-9DA7-5C8A44CC196C}" dt="2026-08-06T23:10:44.977" v="1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00.582" v="285" actId="403"/>
          <ac:spMkLst>
            <pc:docMk/>
            <pc:sldMk cId="0" sldId="271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00.582" v="285" actId="403"/>
          <ac:spMkLst>
            <pc:docMk/>
            <pc:sldMk cId="0" sldId="27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07.485" v="286" actId="57"/>
          <ac:spMkLst>
            <pc:docMk/>
            <pc:sldMk cId="0" sldId="27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13.161" v="288" actId="57"/>
          <ac:spMkLst>
            <pc:docMk/>
            <pc:sldMk cId="0" sldId="271"/>
            <ac:spMk id="9" creationId="{00000000-0000-0000-0000-000000000000}"/>
          </ac:spMkLst>
        </pc:spChg>
      </pc:sldChg>
      <pc:sldChg chg="modSp mod modAnim modNotesTx">
        <pc:chgData name="Phan, Tiffany M Capt USAF USAFA AW/DFCS" userId="a0ed988f-3bd3-448a-ab68-f6eca8eadb00" providerId="ADAL" clId="{D74FDB2A-C6F9-423C-9DA7-5C8A44CC196C}" dt="2026-08-21T22:22:34.251" v="503" actId="20577"/>
        <pc:sldMkLst>
          <pc:docMk/>
          <pc:sldMk cId="0" sldId="272"/>
        </pc:sldMkLst>
        <pc:spChg chg="mod">
          <ac:chgData name="Phan, Tiffany M Capt USAF USAFA AW/DFCS" userId="a0ed988f-3bd3-448a-ab68-f6eca8eadb00" providerId="ADAL" clId="{D74FDB2A-C6F9-423C-9DA7-5C8A44CC196C}" dt="2026-08-07T15:47:12.186" v="140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58.978" v="311" actId="58"/>
          <ac:spMkLst>
            <pc:docMk/>
            <pc:sldMk cId="0" sldId="27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8:00.891" v="312" actId="58"/>
          <ac:spMkLst>
            <pc:docMk/>
            <pc:sldMk cId="0" sldId="27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8:03.145" v="313" actId="57"/>
          <ac:spMkLst>
            <pc:docMk/>
            <pc:sldMk cId="0" sldId="272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45.866" v="309" actId="1038"/>
          <ac:spMkLst>
            <pc:docMk/>
            <pc:sldMk cId="0" sldId="272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7:51.028" v="310" actId="179"/>
          <ac:spMkLst>
            <pc:docMk/>
            <pc:sldMk cId="0" sldId="272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2:02.784" v="447" actId="179"/>
          <ac:spMkLst>
            <pc:docMk/>
            <pc:sldMk cId="0" sldId="272"/>
            <ac:spMk id="2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8:53.794" v="375" actId="403"/>
        <pc:sldMkLst>
          <pc:docMk/>
          <pc:sldMk cId="0" sldId="273"/>
        </pc:sldMkLst>
        <pc:spChg chg="mod">
          <ac:chgData name="Phan, Tiffany M Capt USAF USAFA AW/DFCS" userId="a0ed988f-3bd3-448a-ab68-f6eca8eadb00" providerId="ADAL" clId="{D74FDB2A-C6F9-423C-9DA7-5C8A44CC196C}" dt="2026-08-07T15:47:12.551" v="141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8:50.793" v="374" actId="404"/>
          <ac:spMkLst>
            <pc:docMk/>
            <pc:sldMk cId="0" sldId="273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8:50.793" v="374" actId="404"/>
          <ac:spMkLst>
            <pc:docMk/>
            <pc:sldMk cId="0" sldId="273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8:53.794" v="375" actId="403"/>
          <ac:spMkLst>
            <pc:docMk/>
            <pc:sldMk cId="0" sldId="273"/>
            <ac:spMk id="8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9:12.864" v="379" actId="1076"/>
        <pc:sldMkLst>
          <pc:docMk/>
          <pc:sldMk cId="0" sldId="274"/>
        </pc:sldMkLst>
        <pc:spChg chg="mod">
          <ac:chgData name="Phan, Tiffany M Capt USAF USAFA AW/DFCS" userId="a0ed988f-3bd3-448a-ab68-f6eca8eadb00" providerId="ADAL" clId="{D74FDB2A-C6F9-423C-9DA7-5C8A44CC196C}" dt="2026-08-07T15:47:12.865" v="142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12.864" v="379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12.864" v="379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12.864" v="379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7T15:47:12.876" v="143" actId="27636"/>
          <ac:spMkLst>
            <pc:docMk/>
            <pc:sldMk cId="0" sldId="274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29:22.027" v="396" actId="1036"/>
        <pc:sldMkLst>
          <pc:docMk/>
          <pc:sldMk cId="0" sldId="275"/>
        </pc:sldMkLst>
        <pc:spChg chg="mod">
          <ac:chgData name="Phan, Tiffany M Capt USAF USAFA AW/DFCS" userId="a0ed988f-3bd3-448a-ab68-f6eca8eadb00" providerId="ADAL" clId="{D74FDB2A-C6F9-423C-9DA7-5C8A44CC196C}" dt="2026-08-07T15:47:13.185" v="144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22.027" v="396" actId="1036"/>
          <ac:spMkLst>
            <pc:docMk/>
            <pc:sldMk cId="0" sldId="275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22.027" v="396" actId="10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22.027" v="396" actId="1036"/>
          <ac:spMkLst>
            <pc:docMk/>
            <pc:sldMk cId="0" sldId="275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22.027" v="396" actId="1036"/>
          <ac:spMkLst>
            <pc:docMk/>
            <pc:sldMk cId="0" sldId="275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29:22.027" v="396" actId="1036"/>
          <ac:spMkLst>
            <pc:docMk/>
            <pc:sldMk cId="0" sldId="275"/>
            <ac:spMk id="10" creationId="{00000000-0000-0000-0000-000000000000}"/>
          </ac:spMkLst>
        </pc:spChg>
      </pc:sldChg>
      <pc:sldChg chg="addSp delSp modSp mod modNotesTx">
        <pc:chgData name="Phan, Tiffany M Capt USAF USAFA AW/DFCS" userId="a0ed988f-3bd3-448a-ab68-f6eca8eadb00" providerId="ADAL" clId="{D74FDB2A-C6F9-423C-9DA7-5C8A44CC196C}" dt="2026-08-20T23:30:53.293" v="412" actId="20577"/>
        <pc:sldMkLst>
          <pc:docMk/>
          <pc:sldMk cId="0" sldId="276"/>
        </pc:sldMkLst>
        <pc:spChg chg="mod">
          <ac:chgData name="Phan, Tiffany M Capt USAF USAFA AW/DFCS" userId="a0ed988f-3bd3-448a-ab68-f6eca8eadb00" providerId="ADAL" clId="{D74FDB2A-C6F9-423C-9DA7-5C8A44CC196C}" dt="2026-08-07T15:47:13.487" v="145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0:26.949" v="406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0:26.949" v="406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0:26.949" v="406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0:26.949" v="406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0:26.949" v="406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7:18.193" v="132" actId="27636"/>
          <ac:spMkLst>
            <pc:docMk/>
            <pc:sldMk cId="0" sldId="276"/>
            <ac:spMk id="11" creationId="{00000000-0000-0000-0000-000000000000}"/>
          </ac:spMkLst>
        </pc:spChg>
        <pc:spChg chg="add del mod">
          <ac:chgData name="Phan, Tiffany M Capt USAF USAFA AW/DFCS" userId="a0ed988f-3bd3-448a-ab68-f6eca8eadb00" providerId="ADAL" clId="{D74FDB2A-C6F9-423C-9DA7-5C8A44CC196C}" dt="2026-08-20T23:30:45.645" v="410" actId="478"/>
          <ac:spMkLst>
            <pc:docMk/>
            <pc:sldMk cId="0" sldId="276"/>
            <ac:spMk id="1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31:30.966" v="415" actId="57"/>
        <pc:sldMkLst>
          <pc:docMk/>
          <pc:sldMk cId="0" sldId="277"/>
        </pc:sldMkLst>
        <pc:spChg chg="mod">
          <ac:chgData name="Phan, Tiffany M Capt USAF USAFA AW/DFCS" userId="a0ed988f-3bd3-448a-ab68-f6eca8eadb00" providerId="ADAL" clId="{D74FDB2A-C6F9-423C-9DA7-5C8A44CC196C}" dt="2026-08-07T15:47:13.790" v="146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1:26.161" v="413" actId="57"/>
          <ac:spMkLst>
            <pc:docMk/>
            <pc:sldMk cId="0" sldId="277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1:30.966" v="415" actId="57"/>
          <ac:spMkLst>
            <pc:docMk/>
            <pc:sldMk cId="0" sldId="277"/>
            <ac:spMk id="13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33:11.021" v="435" actId="20577"/>
        <pc:sldMkLst>
          <pc:docMk/>
          <pc:sldMk cId="0" sldId="279"/>
        </pc:sldMkLst>
        <pc:spChg chg="mod">
          <ac:chgData name="Phan, Tiffany M Capt USAF USAFA AW/DFCS" userId="a0ed988f-3bd3-448a-ab68-f6eca8eadb00" providerId="ADAL" clId="{D74FDB2A-C6F9-423C-9DA7-5C8A44CC196C}" dt="2026-08-07T15:47:14.131" v="147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1:43.516" v="416" actId="57"/>
          <ac:spMkLst>
            <pc:docMk/>
            <pc:sldMk cId="0" sldId="279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2:09.876" v="19" actId="179"/>
          <ac:spMkLst>
            <pc:docMk/>
            <pc:sldMk cId="0" sldId="27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2:15.464" v="20" actId="179"/>
          <ac:spMkLst>
            <pc:docMk/>
            <pc:sldMk cId="0" sldId="279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11.021" v="435" actId="20577"/>
          <ac:spMkLst>
            <pc:docMk/>
            <pc:sldMk cId="0" sldId="279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2:23.867" v="21" actId="179"/>
          <ac:spMkLst>
            <pc:docMk/>
            <pc:sldMk cId="0" sldId="279"/>
            <ac:spMk id="10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23:57:08.483" v="446" actId="179"/>
        <pc:sldMkLst>
          <pc:docMk/>
          <pc:sldMk cId="0" sldId="280"/>
        </pc:sldMkLst>
        <pc:spChg chg="mod">
          <ac:chgData name="Phan, Tiffany M Capt USAF USAFA AW/DFCS" userId="a0ed988f-3bd3-448a-ab68-f6eca8eadb00" providerId="ADAL" clId="{D74FDB2A-C6F9-423C-9DA7-5C8A44CC196C}" dt="2026-08-07T15:47:14.540" v="148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0.973" v="440" actId="57"/>
          <ac:spMkLst>
            <pc:docMk/>
            <pc:sldMk cId="0" sldId="280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3:36.340" v="442" actId="403"/>
          <ac:spMkLst>
            <pc:docMk/>
            <pc:sldMk cId="0" sldId="280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57:08.483" v="446" actId="179"/>
          <ac:spMkLst>
            <pc:docMk/>
            <pc:sldMk cId="0" sldId="280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23:34:00.196" v="445" actId="1076"/>
          <ac:spMkLst>
            <pc:docMk/>
            <pc:sldMk cId="0" sldId="280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04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after Quiz 1 setup. Connect directly to Lesson 6: students know how A* uses a heuristic; this lesson audits whether the heuristic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slide. Keep quiz directions concise and consistent with course policy. Do not preview Lesson 7 during quiz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 g, h, and f before introducing new terms. Ask students for possible risks of bad estimates: overconfidence, wrong path, losing optimality.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lesson objectives. This lesson supports HW2, Quiz 2, and GR1, but uses new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h-star is a benchmark, not usually available to the search agent. If it were always known, the search problem would already be largely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conceptual map before formal terms. Safe means not overestimating. Stronger means closer to the true cost while staying below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admissibility slowly. Students should understand that admissibility is a universal property across states, not an average or typical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inspect the table first. Emphasize that h2 is invalid because of one row, even though the other rows are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important misconception for HW2: students may see a heuristic work once and overgeneralize.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inequality and then immediately translate it into words. The edge-by-edge nature matters for Quiz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geometry to make the inequality intuitive. The direct route cannot be more expensive than going through the neighbor according to the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show the numerical comparison. Quiz 2 asks exactly this kind of inequality check, with different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clarify two vocabulary terms. Do not over-prove; the next slide explains why consistency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intuitive. It explains why graph-search A* usually requires consistency rather than merely admissibility.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precision students need for HW2 and GR1. Avoid saying simply “A* is optimal” without specifying the heuristic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dominance assumes both heuristics are admissible. A larger inadmissible heuristic is not preferred for guaranteed A*.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compare row by row. Dominance means pointwise comparison, not total or average. Ask if can compare non-admissible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slow students down before they select a heuristic based on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definitions to engineering judgment. This connects to the course theme of evaluation and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relaxed problems conceptual. This is enough for a lower-bound intuition without a formal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Run as a compact group activity rather than a full A* trace. Lesson 6 handled execution; this lesson emphasizes evaluation. </a:t>
            </a:r>
            <a:r>
              <a:rPr lang="en-US" sz="1200" b="1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timing: 4 minutes in pairs, then one example share-out.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correct these verbally or on paper. Use this to check for common Quiz 2 and GR1 misconceptions.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ask students to fill blanks before revealing. Then return to the engineering audit: safe, informative, worth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not admissible because B overestimates. Preview Lesson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6C94E42-5A5E-BC23-7FC3-E6E5F3F5E060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C2A273-0949-EF15-A33A-1CC6F1CB0047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BD67DA15-E435-E87B-1699-886FFA9EF271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7: Heuristics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9089" y="3035808"/>
            <a:ext cx="1143000" cy="593284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9521" y="3345628"/>
            <a:ext cx="219456" cy="0"/>
          </a:xfrm>
          <a:prstGeom prst="line">
            <a:avLst/>
          </a:prstGeom>
          <a:noFill/>
          <a:ln w="1524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2402129" y="3035808"/>
            <a:ext cx="1143000" cy="593284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2561" y="3345628"/>
            <a:ext cx="219456" cy="0"/>
          </a:xfrm>
          <a:prstGeom prst="line">
            <a:avLst/>
          </a:prstGeom>
          <a:noFill/>
          <a:ln w="1524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865169" y="3035808"/>
            <a:ext cx="1143000" cy="593284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35601" y="3345628"/>
            <a:ext cx="219456" cy="0"/>
          </a:xfrm>
          <a:prstGeom prst="line">
            <a:avLst/>
          </a:prstGeom>
          <a:noFill/>
          <a:ln w="1524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328209" y="3035808"/>
            <a:ext cx="1143000" cy="593284"/>
          </a:xfrm>
          <a:prstGeom prst="rect">
            <a:avLst/>
          </a:prstGeom>
          <a:solidFill>
            <a:srgbClr val="0B2D55"/>
          </a:solidFill>
          <a:ln>
            <a:solidFill>
              <a:srgbClr val="0B2D5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2029968"/>
            <a:ext cx="960120" cy="45720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95560" y="2029968"/>
            <a:ext cx="960120" cy="45720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h*(n)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326880" y="2258568"/>
            <a:ext cx="777240" cy="0"/>
          </a:xfrm>
          <a:prstGeom prst="line">
            <a:avLst/>
          </a:prstGeom>
          <a:noFill/>
          <a:ln w="1524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74152" y="25968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94392" y="25968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355848"/>
            <a:ext cx="2743200" cy="502920"/>
          </a:xfrm>
          <a:prstGeom prst="rect">
            <a:avLst/>
          </a:prstGeom>
          <a:solidFill>
            <a:srgbClr val="F6FA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h*(n)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87702" y="4442908"/>
            <a:ext cx="5104019" cy="77724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test: </a:t>
            </a:r>
          </a:p>
          <a:p>
            <a:pPr marL="112713">
              <a:buNone/>
            </a:pPr>
            <a:r>
              <a:rPr lang="en-US" sz="1600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it…</a:t>
            </a: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safe, coherent, informative, and worth computing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86600" y="5806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guidance can make search faster, but unsafe guidance can remove the guarantee.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797A00-5BF4-A725-95B0-5B1434926A55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minutes. Individual work. Stop when called.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9855" y="2304288"/>
            <a:ext cx="2926080" cy="12344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you begin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away unauthorized materials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name and section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each instruction carefully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98895" y="2304288"/>
            <a:ext cx="2926080" cy="12344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quiz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collaboration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devices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work only where requested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47935" y="2304288"/>
            <a:ext cx="2926080" cy="12344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time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immediately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papers forward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to heuristic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1 serves as retrieval practice for Lessons 4–6. </a:t>
            </a:r>
            <a:b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new content begins after collection.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Reset: from using heuristics to judging them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lesson asked how A* uses h(n). Today asks whether A* should trust h(n).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063240" y="2112264"/>
            <a:ext cx="6035040" cy="566928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 = g(n) + h(n)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3209544"/>
            <a:ext cx="301752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cost already incurred from the start to 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17720" y="3209544"/>
            <a:ext cx="301752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remaining cost from n to a goal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75320" y="3209544"/>
            <a:ext cx="301752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of h(n)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efficiency and reliability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question: what could go wrong if the estimate is too aggressive?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Lesson 7, students should be able to…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502920" cy="45720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856232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admissibility, consistency, and dominance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502920" cy="45720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2999232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 heuristic quality and its impact on performance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502920" cy="457200"/>
          </a:xfrm>
          <a:prstGeom prst="rect">
            <a:avLst/>
          </a:prstGeom>
          <a:solidFill>
            <a:srgbClr val="1D5FA7"/>
          </a:solidFill>
          <a:ln>
            <a:solidFill>
              <a:srgbClr val="1D5FA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4142232"/>
            <a:ext cx="9052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why A* is optimal under certain conditions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target: audit a heuristic table, check one edge, compare two heuristics, and justify A*’s guarantee.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missing reference: h</a:t>
            </a:r>
            <a:r>
              <a:rPr lang="en-US" sz="3400" b="1" baseline="30000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</a:t>
            </a: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(n)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judge an estimate, compare it with the true optimal remaining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80160" y="2089673"/>
            <a:ext cx="9601200" cy="566928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r>
              <a:rPr lang="en-US" sz="2600" b="1" baseline="30000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</a:t>
            </a:r>
            <a:r>
              <a:rPr lang="en-US" sz="26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(n) = true least cost from n to a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278393"/>
            <a:ext cx="4480560" cy="12344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estimate used by the algorithm.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3278393"/>
            <a:ext cx="4480560" cy="123444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sz="2200" b="1" baseline="30000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optimal remaining cost.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real problems, h</a:t>
            </a:r>
            <a:r>
              <a:rPr lang="en-US" sz="2200" b="1" baseline="30000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</a:t>
            </a: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(n) is usually unknown. </a:t>
            </a:r>
            <a:b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classroom examples, it lets us evaluate the heuristic.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spectrum of heuristic behavior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guidance is helpful only while the estimate remains safe.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50084" y="2971800"/>
            <a:ext cx="9966960" cy="0"/>
          </a:xfrm>
          <a:prstGeom prst="line">
            <a:avLst/>
          </a:prstGeom>
          <a:noFill/>
          <a:ln w="25400">
            <a:solidFill>
              <a:srgbClr val="B8C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50084" y="2770632"/>
            <a:ext cx="320040" cy="32004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1444" y="3337560"/>
            <a:ext cx="1538344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estimate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1600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guidance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53204" y="2770632"/>
            <a:ext cx="320040" cy="32004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04564" y="3337560"/>
            <a:ext cx="1538344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lower bound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6324" y="2770632"/>
            <a:ext cx="320040" cy="32004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7684" y="3337560"/>
            <a:ext cx="1538344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lower bound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1600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guidance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59444" y="2770632"/>
            <a:ext cx="320040" cy="3200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10804" y="3337560"/>
            <a:ext cx="1538344" cy="114300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1600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62564" y="2770632"/>
            <a:ext cx="320040" cy="320040"/>
          </a:xfrm>
          <a:prstGeom prst="ellipse">
            <a:avLst/>
          </a:prstGeom>
          <a:solidFill>
            <a:srgbClr val="B33939"/>
          </a:solidFill>
          <a:ln w="12700">
            <a:solidFill>
              <a:srgbClr val="B339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13924" y="3337560"/>
            <a:ext cx="1538344" cy="114300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overestimate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1600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 lost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zero heuristic is safe but unhelpful. A perfect heuristic is safe but may be hard to compute.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Admissibility: never overestimate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admissible heuristic is optimistic about the remaining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1737360"/>
            <a:ext cx="8321040" cy="658368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h</a:t>
            </a:r>
            <a:r>
              <a:rPr lang="en-US" sz="2700" b="1" baseline="30000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</a:t>
            </a:r>
            <a:r>
              <a:rPr lang="en-US" sz="27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(n) for every state 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3200400" cy="14630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Underestimate</a:t>
            </a:r>
            <a:endParaRPr lang="en-US" sz="1800" dirty="0"/>
          </a:p>
          <a:p>
            <a:pPr marL="112713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the true cost</a:t>
            </a:r>
            <a:endParaRPr lang="en-US" sz="1800" dirty="0"/>
          </a:p>
          <a:p>
            <a:pPr marL="112713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zero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2926080"/>
            <a:ext cx="3200400" cy="146304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allowed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Overestimate at even one state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0" y="2926080"/>
            <a:ext cx="3200400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may be conservative, but it cannot claim the goal is more expensive than it truly 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overestimate is enough to make the heuristic inadmissible.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Admissibility audit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every state, not the average behavior.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7384" y="1793837"/>
            <a:ext cx="1645920" cy="466344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03304" y="1793837"/>
            <a:ext cx="1828800" cy="466344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3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32104" y="1793837"/>
            <a:ext cx="2194560" cy="466344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26664" y="1793837"/>
            <a:ext cx="2194560" cy="466344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384" y="2260181"/>
            <a:ext cx="164592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03304" y="2260181"/>
            <a:ext cx="182880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32104" y="2260181"/>
            <a:ext cx="219456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26664" y="2260181"/>
            <a:ext cx="219456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384" y="2726525"/>
            <a:ext cx="164592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03304" y="2726525"/>
            <a:ext cx="182880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32104" y="2726525"/>
            <a:ext cx="219456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26664" y="2726525"/>
            <a:ext cx="219456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384" y="3192869"/>
            <a:ext cx="164592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03304" y="3192869"/>
            <a:ext cx="182880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32104" y="3192869"/>
            <a:ext cx="219456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26664" y="3192869"/>
            <a:ext cx="2194560" cy="466344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7384" y="3659213"/>
            <a:ext cx="164592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3304" y="3659213"/>
            <a:ext cx="182880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32104" y="3659213"/>
            <a:ext cx="219456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26664" y="3659213"/>
            <a:ext cx="2194560" cy="466344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41264" y="1793837"/>
            <a:ext cx="2361304" cy="23317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Is h</a:t>
            </a:r>
            <a:r>
              <a:rPr lang="en-US" sz="1600" baseline="-25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admissible?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Is h</a:t>
            </a:r>
            <a:r>
              <a:rPr lang="en-US" sz="1600" baseline="-25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admissible?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 determines the answer?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1680" y="4719917"/>
            <a:ext cx="8138160" cy="96012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is admissible.</a:t>
            </a:r>
            <a:endParaRPr lang="en-US" sz="1600" dirty="0"/>
          </a:p>
          <a:p>
            <a:pPr marL="112713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is not: Q overestimates because 7 &gt; 6.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successful search proves very little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outcome on one run does not prove the heuristic is safe.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9966960" cy="73152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3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“A* returned the optimal route, so the heuristic must be admissible.”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48056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false?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inadmissible heuristic may still return the optimal solution on a particular graph or run.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880360"/>
            <a:ext cx="4480560" cy="123444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Admissibility is a property of the heuristic over all relevant states.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from one run can be encouraging, but it is not a guarantee.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Consistency: estimates must agree locally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should behave sensibly across every edge.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8321040" cy="658368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c(n,n′) + h(n′)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2834640"/>
            <a:ext cx="4663440" cy="132588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estimate at n cannot exceed one step to n′ plus the estimate from n′.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834640"/>
            <a:ext cx="466344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hook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cannot drop by more than the edge cost.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 is checked edge by edge.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 triangle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direct estimate with one step plus the next estimate.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0" y="2011680"/>
            <a:ext cx="566928" cy="420624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566928" cy="420624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88552" y="3694176"/>
            <a:ext cx="822960" cy="42062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59" y="2212847"/>
            <a:ext cx="6010827" cy="1481325"/>
          </a:xfrm>
          <a:prstGeom prst="line">
            <a:avLst/>
          </a:prstGeom>
          <a:noFill/>
          <a:ln w="1778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80360" y="4050792"/>
            <a:ext cx="6010826" cy="0"/>
          </a:xfrm>
          <a:prstGeom prst="line">
            <a:avLst/>
          </a:prstGeom>
          <a:noFill/>
          <a:ln w="1778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78608" y="2487168"/>
            <a:ext cx="0" cy="1261872"/>
          </a:xfrm>
          <a:prstGeom prst="line">
            <a:avLst/>
          </a:prstGeom>
          <a:noFill/>
          <a:ln w="1778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24807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h(n′)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c(n,n′)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166360"/>
            <a:ext cx="9692640" cy="50292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estimate from n ≤ one step + estimate from n′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Edge-by-edge consistency check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 values into the inequality.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926080" cy="21031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edge X → Y
</a:t>
            </a: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h(X)=8</a:t>
            </a:r>
            <a:endParaRPr lang="en-US" sz="1800" dirty="0"/>
          </a:p>
          <a:p>
            <a:pPr marL="112713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c(X,Y)=3</a:t>
            </a:r>
            <a:endParaRPr lang="en-US" sz="1800" dirty="0"/>
          </a:p>
          <a:p>
            <a:pPr marL="112713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h(Y)=4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≤ 3 + 4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0" y="2651760"/>
            <a:ext cx="2926080" cy="54864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33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≤ 7   False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909560" y="1645920"/>
            <a:ext cx="2971800" cy="210312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edge is inconsistent.</a:t>
            </a:r>
            <a:endParaRPr lang="en-US" sz="1800" dirty="0"/>
          </a:p>
          <a:p>
            <a:pPr marL="112713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estimate at X is too high relative to successor 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consistency is violated, the estimate at the earlier state is too high.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Admissibility and consistency are related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both safety checks, but they compare different things.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5257800" cy="65151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Admissibility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257800" cy="65151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343150"/>
            <a:ext cx="5257800" cy="65151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h(n) with true remaining cost h</a:t>
            </a:r>
            <a:r>
              <a:rPr lang="en-US" baseline="30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26480" y="2343150"/>
            <a:ext cx="5257800" cy="65151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neighboring heuristic values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2994660"/>
            <a:ext cx="5257800" cy="65151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safety condition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26480" y="2994660"/>
            <a:ext cx="5257800" cy="65151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edge condition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3646170"/>
            <a:ext cx="5257800" cy="65151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overestimates the goal distance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6480" y="3646170"/>
            <a:ext cx="5257800" cy="65151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fall too sharply across an edge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80160" y="4800600"/>
            <a:ext cx="9509760" cy="86868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h(goal)=0, every consistent heuristic is admissible.</a:t>
            </a:r>
            <a:endParaRPr lang="en-US" sz="2000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an admissible heuristic is not automatically consistent.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consistency matters to A*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consistency, f-values do not decrease along a path.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80160" y="2095051"/>
            <a:ext cx="4297680" cy="50292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g(n′) = g(n) + c(n,n′)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0" y="2095051"/>
            <a:ext cx="4297680" cy="50292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≤ c(n,n′) + h(n′)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15000" y="2341939"/>
            <a:ext cx="731520" cy="0"/>
          </a:xfrm>
          <a:prstGeom prst="line">
            <a:avLst/>
          </a:prstGeom>
          <a:noFill/>
          <a:ln w="15240">
            <a:solidFill>
              <a:srgbClr val="B8C7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3329491"/>
            <a:ext cx="9692640" cy="658368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f(n′) = g(n′) + h(n′) ≥ g(n) + h(n) = f(n)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4746811"/>
            <a:ext cx="886968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A* has closed a state under a consistent heuristic, it does not later discover that the state should have had a lower priority.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A* guarantees precisely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version of A* matters.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4114800" cy="67056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version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645920"/>
            <a:ext cx="5120640" cy="67056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Sufficient heuristic condition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16480"/>
            <a:ext cx="4114800" cy="67056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Tree-search A*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2316480"/>
            <a:ext cx="5120640" cy="67056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Admissible heuristic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987040"/>
            <a:ext cx="4114800" cy="67056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graph-search A*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987040"/>
            <a:ext cx="5120640" cy="67056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heuristic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4160520"/>
            <a:ext cx="8321040" cy="91440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caution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overestimating heuristic may still work on a particular graph, but the optimality guarantee is lost.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Guarantees depend on assumptions. State the condition, not just the algorithm name.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1" y="566928"/>
            <a:ext cx="107033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Dominance: more information without losing safety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admissible heuristics, larger lower bounds can guide A* better.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9966960" cy="73152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h₂(n) ≥ h₁(n) for every n, and both are admissible, then h₂ dominates h₁.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3063240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remains a lower bound and does not overestimate.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3429000"/>
            <a:ext cx="3063240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Informative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is at least as close to h</a:t>
            </a:r>
            <a:r>
              <a:rPr lang="en-US" sz="1600" baseline="30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 everywhere.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38160" y="3429000"/>
            <a:ext cx="3063240" cy="11430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with h₂ generally expands fewer or equal nodes.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 only applies after safety has already been checked.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 comparison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safety first, then compare informativeness.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6634" y="1600200"/>
            <a:ext cx="1463040" cy="484632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89674" y="1600200"/>
            <a:ext cx="2194560" cy="484632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4234" y="1600200"/>
            <a:ext cx="2194560" cy="484632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8794" y="1600200"/>
            <a:ext cx="2286000" cy="484632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3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634" y="2084832"/>
            <a:ext cx="146304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89674" y="2084832"/>
            <a:ext cx="219456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4234" y="2084832"/>
            <a:ext cx="219456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8794" y="2084832"/>
            <a:ext cx="228600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634" y="2569464"/>
            <a:ext cx="146304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89674" y="2569464"/>
            <a:ext cx="219456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84234" y="2569464"/>
            <a:ext cx="219456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8794" y="2569464"/>
            <a:ext cx="228600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6634" y="3054096"/>
            <a:ext cx="146304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89674" y="3054096"/>
            <a:ext cx="219456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84234" y="3054096"/>
            <a:ext cx="219456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78794" y="3054096"/>
            <a:ext cx="2286000" cy="484632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6634" y="3538728"/>
            <a:ext cx="146304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89674" y="3538728"/>
            <a:ext cx="219456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284234" y="3538728"/>
            <a:ext cx="219456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8794" y="3538728"/>
            <a:ext cx="2286000" cy="484632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93393" y="1600200"/>
            <a:ext cx="2538805" cy="24231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Are both admissible?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Does one dominate?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should usually guide A* more efficiently?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737360" y="4526280"/>
            <a:ext cx="8778240" cy="91440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
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admissible. h</a:t>
            </a:r>
            <a:r>
              <a:rPr lang="en-US" sz="1400" baseline="-25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dominates h</a:t>
            </a:r>
            <a:r>
              <a:rPr lang="en-US" sz="1400" baseline="-25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because it is never smaller and is sometimes larger.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“Larger” is not automatically “better”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means more informative while preserving the needed guarantee.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4297680" cy="1417320"/>
          </a:xfrm>
          <a:prstGeom prst="rect">
            <a:avLst/>
          </a:prstGeom>
          <a:solidFill>
            <a:srgbClr val="FCE8E8"/>
          </a:solidFill>
          <a:ln w="13970">
            <a:solidFill>
              <a:srgbClr val="B339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 rule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heuristic with the larger values.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0" y="1920240"/>
            <a:ext cx="4480560" cy="14173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rule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admissible heuristics, prefer larger lower bounds if the computation is worthwhile.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28800" y="4069079"/>
            <a:ext cx="8503920" cy="1417319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can be…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but unsafe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but expensive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but weak</a:t>
            </a:r>
            <a:endParaRPr lang="en-US" dirty="0"/>
          </a:p>
          <a:p>
            <a:pPr marL="112713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only for one representation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dimensions of heuristic quality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heuristic is safe, informative, and worth computing.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291840" cy="14173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admissible and, for graph search, consistent?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34840" y="2011680"/>
            <a:ext cx="3291840" cy="14173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it get to h*(n) without exceeding it?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01000" y="2011680"/>
            <a:ext cx="3291840" cy="141732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expensive is the heuristic itself to compute?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Reducing node expansions is valuable only when the guidance does not cost more than the search effort it saves.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safe heuristics come from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common strategy is to solve an easier relaxed problem.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" y="1761564"/>
            <a:ext cx="10058400" cy="548640"/>
          </a:xfrm>
          <a:prstGeom prst="rect">
            <a:avLst/>
          </a:prstGeom>
          <a:solidFill>
            <a:srgbClr val="EAF3FF"/>
          </a:solidFill>
          <a:ln w="13970">
            <a:solidFill>
              <a:srgbClr val="1D5F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Remove a constraint → solve easier problem → use that cost as a lower bound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13124"/>
            <a:ext cx="2468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obstacles → straight-line distance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2813124"/>
            <a:ext cx="2468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Terrain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restricted terrain → direct traversal estimate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813124"/>
            <a:ext cx="2468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conflicts → simplified completion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8280" y="2813124"/>
            <a:ext cx="2468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Maneuvering
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constraints → idealized energy estimate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relaxed problem is easier, so its optimal cost cannot exceed the real optimal cost.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 audit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Pairs: recommend a heuristic and defend the recommendation.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952244"/>
            <a:ext cx="2057400" cy="10515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any admissibility violation.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71800" y="1952244"/>
            <a:ext cx="2057400" cy="10515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two assigned edges for consistency.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66360" y="1952244"/>
            <a:ext cx="2057400" cy="10515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whether one heuristic dominates another.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0920" y="1952244"/>
            <a:ext cx="2057400" cy="10515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a heuristic for A*.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55480" y="1952244"/>
            <a:ext cx="2057400" cy="105156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5
</a:t>
            </a: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using safety, information, and cost.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only say which heuristic is bigger. </a:t>
            </a:r>
            <a:b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2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why it is safe, useful, and worth computing.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 the claims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each statement before it becomes a misconception.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84048" cy="329184"/>
          </a:xfrm>
          <a:prstGeom prst="rect">
            <a:avLst/>
          </a:prstGeom>
          <a:solidFill>
            <a:srgbClr val="B33939"/>
          </a:solidFill>
          <a:ln>
            <a:solidFill>
              <a:srgbClr val="B3393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581912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is admissible when it is correct most of the time.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384048" cy="329184"/>
          </a:xfrm>
          <a:prstGeom prst="rect">
            <a:avLst/>
          </a:prstGeom>
          <a:solidFill>
            <a:srgbClr val="B33939"/>
          </a:solidFill>
          <a:ln>
            <a:solidFill>
              <a:srgbClr val="B3393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4752" y="2340864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compares h(n) directly with h</a:t>
            </a:r>
            <a:r>
              <a:rPr lang="en-US" sz="1800" b="1" baseline="30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18104"/>
            <a:ext cx="384048" cy="329184"/>
          </a:xfrm>
          <a:prstGeom prst="rect">
            <a:avLst/>
          </a:prstGeom>
          <a:solidFill>
            <a:srgbClr val="B33939"/>
          </a:solidFill>
          <a:ln>
            <a:solidFill>
              <a:srgbClr val="B3393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44752" y="3099816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heuristic with the largest values always dominates.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77056"/>
            <a:ext cx="384048" cy="329184"/>
          </a:xfrm>
          <a:prstGeom prst="rect">
            <a:avLst/>
          </a:prstGeom>
          <a:solidFill>
            <a:srgbClr val="B33939"/>
          </a:solidFill>
          <a:ln>
            <a:solidFill>
              <a:srgbClr val="B3393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44752" y="3858768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 inadmissible heuristic works once, A* is still guaranteed optimal.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636008"/>
            <a:ext cx="384048" cy="329184"/>
          </a:xfrm>
          <a:prstGeom prst="rect">
            <a:avLst/>
          </a:prstGeom>
          <a:solidFill>
            <a:srgbClr val="B33939"/>
          </a:solidFill>
          <a:ln>
            <a:solidFill>
              <a:srgbClr val="B3393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44752" y="4617720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 heuristic is unsafe because it is not informative.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heuristic quality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the core tests from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Admissible
</a:t>
            </a: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______ h</a:t>
            </a:r>
            <a:r>
              <a:rPr lang="en-US" sz="2000" baseline="30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29184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
</a:t>
            </a: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______ c(n,n′)+h(n′)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0" y="1645920"/>
            <a:ext cx="329184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Dominance
</a:t>
            </a: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h₂(n) ______ h₁(n), with both admissible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3383280"/>
            <a:ext cx="6766560" cy="50292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 ≤ ?       ? ≤ ?      ? ≥ 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0" y="4297680"/>
            <a:ext cx="6309360" cy="109728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questions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safe?</a:t>
            </a:r>
            <a:endParaRPr lang="en-US" sz="1700" dirty="0"/>
          </a:p>
          <a:p>
            <a:pPr marL="112713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informative?</a:t>
            </a:r>
            <a:endParaRPr lang="en-US" sz="1700" dirty="0"/>
          </a:p>
          <a:p>
            <a:pPr marL="112713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worth computing?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heuristic-quality audit to one compact case.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L07: Heuristics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920240" cy="41148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88920" y="1600200"/>
            <a:ext cx="2423160" cy="41148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b="1" baseline="3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2080" y="1600200"/>
            <a:ext cx="2423160" cy="411480"/>
          </a:xfrm>
          <a:prstGeom prst="rect">
            <a:avLst/>
          </a:prstGeom>
          <a:solidFill>
            <a:srgbClr val="0B2D55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192024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88920" y="2011680"/>
            <a:ext cx="242316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2080" y="2011680"/>
            <a:ext cx="242316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192024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88920" y="2423160"/>
            <a:ext cx="242316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2080" y="2423160"/>
            <a:ext cx="242316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192024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88920" y="2834640"/>
            <a:ext cx="242316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12080" y="2834640"/>
            <a:ext cx="2423160" cy="411480"/>
          </a:xfrm>
          <a:prstGeom prst="rect">
            <a:avLst/>
          </a:prstGeom>
          <a:solidFill>
            <a:srgbClr val="F6FA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192024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88920" y="3246120"/>
            <a:ext cx="242316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242316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92440" y="1600200"/>
            <a:ext cx="3445136" cy="2057400"/>
          </a:xfrm>
          <a:prstGeom prst="rect">
            <a:avLst/>
          </a:prstGeom>
          <a:solidFill>
            <a:srgbClr val="EAF3FF"/>
          </a:solidFill>
          <a:ln w="13970">
            <a:solidFill>
              <a:srgbClr val="B8C7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
</a:t>
            </a: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Is h admissible?</a:t>
            </a:r>
            <a:endParaRPr lang="en-US" sz="2400" dirty="0"/>
          </a:p>
          <a:p>
            <a:pPr marL="112713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state determines the answer?</a:t>
            </a:r>
            <a:endParaRPr lang="en-US" sz="2400" dirty="0"/>
          </a:p>
          <a:p>
            <a:pPr marL="112713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does one successful A* run not prove safety?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23552" y="4626864"/>
            <a:ext cx="9800216" cy="914400"/>
          </a:xfrm>
          <a:prstGeom prst="rect">
            <a:avLst/>
          </a:prstGeom>
          <a:solidFill>
            <a:srgbClr val="F7EAC4"/>
          </a:solidFill>
          <a:ln w="13970">
            <a:solidFill>
              <a:srgbClr val="C9A2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12713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class
</a:t>
            </a: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and stochastic decision-making: the environment begins responding as an opponent or through chance.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2580</Words>
  <Application>Microsoft Office PowerPoint</Application>
  <PresentationFormat>Widescreen</PresentationFormat>
  <Paragraphs>356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7 Heuristics</dc:title>
  <dc:subject>CS 471 Lesson 7 Heuristics</dc:subject>
  <dc:creator>OpenAI</dc:creator>
  <cp:lastModifiedBy>Phan, Tiffany M Capt USAF USAFA AW/DFCS</cp:lastModifiedBy>
  <cp:revision>2</cp:revision>
  <dcterms:created xsi:type="dcterms:W3CDTF">2026-08-05T15:34:29Z</dcterms:created>
  <dcterms:modified xsi:type="dcterms:W3CDTF">2026-08-21T22:23:36Z</dcterms:modified>
</cp:coreProperties>
</file>