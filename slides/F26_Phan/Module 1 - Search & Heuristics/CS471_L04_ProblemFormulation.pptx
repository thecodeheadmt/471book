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4" r:id="rId19"/>
    <p:sldId id="275" r:id="rId2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DB765CE-D15E-49B3-BCDF-CE49806BDE54}" v="10" dt="2026-08-14T15:18:47.57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40" autoAdjust="0"/>
  </p:normalViewPr>
  <p:slideViewPr>
    <p:cSldViewPr snapToGrid="0" snapToObjects="1">
      <p:cViewPr varScale="1">
        <p:scale>
          <a:sx n="88" d="100"/>
          <a:sy n="88" d="100"/>
        </p:scale>
        <p:origin x="162"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han, Tiffany M Capt USAF USAFA AW/DFCS" userId="a0ed988f-3bd3-448a-ab68-f6eca8eadb00" providerId="ADAL" clId="{D74FDB2A-C6F9-423C-9DA7-5C8A44CC196C}"/>
    <pc:docChg chg="custSel modSld">
      <pc:chgData name="Phan, Tiffany M Capt USAF USAFA AW/DFCS" userId="a0ed988f-3bd3-448a-ab68-f6eca8eadb00" providerId="ADAL" clId="{D74FDB2A-C6F9-423C-9DA7-5C8A44CC196C}" dt="2026-08-14T15:18:47.571" v="215"/>
      <pc:docMkLst>
        <pc:docMk/>
      </pc:docMkLst>
      <pc:sldChg chg="modSp mod">
        <pc:chgData name="Phan, Tiffany M Capt USAF USAFA AW/DFCS" userId="a0ed988f-3bd3-448a-ab68-f6eca8eadb00" providerId="ADAL" clId="{D74FDB2A-C6F9-423C-9DA7-5C8A44CC196C}" dt="2026-08-12T21:45:29.780" v="124" actId="27636"/>
        <pc:sldMkLst>
          <pc:docMk/>
          <pc:sldMk cId="0" sldId="256"/>
        </pc:sldMkLst>
        <pc:spChg chg="mod">
          <ac:chgData name="Phan, Tiffany M Capt USAF USAFA AW/DFCS" userId="a0ed988f-3bd3-448a-ab68-f6eca8eadb00" providerId="ADAL" clId="{D74FDB2A-C6F9-423C-9DA7-5C8A44CC196C}" dt="2026-08-12T21:45:29.780" v="122" actId="27636"/>
          <ac:spMkLst>
            <pc:docMk/>
            <pc:sldMk cId="0" sldId="256"/>
            <ac:spMk id="4" creationId="{00000000-0000-0000-0000-000000000000}"/>
          </ac:spMkLst>
        </pc:spChg>
        <pc:spChg chg="mod">
          <ac:chgData name="Phan, Tiffany M Capt USAF USAFA AW/DFCS" userId="a0ed988f-3bd3-448a-ab68-f6eca8eadb00" providerId="ADAL" clId="{D74FDB2A-C6F9-423C-9DA7-5C8A44CC196C}" dt="2026-08-12T21:45:29.765" v="120" actId="27636"/>
          <ac:spMkLst>
            <pc:docMk/>
            <pc:sldMk cId="0" sldId="256"/>
            <ac:spMk id="8" creationId="{00000000-0000-0000-0000-000000000000}"/>
          </ac:spMkLst>
        </pc:spChg>
        <pc:spChg chg="mod">
          <ac:chgData name="Phan, Tiffany M Capt USAF USAFA AW/DFCS" userId="a0ed988f-3bd3-448a-ab68-f6eca8eadb00" providerId="ADAL" clId="{D74FDB2A-C6F9-423C-9DA7-5C8A44CC196C}" dt="2026-08-12T21:45:29.780" v="123" actId="27636"/>
          <ac:spMkLst>
            <pc:docMk/>
            <pc:sldMk cId="0" sldId="256"/>
            <ac:spMk id="10" creationId="{00000000-0000-0000-0000-000000000000}"/>
          </ac:spMkLst>
        </pc:spChg>
        <pc:spChg chg="mod">
          <ac:chgData name="Phan, Tiffany M Capt USAF USAFA AW/DFCS" userId="a0ed988f-3bd3-448a-ab68-f6eca8eadb00" providerId="ADAL" clId="{D74FDB2A-C6F9-423C-9DA7-5C8A44CC196C}" dt="2026-08-12T21:45:29.765" v="119" actId="27636"/>
          <ac:spMkLst>
            <pc:docMk/>
            <pc:sldMk cId="0" sldId="256"/>
            <ac:spMk id="12" creationId="{00000000-0000-0000-0000-000000000000}"/>
          </ac:spMkLst>
        </pc:spChg>
        <pc:spChg chg="mod">
          <ac:chgData name="Phan, Tiffany M Capt USAF USAFA AW/DFCS" userId="a0ed988f-3bd3-448a-ab68-f6eca8eadb00" providerId="ADAL" clId="{D74FDB2A-C6F9-423C-9DA7-5C8A44CC196C}" dt="2026-08-12T21:45:29.780" v="124" actId="27636"/>
          <ac:spMkLst>
            <pc:docMk/>
            <pc:sldMk cId="0" sldId="256"/>
            <ac:spMk id="14" creationId="{00000000-0000-0000-0000-000000000000}"/>
          </ac:spMkLst>
        </pc:spChg>
        <pc:spChg chg="mod">
          <ac:chgData name="Phan, Tiffany M Capt USAF USAFA AW/DFCS" userId="a0ed988f-3bd3-448a-ab68-f6eca8eadb00" providerId="ADAL" clId="{D74FDB2A-C6F9-423C-9DA7-5C8A44CC196C}" dt="2026-08-12T21:45:29.779" v="121" actId="27636"/>
          <ac:spMkLst>
            <pc:docMk/>
            <pc:sldMk cId="0" sldId="256"/>
            <ac:spMk id="16" creationId="{00000000-0000-0000-0000-000000000000}"/>
          </ac:spMkLst>
        </pc:spChg>
        <pc:spChg chg="mod">
          <ac:chgData name="Phan, Tiffany M Capt USAF USAFA AW/DFCS" userId="a0ed988f-3bd3-448a-ab68-f6eca8eadb00" providerId="ADAL" clId="{D74FDB2A-C6F9-423C-9DA7-5C8A44CC196C}" dt="2026-08-12T21:45:29.765" v="118" actId="27636"/>
          <ac:spMkLst>
            <pc:docMk/>
            <pc:sldMk cId="0" sldId="256"/>
            <ac:spMk id="18" creationId="{00000000-0000-0000-0000-000000000000}"/>
          </ac:spMkLst>
        </pc:spChg>
      </pc:sldChg>
      <pc:sldChg chg="modSp mod">
        <pc:chgData name="Phan, Tiffany M Capt USAF USAFA AW/DFCS" userId="a0ed988f-3bd3-448a-ab68-f6eca8eadb00" providerId="ADAL" clId="{D74FDB2A-C6F9-423C-9DA7-5C8A44CC196C}" dt="2026-08-12T21:45:29.967" v="129" actId="27636"/>
        <pc:sldMkLst>
          <pc:docMk/>
          <pc:sldMk cId="0" sldId="257"/>
        </pc:sldMkLst>
        <pc:spChg chg="mod">
          <ac:chgData name="Phan, Tiffany M Capt USAF USAFA AW/DFCS" userId="a0ed988f-3bd3-448a-ab68-f6eca8eadb00" providerId="ADAL" clId="{D74FDB2A-C6F9-423C-9DA7-5C8A44CC196C}" dt="2026-08-12T21:45:29.967" v="128" actId="27636"/>
          <ac:spMkLst>
            <pc:docMk/>
            <pc:sldMk cId="0" sldId="257"/>
            <ac:spMk id="2" creationId="{00000000-0000-0000-0000-000000000000}"/>
          </ac:spMkLst>
        </pc:spChg>
        <pc:spChg chg="mod">
          <ac:chgData name="Phan, Tiffany M Capt USAF USAFA AW/DFCS" userId="a0ed988f-3bd3-448a-ab68-f6eca8eadb00" providerId="ADAL" clId="{D74FDB2A-C6F9-423C-9DA7-5C8A44CC196C}" dt="2026-08-12T21:45:29.951" v="125" actId="27636"/>
          <ac:spMkLst>
            <pc:docMk/>
            <pc:sldMk cId="0" sldId="257"/>
            <ac:spMk id="6" creationId="{00000000-0000-0000-0000-000000000000}"/>
          </ac:spMkLst>
        </pc:spChg>
        <pc:spChg chg="mod">
          <ac:chgData name="Phan, Tiffany M Capt USAF USAFA AW/DFCS" userId="a0ed988f-3bd3-448a-ab68-f6eca8eadb00" providerId="ADAL" clId="{D74FDB2A-C6F9-423C-9DA7-5C8A44CC196C}" dt="2026-08-12T21:45:29.967" v="129" actId="27636"/>
          <ac:spMkLst>
            <pc:docMk/>
            <pc:sldMk cId="0" sldId="257"/>
            <ac:spMk id="12" creationId="{00000000-0000-0000-0000-000000000000}"/>
          </ac:spMkLst>
        </pc:spChg>
        <pc:spChg chg="mod">
          <ac:chgData name="Phan, Tiffany M Capt USAF USAFA AW/DFCS" userId="a0ed988f-3bd3-448a-ab68-f6eca8eadb00" providerId="ADAL" clId="{D74FDB2A-C6F9-423C-9DA7-5C8A44CC196C}" dt="2026-08-12T21:45:29.967" v="127" actId="27636"/>
          <ac:spMkLst>
            <pc:docMk/>
            <pc:sldMk cId="0" sldId="257"/>
            <ac:spMk id="16" creationId="{00000000-0000-0000-0000-000000000000}"/>
          </ac:spMkLst>
        </pc:spChg>
        <pc:spChg chg="mod">
          <ac:chgData name="Phan, Tiffany M Capt USAF USAFA AW/DFCS" userId="a0ed988f-3bd3-448a-ab68-f6eca8eadb00" providerId="ADAL" clId="{D74FDB2A-C6F9-423C-9DA7-5C8A44CC196C}" dt="2026-08-12T21:45:29.967" v="126" actId="27636"/>
          <ac:spMkLst>
            <pc:docMk/>
            <pc:sldMk cId="0" sldId="257"/>
            <ac:spMk id="25" creationId="{00000000-0000-0000-0000-000000000000}"/>
          </ac:spMkLst>
        </pc:spChg>
      </pc:sldChg>
      <pc:sldChg chg="modSp mod">
        <pc:chgData name="Phan, Tiffany M Capt USAF USAFA AW/DFCS" userId="a0ed988f-3bd3-448a-ab68-f6eca8eadb00" providerId="ADAL" clId="{D74FDB2A-C6F9-423C-9DA7-5C8A44CC196C}" dt="2026-08-12T21:45:30.061" v="130" actId="27636"/>
        <pc:sldMkLst>
          <pc:docMk/>
          <pc:sldMk cId="0" sldId="258"/>
        </pc:sldMkLst>
        <pc:spChg chg="mod">
          <ac:chgData name="Phan, Tiffany M Capt USAF USAFA AW/DFCS" userId="a0ed988f-3bd3-448a-ab68-f6eca8eadb00" providerId="ADAL" clId="{D74FDB2A-C6F9-423C-9DA7-5C8A44CC196C}" dt="2026-08-12T21:45:30.061" v="130" actId="27636"/>
          <ac:spMkLst>
            <pc:docMk/>
            <pc:sldMk cId="0" sldId="258"/>
            <ac:spMk id="2" creationId="{00000000-0000-0000-0000-000000000000}"/>
          </ac:spMkLst>
        </pc:spChg>
      </pc:sldChg>
      <pc:sldChg chg="modSp mod">
        <pc:chgData name="Phan, Tiffany M Capt USAF USAFA AW/DFCS" userId="a0ed988f-3bd3-448a-ab68-f6eca8eadb00" providerId="ADAL" clId="{D74FDB2A-C6F9-423C-9DA7-5C8A44CC196C}" dt="2026-08-12T21:45:30.281" v="143" actId="27636"/>
        <pc:sldMkLst>
          <pc:docMk/>
          <pc:sldMk cId="0" sldId="259"/>
        </pc:sldMkLst>
        <pc:spChg chg="mod">
          <ac:chgData name="Phan, Tiffany M Capt USAF USAFA AW/DFCS" userId="a0ed988f-3bd3-448a-ab68-f6eca8eadb00" providerId="ADAL" clId="{D74FDB2A-C6F9-423C-9DA7-5C8A44CC196C}" dt="2026-08-12T21:45:30.281" v="140" actId="27636"/>
          <ac:spMkLst>
            <pc:docMk/>
            <pc:sldMk cId="0" sldId="259"/>
            <ac:spMk id="2" creationId="{00000000-0000-0000-0000-000000000000}"/>
          </ac:spMkLst>
        </pc:spChg>
        <pc:spChg chg="mod">
          <ac:chgData name="Phan, Tiffany M Capt USAF USAFA AW/DFCS" userId="a0ed988f-3bd3-448a-ab68-f6eca8eadb00" providerId="ADAL" clId="{D74FDB2A-C6F9-423C-9DA7-5C8A44CC196C}" dt="2026-08-12T21:45:30.281" v="139" actId="27636"/>
          <ac:spMkLst>
            <pc:docMk/>
            <pc:sldMk cId="0" sldId="259"/>
            <ac:spMk id="8" creationId="{00000000-0000-0000-0000-000000000000}"/>
          </ac:spMkLst>
        </pc:spChg>
        <pc:spChg chg="mod">
          <ac:chgData name="Phan, Tiffany M Capt USAF USAFA AW/DFCS" userId="a0ed988f-3bd3-448a-ab68-f6eca8eadb00" providerId="ADAL" clId="{D74FDB2A-C6F9-423C-9DA7-5C8A44CC196C}" dt="2026-08-12T21:45:30.265" v="134" actId="27636"/>
          <ac:spMkLst>
            <pc:docMk/>
            <pc:sldMk cId="0" sldId="259"/>
            <ac:spMk id="10" creationId="{00000000-0000-0000-0000-000000000000}"/>
          </ac:spMkLst>
        </pc:spChg>
        <pc:spChg chg="mod">
          <ac:chgData name="Phan, Tiffany M Capt USAF USAFA AW/DFCS" userId="a0ed988f-3bd3-448a-ab68-f6eca8eadb00" providerId="ADAL" clId="{D74FDB2A-C6F9-423C-9DA7-5C8A44CC196C}" dt="2026-08-12T21:45:30.281" v="142" actId="27636"/>
          <ac:spMkLst>
            <pc:docMk/>
            <pc:sldMk cId="0" sldId="259"/>
            <ac:spMk id="11" creationId="{00000000-0000-0000-0000-000000000000}"/>
          </ac:spMkLst>
        </pc:spChg>
        <pc:spChg chg="mod">
          <ac:chgData name="Phan, Tiffany M Capt USAF USAFA AW/DFCS" userId="a0ed988f-3bd3-448a-ab68-f6eca8eadb00" providerId="ADAL" clId="{D74FDB2A-C6F9-423C-9DA7-5C8A44CC196C}" dt="2026-08-12T21:45:30.265" v="133" actId="27636"/>
          <ac:spMkLst>
            <pc:docMk/>
            <pc:sldMk cId="0" sldId="259"/>
            <ac:spMk id="13" creationId="{00000000-0000-0000-0000-000000000000}"/>
          </ac:spMkLst>
        </pc:spChg>
        <pc:spChg chg="mod">
          <ac:chgData name="Phan, Tiffany M Capt USAF USAFA AW/DFCS" userId="a0ed988f-3bd3-448a-ab68-f6eca8eadb00" providerId="ADAL" clId="{D74FDB2A-C6F9-423C-9DA7-5C8A44CC196C}" dt="2026-08-12T21:45:30.265" v="131" actId="27636"/>
          <ac:spMkLst>
            <pc:docMk/>
            <pc:sldMk cId="0" sldId="259"/>
            <ac:spMk id="14" creationId="{00000000-0000-0000-0000-000000000000}"/>
          </ac:spMkLst>
        </pc:spChg>
        <pc:spChg chg="mod">
          <ac:chgData name="Phan, Tiffany M Capt USAF USAFA AW/DFCS" userId="a0ed988f-3bd3-448a-ab68-f6eca8eadb00" providerId="ADAL" clId="{D74FDB2A-C6F9-423C-9DA7-5C8A44CC196C}" dt="2026-08-12T21:45:30.265" v="136" actId="27636"/>
          <ac:spMkLst>
            <pc:docMk/>
            <pc:sldMk cId="0" sldId="259"/>
            <ac:spMk id="16" creationId="{00000000-0000-0000-0000-000000000000}"/>
          </ac:spMkLst>
        </pc:spChg>
        <pc:spChg chg="mod">
          <ac:chgData name="Phan, Tiffany M Capt USAF USAFA AW/DFCS" userId="a0ed988f-3bd3-448a-ab68-f6eca8eadb00" providerId="ADAL" clId="{D74FDB2A-C6F9-423C-9DA7-5C8A44CC196C}" dt="2026-08-12T21:45:30.281" v="137" actId="27636"/>
          <ac:spMkLst>
            <pc:docMk/>
            <pc:sldMk cId="0" sldId="259"/>
            <ac:spMk id="17" creationId="{00000000-0000-0000-0000-000000000000}"/>
          </ac:spMkLst>
        </pc:spChg>
        <pc:spChg chg="mod">
          <ac:chgData name="Phan, Tiffany M Capt USAF USAFA AW/DFCS" userId="a0ed988f-3bd3-448a-ab68-f6eca8eadb00" providerId="ADAL" clId="{D74FDB2A-C6F9-423C-9DA7-5C8A44CC196C}" dt="2026-08-12T21:45:30.281" v="143" actId="27636"/>
          <ac:spMkLst>
            <pc:docMk/>
            <pc:sldMk cId="0" sldId="259"/>
            <ac:spMk id="19" creationId="{00000000-0000-0000-0000-000000000000}"/>
          </ac:spMkLst>
        </pc:spChg>
        <pc:spChg chg="mod">
          <ac:chgData name="Phan, Tiffany M Capt USAF USAFA AW/DFCS" userId="a0ed988f-3bd3-448a-ab68-f6eca8eadb00" providerId="ADAL" clId="{D74FDB2A-C6F9-423C-9DA7-5C8A44CC196C}" dt="2026-08-12T21:45:30.281" v="138" actId="27636"/>
          <ac:spMkLst>
            <pc:docMk/>
            <pc:sldMk cId="0" sldId="259"/>
            <ac:spMk id="20" creationId="{00000000-0000-0000-0000-000000000000}"/>
          </ac:spMkLst>
        </pc:spChg>
        <pc:spChg chg="mod">
          <ac:chgData name="Phan, Tiffany M Capt USAF USAFA AW/DFCS" userId="a0ed988f-3bd3-448a-ab68-f6eca8eadb00" providerId="ADAL" clId="{D74FDB2A-C6F9-423C-9DA7-5C8A44CC196C}" dt="2026-08-12T21:45:30.281" v="141" actId="27636"/>
          <ac:spMkLst>
            <pc:docMk/>
            <pc:sldMk cId="0" sldId="259"/>
            <ac:spMk id="22" creationId="{00000000-0000-0000-0000-000000000000}"/>
          </ac:spMkLst>
        </pc:spChg>
        <pc:spChg chg="mod">
          <ac:chgData name="Phan, Tiffany M Capt USAF USAFA AW/DFCS" userId="a0ed988f-3bd3-448a-ab68-f6eca8eadb00" providerId="ADAL" clId="{D74FDB2A-C6F9-423C-9DA7-5C8A44CC196C}" dt="2026-08-12T21:45:30.265" v="132" actId="27636"/>
          <ac:spMkLst>
            <pc:docMk/>
            <pc:sldMk cId="0" sldId="259"/>
            <ac:spMk id="23" creationId="{00000000-0000-0000-0000-000000000000}"/>
          </ac:spMkLst>
        </pc:spChg>
        <pc:spChg chg="mod">
          <ac:chgData name="Phan, Tiffany M Capt USAF USAFA AW/DFCS" userId="a0ed988f-3bd3-448a-ab68-f6eca8eadb00" providerId="ADAL" clId="{D74FDB2A-C6F9-423C-9DA7-5C8A44CC196C}" dt="2026-08-12T21:45:30.265" v="135" actId="27636"/>
          <ac:spMkLst>
            <pc:docMk/>
            <pc:sldMk cId="0" sldId="259"/>
            <ac:spMk id="24" creationId="{00000000-0000-0000-0000-000000000000}"/>
          </ac:spMkLst>
        </pc:spChg>
      </pc:sldChg>
      <pc:sldChg chg="modSp mod">
        <pc:chgData name="Phan, Tiffany M Capt USAF USAFA AW/DFCS" userId="a0ed988f-3bd3-448a-ab68-f6eca8eadb00" providerId="ADAL" clId="{D74FDB2A-C6F9-423C-9DA7-5C8A44CC196C}" dt="2026-08-12T21:45:30.328" v="145" actId="27636"/>
        <pc:sldMkLst>
          <pc:docMk/>
          <pc:sldMk cId="0" sldId="260"/>
        </pc:sldMkLst>
        <pc:spChg chg="mod">
          <ac:chgData name="Phan, Tiffany M Capt USAF USAFA AW/DFCS" userId="a0ed988f-3bd3-448a-ab68-f6eca8eadb00" providerId="ADAL" clId="{D74FDB2A-C6F9-423C-9DA7-5C8A44CC196C}" dt="2026-08-12T21:45:30.328" v="145" actId="27636"/>
          <ac:spMkLst>
            <pc:docMk/>
            <pc:sldMk cId="0" sldId="260"/>
            <ac:spMk id="2" creationId="{00000000-0000-0000-0000-000000000000}"/>
          </ac:spMkLst>
        </pc:spChg>
        <pc:spChg chg="mod">
          <ac:chgData name="Phan, Tiffany M Capt USAF USAFA AW/DFCS" userId="a0ed988f-3bd3-448a-ab68-f6eca8eadb00" providerId="ADAL" clId="{D74FDB2A-C6F9-423C-9DA7-5C8A44CC196C}" dt="2026-08-12T21:45:30.328" v="144" actId="27636"/>
          <ac:spMkLst>
            <pc:docMk/>
            <pc:sldMk cId="0" sldId="260"/>
            <ac:spMk id="11" creationId="{00000000-0000-0000-0000-000000000000}"/>
          </ac:spMkLst>
        </pc:spChg>
      </pc:sldChg>
      <pc:sldChg chg="modSp mod">
        <pc:chgData name="Phan, Tiffany M Capt USAF USAFA AW/DFCS" userId="a0ed988f-3bd3-448a-ab68-f6eca8eadb00" providerId="ADAL" clId="{D74FDB2A-C6F9-423C-9DA7-5C8A44CC196C}" dt="2026-08-12T21:45:30.533" v="146" actId="27636"/>
        <pc:sldMkLst>
          <pc:docMk/>
          <pc:sldMk cId="0" sldId="261"/>
        </pc:sldMkLst>
        <pc:spChg chg="mod">
          <ac:chgData name="Phan, Tiffany M Capt USAF USAFA AW/DFCS" userId="a0ed988f-3bd3-448a-ab68-f6eca8eadb00" providerId="ADAL" clId="{D74FDB2A-C6F9-423C-9DA7-5C8A44CC196C}" dt="2026-08-12T21:45:30.533" v="146" actId="27636"/>
          <ac:spMkLst>
            <pc:docMk/>
            <pc:sldMk cId="0" sldId="261"/>
            <ac:spMk id="2" creationId="{00000000-0000-0000-0000-000000000000}"/>
          </ac:spMkLst>
        </pc:spChg>
      </pc:sldChg>
      <pc:sldChg chg="modSp mod">
        <pc:chgData name="Phan, Tiffany M Capt USAF USAFA AW/DFCS" userId="a0ed988f-3bd3-448a-ab68-f6eca8eadb00" providerId="ADAL" clId="{D74FDB2A-C6F9-423C-9DA7-5C8A44CC196C}" dt="2026-08-12T21:45:30.596" v="150" actId="27636"/>
        <pc:sldMkLst>
          <pc:docMk/>
          <pc:sldMk cId="0" sldId="262"/>
        </pc:sldMkLst>
        <pc:spChg chg="mod">
          <ac:chgData name="Phan, Tiffany M Capt USAF USAFA AW/DFCS" userId="a0ed988f-3bd3-448a-ab68-f6eca8eadb00" providerId="ADAL" clId="{D74FDB2A-C6F9-423C-9DA7-5C8A44CC196C}" dt="2026-08-12T21:45:30.596" v="148" actId="27636"/>
          <ac:spMkLst>
            <pc:docMk/>
            <pc:sldMk cId="0" sldId="262"/>
            <ac:spMk id="2" creationId="{00000000-0000-0000-0000-000000000000}"/>
          </ac:spMkLst>
        </pc:spChg>
        <pc:spChg chg="mod">
          <ac:chgData name="Phan, Tiffany M Capt USAF USAFA AW/DFCS" userId="a0ed988f-3bd3-448a-ab68-f6eca8eadb00" providerId="ADAL" clId="{D74FDB2A-C6F9-423C-9DA7-5C8A44CC196C}" dt="2026-08-12T21:45:30.596" v="149" actId="27636"/>
          <ac:spMkLst>
            <pc:docMk/>
            <pc:sldMk cId="0" sldId="262"/>
            <ac:spMk id="8" creationId="{00000000-0000-0000-0000-000000000000}"/>
          </ac:spMkLst>
        </pc:spChg>
        <pc:spChg chg="mod">
          <ac:chgData name="Phan, Tiffany M Capt USAF USAFA AW/DFCS" userId="a0ed988f-3bd3-448a-ab68-f6eca8eadb00" providerId="ADAL" clId="{D74FDB2A-C6F9-423C-9DA7-5C8A44CC196C}" dt="2026-08-12T21:45:30.596" v="150" actId="27636"/>
          <ac:spMkLst>
            <pc:docMk/>
            <pc:sldMk cId="0" sldId="262"/>
            <ac:spMk id="13" creationId="{00000000-0000-0000-0000-000000000000}"/>
          </ac:spMkLst>
        </pc:spChg>
        <pc:spChg chg="mod">
          <ac:chgData name="Phan, Tiffany M Capt USAF USAFA AW/DFCS" userId="a0ed988f-3bd3-448a-ab68-f6eca8eadb00" providerId="ADAL" clId="{D74FDB2A-C6F9-423C-9DA7-5C8A44CC196C}" dt="2026-08-12T21:45:30.596" v="147" actId="27636"/>
          <ac:spMkLst>
            <pc:docMk/>
            <pc:sldMk cId="0" sldId="262"/>
            <ac:spMk id="18" creationId="{00000000-0000-0000-0000-000000000000}"/>
          </ac:spMkLst>
        </pc:spChg>
      </pc:sldChg>
      <pc:sldChg chg="modSp mod">
        <pc:chgData name="Phan, Tiffany M Capt USAF USAFA AW/DFCS" userId="a0ed988f-3bd3-448a-ab68-f6eca8eadb00" providerId="ADAL" clId="{D74FDB2A-C6F9-423C-9DA7-5C8A44CC196C}" dt="2026-08-12T21:45:30.800" v="154" actId="27636"/>
        <pc:sldMkLst>
          <pc:docMk/>
          <pc:sldMk cId="0" sldId="263"/>
        </pc:sldMkLst>
        <pc:spChg chg="mod">
          <ac:chgData name="Phan, Tiffany M Capt USAF USAFA AW/DFCS" userId="a0ed988f-3bd3-448a-ab68-f6eca8eadb00" providerId="ADAL" clId="{D74FDB2A-C6F9-423C-9DA7-5C8A44CC196C}" dt="2026-08-12T21:45:30.800" v="153" actId="27636"/>
          <ac:spMkLst>
            <pc:docMk/>
            <pc:sldMk cId="0" sldId="263"/>
            <ac:spMk id="2" creationId="{00000000-0000-0000-0000-000000000000}"/>
          </ac:spMkLst>
        </pc:spChg>
        <pc:spChg chg="mod">
          <ac:chgData name="Phan, Tiffany M Capt USAF USAFA AW/DFCS" userId="a0ed988f-3bd3-448a-ab68-f6eca8eadb00" providerId="ADAL" clId="{D74FDB2A-C6F9-423C-9DA7-5C8A44CC196C}" dt="2026-08-12T21:45:30.800" v="154" actId="27636"/>
          <ac:spMkLst>
            <pc:docMk/>
            <pc:sldMk cId="0" sldId="263"/>
            <ac:spMk id="7" creationId="{00000000-0000-0000-0000-000000000000}"/>
          </ac:spMkLst>
        </pc:spChg>
        <pc:spChg chg="mod">
          <ac:chgData name="Phan, Tiffany M Capt USAF USAFA AW/DFCS" userId="a0ed988f-3bd3-448a-ab68-f6eca8eadb00" providerId="ADAL" clId="{D74FDB2A-C6F9-423C-9DA7-5C8A44CC196C}" dt="2026-08-12T21:45:30.800" v="151" actId="27636"/>
          <ac:spMkLst>
            <pc:docMk/>
            <pc:sldMk cId="0" sldId="263"/>
            <ac:spMk id="11" creationId="{00000000-0000-0000-0000-000000000000}"/>
          </ac:spMkLst>
        </pc:spChg>
        <pc:spChg chg="mod">
          <ac:chgData name="Phan, Tiffany M Capt USAF USAFA AW/DFCS" userId="a0ed988f-3bd3-448a-ab68-f6eca8eadb00" providerId="ADAL" clId="{D74FDB2A-C6F9-423C-9DA7-5C8A44CC196C}" dt="2026-08-12T21:45:30.800" v="152" actId="27636"/>
          <ac:spMkLst>
            <pc:docMk/>
            <pc:sldMk cId="0" sldId="263"/>
            <ac:spMk id="15" creationId="{00000000-0000-0000-0000-000000000000}"/>
          </ac:spMkLst>
        </pc:spChg>
      </pc:sldChg>
      <pc:sldChg chg="modSp mod">
        <pc:chgData name="Phan, Tiffany M Capt USAF USAFA AW/DFCS" userId="a0ed988f-3bd3-448a-ab68-f6eca8eadb00" providerId="ADAL" clId="{D74FDB2A-C6F9-423C-9DA7-5C8A44CC196C}" dt="2026-08-12T21:45:30.863" v="157" actId="27636"/>
        <pc:sldMkLst>
          <pc:docMk/>
          <pc:sldMk cId="0" sldId="264"/>
        </pc:sldMkLst>
        <pc:spChg chg="mod">
          <ac:chgData name="Phan, Tiffany M Capt USAF USAFA AW/DFCS" userId="a0ed988f-3bd3-448a-ab68-f6eca8eadb00" providerId="ADAL" clId="{D74FDB2A-C6F9-423C-9DA7-5C8A44CC196C}" dt="2026-08-12T21:45:30.852" v="155" actId="27636"/>
          <ac:spMkLst>
            <pc:docMk/>
            <pc:sldMk cId="0" sldId="264"/>
            <ac:spMk id="2" creationId="{00000000-0000-0000-0000-000000000000}"/>
          </ac:spMkLst>
        </pc:spChg>
        <pc:spChg chg="mod">
          <ac:chgData name="Phan, Tiffany M Capt USAF USAFA AW/DFCS" userId="a0ed988f-3bd3-448a-ab68-f6eca8eadb00" providerId="ADAL" clId="{D74FDB2A-C6F9-423C-9DA7-5C8A44CC196C}" dt="2026-08-12T21:45:30.863" v="156" actId="27636"/>
          <ac:spMkLst>
            <pc:docMk/>
            <pc:sldMk cId="0" sldId="264"/>
            <ac:spMk id="7" creationId="{00000000-0000-0000-0000-000000000000}"/>
          </ac:spMkLst>
        </pc:spChg>
        <pc:spChg chg="mod">
          <ac:chgData name="Phan, Tiffany M Capt USAF USAFA AW/DFCS" userId="a0ed988f-3bd3-448a-ab68-f6eca8eadb00" providerId="ADAL" clId="{D74FDB2A-C6F9-423C-9DA7-5C8A44CC196C}" dt="2026-08-12T21:45:30.863" v="157" actId="27636"/>
          <ac:spMkLst>
            <pc:docMk/>
            <pc:sldMk cId="0" sldId="264"/>
            <ac:spMk id="8" creationId="{00000000-0000-0000-0000-000000000000}"/>
          </ac:spMkLst>
        </pc:spChg>
      </pc:sldChg>
      <pc:sldChg chg="modSp mod">
        <pc:chgData name="Phan, Tiffany M Capt USAF USAFA AW/DFCS" userId="a0ed988f-3bd3-448a-ab68-f6eca8eadb00" providerId="ADAL" clId="{D74FDB2A-C6F9-423C-9DA7-5C8A44CC196C}" dt="2026-08-12T21:45:31.099" v="165" actId="27636"/>
        <pc:sldMkLst>
          <pc:docMk/>
          <pc:sldMk cId="0" sldId="265"/>
        </pc:sldMkLst>
        <pc:spChg chg="mod">
          <ac:chgData name="Phan, Tiffany M Capt USAF USAFA AW/DFCS" userId="a0ed988f-3bd3-448a-ab68-f6eca8eadb00" providerId="ADAL" clId="{D74FDB2A-C6F9-423C-9DA7-5C8A44CC196C}" dt="2026-08-12T21:45:31.083" v="158" actId="27636"/>
          <ac:spMkLst>
            <pc:docMk/>
            <pc:sldMk cId="0" sldId="265"/>
            <ac:spMk id="2" creationId="{00000000-0000-0000-0000-000000000000}"/>
          </ac:spMkLst>
        </pc:spChg>
        <pc:spChg chg="mod">
          <ac:chgData name="Phan, Tiffany M Capt USAF USAFA AW/DFCS" userId="a0ed988f-3bd3-448a-ab68-f6eca8eadb00" providerId="ADAL" clId="{D74FDB2A-C6F9-423C-9DA7-5C8A44CC196C}" dt="2026-08-12T21:45:31.097" v="163" actId="27636"/>
          <ac:spMkLst>
            <pc:docMk/>
            <pc:sldMk cId="0" sldId="265"/>
            <ac:spMk id="7" creationId="{00000000-0000-0000-0000-000000000000}"/>
          </ac:spMkLst>
        </pc:spChg>
        <pc:spChg chg="mod">
          <ac:chgData name="Phan, Tiffany M Capt USAF USAFA AW/DFCS" userId="a0ed988f-3bd3-448a-ab68-f6eca8eadb00" providerId="ADAL" clId="{D74FDB2A-C6F9-423C-9DA7-5C8A44CC196C}" dt="2026-08-12T21:45:31.083" v="160" actId="27636"/>
          <ac:spMkLst>
            <pc:docMk/>
            <pc:sldMk cId="0" sldId="265"/>
            <ac:spMk id="9" creationId="{00000000-0000-0000-0000-000000000000}"/>
          </ac:spMkLst>
        </pc:spChg>
        <pc:spChg chg="mod">
          <ac:chgData name="Phan, Tiffany M Capt USAF USAFA AW/DFCS" userId="a0ed988f-3bd3-448a-ab68-f6eca8eadb00" providerId="ADAL" clId="{D74FDB2A-C6F9-423C-9DA7-5C8A44CC196C}" dt="2026-08-12T21:45:31.099" v="164" actId="27636"/>
          <ac:spMkLst>
            <pc:docMk/>
            <pc:sldMk cId="0" sldId="265"/>
            <ac:spMk id="11" creationId="{00000000-0000-0000-0000-000000000000}"/>
          </ac:spMkLst>
        </pc:spChg>
        <pc:spChg chg="mod">
          <ac:chgData name="Phan, Tiffany M Capt USAF USAFA AW/DFCS" userId="a0ed988f-3bd3-448a-ab68-f6eca8eadb00" providerId="ADAL" clId="{D74FDB2A-C6F9-423C-9DA7-5C8A44CC196C}" dt="2026-08-12T21:45:31.097" v="162" actId="27636"/>
          <ac:spMkLst>
            <pc:docMk/>
            <pc:sldMk cId="0" sldId="265"/>
            <ac:spMk id="12" creationId="{00000000-0000-0000-0000-000000000000}"/>
          </ac:spMkLst>
        </pc:spChg>
        <pc:spChg chg="mod">
          <ac:chgData name="Phan, Tiffany M Capt USAF USAFA AW/DFCS" userId="a0ed988f-3bd3-448a-ab68-f6eca8eadb00" providerId="ADAL" clId="{D74FDB2A-C6F9-423C-9DA7-5C8A44CC196C}" dt="2026-08-12T21:45:31.099" v="165" actId="27636"/>
          <ac:spMkLst>
            <pc:docMk/>
            <pc:sldMk cId="0" sldId="265"/>
            <ac:spMk id="15" creationId="{00000000-0000-0000-0000-000000000000}"/>
          </ac:spMkLst>
        </pc:spChg>
        <pc:spChg chg="mod">
          <ac:chgData name="Phan, Tiffany M Capt USAF USAFA AW/DFCS" userId="a0ed988f-3bd3-448a-ab68-f6eca8eadb00" providerId="ADAL" clId="{D74FDB2A-C6F9-423C-9DA7-5C8A44CC196C}" dt="2026-08-12T21:45:31.083" v="159" actId="27636"/>
          <ac:spMkLst>
            <pc:docMk/>
            <pc:sldMk cId="0" sldId="265"/>
            <ac:spMk id="16" creationId="{00000000-0000-0000-0000-000000000000}"/>
          </ac:spMkLst>
        </pc:spChg>
        <pc:spChg chg="mod">
          <ac:chgData name="Phan, Tiffany M Capt USAF USAFA AW/DFCS" userId="a0ed988f-3bd3-448a-ab68-f6eca8eadb00" providerId="ADAL" clId="{D74FDB2A-C6F9-423C-9DA7-5C8A44CC196C}" dt="2026-08-12T21:45:31.083" v="161" actId="27636"/>
          <ac:spMkLst>
            <pc:docMk/>
            <pc:sldMk cId="0" sldId="265"/>
            <ac:spMk id="17" creationId="{00000000-0000-0000-0000-000000000000}"/>
          </ac:spMkLst>
        </pc:spChg>
        <pc:spChg chg="mod">
          <ac:chgData name="Phan, Tiffany M Capt USAF USAFA AW/DFCS" userId="a0ed988f-3bd3-448a-ab68-f6eca8eadb00" providerId="ADAL" clId="{D74FDB2A-C6F9-423C-9DA7-5C8A44CC196C}" dt="2026-08-12T21:42:49.255" v="1" actId="14100"/>
          <ac:spMkLst>
            <pc:docMk/>
            <pc:sldMk cId="0" sldId="265"/>
            <ac:spMk id="18" creationId="{00000000-0000-0000-0000-000000000000}"/>
          </ac:spMkLst>
        </pc:spChg>
      </pc:sldChg>
      <pc:sldChg chg="modSp mod">
        <pc:chgData name="Phan, Tiffany M Capt USAF USAFA AW/DFCS" userId="a0ed988f-3bd3-448a-ab68-f6eca8eadb00" providerId="ADAL" clId="{D74FDB2A-C6F9-423C-9DA7-5C8A44CC196C}" dt="2026-08-12T21:45:31.197" v="166" actId="27636"/>
        <pc:sldMkLst>
          <pc:docMk/>
          <pc:sldMk cId="0" sldId="266"/>
        </pc:sldMkLst>
        <pc:spChg chg="mod">
          <ac:chgData name="Phan, Tiffany M Capt USAF USAFA AW/DFCS" userId="a0ed988f-3bd3-448a-ab68-f6eca8eadb00" providerId="ADAL" clId="{D74FDB2A-C6F9-423C-9DA7-5C8A44CC196C}" dt="2026-08-12T21:45:31.197" v="166" actId="27636"/>
          <ac:spMkLst>
            <pc:docMk/>
            <pc:sldMk cId="0" sldId="266"/>
            <ac:spMk id="2" creationId="{00000000-0000-0000-0000-000000000000}"/>
          </ac:spMkLst>
        </pc:spChg>
      </pc:sldChg>
      <pc:sldChg chg="modSp mod">
        <pc:chgData name="Phan, Tiffany M Capt USAF USAFA AW/DFCS" userId="a0ed988f-3bd3-448a-ab68-f6eca8eadb00" providerId="ADAL" clId="{D74FDB2A-C6F9-423C-9DA7-5C8A44CC196C}" dt="2026-08-12T21:45:31.539" v="168" actId="27636"/>
        <pc:sldMkLst>
          <pc:docMk/>
          <pc:sldMk cId="0" sldId="267"/>
        </pc:sldMkLst>
        <pc:spChg chg="mod">
          <ac:chgData name="Phan, Tiffany M Capt USAF USAFA AW/DFCS" userId="a0ed988f-3bd3-448a-ab68-f6eca8eadb00" providerId="ADAL" clId="{D74FDB2A-C6F9-423C-9DA7-5C8A44CC196C}" dt="2026-08-12T21:45:31.539" v="168" actId="27636"/>
          <ac:spMkLst>
            <pc:docMk/>
            <pc:sldMk cId="0" sldId="267"/>
            <ac:spMk id="2" creationId="{00000000-0000-0000-0000-000000000000}"/>
          </ac:spMkLst>
        </pc:spChg>
      </pc:sldChg>
      <pc:sldChg chg="modSp mod">
        <pc:chgData name="Phan, Tiffany M Capt USAF USAFA AW/DFCS" userId="a0ed988f-3bd3-448a-ab68-f6eca8eadb00" providerId="ADAL" clId="{D74FDB2A-C6F9-423C-9DA7-5C8A44CC196C}" dt="2026-08-12T21:58:05.812" v="210" actId="255"/>
        <pc:sldMkLst>
          <pc:docMk/>
          <pc:sldMk cId="0" sldId="268"/>
        </pc:sldMkLst>
        <pc:spChg chg="mod">
          <ac:chgData name="Phan, Tiffany M Capt USAF USAFA AW/DFCS" userId="a0ed988f-3bd3-448a-ab68-f6eca8eadb00" providerId="ADAL" clId="{D74FDB2A-C6F9-423C-9DA7-5C8A44CC196C}" dt="2026-08-12T21:45:31.839" v="174" actId="27636"/>
          <ac:spMkLst>
            <pc:docMk/>
            <pc:sldMk cId="0" sldId="268"/>
            <ac:spMk id="2" creationId="{00000000-0000-0000-0000-000000000000}"/>
          </ac:spMkLst>
        </pc:spChg>
        <pc:spChg chg="mod">
          <ac:chgData name="Phan, Tiffany M Capt USAF USAFA AW/DFCS" userId="a0ed988f-3bd3-448a-ab68-f6eca8eadb00" providerId="ADAL" clId="{D74FDB2A-C6F9-423C-9DA7-5C8A44CC196C}" dt="2026-08-12T21:57:50.471" v="200" actId="404"/>
          <ac:spMkLst>
            <pc:docMk/>
            <pc:sldMk cId="0" sldId="268"/>
            <ac:spMk id="6" creationId="{00000000-0000-0000-0000-000000000000}"/>
          </ac:spMkLst>
        </pc:spChg>
        <pc:spChg chg="mod">
          <ac:chgData name="Phan, Tiffany M Capt USAF USAFA AW/DFCS" userId="a0ed988f-3bd3-448a-ab68-f6eca8eadb00" providerId="ADAL" clId="{D74FDB2A-C6F9-423C-9DA7-5C8A44CC196C}" dt="2026-08-12T21:57:50.471" v="200" actId="404"/>
          <ac:spMkLst>
            <pc:docMk/>
            <pc:sldMk cId="0" sldId="268"/>
            <ac:spMk id="8" creationId="{00000000-0000-0000-0000-000000000000}"/>
          </ac:spMkLst>
        </pc:spChg>
        <pc:spChg chg="mod">
          <ac:chgData name="Phan, Tiffany M Capt USAF USAFA AW/DFCS" userId="a0ed988f-3bd3-448a-ab68-f6eca8eadb00" providerId="ADAL" clId="{D74FDB2A-C6F9-423C-9DA7-5C8A44CC196C}" dt="2026-08-12T21:57:50.471" v="200" actId="404"/>
          <ac:spMkLst>
            <pc:docMk/>
            <pc:sldMk cId="0" sldId="268"/>
            <ac:spMk id="9" creationId="{00000000-0000-0000-0000-000000000000}"/>
          </ac:spMkLst>
        </pc:spChg>
        <pc:spChg chg="mod">
          <ac:chgData name="Phan, Tiffany M Capt USAF USAFA AW/DFCS" userId="a0ed988f-3bd3-448a-ab68-f6eca8eadb00" providerId="ADAL" clId="{D74FDB2A-C6F9-423C-9DA7-5C8A44CC196C}" dt="2026-08-12T21:57:50.471" v="200" actId="404"/>
          <ac:spMkLst>
            <pc:docMk/>
            <pc:sldMk cId="0" sldId="268"/>
            <ac:spMk id="10" creationId="{00000000-0000-0000-0000-000000000000}"/>
          </ac:spMkLst>
        </pc:spChg>
        <pc:spChg chg="mod">
          <ac:chgData name="Phan, Tiffany M Capt USAF USAFA AW/DFCS" userId="a0ed988f-3bd3-448a-ab68-f6eca8eadb00" providerId="ADAL" clId="{D74FDB2A-C6F9-423C-9DA7-5C8A44CC196C}" dt="2026-08-12T21:57:50.471" v="200" actId="404"/>
          <ac:spMkLst>
            <pc:docMk/>
            <pc:sldMk cId="0" sldId="268"/>
            <ac:spMk id="11" creationId="{00000000-0000-0000-0000-000000000000}"/>
          </ac:spMkLst>
        </pc:spChg>
        <pc:spChg chg="mod">
          <ac:chgData name="Phan, Tiffany M Capt USAF USAFA AW/DFCS" userId="a0ed988f-3bd3-448a-ab68-f6eca8eadb00" providerId="ADAL" clId="{D74FDB2A-C6F9-423C-9DA7-5C8A44CC196C}" dt="2026-08-12T21:57:50.471" v="200" actId="404"/>
          <ac:spMkLst>
            <pc:docMk/>
            <pc:sldMk cId="0" sldId="268"/>
            <ac:spMk id="12" creationId="{00000000-0000-0000-0000-000000000000}"/>
          </ac:spMkLst>
        </pc:spChg>
        <pc:spChg chg="mod">
          <ac:chgData name="Phan, Tiffany M Capt USAF USAFA AW/DFCS" userId="a0ed988f-3bd3-448a-ab68-f6eca8eadb00" providerId="ADAL" clId="{D74FDB2A-C6F9-423C-9DA7-5C8A44CC196C}" dt="2026-08-12T21:57:50.471" v="200" actId="404"/>
          <ac:spMkLst>
            <pc:docMk/>
            <pc:sldMk cId="0" sldId="268"/>
            <ac:spMk id="13" creationId="{00000000-0000-0000-0000-000000000000}"/>
          </ac:spMkLst>
        </pc:spChg>
        <pc:spChg chg="mod">
          <ac:chgData name="Phan, Tiffany M Capt USAF USAFA AW/DFCS" userId="a0ed988f-3bd3-448a-ab68-f6eca8eadb00" providerId="ADAL" clId="{D74FDB2A-C6F9-423C-9DA7-5C8A44CC196C}" dt="2026-08-12T21:57:50.471" v="200" actId="404"/>
          <ac:spMkLst>
            <pc:docMk/>
            <pc:sldMk cId="0" sldId="268"/>
            <ac:spMk id="14" creationId="{00000000-0000-0000-0000-000000000000}"/>
          </ac:spMkLst>
        </pc:spChg>
        <pc:spChg chg="mod">
          <ac:chgData name="Phan, Tiffany M Capt USAF USAFA AW/DFCS" userId="a0ed988f-3bd3-448a-ab68-f6eca8eadb00" providerId="ADAL" clId="{D74FDB2A-C6F9-423C-9DA7-5C8A44CC196C}" dt="2026-08-12T21:57:50.471" v="200" actId="404"/>
          <ac:spMkLst>
            <pc:docMk/>
            <pc:sldMk cId="0" sldId="268"/>
            <ac:spMk id="16" creationId="{00000000-0000-0000-0000-000000000000}"/>
          </ac:spMkLst>
        </pc:spChg>
        <pc:spChg chg="mod">
          <ac:chgData name="Phan, Tiffany M Capt USAF USAFA AW/DFCS" userId="a0ed988f-3bd3-448a-ab68-f6eca8eadb00" providerId="ADAL" clId="{D74FDB2A-C6F9-423C-9DA7-5C8A44CC196C}" dt="2026-08-12T21:58:05.812" v="210" actId="255"/>
          <ac:spMkLst>
            <pc:docMk/>
            <pc:sldMk cId="0" sldId="268"/>
            <ac:spMk id="17" creationId="{00000000-0000-0000-0000-000000000000}"/>
          </ac:spMkLst>
        </pc:spChg>
        <pc:spChg chg="mod">
          <ac:chgData name="Phan, Tiffany M Capt USAF USAFA AW/DFCS" userId="a0ed988f-3bd3-448a-ab68-f6eca8eadb00" providerId="ADAL" clId="{D74FDB2A-C6F9-423C-9DA7-5C8A44CC196C}" dt="2026-08-12T21:45:31.839" v="175" actId="27636"/>
          <ac:spMkLst>
            <pc:docMk/>
            <pc:sldMk cId="0" sldId="268"/>
            <ac:spMk id="20" creationId="{00000000-0000-0000-0000-000000000000}"/>
          </ac:spMkLst>
        </pc:spChg>
        <pc:spChg chg="mod">
          <ac:chgData name="Phan, Tiffany M Capt USAF USAFA AW/DFCS" userId="a0ed988f-3bd3-448a-ab68-f6eca8eadb00" providerId="ADAL" clId="{D74FDB2A-C6F9-423C-9DA7-5C8A44CC196C}" dt="2026-08-12T21:45:31.839" v="173" actId="27636"/>
          <ac:spMkLst>
            <pc:docMk/>
            <pc:sldMk cId="0" sldId="268"/>
            <ac:spMk id="21" creationId="{00000000-0000-0000-0000-000000000000}"/>
          </ac:spMkLst>
        </pc:spChg>
        <pc:spChg chg="mod">
          <ac:chgData name="Phan, Tiffany M Capt USAF USAFA AW/DFCS" userId="a0ed988f-3bd3-448a-ab68-f6eca8eadb00" providerId="ADAL" clId="{D74FDB2A-C6F9-423C-9DA7-5C8A44CC196C}" dt="2026-08-12T21:45:31.819" v="170" actId="27636"/>
          <ac:spMkLst>
            <pc:docMk/>
            <pc:sldMk cId="0" sldId="268"/>
            <ac:spMk id="22" creationId="{00000000-0000-0000-0000-000000000000}"/>
          </ac:spMkLst>
        </pc:spChg>
      </pc:sldChg>
      <pc:sldChg chg="modSp mod">
        <pc:chgData name="Phan, Tiffany M Capt USAF USAFA AW/DFCS" userId="a0ed988f-3bd3-448a-ab68-f6eca8eadb00" providerId="ADAL" clId="{D74FDB2A-C6F9-423C-9DA7-5C8A44CC196C}" dt="2026-08-12T21:45:32.090" v="177" actId="27636"/>
        <pc:sldMkLst>
          <pc:docMk/>
          <pc:sldMk cId="0" sldId="269"/>
        </pc:sldMkLst>
        <pc:spChg chg="mod">
          <ac:chgData name="Phan, Tiffany M Capt USAF USAFA AW/DFCS" userId="a0ed988f-3bd3-448a-ab68-f6eca8eadb00" providerId="ADAL" clId="{D74FDB2A-C6F9-423C-9DA7-5C8A44CC196C}" dt="2026-08-12T21:45:32.090" v="177" actId="27636"/>
          <ac:spMkLst>
            <pc:docMk/>
            <pc:sldMk cId="0" sldId="269"/>
            <ac:spMk id="2" creationId="{00000000-0000-0000-0000-000000000000}"/>
          </ac:spMkLst>
        </pc:spChg>
        <pc:spChg chg="mod">
          <ac:chgData name="Phan, Tiffany M Capt USAF USAFA AW/DFCS" userId="a0ed988f-3bd3-448a-ab68-f6eca8eadb00" providerId="ADAL" clId="{D74FDB2A-C6F9-423C-9DA7-5C8A44CC196C}" dt="2026-08-12T21:44:53.494" v="85" actId="1035"/>
          <ac:spMkLst>
            <pc:docMk/>
            <pc:sldMk cId="0" sldId="269"/>
            <ac:spMk id="6" creationId="{00000000-0000-0000-0000-000000000000}"/>
          </ac:spMkLst>
        </pc:spChg>
        <pc:spChg chg="mod">
          <ac:chgData name="Phan, Tiffany M Capt USAF USAFA AW/DFCS" userId="a0ed988f-3bd3-448a-ab68-f6eca8eadb00" providerId="ADAL" clId="{D74FDB2A-C6F9-423C-9DA7-5C8A44CC196C}" dt="2026-08-12T21:44:53.494" v="85" actId="1035"/>
          <ac:spMkLst>
            <pc:docMk/>
            <pc:sldMk cId="0" sldId="269"/>
            <ac:spMk id="7" creationId="{00000000-0000-0000-0000-000000000000}"/>
          </ac:spMkLst>
        </pc:spChg>
        <pc:spChg chg="mod">
          <ac:chgData name="Phan, Tiffany M Capt USAF USAFA AW/DFCS" userId="a0ed988f-3bd3-448a-ab68-f6eca8eadb00" providerId="ADAL" clId="{D74FDB2A-C6F9-423C-9DA7-5C8A44CC196C}" dt="2026-08-12T21:44:53.494" v="85" actId="1035"/>
          <ac:spMkLst>
            <pc:docMk/>
            <pc:sldMk cId="0" sldId="269"/>
            <ac:spMk id="10" creationId="{00000000-0000-0000-0000-000000000000}"/>
          </ac:spMkLst>
        </pc:spChg>
        <pc:spChg chg="mod">
          <ac:chgData name="Phan, Tiffany M Capt USAF USAFA AW/DFCS" userId="a0ed988f-3bd3-448a-ab68-f6eca8eadb00" providerId="ADAL" clId="{D74FDB2A-C6F9-423C-9DA7-5C8A44CC196C}" dt="2026-08-12T21:44:53.494" v="85" actId="1035"/>
          <ac:spMkLst>
            <pc:docMk/>
            <pc:sldMk cId="0" sldId="269"/>
            <ac:spMk id="11" creationId="{00000000-0000-0000-0000-000000000000}"/>
          </ac:spMkLst>
        </pc:spChg>
        <pc:spChg chg="mod">
          <ac:chgData name="Phan, Tiffany M Capt USAF USAFA AW/DFCS" userId="a0ed988f-3bd3-448a-ab68-f6eca8eadb00" providerId="ADAL" clId="{D74FDB2A-C6F9-423C-9DA7-5C8A44CC196C}" dt="2026-08-12T21:45:32.090" v="176" actId="27636"/>
          <ac:spMkLst>
            <pc:docMk/>
            <pc:sldMk cId="0" sldId="269"/>
            <ac:spMk id="16" creationId="{00000000-0000-0000-0000-000000000000}"/>
          </ac:spMkLst>
        </pc:spChg>
      </pc:sldChg>
      <pc:sldChg chg="modSp mod modAnim">
        <pc:chgData name="Phan, Tiffany M Capt USAF USAFA AW/DFCS" userId="a0ed988f-3bd3-448a-ab68-f6eca8eadb00" providerId="ADAL" clId="{D74FDB2A-C6F9-423C-9DA7-5C8A44CC196C}" dt="2026-08-12T21:45:47.271" v="180" actId="15"/>
        <pc:sldMkLst>
          <pc:docMk/>
          <pc:sldMk cId="0" sldId="270"/>
        </pc:sldMkLst>
        <pc:spChg chg="mod">
          <ac:chgData name="Phan, Tiffany M Capt USAF USAFA AW/DFCS" userId="a0ed988f-3bd3-448a-ab68-f6eca8eadb00" providerId="ADAL" clId="{D74FDB2A-C6F9-423C-9DA7-5C8A44CC196C}" dt="2026-08-12T21:45:29.496" v="91" actId="27636"/>
          <ac:spMkLst>
            <pc:docMk/>
            <pc:sldMk cId="0" sldId="270"/>
            <ac:spMk id="2" creationId="{00000000-0000-0000-0000-000000000000}"/>
          </ac:spMkLst>
        </pc:spChg>
        <pc:spChg chg="mod">
          <ac:chgData name="Phan, Tiffany M Capt USAF USAFA AW/DFCS" userId="a0ed988f-3bd3-448a-ab68-f6eca8eadb00" providerId="ADAL" clId="{D74FDB2A-C6F9-423C-9DA7-5C8A44CC196C}" dt="2026-08-12T21:45:29.496" v="90" actId="27636"/>
          <ac:spMkLst>
            <pc:docMk/>
            <pc:sldMk cId="0" sldId="270"/>
            <ac:spMk id="7" creationId="{00000000-0000-0000-0000-000000000000}"/>
          </ac:spMkLst>
        </pc:spChg>
        <pc:spChg chg="mod">
          <ac:chgData name="Phan, Tiffany M Capt USAF USAFA AW/DFCS" userId="a0ed988f-3bd3-448a-ab68-f6eca8eadb00" providerId="ADAL" clId="{D74FDB2A-C6F9-423C-9DA7-5C8A44CC196C}" dt="2026-08-12T21:45:29.512" v="93" actId="27636"/>
          <ac:spMkLst>
            <pc:docMk/>
            <pc:sldMk cId="0" sldId="270"/>
            <ac:spMk id="8" creationId="{00000000-0000-0000-0000-000000000000}"/>
          </ac:spMkLst>
        </pc:spChg>
        <pc:spChg chg="mod">
          <ac:chgData name="Phan, Tiffany M Capt USAF USAFA AW/DFCS" userId="a0ed988f-3bd3-448a-ab68-f6eca8eadb00" providerId="ADAL" clId="{D74FDB2A-C6F9-423C-9DA7-5C8A44CC196C}" dt="2026-08-12T21:45:47.271" v="180" actId="15"/>
          <ac:spMkLst>
            <pc:docMk/>
            <pc:sldMk cId="0" sldId="270"/>
            <ac:spMk id="9" creationId="{00000000-0000-0000-0000-000000000000}"/>
          </ac:spMkLst>
        </pc:spChg>
        <pc:spChg chg="mod">
          <ac:chgData name="Phan, Tiffany M Capt USAF USAFA AW/DFCS" userId="a0ed988f-3bd3-448a-ab68-f6eca8eadb00" providerId="ADAL" clId="{D74FDB2A-C6F9-423C-9DA7-5C8A44CC196C}" dt="2026-08-12T21:45:29.496" v="88" actId="27636"/>
          <ac:spMkLst>
            <pc:docMk/>
            <pc:sldMk cId="0" sldId="270"/>
            <ac:spMk id="11" creationId="{00000000-0000-0000-0000-000000000000}"/>
          </ac:spMkLst>
        </pc:spChg>
        <pc:spChg chg="mod">
          <ac:chgData name="Phan, Tiffany M Capt USAF USAFA AW/DFCS" userId="a0ed988f-3bd3-448a-ab68-f6eca8eadb00" providerId="ADAL" clId="{D74FDB2A-C6F9-423C-9DA7-5C8A44CC196C}" dt="2026-08-12T21:45:29.496" v="89" actId="27636"/>
          <ac:spMkLst>
            <pc:docMk/>
            <pc:sldMk cId="0" sldId="270"/>
            <ac:spMk id="13" creationId="{00000000-0000-0000-0000-000000000000}"/>
          </ac:spMkLst>
        </pc:spChg>
        <pc:spChg chg="mod">
          <ac:chgData name="Phan, Tiffany M Capt USAF USAFA AW/DFCS" userId="a0ed988f-3bd3-448a-ab68-f6eca8eadb00" providerId="ADAL" clId="{D74FDB2A-C6F9-423C-9DA7-5C8A44CC196C}" dt="2026-08-12T21:45:29.512" v="94" actId="27636"/>
          <ac:spMkLst>
            <pc:docMk/>
            <pc:sldMk cId="0" sldId="270"/>
            <ac:spMk id="16" creationId="{00000000-0000-0000-0000-000000000000}"/>
          </ac:spMkLst>
        </pc:spChg>
        <pc:spChg chg="mod">
          <ac:chgData name="Phan, Tiffany M Capt USAF USAFA AW/DFCS" userId="a0ed988f-3bd3-448a-ab68-f6eca8eadb00" providerId="ADAL" clId="{D74FDB2A-C6F9-423C-9DA7-5C8A44CC196C}" dt="2026-08-12T21:45:29.512" v="95" actId="27636"/>
          <ac:spMkLst>
            <pc:docMk/>
            <pc:sldMk cId="0" sldId="270"/>
            <ac:spMk id="19" creationId="{00000000-0000-0000-0000-000000000000}"/>
          </ac:spMkLst>
        </pc:spChg>
        <pc:spChg chg="mod">
          <ac:chgData name="Phan, Tiffany M Capt USAF USAFA AW/DFCS" userId="a0ed988f-3bd3-448a-ab68-f6eca8eadb00" providerId="ADAL" clId="{D74FDB2A-C6F9-423C-9DA7-5C8A44CC196C}" dt="2026-08-12T21:45:29.512" v="96" actId="27636"/>
          <ac:spMkLst>
            <pc:docMk/>
            <pc:sldMk cId="0" sldId="270"/>
            <ac:spMk id="22" creationId="{00000000-0000-0000-0000-000000000000}"/>
          </ac:spMkLst>
        </pc:spChg>
      </pc:sldChg>
      <pc:sldChg chg="modSp mod">
        <pc:chgData name="Phan, Tiffany M Capt USAF USAFA AW/DFCS" userId="a0ed988f-3bd3-448a-ab68-f6eca8eadb00" providerId="ADAL" clId="{D74FDB2A-C6F9-423C-9DA7-5C8A44CC196C}" dt="2026-08-12T21:45:29.559" v="100" actId="27636"/>
        <pc:sldMkLst>
          <pc:docMk/>
          <pc:sldMk cId="0" sldId="271"/>
        </pc:sldMkLst>
        <pc:spChg chg="mod">
          <ac:chgData name="Phan, Tiffany M Capt USAF USAFA AW/DFCS" userId="a0ed988f-3bd3-448a-ab68-f6eca8eadb00" providerId="ADAL" clId="{D74FDB2A-C6F9-423C-9DA7-5C8A44CC196C}" dt="2026-08-12T21:45:29.543" v="97" actId="27636"/>
          <ac:spMkLst>
            <pc:docMk/>
            <pc:sldMk cId="0" sldId="271"/>
            <ac:spMk id="2" creationId="{00000000-0000-0000-0000-000000000000}"/>
          </ac:spMkLst>
        </pc:spChg>
        <pc:spChg chg="mod">
          <ac:chgData name="Phan, Tiffany M Capt USAF USAFA AW/DFCS" userId="a0ed988f-3bd3-448a-ab68-f6eca8eadb00" providerId="ADAL" clId="{D74FDB2A-C6F9-423C-9DA7-5C8A44CC196C}" dt="2026-08-12T21:45:29.543" v="98" actId="27636"/>
          <ac:spMkLst>
            <pc:docMk/>
            <pc:sldMk cId="0" sldId="271"/>
            <ac:spMk id="6" creationId="{00000000-0000-0000-0000-000000000000}"/>
          </ac:spMkLst>
        </pc:spChg>
        <pc:spChg chg="mod">
          <ac:chgData name="Phan, Tiffany M Capt USAF USAFA AW/DFCS" userId="a0ed988f-3bd3-448a-ab68-f6eca8eadb00" providerId="ADAL" clId="{D74FDB2A-C6F9-423C-9DA7-5C8A44CC196C}" dt="2026-08-12T21:45:29.559" v="99" actId="27636"/>
          <ac:spMkLst>
            <pc:docMk/>
            <pc:sldMk cId="0" sldId="271"/>
            <ac:spMk id="7" creationId="{00000000-0000-0000-0000-000000000000}"/>
          </ac:spMkLst>
        </pc:spChg>
        <pc:spChg chg="mod">
          <ac:chgData name="Phan, Tiffany M Capt USAF USAFA AW/DFCS" userId="a0ed988f-3bd3-448a-ab68-f6eca8eadb00" providerId="ADAL" clId="{D74FDB2A-C6F9-423C-9DA7-5C8A44CC196C}" dt="2026-08-12T21:45:29.559" v="100" actId="27636"/>
          <ac:spMkLst>
            <pc:docMk/>
            <pc:sldMk cId="0" sldId="271"/>
            <ac:spMk id="20" creationId="{00000000-0000-0000-0000-000000000000}"/>
          </ac:spMkLst>
        </pc:spChg>
      </pc:sldChg>
      <pc:sldChg chg="modSp mod">
        <pc:chgData name="Phan, Tiffany M Capt USAF USAFA AW/DFCS" userId="a0ed988f-3bd3-448a-ab68-f6eca8eadb00" providerId="ADAL" clId="{D74FDB2A-C6F9-423C-9DA7-5C8A44CC196C}" dt="2026-08-12T21:45:29.591" v="102" actId="27636"/>
        <pc:sldMkLst>
          <pc:docMk/>
          <pc:sldMk cId="0" sldId="272"/>
        </pc:sldMkLst>
        <pc:spChg chg="mod">
          <ac:chgData name="Phan, Tiffany M Capt USAF USAFA AW/DFCS" userId="a0ed988f-3bd3-448a-ab68-f6eca8eadb00" providerId="ADAL" clId="{D74FDB2A-C6F9-423C-9DA7-5C8A44CC196C}" dt="2026-08-12T21:45:29.591" v="102" actId="27636"/>
          <ac:spMkLst>
            <pc:docMk/>
            <pc:sldMk cId="0" sldId="272"/>
            <ac:spMk id="2" creationId="{00000000-0000-0000-0000-000000000000}"/>
          </ac:spMkLst>
        </pc:spChg>
        <pc:spChg chg="mod">
          <ac:chgData name="Phan, Tiffany M Capt USAF USAFA AW/DFCS" userId="a0ed988f-3bd3-448a-ab68-f6eca8eadb00" providerId="ADAL" clId="{D74FDB2A-C6F9-423C-9DA7-5C8A44CC196C}" dt="2026-08-12T21:45:29.591" v="101" actId="27636"/>
          <ac:spMkLst>
            <pc:docMk/>
            <pc:sldMk cId="0" sldId="272"/>
            <ac:spMk id="22" creationId="{00000000-0000-0000-0000-000000000000}"/>
          </ac:spMkLst>
        </pc:spChg>
      </pc:sldChg>
      <pc:sldChg chg="modSp mod modAnim">
        <pc:chgData name="Phan, Tiffany M Capt USAF USAFA AW/DFCS" userId="a0ed988f-3bd3-448a-ab68-f6eca8eadb00" providerId="ADAL" clId="{D74FDB2A-C6F9-423C-9DA7-5C8A44CC196C}" dt="2026-08-14T15:18:47.571" v="215"/>
        <pc:sldMkLst>
          <pc:docMk/>
          <pc:sldMk cId="0" sldId="274"/>
        </pc:sldMkLst>
        <pc:spChg chg="mod">
          <ac:chgData name="Phan, Tiffany M Capt USAF USAFA AW/DFCS" userId="a0ed988f-3bd3-448a-ab68-f6eca8eadb00" providerId="ADAL" clId="{D74FDB2A-C6F9-423C-9DA7-5C8A44CC196C}" dt="2026-08-12T21:45:29.622" v="103" actId="27636"/>
          <ac:spMkLst>
            <pc:docMk/>
            <pc:sldMk cId="0" sldId="274"/>
            <ac:spMk id="2" creationId="{00000000-0000-0000-0000-000000000000}"/>
          </ac:spMkLst>
        </pc:spChg>
      </pc:sldChg>
      <pc:sldChg chg="modSp mod">
        <pc:chgData name="Phan, Tiffany M Capt USAF USAFA AW/DFCS" userId="a0ed988f-3bd3-448a-ab68-f6eca8eadb00" providerId="ADAL" clId="{D74FDB2A-C6F9-423C-9DA7-5C8A44CC196C}" dt="2026-08-12T21:45:29.668" v="117" actId="27636"/>
        <pc:sldMkLst>
          <pc:docMk/>
          <pc:sldMk cId="0" sldId="275"/>
        </pc:sldMkLst>
        <pc:spChg chg="mod">
          <ac:chgData name="Phan, Tiffany M Capt USAF USAFA AW/DFCS" userId="a0ed988f-3bd3-448a-ab68-f6eca8eadb00" providerId="ADAL" clId="{D74FDB2A-C6F9-423C-9DA7-5C8A44CC196C}" dt="2026-08-12T21:45:29.653" v="104" actId="27636"/>
          <ac:spMkLst>
            <pc:docMk/>
            <pc:sldMk cId="0" sldId="275"/>
            <ac:spMk id="2" creationId="{00000000-0000-0000-0000-000000000000}"/>
          </ac:spMkLst>
        </pc:spChg>
        <pc:spChg chg="mod">
          <ac:chgData name="Phan, Tiffany M Capt USAF USAFA AW/DFCS" userId="a0ed988f-3bd3-448a-ab68-f6eca8eadb00" providerId="ADAL" clId="{D74FDB2A-C6F9-423C-9DA7-5C8A44CC196C}" dt="2026-08-12T21:45:29.668" v="112" actId="27636"/>
          <ac:spMkLst>
            <pc:docMk/>
            <pc:sldMk cId="0" sldId="275"/>
            <ac:spMk id="7" creationId="{00000000-0000-0000-0000-000000000000}"/>
          </ac:spMkLst>
        </pc:spChg>
        <pc:spChg chg="mod">
          <ac:chgData name="Phan, Tiffany M Capt USAF USAFA AW/DFCS" userId="a0ed988f-3bd3-448a-ab68-f6eca8eadb00" providerId="ADAL" clId="{D74FDB2A-C6F9-423C-9DA7-5C8A44CC196C}" dt="2026-08-12T21:45:29.653" v="111" actId="27636"/>
          <ac:spMkLst>
            <pc:docMk/>
            <pc:sldMk cId="0" sldId="275"/>
            <ac:spMk id="8" creationId="{00000000-0000-0000-0000-000000000000}"/>
          </ac:spMkLst>
        </pc:spChg>
        <pc:spChg chg="mod">
          <ac:chgData name="Phan, Tiffany M Capt USAF USAFA AW/DFCS" userId="a0ed988f-3bd3-448a-ab68-f6eca8eadb00" providerId="ADAL" clId="{D74FDB2A-C6F9-423C-9DA7-5C8A44CC196C}" dt="2026-08-12T21:45:29.668" v="113" actId="27636"/>
          <ac:spMkLst>
            <pc:docMk/>
            <pc:sldMk cId="0" sldId="275"/>
            <ac:spMk id="10" creationId="{00000000-0000-0000-0000-000000000000}"/>
          </ac:spMkLst>
        </pc:spChg>
        <pc:spChg chg="mod">
          <ac:chgData name="Phan, Tiffany M Capt USAF USAFA AW/DFCS" userId="a0ed988f-3bd3-448a-ab68-f6eca8eadb00" providerId="ADAL" clId="{D74FDB2A-C6F9-423C-9DA7-5C8A44CC196C}" dt="2026-08-12T21:45:29.668" v="114" actId="27636"/>
          <ac:spMkLst>
            <pc:docMk/>
            <pc:sldMk cId="0" sldId="275"/>
            <ac:spMk id="12" creationId="{00000000-0000-0000-0000-000000000000}"/>
          </ac:spMkLst>
        </pc:spChg>
        <pc:spChg chg="mod">
          <ac:chgData name="Phan, Tiffany M Capt USAF USAFA AW/DFCS" userId="a0ed988f-3bd3-448a-ab68-f6eca8eadb00" providerId="ADAL" clId="{D74FDB2A-C6F9-423C-9DA7-5C8A44CC196C}" dt="2026-08-12T21:45:29.653" v="110" actId="27636"/>
          <ac:spMkLst>
            <pc:docMk/>
            <pc:sldMk cId="0" sldId="275"/>
            <ac:spMk id="13" creationId="{00000000-0000-0000-0000-000000000000}"/>
          </ac:spMkLst>
        </pc:spChg>
        <pc:spChg chg="mod">
          <ac:chgData name="Phan, Tiffany M Capt USAF USAFA AW/DFCS" userId="a0ed988f-3bd3-448a-ab68-f6eca8eadb00" providerId="ADAL" clId="{D74FDB2A-C6F9-423C-9DA7-5C8A44CC196C}" dt="2026-08-12T21:45:29.653" v="108" actId="27636"/>
          <ac:spMkLst>
            <pc:docMk/>
            <pc:sldMk cId="0" sldId="275"/>
            <ac:spMk id="15" creationId="{00000000-0000-0000-0000-000000000000}"/>
          </ac:spMkLst>
        </pc:spChg>
        <pc:spChg chg="mod">
          <ac:chgData name="Phan, Tiffany M Capt USAF USAFA AW/DFCS" userId="a0ed988f-3bd3-448a-ab68-f6eca8eadb00" providerId="ADAL" clId="{D74FDB2A-C6F9-423C-9DA7-5C8A44CC196C}" dt="2026-08-12T21:45:29.653" v="109" actId="27636"/>
          <ac:spMkLst>
            <pc:docMk/>
            <pc:sldMk cId="0" sldId="275"/>
            <ac:spMk id="16" creationId="{00000000-0000-0000-0000-000000000000}"/>
          </ac:spMkLst>
        </pc:spChg>
        <pc:spChg chg="mod">
          <ac:chgData name="Phan, Tiffany M Capt USAF USAFA AW/DFCS" userId="a0ed988f-3bd3-448a-ab68-f6eca8eadb00" providerId="ADAL" clId="{D74FDB2A-C6F9-423C-9DA7-5C8A44CC196C}" dt="2026-08-12T21:45:29.668" v="115" actId="27636"/>
          <ac:spMkLst>
            <pc:docMk/>
            <pc:sldMk cId="0" sldId="275"/>
            <ac:spMk id="18" creationId="{00000000-0000-0000-0000-000000000000}"/>
          </ac:spMkLst>
        </pc:spChg>
        <pc:spChg chg="mod">
          <ac:chgData name="Phan, Tiffany M Capt USAF USAFA AW/DFCS" userId="a0ed988f-3bd3-448a-ab68-f6eca8eadb00" providerId="ADAL" clId="{D74FDB2A-C6F9-423C-9DA7-5C8A44CC196C}" dt="2026-08-12T21:45:29.668" v="116" actId="27636"/>
          <ac:spMkLst>
            <pc:docMk/>
            <pc:sldMk cId="0" sldId="275"/>
            <ac:spMk id="19" creationId="{00000000-0000-0000-0000-000000000000}"/>
          </ac:spMkLst>
        </pc:spChg>
        <pc:spChg chg="mod">
          <ac:chgData name="Phan, Tiffany M Capt USAF USAFA AW/DFCS" userId="a0ed988f-3bd3-448a-ab68-f6eca8eadb00" providerId="ADAL" clId="{D74FDB2A-C6F9-423C-9DA7-5C8A44CC196C}" dt="2026-08-12T21:45:29.653" v="105" actId="27636"/>
          <ac:spMkLst>
            <pc:docMk/>
            <pc:sldMk cId="0" sldId="275"/>
            <ac:spMk id="21" creationId="{00000000-0000-0000-0000-000000000000}"/>
          </ac:spMkLst>
        </pc:spChg>
        <pc:spChg chg="mod">
          <ac:chgData name="Phan, Tiffany M Capt USAF USAFA AW/DFCS" userId="a0ed988f-3bd3-448a-ab68-f6eca8eadb00" providerId="ADAL" clId="{D74FDB2A-C6F9-423C-9DA7-5C8A44CC196C}" dt="2026-08-12T21:45:29.653" v="106" actId="27636"/>
          <ac:spMkLst>
            <pc:docMk/>
            <pc:sldMk cId="0" sldId="275"/>
            <ac:spMk id="22" creationId="{00000000-0000-0000-0000-000000000000}"/>
          </ac:spMkLst>
        </pc:spChg>
        <pc:spChg chg="mod">
          <ac:chgData name="Phan, Tiffany M Capt USAF USAFA AW/DFCS" userId="a0ed988f-3bd3-448a-ab68-f6eca8eadb00" providerId="ADAL" clId="{D74FDB2A-C6F9-423C-9DA7-5C8A44CC196C}" dt="2026-08-12T21:45:29.653" v="107" actId="27636"/>
          <ac:spMkLst>
            <pc:docMk/>
            <pc:sldMk cId="0" sldId="275"/>
            <ac:spMk id="24" creationId="{00000000-0000-0000-0000-000000000000}"/>
          </ac:spMkLst>
        </pc:spChg>
        <pc:spChg chg="mod">
          <ac:chgData name="Phan, Tiffany M Capt USAF USAFA AW/DFCS" userId="a0ed988f-3bd3-448a-ab68-f6eca8eadb00" providerId="ADAL" clId="{D74FDB2A-C6F9-423C-9DA7-5C8A44CC196C}" dt="2026-08-12T21:45:29.668" v="117" actId="27636"/>
          <ac:spMkLst>
            <pc:docMk/>
            <pc:sldMk cId="0" sldId="275"/>
            <ac:spMk id="25" creationId="{00000000-0000-0000-0000-000000000000}"/>
          </ac:spMkLst>
        </pc:spChg>
      </pc:sldChg>
    </pc:docChg>
  </pc:docChgLst>
  <pc:docChgLst>
    <pc:chgData name="Phan, Tiffany M Capt USAF USAFA DF/DFCS" userId="a0ed988f-3bd3-448a-ab68-f6eca8eadb00" providerId="ADAL" clId="{D74FDB2A-C6F9-423C-9DA7-5C8A44CC196C}"/>
    <pc:docChg chg="undo custSel delSld modSld modMainMaster">
      <pc:chgData name="Phan, Tiffany M Capt USAF USAFA DF/DFCS" userId="a0ed988f-3bd3-448a-ab68-f6eca8eadb00" providerId="ADAL" clId="{D74FDB2A-C6F9-423C-9DA7-5C8A44CC196C}" dt="2026-08-04T23:27:41.405" v="28" actId="47"/>
      <pc:docMkLst>
        <pc:docMk/>
      </pc:docMkLst>
      <pc:sldChg chg="addSp delSp modSp mod">
        <pc:chgData name="Phan, Tiffany M Capt USAF USAFA DF/DFCS" userId="a0ed988f-3bd3-448a-ab68-f6eca8eadb00" providerId="ADAL" clId="{D74FDB2A-C6F9-423C-9DA7-5C8A44CC196C}" dt="2026-08-04T22:49:27.582" v="26" actId="20577"/>
        <pc:sldMkLst>
          <pc:docMk/>
          <pc:sldMk cId="0" sldId="256"/>
        </pc:sldMkLst>
        <pc:spChg chg="mod">
          <ac:chgData name="Phan, Tiffany M Capt USAF USAFA DF/DFCS" userId="a0ed988f-3bd3-448a-ab68-f6eca8eadb00" providerId="ADAL" clId="{D74FDB2A-C6F9-423C-9DA7-5C8A44CC196C}" dt="2026-08-04T22:46:39.601" v="21" actId="14100"/>
          <ac:spMkLst>
            <pc:docMk/>
            <pc:sldMk cId="0" sldId="256"/>
            <ac:spMk id="2" creationId="{00000000-0000-0000-0000-000000000000}"/>
          </ac:spMkLst>
        </pc:spChg>
        <pc:spChg chg="mod">
          <ac:chgData name="Phan, Tiffany M Capt USAF USAFA DF/DFCS" userId="a0ed988f-3bd3-448a-ab68-f6eca8eadb00" providerId="ADAL" clId="{D74FDB2A-C6F9-423C-9DA7-5C8A44CC196C}" dt="2026-08-04T22:46:53.300" v="22" actId="207"/>
          <ac:spMkLst>
            <pc:docMk/>
            <pc:sldMk cId="0" sldId="256"/>
            <ac:spMk id="3" creationId="{00000000-0000-0000-0000-000000000000}"/>
          </ac:spMkLst>
        </pc:spChg>
        <pc:spChg chg="mod">
          <ac:chgData name="Phan, Tiffany M Capt USAF USAFA DF/DFCS" userId="a0ed988f-3bd3-448a-ab68-f6eca8eadb00" providerId="ADAL" clId="{D74FDB2A-C6F9-423C-9DA7-5C8A44CC196C}" dt="2026-08-04T22:49:27.582" v="26" actId="20577"/>
          <ac:spMkLst>
            <pc:docMk/>
            <pc:sldMk cId="0" sldId="256"/>
            <ac:spMk id="6" creationId="{00000000-0000-0000-0000-000000000000}"/>
          </ac:spMkLst>
        </pc:spChg>
        <pc:spChg chg="mod">
          <ac:chgData name="Phan, Tiffany M Capt USAF USAFA DF/DFCS" userId="a0ed988f-3bd3-448a-ab68-f6eca8eadb00" providerId="ADAL" clId="{D74FDB2A-C6F9-423C-9DA7-5C8A44CC196C}" dt="2026-08-04T22:49:17.724" v="24" actId="27636"/>
          <ac:spMkLst>
            <pc:docMk/>
            <pc:sldMk cId="0" sldId="256"/>
            <ac:spMk id="19" creationId="{00000000-0000-0000-0000-000000000000}"/>
          </ac:spMkLst>
        </pc:spChg>
        <pc:picChg chg="add">
          <ac:chgData name="Phan, Tiffany M Capt USAF USAFA DF/DFCS" userId="a0ed988f-3bd3-448a-ab68-f6eca8eadb00" providerId="ADAL" clId="{D74FDB2A-C6F9-423C-9DA7-5C8A44CC196C}" dt="2026-08-04T22:45:32.951" v="0" actId="22"/>
          <ac:picMkLst>
            <pc:docMk/>
            <pc:sldMk cId="0" sldId="256"/>
            <ac:picMk id="22" creationId="{1E96D11D-0C2B-8485-0479-FA4145A37A73}"/>
          </ac:picMkLst>
        </pc:picChg>
      </pc:sldChg>
      <pc:sldChg chg="addSp delSp modSp mod">
        <pc:chgData name="Phan, Tiffany M Capt USAF USAFA DF/DFCS" userId="a0ed988f-3bd3-448a-ab68-f6eca8eadb00" providerId="ADAL" clId="{D74FDB2A-C6F9-423C-9DA7-5C8A44CC196C}" dt="2026-08-04T22:46:11.441" v="17" actId="22"/>
        <pc:sldMkLst>
          <pc:docMk/>
          <pc:sldMk cId="0" sldId="257"/>
        </pc:sldMkLst>
      </pc:sldChg>
      <pc:sldChg chg="addSp delSp mod">
        <pc:chgData name="Phan, Tiffany M Capt USAF USAFA DF/DFCS" userId="a0ed988f-3bd3-448a-ab68-f6eca8eadb00" providerId="ADAL" clId="{D74FDB2A-C6F9-423C-9DA7-5C8A44CC196C}" dt="2026-08-04T22:50:37.829" v="27" actId="478"/>
        <pc:sldMkLst>
          <pc:docMk/>
          <pc:sldMk cId="0" sldId="258"/>
        </pc:sldMkLst>
      </pc:sldChg>
      <pc:sldChg chg="addSp delSp mod">
        <pc:chgData name="Phan, Tiffany M Capt USAF USAFA DF/DFCS" userId="a0ed988f-3bd3-448a-ab68-f6eca8eadb00" providerId="ADAL" clId="{D74FDB2A-C6F9-423C-9DA7-5C8A44CC196C}" dt="2026-08-04T22:46:09.512" v="14" actId="22"/>
        <pc:sldMkLst>
          <pc:docMk/>
          <pc:sldMk cId="0" sldId="259"/>
        </pc:sldMkLst>
      </pc:sldChg>
      <pc:sldChg chg="addSp delSp mod">
        <pc:chgData name="Phan, Tiffany M Capt USAF USAFA DF/DFCS" userId="a0ed988f-3bd3-448a-ab68-f6eca8eadb00" providerId="ADAL" clId="{D74FDB2A-C6F9-423C-9DA7-5C8A44CC196C}" dt="2026-08-04T22:46:09.351" v="13" actId="22"/>
        <pc:sldMkLst>
          <pc:docMk/>
          <pc:sldMk cId="0" sldId="260"/>
        </pc:sldMkLst>
      </pc:sldChg>
      <pc:sldChg chg="addSp delSp mod">
        <pc:chgData name="Phan, Tiffany M Capt USAF USAFA DF/DFCS" userId="a0ed988f-3bd3-448a-ab68-f6eca8eadb00" providerId="ADAL" clId="{D74FDB2A-C6F9-423C-9DA7-5C8A44CC196C}" dt="2026-08-04T22:46:09.034" v="12" actId="22"/>
        <pc:sldMkLst>
          <pc:docMk/>
          <pc:sldMk cId="0" sldId="261"/>
        </pc:sldMkLst>
      </pc:sldChg>
      <pc:sldMasterChg chg="addSp mod">
        <pc:chgData name="Phan, Tiffany M Capt USAF USAFA DF/DFCS" userId="a0ed988f-3bd3-448a-ab68-f6eca8eadb00" providerId="ADAL" clId="{D74FDB2A-C6F9-423C-9DA7-5C8A44CC196C}" dt="2026-08-04T22:46:26.192" v="19" actId="22"/>
        <pc:sldMasterMkLst>
          <pc:docMk/>
          <pc:sldMasterMk cId="0" sldId="2147483648"/>
        </pc:sldMasterMkLst>
        <pc:spChg chg="add">
          <ac:chgData name="Phan, Tiffany M Capt USAF USAFA DF/DFCS" userId="a0ed988f-3bd3-448a-ab68-f6eca8eadb00" providerId="ADAL" clId="{D74FDB2A-C6F9-423C-9DA7-5C8A44CC196C}" dt="2026-08-04T22:46:26.192" v="19" actId="22"/>
          <ac:spMkLst>
            <pc:docMk/>
            <pc:sldMasterMk cId="0" sldId="2147483648"/>
            <ac:spMk id="3" creationId="{45B5700A-8796-2161-80E6-4D2DA4DAB85C}"/>
          </ac:spMkLst>
        </pc:spChg>
        <pc:spChg chg="add">
          <ac:chgData name="Phan, Tiffany M Capt USAF USAFA DF/DFCS" userId="a0ed988f-3bd3-448a-ab68-f6eca8eadb00" providerId="ADAL" clId="{D74FDB2A-C6F9-423C-9DA7-5C8A44CC196C}" dt="2026-08-04T22:46:26.192" v="19" actId="22"/>
          <ac:spMkLst>
            <pc:docMk/>
            <pc:sldMasterMk cId="0" sldId="2147483648"/>
            <ac:spMk id="5" creationId="{D4EAE993-5CED-0F7D-8762-FABA9ECE3793}"/>
          </ac:spMkLst>
        </pc:sp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332748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by connecting Lessons 1–3 to search. Emphasize that we are moving from evaluating AI outputs to building classical AI problem representations. The key message is that formulation precedes algorithm choice.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to recall the Lesson 2 pipeline and Lesson 3 input-sensitivity workshop. Guide answers toward missing constraints, wrong goals, irrelevant features, and ambiguous objective definitions.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 directly to syllabus objectives. Explain that this lesson supports HW1, Quiz 1, and GR1, but the examples today are intentionally different from assessment scenarios.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as the running scenario. Ask students to list decision-relevant information before formalizing states. Avoid immediately giving the full answer; let them name location, samples, battery, hazards, and return status.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the conceptual bridge into the rest of Module 1. Later lessons teach search execution; today is about what the search algorithm receives.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Define the four core components and mention initial state as the starting instance. Keep the language reusable so students can apply it to any domain.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Stress that states are not arbitrary data dumps. They should include enough information to decide what actions are legal and whether the mission is complete, but not irrelevant detail.</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often assume more information is always better. Use this slide to establish the search cost of irrelevant dimensions.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actions and state transitions without executing a full search algorithm yet. Students should see that actions depend on the current state.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three examples to help students recognize incomplete or misleading goals. The correct goal usually combines multiple state features.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prepares students for later search algorithms, especially UCS and A*. Tie path cost to g(n) later but do not teach g/h/f in detail yet.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should be able to copy this structure for new problems. Emphasize that answers may vary as long as they support legal action selection, goal recognition, and cost calculation.</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small numbers so the combinatorics are visible. This prepares students for Quiz 1-style representation comparison and HW1-style tradeoff discussion.</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big conceptual takeaway. Use the test sentence repeatedly during student practice.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as a quick group task. Expected issues: no inspected-support status, no battery, no restricted-zone information, incomplete goal, cost not aligned with energy/risk.</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pairs about five minutes. This mirrors the open-response skill needed for GR1 without reusing the assessment context. Ask them to write compact, defensible answers.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one or two pairs share. Use these questions to guide class critique. Emphasize that formulation is iterative and evidence-based.</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to reconstruct the four components aloud. Reinforce the central lesson claim.</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Collect as an exit ticket or use as next-class retrieval. This checks construction and representation tradeoff skills.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Shape 1">
            <a:extLst>
              <a:ext uri="{FF2B5EF4-FFF2-40B4-BE49-F238E27FC236}">
                <a16:creationId xmlns:a16="http://schemas.microsoft.com/office/drawing/2014/main" id="{45B5700A-8796-2161-80E6-4D2DA4DAB85C}"/>
              </a:ext>
            </a:extLst>
          </p:cNvPr>
          <p:cNvSpPr/>
          <p:nvPr userDrawn="1"/>
        </p:nvSpPr>
        <p:spPr>
          <a:xfrm>
            <a:off x="0" y="0"/>
            <a:ext cx="12191695" cy="164592"/>
          </a:xfrm>
          <a:prstGeom prst="rect">
            <a:avLst/>
          </a:prstGeom>
          <a:solidFill>
            <a:srgbClr val="062B49"/>
          </a:solidFill>
          <a:ln w="12700">
            <a:solidFill>
              <a:srgbClr val="062B49">
                <a:alpha val="0"/>
              </a:srgbClr>
            </a:solidFill>
            <a:prstDash val="solid"/>
          </a:ln>
        </p:spPr>
        <p:txBody>
          <a:bodyPr/>
          <a:lstStyle/>
          <a:p>
            <a:endParaRPr lang="en-US"/>
          </a:p>
        </p:txBody>
      </p:sp>
      <p:sp>
        <p:nvSpPr>
          <p:cNvPr id="5" name="Shape 2">
            <a:extLst>
              <a:ext uri="{FF2B5EF4-FFF2-40B4-BE49-F238E27FC236}">
                <a16:creationId xmlns:a16="http://schemas.microsoft.com/office/drawing/2014/main" id="{D4EAE993-5CED-0F7D-8762-FABA9ECE3793}"/>
              </a:ext>
            </a:extLst>
          </p:cNvPr>
          <p:cNvSpPr/>
          <p:nvPr userDrawn="1"/>
        </p:nvSpPr>
        <p:spPr>
          <a:xfrm>
            <a:off x="0" y="164592"/>
            <a:ext cx="12191695" cy="32004"/>
          </a:xfrm>
          <a:prstGeom prst="rect">
            <a:avLst/>
          </a:prstGeom>
          <a:solidFill>
            <a:srgbClr val="FDB515"/>
          </a:solidFill>
          <a:ln w="12700">
            <a:solidFill>
              <a:srgbClr val="FDB515">
                <a:alpha val="0"/>
              </a:srgbClr>
            </a:solidFill>
            <a:prstDash val="solid"/>
          </a:ln>
        </p:spPr>
        <p:txBody>
          <a:bodyPr/>
          <a:lstStyle/>
          <a:p>
            <a:endParaRPr lang="en-US"/>
          </a:p>
        </p:txBody>
      </p:sp>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202020"/>
            <a:ext cx="12191695" cy="6655980"/>
          </a:xfrm>
          <a:prstGeom prst="rect">
            <a:avLst/>
          </a:prstGeom>
          <a:solidFill>
            <a:srgbClr val="F4F8FC"/>
          </a:solidFill>
          <a:ln w="12700">
            <a:solidFill>
              <a:srgbClr val="333333">
                <a:alpha val="0"/>
              </a:srgbClr>
            </a:solidFill>
            <a:prstDash val="solid"/>
          </a:ln>
        </p:spPr>
        <p:txBody>
          <a:bodyPr/>
          <a:lstStyle/>
          <a:p>
            <a:endParaRPr lang="en-US"/>
          </a:p>
        </p:txBody>
      </p:sp>
      <p:sp>
        <p:nvSpPr>
          <p:cNvPr id="3" name="Text 1"/>
          <p:cNvSpPr/>
          <p:nvPr/>
        </p:nvSpPr>
        <p:spPr>
          <a:xfrm>
            <a:off x="731520" y="685800"/>
            <a:ext cx="2926080" cy="320040"/>
          </a:xfrm>
          <a:prstGeom prst="rect">
            <a:avLst/>
          </a:prstGeom>
          <a:noFill/>
          <a:ln/>
        </p:spPr>
        <p:txBody>
          <a:bodyPr wrap="square" lIns="0" tIns="0" rIns="0" bIns="0" rtlCol="0" anchor="ctr">
            <a:normAutofit/>
          </a:bodyPr>
          <a:lstStyle/>
          <a:p>
            <a:pPr marL="0" indent="0">
              <a:buNone/>
            </a:pPr>
            <a:r>
              <a:rPr lang="en-US" sz="1800" b="1" dirty="0">
                <a:solidFill>
                  <a:schemeClr val="accent4"/>
                </a:solidFill>
                <a:latin typeface="Aptos Display" pitchFamily="34" charset="0"/>
                <a:ea typeface="Aptos Display" pitchFamily="34" charset="-122"/>
                <a:cs typeface="Aptos Display" pitchFamily="34" charset="-120"/>
              </a:rPr>
              <a:t>CompSci 471</a:t>
            </a:r>
            <a:endParaRPr lang="en-US" sz="1800" dirty="0">
              <a:solidFill>
                <a:schemeClr val="accent4"/>
              </a:solidFill>
            </a:endParaRPr>
          </a:p>
        </p:txBody>
      </p:sp>
      <p:sp>
        <p:nvSpPr>
          <p:cNvPr id="4" name="Text 2"/>
          <p:cNvSpPr/>
          <p:nvPr/>
        </p:nvSpPr>
        <p:spPr>
          <a:xfrm>
            <a:off x="713232" y="1124712"/>
            <a:ext cx="6217920" cy="685800"/>
          </a:xfrm>
          <a:prstGeom prst="rect">
            <a:avLst/>
          </a:prstGeom>
          <a:noFill/>
          <a:ln/>
        </p:spPr>
        <p:txBody>
          <a:bodyPr wrap="square" lIns="0" tIns="0" rIns="0" bIns="0" rtlCol="0" anchor="ctr">
            <a:normAutofit lnSpcReduction="10000"/>
          </a:bodyPr>
          <a:lstStyle/>
          <a:p>
            <a:pPr marL="0" indent="0">
              <a:buNone/>
            </a:pPr>
            <a:r>
              <a:rPr lang="en-US" sz="4600" b="1" dirty="0">
                <a:solidFill>
                  <a:srgbClr val="0B2D55"/>
                </a:solidFill>
                <a:latin typeface="Aptos Display" pitchFamily="34" charset="0"/>
                <a:ea typeface="Aptos Display" pitchFamily="34" charset="-122"/>
                <a:cs typeface="Aptos Display" pitchFamily="34" charset="-120"/>
              </a:rPr>
              <a:t>Artificial Intelligence</a:t>
            </a:r>
            <a:endParaRPr lang="en-US" sz="4600" dirty="0"/>
          </a:p>
        </p:txBody>
      </p:sp>
      <p:sp>
        <p:nvSpPr>
          <p:cNvPr id="5" name="Text 3"/>
          <p:cNvSpPr/>
          <p:nvPr/>
        </p:nvSpPr>
        <p:spPr>
          <a:xfrm>
            <a:off x="749808" y="1874520"/>
            <a:ext cx="5943600" cy="384048"/>
          </a:xfrm>
          <a:prstGeom prst="rect">
            <a:avLst/>
          </a:prstGeom>
          <a:noFill/>
          <a:ln/>
        </p:spPr>
        <p:txBody>
          <a:bodyPr wrap="square" lIns="0" tIns="0" rIns="0" bIns="0" rtlCol="0" anchor="ctr">
            <a:normAutofit/>
          </a:bodyPr>
          <a:lstStyle/>
          <a:p>
            <a:pPr marL="0" indent="0">
              <a:buNone/>
            </a:pPr>
            <a:r>
              <a:rPr lang="en-US" sz="2100" b="1" dirty="0">
                <a:solidFill>
                  <a:srgbClr val="1D5FA7"/>
                </a:solidFill>
                <a:latin typeface="Aptos" pitchFamily="34" charset="0"/>
                <a:ea typeface="Aptos" pitchFamily="34" charset="-122"/>
                <a:cs typeface="Aptos" pitchFamily="34" charset="-120"/>
              </a:rPr>
              <a:t>Lesson 4: Problem Formulation</a:t>
            </a:r>
            <a:endParaRPr lang="en-US" sz="2100" dirty="0"/>
          </a:p>
        </p:txBody>
      </p:sp>
      <p:sp>
        <p:nvSpPr>
          <p:cNvPr id="6" name="Text 4"/>
          <p:cNvSpPr/>
          <p:nvPr/>
        </p:nvSpPr>
        <p:spPr>
          <a:xfrm>
            <a:off x="749808" y="2505456"/>
            <a:ext cx="5440680" cy="987552"/>
          </a:xfrm>
          <a:prstGeom prst="rect">
            <a:avLst/>
          </a:prstGeom>
          <a:noFill/>
          <a:ln/>
        </p:spPr>
        <p:txBody>
          <a:bodyPr wrap="square" lIns="0" tIns="0" rIns="0" bIns="0" rtlCol="0" anchor="ctr">
            <a:normAutofit/>
          </a:bodyPr>
          <a:lstStyle/>
          <a:p>
            <a:pPr marL="0" indent="0">
              <a:buNone/>
            </a:pPr>
            <a:r>
              <a:rPr lang="en-US" sz="2000" b="1" dirty="0">
                <a:solidFill>
                  <a:srgbClr val="132033"/>
                </a:solidFill>
                <a:latin typeface="Aptos" pitchFamily="34" charset="0"/>
                <a:ea typeface="Aptos" pitchFamily="34" charset="-122"/>
                <a:cs typeface="Aptos" pitchFamily="34" charset="-120"/>
              </a:rPr>
              <a:t>Turning real missions</a:t>
            </a:r>
            <a:r>
              <a:rPr lang="en-US" sz="2000" dirty="0"/>
              <a:t> </a:t>
            </a:r>
            <a:r>
              <a:rPr lang="en-US" sz="2000" b="1" dirty="0">
                <a:solidFill>
                  <a:srgbClr val="132033"/>
                </a:solidFill>
                <a:latin typeface="Aptos" pitchFamily="34" charset="0"/>
                <a:ea typeface="Aptos" pitchFamily="34" charset="-122"/>
                <a:cs typeface="Aptos" pitchFamily="34" charset="-120"/>
              </a:rPr>
              <a:t>→ searchable models</a:t>
            </a:r>
            <a:endParaRPr lang="en-US" sz="2000" dirty="0"/>
          </a:p>
        </p:txBody>
      </p:sp>
      <p:sp>
        <p:nvSpPr>
          <p:cNvPr id="7" name="Shape 5"/>
          <p:cNvSpPr/>
          <p:nvPr/>
        </p:nvSpPr>
        <p:spPr>
          <a:xfrm>
            <a:off x="1042416" y="4041648"/>
            <a:ext cx="1143000" cy="0"/>
          </a:xfrm>
          <a:prstGeom prst="line">
            <a:avLst/>
          </a:prstGeom>
          <a:noFill/>
          <a:ln w="38100">
            <a:solidFill>
              <a:srgbClr val="F2C14E"/>
            </a:solidFill>
            <a:prstDash val="solid"/>
          </a:ln>
        </p:spPr>
        <p:txBody>
          <a:bodyPr/>
          <a:lstStyle/>
          <a:p>
            <a:endParaRPr lang="en-US"/>
          </a:p>
        </p:txBody>
      </p:sp>
      <p:sp>
        <p:nvSpPr>
          <p:cNvPr id="8" name="Text 6"/>
          <p:cNvSpPr/>
          <p:nvPr/>
        </p:nvSpPr>
        <p:spPr>
          <a:xfrm>
            <a:off x="768096" y="4270248"/>
            <a:ext cx="1371600" cy="201168"/>
          </a:xfrm>
          <a:prstGeom prst="rect">
            <a:avLst/>
          </a:prstGeom>
          <a:noFill/>
          <a:ln/>
        </p:spPr>
        <p:txBody>
          <a:bodyPr wrap="square" lIns="0" tIns="0" rIns="0" bIns="0" rtlCol="0" anchor="ctr">
            <a:normAutofit lnSpcReduction="10000"/>
          </a:bodyPr>
          <a:lstStyle/>
          <a:p>
            <a:pPr marL="0" indent="0" algn="ctr">
              <a:buNone/>
            </a:pPr>
            <a:r>
              <a:rPr lang="en-US" sz="1450" b="1" dirty="0">
                <a:solidFill>
                  <a:srgbClr val="0B2D55"/>
                </a:solidFill>
                <a:latin typeface="Aptos" pitchFamily="34" charset="0"/>
                <a:ea typeface="Aptos" pitchFamily="34" charset="-122"/>
                <a:cs typeface="Aptos" pitchFamily="34" charset="-120"/>
              </a:rPr>
              <a:t>World</a:t>
            </a:r>
            <a:endParaRPr lang="en-US" sz="1450" dirty="0"/>
          </a:p>
        </p:txBody>
      </p:sp>
      <p:sp>
        <p:nvSpPr>
          <p:cNvPr id="9" name="Shape 7"/>
          <p:cNvSpPr/>
          <p:nvPr/>
        </p:nvSpPr>
        <p:spPr>
          <a:xfrm>
            <a:off x="2871216" y="4041648"/>
            <a:ext cx="1143000" cy="0"/>
          </a:xfrm>
          <a:prstGeom prst="line">
            <a:avLst/>
          </a:prstGeom>
          <a:noFill/>
          <a:ln w="38100">
            <a:solidFill>
              <a:srgbClr val="F2C14E"/>
            </a:solidFill>
            <a:prstDash val="solid"/>
          </a:ln>
        </p:spPr>
        <p:txBody>
          <a:bodyPr/>
          <a:lstStyle/>
          <a:p>
            <a:endParaRPr lang="en-US"/>
          </a:p>
        </p:txBody>
      </p:sp>
      <p:sp>
        <p:nvSpPr>
          <p:cNvPr id="10" name="Text 8"/>
          <p:cNvSpPr/>
          <p:nvPr/>
        </p:nvSpPr>
        <p:spPr>
          <a:xfrm>
            <a:off x="2596896" y="4270248"/>
            <a:ext cx="1371600" cy="201168"/>
          </a:xfrm>
          <a:prstGeom prst="rect">
            <a:avLst/>
          </a:prstGeom>
          <a:noFill/>
          <a:ln/>
        </p:spPr>
        <p:txBody>
          <a:bodyPr wrap="square" lIns="0" tIns="0" rIns="0" bIns="0" rtlCol="0" anchor="ctr">
            <a:normAutofit lnSpcReduction="10000"/>
          </a:bodyPr>
          <a:lstStyle/>
          <a:p>
            <a:pPr marL="0" indent="0" algn="ctr">
              <a:buNone/>
            </a:pPr>
            <a:r>
              <a:rPr lang="en-US" sz="1450" b="1" dirty="0">
                <a:solidFill>
                  <a:srgbClr val="0B2D55"/>
                </a:solidFill>
                <a:latin typeface="Aptos" pitchFamily="34" charset="0"/>
                <a:ea typeface="Aptos" pitchFamily="34" charset="-122"/>
                <a:cs typeface="Aptos" pitchFamily="34" charset="-120"/>
              </a:rPr>
              <a:t>State</a:t>
            </a:r>
            <a:endParaRPr lang="en-US" sz="1450" dirty="0"/>
          </a:p>
        </p:txBody>
      </p:sp>
      <p:sp>
        <p:nvSpPr>
          <p:cNvPr id="11" name="Shape 9"/>
          <p:cNvSpPr/>
          <p:nvPr/>
        </p:nvSpPr>
        <p:spPr>
          <a:xfrm>
            <a:off x="4700016" y="4041648"/>
            <a:ext cx="1143000" cy="0"/>
          </a:xfrm>
          <a:prstGeom prst="line">
            <a:avLst/>
          </a:prstGeom>
          <a:noFill/>
          <a:ln w="38100">
            <a:solidFill>
              <a:srgbClr val="F2C14E"/>
            </a:solidFill>
            <a:prstDash val="solid"/>
          </a:ln>
        </p:spPr>
        <p:txBody>
          <a:bodyPr/>
          <a:lstStyle/>
          <a:p>
            <a:endParaRPr lang="en-US"/>
          </a:p>
        </p:txBody>
      </p:sp>
      <p:sp>
        <p:nvSpPr>
          <p:cNvPr id="12" name="Text 10"/>
          <p:cNvSpPr/>
          <p:nvPr/>
        </p:nvSpPr>
        <p:spPr>
          <a:xfrm>
            <a:off x="4425696" y="4270248"/>
            <a:ext cx="1371600" cy="201168"/>
          </a:xfrm>
          <a:prstGeom prst="rect">
            <a:avLst/>
          </a:prstGeom>
          <a:noFill/>
          <a:ln/>
        </p:spPr>
        <p:txBody>
          <a:bodyPr wrap="square" lIns="0" tIns="0" rIns="0" bIns="0" rtlCol="0" anchor="ctr">
            <a:normAutofit lnSpcReduction="10000"/>
          </a:bodyPr>
          <a:lstStyle/>
          <a:p>
            <a:pPr marL="0" indent="0" algn="ctr">
              <a:buNone/>
            </a:pPr>
            <a:r>
              <a:rPr lang="en-US" sz="1450" b="1" dirty="0">
                <a:solidFill>
                  <a:srgbClr val="0B2D55"/>
                </a:solidFill>
                <a:latin typeface="Aptos" pitchFamily="34" charset="0"/>
                <a:ea typeface="Aptos" pitchFamily="34" charset="-122"/>
                <a:cs typeface="Aptos" pitchFamily="34" charset="-120"/>
              </a:rPr>
              <a:t>Actions</a:t>
            </a:r>
            <a:endParaRPr lang="en-US" sz="1450" dirty="0"/>
          </a:p>
        </p:txBody>
      </p:sp>
      <p:sp>
        <p:nvSpPr>
          <p:cNvPr id="13" name="Shape 11"/>
          <p:cNvSpPr/>
          <p:nvPr/>
        </p:nvSpPr>
        <p:spPr>
          <a:xfrm>
            <a:off x="6528816" y="4041648"/>
            <a:ext cx="1143000" cy="0"/>
          </a:xfrm>
          <a:prstGeom prst="line">
            <a:avLst/>
          </a:prstGeom>
          <a:noFill/>
          <a:ln w="38100">
            <a:solidFill>
              <a:srgbClr val="F2C14E"/>
            </a:solidFill>
            <a:prstDash val="solid"/>
          </a:ln>
        </p:spPr>
        <p:txBody>
          <a:bodyPr/>
          <a:lstStyle/>
          <a:p>
            <a:endParaRPr lang="en-US"/>
          </a:p>
        </p:txBody>
      </p:sp>
      <p:sp>
        <p:nvSpPr>
          <p:cNvPr id="14" name="Text 12"/>
          <p:cNvSpPr/>
          <p:nvPr/>
        </p:nvSpPr>
        <p:spPr>
          <a:xfrm>
            <a:off x="6254496" y="4270248"/>
            <a:ext cx="1371600" cy="201168"/>
          </a:xfrm>
          <a:prstGeom prst="rect">
            <a:avLst/>
          </a:prstGeom>
          <a:noFill/>
          <a:ln/>
        </p:spPr>
        <p:txBody>
          <a:bodyPr wrap="square" lIns="0" tIns="0" rIns="0" bIns="0" rtlCol="0" anchor="ctr">
            <a:normAutofit lnSpcReduction="10000"/>
          </a:bodyPr>
          <a:lstStyle/>
          <a:p>
            <a:pPr marL="0" indent="0" algn="ctr">
              <a:buNone/>
            </a:pPr>
            <a:r>
              <a:rPr lang="en-US" sz="1450" b="1" dirty="0">
                <a:solidFill>
                  <a:srgbClr val="0B2D55"/>
                </a:solidFill>
                <a:latin typeface="Aptos" pitchFamily="34" charset="0"/>
                <a:ea typeface="Aptos" pitchFamily="34" charset="-122"/>
                <a:cs typeface="Aptos" pitchFamily="34" charset="-120"/>
              </a:rPr>
              <a:t>Goal</a:t>
            </a:r>
            <a:endParaRPr lang="en-US" sz="1450" dirty="0"/>
          </a:p>
        </p:txBody>
      </p:sp>
      <p:sp>
        <p:nvSpPr>
          <p:cNvPr id="15" name="Shape 13"/>
          <p:cNvSpPr/>
          <p:nvPr/>
        </p:nvSpPr>
        <p:spPr>
          <a:xfrm>
            <a:off x="8357616" y="4041648"/>
            <a:ext cx="1143000" cy="0"/>
          </a:xfrm>
          <a:prstGeom prst="line">
            <a:avLst/>
          </a:prstGeom>
          <a:noFill/>
          <a:ln w="38100">
            <a:solidFill>
              <a:srgbClr val="F2C14E"/>
            </a:solidFill>
            <a:prstDash val="solid"/>
          </a:ln>
        </p:spPr>
        <p:txBody>
          <a:bodyPr/>
          <a:lstStyle/>
          <a:p>
            <a:endParaRPr lang="en-US"/>
          </a:p>
        </p:txBody>
      </p:sp>
      <p:sp>
        <p:nvSpPr>
          <p:cNvPr id="16" name="Text 14"/>
          <p:cNvSpPr/>
          <p:nvPr/>
        </p:nvSpPr>
        <p:spPr>
          <a:xfrm>
            <a:off x="8083296" y="4270248"/>
            <a:ext cx="1371600" cy="201168"/>
          </a:xfrm>
          <a:prstGeom prst="rect">
            <a:avLst/>
          </a:prstGeom>
          <a:noFill/>
          <a:ln/>
        </p:spPr>
        <p:txBody>
          <a:bodyPr wrap="square" lIns="0" tIns="0" rIns="0" bIns="0" rtlCol="0" anchor="ctr">
            <a:normAutofit lnSpcReduction="10000"/>
          </a:bodyPr>
          <a:lstStyle/>
          <a:p>
            <a:pPr marL="0" indent="0" algn="ctr">
              <a:buNone/>
            </a:pPr>
            <a:r>
              <a:rPr lang="en-US" sz="1450" b="1" dirty="0">
                <a:solidFill>
                  <a:srgbClr val="0B2D55"/>
                </a:solidFill>
                <a:latin typeface="Aptos" pitchFamily="34" charset="0"/>
                <a:ea typeface="Aptos" pitchFamily="34" charset="-122"/>
                <a:cs typeface="Aptos" pitchFamily="34" charset="-120"/>
              </a:rPr>
              <a:t>Cost</a:t>
            </a:r>
            <a:endParaRPr lang="en-US" sz="1450" dirty="0"/>
          </a:p>
        </p:txBody>
      </p:sp>
      <p:sp>
        <p:nvSpPr>
          <p:cNvPr id="17" name="Shape 15"/>
          <p:cNvSpPr/>
          <p:nvPr/>
        </p:nvSpPr>
        <p:spPr>
          <a:xfrm>
            <a:off x="10186416" y="4041648"/>
            <a:ext cx="1143000" cy="0"/>
          </a:xfrm>
          <a:prstGeom prst="line">
            <a:avLst/>
          </a:prstGeom>
          <a:noFill/>
          <a:ln w="38100">
            <a:solidFill>
              <a:srgbClr val="F2C14E"/>
            </a:solidFill>
            <a:prstDash val="solid"/>
          </a:ln>
        </p:spPr>
        <p:txBody>
          <a:bodyPr/>
          <a:lstStyle/>
          <a:p>
            <a:endParaRPr lang="en-US"/>
          </a:p>
        </p:txBody>
      </p:sp>
      <p:sp>
        <p:nvSpPr>
          <p:cNvPr id="18" name="Text 16"/>
          <p:cNvSpPr/>
          <p:nvPr/>
        </p:nvSpPr>
        <p:spPr>
          <a:xfrm>
            <a:off x="9912096" y="4270248"/>
            <a:ext cx="1371600" cy="201168"/>
          </a:xfrm>
          <a:prstGeom prst="rect">
            <a:avLst/>
          </a:prstGeom>
          <a:noFill/>
          <a:ln/>
        </p:spPr>
        <p:txBody>
          <a:bodyPr wrap="square" lIns="0" tIns="0" rIns="0" bIns="0" rtlCol="0" anchor="ctr">
            <a:normAutofit lnSpcReduction="10000"/>
          </a:bodyPr>
          <a:lstStyle/>
          <a:p>
            <a:pPr marL="0" indent="0" algn="ctr">
              <a:buNone/>
            </a:pPr>
            <a:r>
              <a:rPr lang="en-US" sz="1450" b="1" dirty="0">
                <a:solidFill>
                  <a:srgbClr val="0B2D55"/>
                </a:solidFill>
                <a:latin typeface="Aptos" pitchFamily="34" charset="0"/>
                <a:ea typeface="Aptos" pitchFamily="34" charset="-122"/>
                <a:cs typeface="Aptos" pitchFamily="34" charset="-120"/>
              </a:rPr>
              <a:t>Search</a:t>
            </a:r>
            <a:endParaRPr lang="en-US" sz="1450" dirty="0"/>
          </a:p>
        </p:txBody>
      </p:sp>
      <p:sp>
        <p:nvSpPr>
          <p:cNvPr id="19" name="Text 17"/>
          <p:cNvSpPr/>
          <p:nvPr/>
        </p:nvSpPr>
        <p:spPr>
          <a:xfrm>
            <a:off x="7360920" y="1508760"/>
            <a:ext cx="3931920" cy="1417320"/>
          </a:xfrm>
          <a:prstGeom prst="rect">
            <a:avLst/>
          </a:prstGeom>
          <a:noFill/>
          <a:ln/>
        </p:spPr>
        <p:txBody>
          <a:bodyPr wrap="square" lIns="0" tIns="0" rIns="0" bIns="0" rtlCol="0" anchor="ctr">
            <a:normAutofit fontScale="77500" lnSpcReduction="20000"/>
          </a:bodyPr>
          <a:lstStyle/>
          <a:p>
            <a:pPr marL="0" indent="0">
              <a:buNone/>
            </a:pPr>
            <a:r>
              <a:rPr lang="en-US" sz="3000" b="1" dirty="0">
                <a:solidFill>
                  <a:srgbClr val="0B2D55"/>
                </a:solidFill>
                <a:latin typeface="Aptos" pitchFamily="34" charset="0"/>
                <a:ea typeface="Aptos" pitchFamily="34" charset="-122"/>
                <a:cs typeface="Aptos" pitchFamily="34" charset="-120"/>
              </a:rPr>
              <a:t>A search algorithm solves the problem you represented</a:t>
            </a:r>
            <a:br>
              <a:rPr lang="en-US" sz="3000" b="1" dirty="0">
                <a:solidFill>
                  <a:srgbClr val="0B2D55"/>
                </a:solidFill>
                <a:latin typeface="Aptos" pitchFamily="34" charset="0"/>
                <a:ea typeface="Aptos" pitchFamily="34" charset="-122"/>
                <a:cs typeface="Aptos" pitchFamily="34" charset="-120"/>
              </a:rPr>
            </a:br>
            <a:r>
              <a:rPr lang="en-US" sz="3000" b="1" dirty="0">
                <a:solidFill>
                  <a:srgbClr val="0B2D55"/>
                </a:solidFill>
                <a:latin typeface="Aptos" pitchFamily="34" charset="0"/>
                <a:ea typeface="Aptos" pitchFamily="34" charset="-122"/>
                <a:cs typeface="Aptos" pitchFamily="34" charset="-120"/>
              </a:rPr>
              <a:t>—not necessarily the problem you intended.</a:t>
            </a:r>
            <a:endParaRPr lang="en-US" sz="3000" dirty="0"/>
          </a:p>
        </p:txBody>
      </p:sp>
      <p:sp>
        <p:nvSpPr>
          <p:cNvPr id="20" name="Text 18"/>
          <p:cNvSpPr/>
          <p:nvPr/>
        </p:nvSpPr>
        <p:spPr>
          <a:xfrm>
            <a:off x="749808" y="6236208"/>
            <a:ext cx="1645920" cy="228600"/>
          </a:xfrm>
          <a:prstGeom prst="rect">
            <a:avLst/>
          </a:prstGeom>
          <a:noFill/>
          <a:ln/>
        </p:spPr>
        <p:txBody>
          <a:bodyPr wrap="square" lIns="0" tIns="0" rIns="0" bIns="0" rtlCol="0" anchor="ctr">
            <a:normAutofit/>
          </a:bodyPr>
          <a:lstStyle/>
          <a:p>
            <a:pPr marL="0" indent="0">
              <a:buNone/>
            </a:pPr>
            <a:r>
              <a:rPr lang="en-US" sz="1100" dirty="0">
                <a:solidFill>
                  <a:srgbClr val="6D7C8F"/>
                </a:solidFill>
                <a:latin typeface="Aptos" pitchFamily="34" charset="0"/>
                <a:ea typeface="Aptos" pitchFamily="34" charset="-122"/>
                <a:cs typeface="Aptos" pitchFamily="34" charset="-120"/>
              </a:rPr>
              <a:t>Fall 2026</a:t>
            </a:r>
            <a:endParaRPr lang="en-US" sz="1100" dirty="0"/>
          </a:p>
        </p:txBody>
      </p:sp>
      <p:pic>
        <p:nvPicPr>
          <p:cNvPr id="22" name="Picture 21">
            <a:extLst>
              <a:ext uri="{FF2B5EF4-FFF2-40B4-BE49-F238E27FC236}">
                <a16:creationId xmlns:a16="http://schemas.microsoft.com/office/drawing/2014/main" id="{1E96D11D-0C2B-8485-0479-FA4145A37A73}"/>
              </a:ext>
            </a:extLst>
          </p:cNvPr>
          <p:cNvPicPr/>
          <p:nvPr/>
        </p:nvPicPr>
        <p:blipFill>
          <a:blip r:embed="rId3"/>
          <a:srcRect/>
          <a:stretch/>
        </p:blipFill>
        <p:spPr bwMode="auto">
          <a:xfrm>
            <a:off x="530565" y="5148923"/>
            <a:ext cx="980535" cy="981332"/>
          </a:xfrm>
          <a:prstGeom prst="rect">
            <a:avLst/>
          </a:prstGeom>
          <a:noFill/>
          <a:ln w="9525">
            <a:noFill/>
            <a:miter lim="800000"/>
            <a:headEnd/>
            <a:tailEnd/>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76072" y="566928"/>
            <a:ext cx="8412480" cy="475488"/>
          </a:xfrm>
          <a:prstGeom prst="rect">
            <a:avLst/>
          </a:prstGeom>
          <a:noFill/>
          <a:ln/>
        </p:spPr>
        <p:txBody>
          <a:bodyPr wrap="square" lIns="0" tIns="0" rIns="0" bIns="0" rtlCol="0" anchor="ctr">
            <a:normAutofit lnSpcReduction="10000"/>
          </a:bodyPr>
          <a:lstStyle/>
          <a:p>
            <a:pPr marL="0" indent="0">
              <a:buNone/>
            </a:pPr>
            <a:r>
              <a:rPr lang="en-US" sz="3400" b="1" dirty="0">
                <a:solidFill>
                  <a:srgbClr val="0B2D55"/>
                </a:solidFill>
                <a:latin typeface="Aptos Display" pitchFamily="34" charset="0"/>
                <a:ea typeface="Aptos Display" pitchFamily="34" charset="-122"/>
                <a:cs typeface="Aptos Display" pitchFamily="34" charset="-120"/>
              </a:rPr>
              <a:t>Retrieval warm-up</a:t>
            </a:r>
            <a:endParaRPr lang="en-US" sz="3400" dirty="0"/>
          </a:p>
        </p:txBody>
      </p:sp>
      <p:sp>
        <p:nvSpPr>
          <p:cNvPr id="3" name="Text 1"/>
          <p:cNvSpPr/>
          <p:nvPr/>
        </p:nvSpPr>
        <p:spPr>
          <a:xfrm>
            <a:off x="594360" y="1051560"/>
            <a:ext cx="7315200" cy="292608"/>
          </a:xfrm>
          <a:prstGeom prst="rect">
            <a:avLst/>
          </a:prstGeom>
          <a:noFill/>
          <a:ln/>
        </p:spPr>
        <p:txBody>
          <a:bodyPr wrap="square" lIns="0" tIns="0" rIns="0" bIns="0" rtlCol="0" anchor="ctr">
            <a:normAutofit/>
          </a:bodyPr>
          <a:lstStyle/>
          <a:p>
            <a:pPr marL="0" indent="0">
              <a:buNone/>
            </a:pPr>
            <a:r>
              <a:rPr lang="en-US" sz="1500" dirty="0">
                <a:solidFill>
                  <a:srgbClr val="132033"/>
                </a:solidFill>
                <a:latin typeface="Aptos" pitchFamily="34" charset="0"/>
                <a:ea typeface="Aptos" pitchFamily="34" charset="-122"/>
                <a:cs typeface="Aptos" pitchFamily="34" charset="-120"/>
              </a:rPr>
              <a:t>Lessons 1–3 focused on trust, systems, and inputs.</a:t>
            </a:r>
            <a:endParaRPr lang="en-US" sz="1500" dirty="0"/>
          </a:p>
        </p:txBody>
      </p:sp>
      <p:sp>
        <p:nvSpPr>
          <p:cNvPr id="4" name="Text 2"/>
          <p:cNvSpPr/>
          <p:nvPr/>
        </p:nvSpPr>
        <p:spPr>
          <a:xfrm>
            <a:off x="502920" y="6528816"/>
            <a:ext cx="4937760" cy="201168"/>
          </a:xfrm>
          <a:prstGeom prst="rect">
            <a:avLst/>
          </a:prstGeom>
          <a:noFill/>
          <a:ln/>
        </p:spPr>
        <p:txBody>
          <a:bodyPr wrap="square" lIns="0" tIns="0" rIns="0" bIns="0" rtlCol="0" anchor="ctr">
            <a:normAutofit/>
          </a:bodyPr>
          <a:lstStyle/>
          <a:p>
            <a:pPr marL="0" indent="0">
              <a:buNone/>
            </a:pPr>
            <a:r>
              <a:rPr lang="en-US" sz="850" dirty="0">
                <a:solidFill>
                  <a:srgbClr val="6D7C8F"/>
                </a:solidFill>
                <a:latin typeface="Aptos" pitchFamily="34" charset="0"/>
                <a:ea typeface="Aptos" pitchFamily="34" charset="-122"/>
                <a:cs typeface="Aptos" pitchFamily="34" charset="-120"/>
              </a:rPr>
              <a:t>CS 471  |  L04: Problem Formulation</a:t>
            </a:r>
            <a:endParaRPr lang="en-US" sz="850" dirty="0"/>
          </a:p>
        </p:txBody>
      </p:sp>
      <p:sp>
        <p:nvSpPr>
          <p:cNvPr id="5" name="Text 3"/>
          <p:cNvSpPr/>
          <p:nvPr/>
        </p:nvSpPr>
        <p:spPr>
          <a:xfrm>
            <a:off x="11402568" y="6528816"/>
            <a:ext cx="320040" cy="201168"/>
          </a:xfrm>
          <a:prstGeom prst="rect">
            <a:avLst/>
          </a:prstGeom>
          <a:noFill/>
          <a:ln/>
        </p:spPr>
        <p:txBody>
          <a:bodyPr wrap="square" lIns="0" tIns="0" rIns="0" bIns="0" rtlCol="0" anchor="ctr">
            <a:normAutofit/>
          </a:bodyPr>
          <a:lstStyle/>
          <a:p>
            <a:pPr marL="0" indent="0" algn="r">
              <a:buNone/>
            </a:pPr>
            <a:r>
              <a:rPr lang="en-US" sz="850" dirty="0">
                <a:solidFill>
                  <a:srgbClr val="6D7C8F"/>
                </a:solidFill>
                <a:latin typeface="Aptos" pitchFamily="34" charset="0"/>
                <a:ea typeface="Aptos" pitchFamily="34" charset="-122"/>
                <a:cs typeface="Aptos" pitchFamily="34" charset="-120"/>
              </a:rPr>
              <a:t>2</a:t>
            </a:r>
            <a:endParaRPr lang="en-US" sz="850" dirty="0"/>
          </a:p>
        </p:txBody>
      </p:sp>
      <p:sp>
        <p:nvSpPr>
          <p:cNvPr id="6" name="Text 4"/>
          <p:cNvSpPr/>
          <p:nvPr/>
        </p:nvSpPr>
        <p:spPr>
          <a:xfrm>
            <a:off x="822960" y="1783080"/>
            <a:ext cx="3840480" cy="777240"/>
          </a:xfrm>
          <a:prstGeom prst="rect">
            <a:avLst/>
          </a:prstGeom>
          <a:noFill/>
          <a:ln/>
        </p:spPr>
        <p:txBody>
          <a:bodyPr wrap="square" lIns="0" tIns="0" rIns="0" bIns="0" rtlCol="0" anchor="ctr">
            <a:normAutofit lnSpcReduction="10000"/>
          </a:bodyPr>
          <a:lstStyle/>
          <a:p>
            <a:pPr marL="0" indent="0">
              <a:buNone/>
            </a:pPr>
            <a:r>
              <a:rPr lang="en-US" sz="2700" b="1" dirty="0">
                <a:solidFill>
                  <a:srgbClr val="0B2D55"/>
                </a:solidFill>
                <a:latin typeface="Aptos" pitchFamily="34" charset="0"/>
                <a:ea typeface="Aptos" pitchFamily="34" charset="-122"/>
                <a:cs typeface="Aptos" pitchFamily="34" charset="-120"/>
              </a:rPr>
              <a:t>A system gives a convincing output.</a:t>
            </a:r>
            <a:endParaRPr lang="en-US" sz="2700" dirty="0"/>
          </a:p>
        </p:txBody>
      </p:sp>
      <p:sp>
        <p:nvSpPr>
          <p:cNvPr id="7" name="Text 5"/>
          <p:cNvSpPr/>
          <p:nvPr/>
        </p:nvSpPr>
        <p:spPr>
          <a:xfrm>
            <a:off x="5623560" y="1719072"/>
            <a:ext cx="5440680" cy="914400"/>
          </a:xfrm>
          <a:prstGeom prst="rect">
            <a:avLst/>
          </a:prstGeom>
          <a:noFill/>
          <a:ln/>
        </p:spPr>
        <p:txBody>
          <a:bodyPr wrap="square" lIns="0" tIns="0" rIns="0" bIns="0" rtlCol="0" anchor="ctr">
            <a:normAutofit/>
          </a:bodyPr>
          <a:lstStyle/>
          <a:p>
            <a:pPr marL="0" indent="0">
              <a:buNone/>
            </a:pPr>
            <a:r>
              <a:rPr lang="en-US" sz="2400" b="1" dirty="0">
                <a:solidFill>
                  <a:srgbClr val="132033"/>
                </a:solidFill>
                <a:latin typeface="Aptos" pitchFamily="34" charset="0"/>
                <a:ea typeface="Aptos" pitchFamily="34" charset="-122"/>
                <a:cs typeface="Aptos" pitchFamily="34" charset="-120"/>
              </a:rPr>
              <a:t>What version of the problem did the system actually receive?</a:t>
            </a:r>
            <a:endParaRPr lang="en-US" sz="2400" dirty="0"/>
          </a:p>
        </p:txBody>
      </p:sp>
      <p:sp>
        <p:nvSpPr>
          <p:cNvPr id="8" name="Shape 6"/>
          <p:cNvSpPr/>
          <p:nvPr/>
        </p:nvSpPr>
        <p:spPr>
          <a:xfrm>
            <a:off x="4434840" y="2212848"/>
            <a:ext cx="1005840" cy="0"/>
          </a:xfrm>
          <a:prstGeom prst="line">
            <a:avLst/>
          </a:prstGeom>
          <a:noFill/>
          <a:ln w="25400">
            <a:solidFill>
              <a:srgbClr val="F2C14E"/>
            </a:solidFill>
            <a:prstDash val="solid"/>
            <a:headEnd type="none"/>
            <a:tailEnd type="triangle"/>
          </a:ln>
        </p:spPr>
        <p:txBody>
          <a:bodyPr/>
          <a:lstStyle/>
          <a:p>
            <a:endParaRPr lang="en-US"/>
          </a:p>
        </p:txBody>
      </p:sp>
      <p:sp>
        <p:nvSpPr>
          <p:cNvPr id="9" name="Shape 7"/>
          <p:cNvSpPr/>
          <p:nvPr/>
        </p:nvSpPr>
        <p:spPr>
          <a:xfrm>
            <a:off x="822960" y="3703320"/>
            <a:ext cx="2423160" cy="896112"/>
          </a:xfrm>
          <a:prstGeom prst="roundRect">
            <a:avLst>
              <a:gd name="adj" fmla="val 8163"/>
            </a:avLst>
          </a:prstGeom>
          <a:solidFill>
            <a:srgbClr val="FFFFFF"/>
          </a:solidFill>
          <a:ln w="12700">
            <a:solidFill>
              <a:srgbClr val="B8C7D8"/>
            </a:solidFill>
            <a:prstDash val="solid"/>
          </a:ln>
          <a:effectLst>
            <a:outerShdw blurRad="12700" dist="50800" dir="2700000" algn="bl" rotWithShape="0">
              <a:srgbClr val="D4DEE8">
                <a:alpha val="25000"/>
              </a:srgbClr>
            </a:outerShdw>
          </a:effectLst>
        </p:spPr>
        <p:txBody>
          <a:bodyPr/>
          <a:lstStyle/>
          <a:p>
            <a:endParaRPr lang="en-US"/>
          </a:p>
        </p:txBody>
      </p:sp>
      <p:sp>
        <p:nvSpPr>
          <p:cNvPr id="10" name="Shape 8"/>
          <p:cNvSpPr/>
          <p:nvPr/>
        </p:nvSpPr>
        <p:spPr>
          <a:xfrm>
            <a:off x="822960" y="3703320"/>
            <a:ext cx="73152" cy="896112"/>
          </a:xfrm>
          <a:prstGeom prst="rect">
            <a:avLst/>
          </a:prstGeom>
          <a:solidFill>
            <a:srgbClr val="1D5FA7"/>
          </a:solidFill>
          <a:ln w="12700">
            <a:solidFill>
              <a:srgbClr val="1D5FA7"/>
            </a:solidFill>
            <a:prstDash val="solid"/>
          </a:ln>
        </p:spPr>
        <p:txBody>
          <a:bodyPr/>
          <a:lstStyle/>
          <a:p>
            <a:endParaRPr lang="en-US"/>
          </a:p>
        </p:txBody>
      </p:sp>
      <p:sp>
        <p:nvSpPr>
          <p:cNvPr id="11" name="Text 9"/>
          <p:cNvSpPr/>
          <p:nvPr/>
        </p:nvSpPr>
        <p:spPr>
          <a:xfrm>
            <a:off x="1005840" y="3849624"/>
            <a:ext cx="2103120" cy="256032"/>
          </a:xfrm>
          <a:prstGeom prst="rect">
            <a:avLst/>
          </a:prstGeom>
          <a:noFill/>
          <a:ln/>
        </p:spPr>
        <p:txBody>
          <a:bodyPr wrap="square" lIns="0" tIns="0" rIns="0" bIns="0" rtlCol="0" anchor="ctr">
            <a:normAutofit/>
          </a:bodyPr>
          <a:lstStyle/>
          <a:p>
            <a:pPr marL="0" indent="0">
              <a:buNone/>
            </a:pPr>
            <a:r>
              <a:rPr lang="en-US" sz="1500" b="1" dirty="0">
                <a:solidFill>
                  <a:srgbClr val="0B2D55"/>
                </a:solidFill>
                <a:latin typeface="Aptos" pitchFamily="34" charset="0"/>
                <a:ea typeface="Aptos" pitchFamily="34" charset="-122"/>
                <a:cs typeface="Aptos" pitchFamily="34" charset="-120"/>
              </a:rPr>
              <a:t>Included</a:t>
            </a:r>
            <a:endParaRPr lang="en-US" sz="1500" dirty="0"/>
          </a:p>
        </p:txBody>
      </p:sp>
      <p:sp>
        <p:nvSpPr>
          <p:cNvPr id="12" name="Text 10"/>
          <p:cNvSpPr/>
          <p:nvPr/>
        </p:nvSpPr>
        <p:spPr>
          <a:xfrm>
            <a:off x="1005840" y="4187952"/>
            <a:ext cx="2103120" cy="301752"/>
          </a:xfrm>
          <a:prstGeom prst="rect">
            <a:avLst/>
          </a:prstGeom>
          <a:noFill/>
          <a:ln/>
        </p:spPr>
        <p:txBody>
          <a:bodyPr wrap="square" lIns="0" tIns="0" rIns="0" bIns="0" rtlCol="0" anchor="ctr">
            <a:normAutofit fontScale="92500"/>
          </a:bodyPr>
          <a:lstStyle/>
          <a:p>
            <a:pPr marL="0" indent="0">
              <a:buNone/>
            </a:pPr>
            <a:r>
              <a:rPr lang="en-US" sz="1350" dirty="0">
                <a:solidFill>
                  <a:srgbClr val="132033"/>
                </a:solidFill>
                <a:latin typeface="Aptos" pitchFamily="34" charset="0"/>
                <a:ea typeface="Aptos" pitchFamily="34" charset="-122"/>
                <a:cs typeface="Aptos" pitchFamily="34" charset="-120"/>
              </a:rPr>
              <a:t>What information is included?</a:t>
            </a:r>
            <a:endParaRPr lang="en-US" sz="1350" dirty="0"/>
          </a:p>
        </p:txBody>
      </p:sp>
      <p:sp>
        <p:nvSpPr>
          <p:cNvPr id="13" name="Shape 11"/>
          <p:cNvSpPr/>
          <p:nvPr/>
        </p:nvSpPr>
        <p:spPr>
          <a:xfrm>
            <a:off x="3611880" y="3703320"/>
            <a:ext cx="2423160" cy="896112"/>
          </a:xfrm>
          <a:prstGeom prst="roundRect">
            <a:avLst>
              <a:gd name="adj" fmla="val 8163"/>
            </a:avLst>
          </a:prstGeom>
          <a:solidFill>
            <a:srgbClr val="FFFFFF"/>
          </a:solidFill>
          <a:ln w="12700">
            <a:solidFill>
              <a:srgbClr val="B8C7D8"/>
            </a:solidFill>
            <a:prstDash val="solid"/>
          </a:ln>
          <a:effectLst>
            <a:outerShdw blurRad="12700" dist="50800" dir="2700000" algn="bl" rotWithShape="0">
              <a:srgbClr val="D4DEE8">
                <a:alpha val="25000"/>
              </a:srgbClr>
            </a:outerShdw>
          </a:effectLst>
        </p:spPr>
        <p:txBody>
          <a:bodyPr/>
          <a:lstStyle/>
          <a:p>
            <a:endParaRPr lang="en-US"/>
          </a:p>
        </p:txBody>
      </p:sp>
      <p:sp>
        <p:nvSpPr>
          <p:cNvPr id="14" name="Shape 12"/>
          <p:cNvSpPr/>
          <p:nvPr/>
        </p:nvSpPr>
        <p:spPr>
          <a:xfrm>
            <a:off x="3611880" y="3703320"/>
            <a:ext cx="73152" cy="896112"/>
          </a:xfrm>
          <a:prstGeom prst="rect">
            <a:avLst/>
          </a:prstGeom>
          <a:solidFill>
            <a:srgbClr val="F2C14E"/>
          </a:solidFill>
          <a:ln w="12700">
            <a:solidFill>
              <a:srgbClr val="F2C14E"/>
            </a:solidFill>
            <a:prstDash val="solid"/>
          </a:ln>
        </p:spPr>
        <p:txBody>
          <a:bodyPr/>
          <a:lstStyle/>
          <a:p>
            <a:endParaRPr lang="en-US"/>
          </a:p>
        </p:txBody>
      </p:sp>
      <p:sp>
        <p:nvSpPr>
          <p:cNvPr id="15" name="Text 13"/>
          <p:cNvSpPr/>
          <p:nvPr/>
        </p:nvSpPr>
        <p:spPr>
          <a:xfrm>
            <a:off x="3794760" y="3849624"/>
            <a:ext cx="2103120" cy="256032"/>
          </a:xfrm>
          <a:prstGeom prst="rect">
            <a:avLst/>
          </a:prstGeom>
          <a:noFill/>
          <a:ln/>
        </p:spPr>
        <p:txBody>
          <a:bodyPr wrap="square" lIns="0" tIns="0" rIns="0" bIns="0" rtlCol="0" anchor="ctr">
            <a:normAutofit/>
          </a:bodyPr>
          <a:lstStyle/>
          <a:p>
            <a:pPr marL="0" indent="0">
              <a:buNone/>
            </a:pPr>
            <a:r>
              <a:rPr lang="en-US" sz="1500" b="1" dirty="0">
                <a:solidFill>
                  <a:srgbClr val="0B2D55"/>
                </a:solidFill>
                <a:latin typeface="Aptos" pitchFamily="34" charset="0"/>
                <a:ea typeface="Aptos" pitchFamily="34" charset="-122"/>
                <a:cs typeface="Aptos" pitchFamily="34" charset="-120"/>
              </a:rPr>
              <a:t>Missing</a:t>
            </a:r>
            <a:endParaRPr lang="en-US" sz="1500" dirty="0"/>
          </a:p>
        </p:txBody>
      </p:sp>
      <p:sp>
        <p:nvSpPr>
          <p:cNvPr id="16" name="Text 14"/>
          <p:cNvSpPr/>
          <p:nvPr/>
        </p:nvSpPr>
        <p:spPr>
          <a:xfrm>
            <a:off x="3794760" y="4187952"/>
            <a:ext cx="2103120" cy="301752"/>
          </a:xfrm>
          <a:prstGeom prst="rect">
            <a:avLst/>
          </a:prstGeom>
          <a:noFill/>
          <a:ln/>
        </p:spPr>
        <p:txBody>
          <a:bodyPr wrap="square" lIns="0" tIns="0" rIns="0" bIns="0" rtlCol="0" anchor="ctr">
            <a:normAutofit fontScale="92500"/>
          </a:bodyPr>
          <a:lstStyle/>
          <a:p>
            <a:pPr marL="0" indent="0">
              <a:buNone/>
            </a:pPr>
            <a:r>
              <a:rPr lang="en-US" sz="1350" dirty="0">
                <a:solidFill>
                  <a:srgbClr val="132033"/>
                </a:solidFill>
                <a:latin typeface="Aptos" pitchFamily="34" charset="0"/>
                <a:ea typeface="Aptos" pitchFamily="34" charset="-122"/>
                <a:cs typeface="Aptos" pitchFamily="34" charset="-120"/>
              </a:rPr>
              <a:t>What information is missing?</a:t>
            </a:r>
            <a:endParaRPr lang="en-US" sz="1350" dirty="0"/>
          </a:p>
        </p:txBody>
      </p:sp>
      <p:sp>
        <p:nvSpPr>
          <p:cNvPr id="17" name="Shape 15"/>
          <p:cNvSpPr/>
          <p:nvPr/>
        </p:nvSpPr>
        <p:spPr>
          <a:xfrm>
            <a:off x="6400800" y="3703320"/>
            <a:ext cx="2423160" cy="896112"/>
          </a:xfrm>
          <a:prstGeom prst="roundRect">
            <a:avLst>
              <a:gd name="adj" fmla="val 8163"/>
            </a:avLst>
          </a:prstGeom>
          <a:solidFill>
            <a:srgbClr val="FFFFFF"/>
          </a:solidFill>
          <a:ln w="12700">
            <a:solidFill>
              <a:srgbClr val="B8C7D8"/>
            </a:solidFill>
            <a:prstDash val="solid"/>
          </a:ln>
          <a:effectLst>
            <a:outerShdw blurRad="12700" dist="50800" dir="2700000" algn="bl" rotWithShape="0">
              <a:srgbClr val="D4DEE8">
                <a:alpha val="25000"/>
              </a:srgbClr>
            </a:outerShdw>
          </a:effectLst>
        </p:spPr>
        <p:txBody>
          <a:bodyPr/>
          <a:lstStyle/>
          <a:p>
            <a:endParaRPr lang="en-US"/>
          </a:p>
        </p:txBody>
      </p:sp>
      <p:sp>
        <p:nvSpPr>
          <p:cNvPr id="18" name="Shape 16"/>
          <p:cNvSpPr/>
          <p:nvPr/>
        </p:nvSpPr>
        <p:spPr>
          <a:xfrm>
            <a:off x="6400800" y="3703320"/>
            <a:ext cx="73152" cy="896112"/>
          </a:xfrm>
          <a:prstGeom prst="rect">
            <a:avLst/>
          </a:prstGeom>
          <a:solidFill>
            <a:srgbClr val="D94E4E"/>
          </a:solidFill>
          <a:ln w="12700">
            <a:solidFill>
              <a:srgbClr val="D94E4E"/>
            </a:solidFill>
            <a:prstDash val="solid"/>
          </a:ln>
        </p:spPr>
        <p:txBody>
          <a:bodyPr/>
          <a:lstStyle/>
          <a:p>
            <a:endParaRPr lang="en-US"/>
          </a:p>
        </p:txBody>
      </p:sp>
      <p:sp>
        <p:nvSpPr>
          <p:cNvPr id="19" name="Text 17"/>
          <p:cNvSpPr/>
          <p:nvPr/>
        </p:nvSpPr>
        <p:spPr>
          <a:xfrm>
            <a:off x="6583680" y="3849624"/>
            <a:ext cx="2103120" cy="256032"/>
          </a:xfrm>
          <a:prstGeom prst="rect">
            <a:avLst/>
          </a:prstGeom>
          <a:noFill/>
          <a:ln/>
        </p:spPr>
        <p:txBody>
          <a:bodyPr wrap="square" lIns="0" tIns="0" rIns="0" bIns="0" rtlCol="0" anchor="ctr">
            <a:normAutofit/>
          </a:bodyPr>
          <a:lstStyle/>
          <a:p>
            <a:pPr marL="0" indent="0">
              <a:buNone/>
            </a:pPr>
            <a:r>
              <a:rPr lang="en-US" sz="1500" b="1" dirty="0">
                <a:solidFill>
                  <a:srgbClr val="0B2D55"/>
                </a:solidFill>
                <a:latin typeface="Aptos" pitchFamily="34" charset="0"/>
                <a:ea typeface="Aptos" pitchFamily="34" charset="-122"/>
                <a:cs typeface="Aptos" pitchFamily="34" charset="-120"/>
              </a:rPr>
              <a:t>Irrelevant</a:t>
            </a:r>
            <a:endParaRPr lang="en-US" sz="1500" dirty="0"/>
          </a:p>
        </p:txBody>
      </p:sp>
      <p:sp>
        <p:nvSpPr>
          <p:cNvPr id="20" name="Text 18"/>
          <p:cNvSpPr/>
          <p:nvPr/>
        </p:nvSpPr>
        <p:spPr>
          <a:xfrm>
            <a:off x="6583680" y="4187952"/>
            <a:ext cx="2103120" cy="301752"/>
          </a:xfrm>
          <a:prstGeom prst="rect">
            <a:avLst/>
          </a:prstGeom>
          <a:noFill/>
          <a:ln/>
        </p:spPr>
        <p:txBody>
          <a:bodyPr wrap="square" lIns="0" tIns="0" rIns="0" bIns="0" rtlCol="0" anchor="ctr">
            <a:normAutofit/>
          </a:bodyPr>
          <a:lstStyle/>
          <a:p>
            <a:pPr marL="0" indent="0">
              <a:buNone/>
            </a:pPr>
            <a:r>
              <a:rPr lang="en-US" sz="1350" dirty="0">
                <a:solidFill>
                  <a:srgbClr val="132033"/>
                </a:solidFill>
                <a:latin typeface="Aptos" pitchFamily="34" charset="0"/>
                <a:ea typeface="Aptos" pitchFamily="34" charset="-122"/>
                <a:cs typeface="Aptos" pitchFamily="34" charset="-120"/>
              </a:rPr>
              <a:t>What details are irrelevant?</a:t>
            </a:r>
            <a:endParaRPr lang="en-US" sz="1350" dirty="0"/>
          </a:p>
        </p:txBody>
      </p:sp>
      <p:sp>
        <p:nvSpPr>
          <p:cNvPr id="21" name="Shape 19"/>
          <p:cNvSpPr/>
          <p:nvPr/>
        </p:nvSpPr>
        <p:spPr>
          <a:xfrm>
            <a:off x="9189720" y="3703320"/>
            <a:ext cx="2423160" cy="896112"/>
          </a:xfrm>
          <a:prstGeom prst="roundRect">
            <a:avLst>
              <a:gd name="adj" fmla="val 8163"/>
            </a:avLst>
          </a:prstGeom>
          <a:solidFill>
            <a:srgbClr val="FFFFFF"/>
          </a:solidFill>
          <a:ln w="12700">
            <a:solidFill>
              <a:srgbClr val="B8C7D8"/>
            </a:solidFill>
            <a:prstDash val="solid"/>
          </a:ln>
          <a:effectLst>
            <a:outerShdw blurRad="12700" dist="50800" dir="2700000" algn="bl" rotWithShape="0">
              <a:srgbClr val="D4DEE8">
                <a:alpha val="25000"/>
              </a:srgbClr>
            </a:outerShdw>
          </a:effectLst>
        </p:spPr>
        <p:txBody>
          <a:bodyPr/>
          <a:lstStyle/>
          <a:p>
            <a:endParaRPr lang="en-US"/>
          </a:p>
        </p:txBody>
      </p:sp>
      <p:sp>
        <p:nvSpPr>
          <p:cNvPr id="22" name="Shape 20"/>
          <p:cNvSpPr/>
          <p:nvPr/>
        </p:nvSpPr>
        <p:spPr>
          <a:xfrm>
            <a:off x="9189720" y="3703320"/>
            <a:ext cx="73152" cy="896112"/>
          </a:xfrm>
          <a:prstGeom prst="rect">
            <a:avLst/>
          </a:prstGeom>
          <a:solidFill>
            <a:srgbClr val="39A875"/>
          </a:solidFill>
          <a:ln w="12700">
            <a:solidFill>
              <a:srgbClr val="39A875"/>
            </a:solidFill>
            <a:prstDash val="solid"/>
          </a:ln>
        </p:spPr>
        <p:txBody>
          <a:bodyPr/>
          <a:lstStyle/>
          <a:p>
            <a:endParaRPr lang="en-US"/>
          </a:p>
        </p:txBody>
      </p:sp>
      <p:sp>
        <p:nvSpPr>
          <p:cNvPr id="23" name="Text 21"/>
          <p:cNvSpPr/>
          <p:nvPr/>
        </p:nvSpPr>
        <p:spPr>
          <a:xfrm>
            <a:off x="9372600" y="3849624"/>
            <a:ext cx="2103120" cy="256032"/>
          </a:xfrm>
          <a:prstGeom prst="rect">
            <a:avLst/>
          </a:prstGeom>
          <a:noFill/>
          <a:ln/>
        </p:spPr>
        <p:txBody>
          <a:bodyPr wrap="square" lIns="0" tIns="0" rIns="0" bIns="0" rtlCol="0" anchor="ctr">
            <a:normAutofit/>
          </a:bodyPr>
          <a:lstStyle/>
          <a:p>
            <a:pPr marL="0" indent="0">
              <a:buNone/>
            </a:pPr>
            <a:r>
              <a:rPr lang="en-US" sz="1500" b="1" dirty="0">
                <a:solidFill>
                  <a:srgbClr val="0B2D55"/>
                </a:solidFill>
                <a:latin typeface="Aptos" pitchFamily="34" charset="0"/>
                <a:ea typeface="Aptos" pitchFamily="34" charset="-122"/>
                <a:cs typeface="Aptos" pitchFamily="34" charset="-120"/>
              </a:rPr>
              <a:t>Best</a:t>
            </a:r>
            <a:endParaRPr lang="en-US" sz="1500" dirty="0"/>
          </a:p>
        </p:txBody>
      </p:sp>
      <p:sp>
        <p:nvSpPr>
          <p:cNvPr id="24" name="Text 22"/>
          <p:cNvSpPr/>
          <p:nvPr/>
        </p:nvSpPr>
        <p:spPr>
          <a:xfrm>
            <a:off x="9372600" y="4187952"/>
            <a:ext cx="2103120" cy="301752"/>
          </a:xfrm>
          <a:prstGeom prst="rect">
            <a:avLst/>
          </a:prstGeom>
          <a:noFill/>
          <a:ln/>
        </p:spPr>
        <p:txBody>
          <a:bodyPr wrap="square" lIns="0" tIns="0" rIns="0" bIns="0" rtlCol="0" anchor="ctr">
            <a:normAutofit/>
          </a:bodyPr>
          <a:lstStyle/>
          <a:p>
            <a:pPr marL="0" indent="0">
              <a:buNone/>
            </a:pPr>
            <a:r>
              <a:rPr lang="en-US" sz="1350" dirty="0">
                <a:solidFill>
                  <a:srgbClr val="132033"/>
                </a:solidFill>
                <a:latin typeface="Aptos" pitchFamily="34" charset="0"/>
                <a:ea typeface="Aptos" pitchFamily="34" charset="-122"/>
                <a:cs typeface="Aptos" pitchFamily="34" charset="-120"/>
              </a:rPr>
              <a:t>What does “best” mean?</a:t>
            </a:r>
            <a:endParaRPr lang="en-US" sz="1350" dirty="0"/>
          </a:p>
        </p:txBody>
      </p:sp>
      <p:sp>
        <p:nvSpPr>
          <p:cNvPr id="25" name="Text 23"/>
          <p:cNvSpPr/>
          <p:nvPr/>
        </p:nvSpPr>
        <p:spPr>
          <a:xfrm>
            <a:off x="960120" y="5376672"/>
            <a:ext cx="10149840" cy="658368"/>
          </a:xfrm>
          <a:prstGeom prst="rect">
            <a:avLst/>
          </a:prstGeom>
          <a:noFill/>
          <a:ln/>
        </p:spPr>
        <p:txBody>
          <a:bodyPr wrap="square" lIns="0" tIns="0" rIns="0" bIns="0" rtlCol="0" anchor="ctr">
            <a:normAutofit lnSpcReduction="10000"/>
          </a:bodyPr>
          <a:lstStyle/>
          <a:p>
            <a:pPr marL="0" indent="0" algn="ctr">
              <a:buNone/>
            </a:pPr>
            <a:r>
              <a:rPr lang="en-US" sz="2200" b="1" dirty="0">
                <a:solidFill>
                  <a:srgbClr val="0B2D55"/>
                </a:solidFill>
                <a:latin typeface="Aptos" pitchFamily="34" charset="0"/>
                <a:ea typeface="Aptos" pitchFamily="34" charset="-122"/>
                <a:cs typeface="Aptos" pitchFamily="34" charset="-120"/>
              </a:rPr>
              <a:t>Think-pair-share: name one way a poor representation could make an AI system fail.</a:t>
            </a:r>
            <a:endParaRPr lang="en-US" sz="2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76072" y="566928"/>
            <a:ext cx="8412480" cy="475488"/>
          </a:xfrm>
          <a:prstGeom prst="rect">
            <a:avLst/>
          </a:prstGeom>
          <a:noFill/>
          <a:ln/>
        </p:spPr>
        <p:txBody>
          <a:bodyPr wrap="square" lIns="0" tIns="0" rIns="0" bIns="0" rtlCol="0" anchor="ctr">
            <a:normAutofit lnSpcReduction="10000"/>
          </a:bodyPr>
          <a:lstStyle/>
          <a:p>
            <a:pPr marL="0" indent="0">
              <a:buNone/>
            </a:pPr>
            <a:r>
              <a:rPr lang="en-US" sz="3400" b="1" dirty="0">
                <a:solidFill>
                  <a:srgbClr val="0B2D55"/>
                </a:solidFill>
                <a:latin typeface="Aptos Display" pitchFamily="34" charset="0"/>
                <a:ea typeface="Aptos Display" pitchFamily="34" charset="-122"/>
                <a:cs typeface="Aptos Display" pitchFamily="34" charset="-120"/>
              </a:rPr>
              <a:t>Today’s mission</a:t>
            </a:r>
            <a:endParaRPr lang="en-US" sz="3400" dirty="0"/>
          </a:p>
        </p:txBody>
      </p:sp>
      <p:sp>
        <p:nvSpPr>
          <p:cNvPr id="3" name="Text 1"/>
          <p:cNvSpPr/>
          <p:nvPr/>
        </p:nvSpPr>
        <p:spPr>
          <a:xfrm>
            <a:off x="594360" y="1051560"/>
            <a:ext cx="7315200" cy="292608"/>
          </a:xfrm>
          <a:prstGeom prst="rect">
            <a:avLst/>
          </a:prstGeom>
          <a:noFill/>
          <a:ln/>
        </p:spPr>
        <p:txBody>
          <a:bodyPr wrap="square" lIns="0" tIns="0" rIns="0" bIns="0" rtlCol="0" anchor="ctr">
            <a:normAutofit/>
          </a:bodyPr>
          <a:lstStyle/>
          <a:p>
            <a:pPr marL="0" indent="0">
              <a:buNone/>
            </a:pPr>
            <a:r>
              <a:rPr lang="en-US" sz="1500" dirty="0">
                <a:solidFill>
                  <a:srgbClr val="132033"/>
                </a:solidFill>
                <a:latin typeface="Aptos" pitchFamily="34" charset="0"/>
                <a:ea typeface="Aptos" pitchFamily="34" charset="-122"/>
                <a:cs typeface="Aptos" pitchFamily="34" charset="-120"/>
              </a:rPr>
              <a:t>By the end of Lesson 4, students should be able to…</a:t>
            </a:r>
            <a:endParaRPr lang="en-US" sz="1500" dirty="0"/>
          </a:p>
        </p:txBody>
      </p:sp>
      <p:sp>
        <p:nvSpPr>
          <p:cNvPr id="4" name="Text 2"/>
          <p:cNvSpPr/>
          <p:nvPr/>
        </p:nvSpPr>
        <p:spPr>
          <a:xfrm>
            <a:off x="502920" y="6528816"/>
            <a:ext cx="4937760" cy="201168"/>
          </a:xfrm>
          <a:prstGeom prst="rect">
            <a:avLst/>
          </a:prstGeom>
          <a:noFill/>
          <a:ln/>
        </p:spPr>
        <p:txBody>
          <a:bodyPr wrap="square" lIns="0" tIns="0" rIns="0" bIns="0" rtlCol="0" anchor="ctr">
            <a:normAutofit/>
          </a:bodyPr>
          <a:lstStyle/>
          <a:p>
            <a:pPr marL="0" indent="0">
              <a:buNone/>
            </a:pPr>
            <a:r>
              <a:rPr lang="en-US" sz="850" dirty="0">
                <a:solidFill>
                  <a:srgbClr val="6D7C8F"/>
                </a:solidFill>
                <a:latin typeface="Aptos" pitchFamily="34" charset="0"/>
                <a:ea typeface="Aptos" pitchFamily="34" charset="-122"/>
                <a:cs typeface="Aptos" pitchFamily="34" charset="-120"/>
              </a:rPr>
              <a:t>CS 471  |  L04: Problem Formulation</a:t>
            </a:r>
            <a:endParaRPr lang="en-US" sz="850" dirty="0"/>
          </a:p>
        </p:txBody>
      </p:sp>
      <p:sp>
        <p:nvSpPr>
          <p:cNvPr id="5" name="Text 3"/>
          <p:cNvSpPr/>
          <p:nvPr/>
        </p:nvSpPr>
        <p:spPr>
          <a:xfrm>
            <a:off x="11402568" y="6528816"/>
            <a:ext cx="320040" cy="201168"/>
          </a:xfrm>
          <a:prstGeom prst="rect">
            <a:avLst/>
          </a:prstGeom>
          <a:noFill/>
          <a:ln/>
        </p:spPr>
        <p:txBody>
          <a:bodyPr wrap="square" lIns="0" tIns="0" rIns="0" bIns="0" rtlCol="0" anchor="ctr">
            <a:normAutofit/>
          </a:bodyPr>
          <a:lstStyle/>
          <a:p>
            <a:pPr marL="0" indent="0" algn="r">
              <a:buNone/>
            </a:pPr>
            <a:r>
              <a:rPr lang="en-US" sz="850" dirty="0">
                <a:solidFill>
                  <a:srgbClr val="6D7C8F"/>
                </a:solidFill>
                <a:latin typeface="Aptos" pitchFamily="34" charset="0"/>
                <a:ea typeface="Aptos" pitchFamily="34" charset="-122"/>
                <a:cs typeface="Aptos" pitchFamily="34" charset="-120"/>
              </a:rPr>
              <a:t>3</a:t>
            </a:r>
            <a:endParaRPr lang="en-US" sz="850" dirty="0"/>
          </a:p>
        </p:txBody>
      </p:sp>
      <p:sp>
        <p:nvSpPr>
          <p:cNvPr id="6" name="Shape 4"/>
          <p:cNvSpPr/>
          <p:nvPr/>
        </p:nvSpPr>
        <p:spPr>
          <a:xfrm>
            <a:off x="868680" y="1874520"/>
            <a:ext cx="502920" cy="502920"/>
          </a:xfrm>
          <a:prstGeom prst="ellipse">
            <a:avLst/>
          </a:prstGeom>
          <a:solidFill>
            <a:srgbClr val="1D5FA7"/>
          </a:solidFill>
          <a:ln w="12700">
            <a:solidFill>
              <a:srgbClr val="1D5FA7"/>
            </a:solidFill>
            <a:prstDash val="solid"/>
          </a:ln>
        </p:spPr>
        <p:txBody>
          <a:bodyPr/>
          <a:lstStyle/>
          <a:p>
            <a:endParaRPr lang="en-US"/>
          </a:p>
        </p:txBody>
      </p:sp>
      <p:sp>
        <p:nvSpPr>
          <p:cNvPr id="7" name="Text 5"/>
          <p:cNvSpPr/>
          <p:nvPr/>
        </p:nvSpPr>
        <p:spPr>
          <a:xfrm>
            <a:off x="868680" y="1920240"/>
            <a:ext cx="502920" cy="457200"/>
          </a:xfrm>
          <a:prstGeom prst="rect">
            <a:avLst/>
          </a:prstGeom>
          <a:noFill/>
          <a:ln/>
        </p:spPr>
        <p:txBody>
          <a:bodyPr wrap="square" lIns="0" tIns="0" rIns="0" bIns="0" rtlCol="0" anchor="ctr">
            <a:normAutofit/>
          </a:bodyPr>
          <a:lstStyle/>
          <a:p>
            <a:pPr marL="0" indent="0" algn="ctr">
              <a:buNone/>
            </a:pPr>
            <a:r>
              <a:rPr lang="en-US" sz="1800" b="1" dirty="0">
                <a:solidFill>
                  <a:srgbClr val="FFFFFF"/>
                </a:solidFill>
                <a:latin typeface="Aptos" pitchFamily="34" charset="0"/>
                <a:ea typeface="Aptos" pitchFamily="34" charset="-122"/>
                <a:cs typeface="Aptos" pitchFamily="34" charset="-120"/>
              </a:rPr>
              <a:t>1</a:t>
            </a:r>
            <a:endParaRPr lang="en-US" sz="1800" dirty="0"/>
          </a:p>
        </p:txBody>
      </p:sp>
      <p:sp>
        <p:nvSpPr>
          <p:cNvPr id="8" name="Text 6"/>
          <p:cNvSpPr/>
          <p:nvPr/>
        </p:nvSpPr>
        <p:spPr>
          <a:xfrm>
            <a:off x="1572768" y="1901952"/>
            <a:ext cx="9052560" cy="384048"/>
          </a:xfrm>
          <a:prstGeom prst="rect">
            <a:avLst/>
          </a:prstGeom>
          <a:noFill/>
          <a:ln/>
        </p:spPr>
        <p:txBody>
          <a:bodyPr wrap="square" lIns="0" tIns="0" rIns="0" bIns="0" rtlCol="0" anchor="ctr">
            <a:normAutofit/>
          </a:bodyPr>
          <a:lstStyle/>
          <a:p>
            <a:pPr marL="0" indent="0">
              <a:buNone/>
            </a:pPr>
            <a:r>
              <a:rPr lang="en-US" sz="2400" b="1" dirty="0">
                <a:solidFill>
                  <a:srgbClr val="132033"/>
                </a:solidFill>
                <a:latin typeface="Aptos" pitchFamily="34" charset="0"/>
                <a:ea typeface="Aptos" pitchFamily="34" charset="-122"/>
                <a:cs typeface="Aptos" pitchFamily="34" charset="-120"/>
              </a:rPr>
              <a:t>Define states, actions, goal tests, and path costs</a:t>
            </a:r>
            <a:endParaRPr lang="en-US" sz="2400" dirty="0"/>
          </a:p>
        </p:txBody>
      </p:sp>
      <p:sp>
        <p:nvSpPr>
          <p:cNvPr id="9" name="Shape 7"/>
          <p:cNvSpPr/>
          <p:nvPr/>
        </p:nvSpPr>
        <p:spPr>
          <a:xfrm>
            <a:off x="868680" y="3017520"/>
            <a:ext cx="502920" cy="502920"/>
          </a:xfrm>
          <a:prstGeom prst="ellipse">
            <a:avLst/>
          </a:prstGeom>
          <a:solidFill>
            <a:srgbClr val="1D5FA7"/>
          </a:solidFill>
          <a:ln w="12700">
            <a:solidFill>
              <a:srgbClr val="1D5FA7"/>
            </a:solidFill>
            <a:prstDash val="solid"/>
          </a:ln>
        </p:spPr>
        <p:txBody>
          <a:bodyPr/>
          <a:lstStyle/>
          <a:p>
            <a:endParaRPr lang="en-US"/>
          </a:p>
        </p:txBody>
      </p:sp>
      <p:sp>
        <p:nvSpPr>
          <p:cNvPr id="10" name="Text 8"/>
          <p:cNvSpPr/>
          <p:nvPr/>
        </p:nvSpPr>
        <p:spPr>
          <a:xfrm>
            <a:off x="868680" y="3063240"/>
            <a:ext cx="502920" cy="457200"/>
          </a:xfrm>
          <a:prstGeom prst="rect">
            <a:avLst/>
          </a:prstGeom>
          <a:noFill/>
          <a:ln/>
        </p:spPr>
        <p:txBody>
          <a:bodyPr wrap="square" lIns="0" tIns="0" rIns="0" bIns="0" rtlCol="0" anchor="ctr">
            <a:normAutofit/>
          </a:bodyPr>
          <a:lstStyle/>
          <a:p>
            <a:pPr marL="0" indent="0" algn="ctr">
              <a:buNone/>
            </a:pPr>
            <a:r>
              <a:rPr lang="en-US" sz="1800" b="1" dirty="0">
                <a:solidFill>
                  <a:srgbClr val="FFFFFF"/>
                </a:solidFill>
                <a:latin typeface="Aptos" pitchFamily="34" charset="0"/>
                <a:ea typeface="Aptos" pitchFamily="34" charset="-122"/>
                <a:cs typeface="Aptos" pitchFamily="34" charset="-120"/>
              </a:rPr>
              <a:t>2</a:t>
            </a:r>
            <a:endParaRPr lang="en-US" sz="1800" dirty="0"/>
          </a:p>
        </p:txBody>
      </p:sp>
      <p:sp>
        <p:nvSpPr>
          <p:cNvPr id="11" name="Text 9"/>
          <p:cNvSpPr/>
          <p:nvPr/>
        </p:nvSpPr>
        <p:spPr>
          <a:xfrm>
            <a:off x="1572768" y="3044952"/>
            <a:ext cx="9052560" cy="384048"/>
          </a:xfrm>
          <a:prstGeom prst="rect">
            <a:avLst/>
          </a:prstGeom>
          <a:noFill/>
          <a:ln/>
        </p:spPr>
        <p:txBody>
          <a:bodyPr wrap="square" lIns="0" tIns="0" rIns="0" bIns="0" rtlCol="0" anchor="ctr">
            <a:normAutofit/>
          </a:bodyPr>
          <a:lstStyle/>
          <a:p>
            <a:pPr marL="0" indent="0">
              <a:buNone/>
            </a:pPr>
            <a:r>
              <a:rPr lang="en-US" sz="2400" b="1" dirty="0">
                <a:solidFill>
                  <a:srgbClr val="132033"/>
                </a:solidFill>
                <a:latin typeface="Aptos" pitchFamily="34" charset="0"/>
                <a:ea typeface="Aptos" pitchFamily="34" charset="-122"/>
                <a:cs typeface="Aptos" pitchFamily="34" charset="-120"/>
              </a:rPr>
              <a:t>Formulate real-world problems as search problems</a:t>
            </a:r>
            <a:endParaRPr lang="en-US" sz="2400" dirty="0"/>
          </a:p>
        </p:txBody>
      </p:sp>
      <p:sp>
        <p:nvSpPr>
          <p:cNvPr id="12" name="Shape 10"/>
          <p:cNvSpPr/>
          <p:nvPr/>
        </p:nvSpPr>
        <p:spPr>
          <a:xfrm>
            <a:off x="868680" y="4160520"/>
            <a:ext cx="502920" cy="502920"/>
          </a:xfrm>
          <a:prstGeom prst="ellipse">
            <a:avLst/>
          </a:prstGeom>
          <a:solidFill>
            <a:srgbClr val="1D5FA7"/>
          </a:solidFill>
          <a:ln w="12700">
            <a:solidFill>
              <a:srgbClr val="1D5FA7"/>
            </a:solidFill>
            <a:prstDash val="solid"/>
          </a:ln>
        </p:spPr>
        <p:txBody>
          <a:bodyPr/>
          <a:lstStyle/>
          <a:p>
            <a:endParaRPr lang="en-US"/>
          </a:p>
        </p:txBody>
      </p:sp>
      <p:sp>
        <p:nvSpPr>
          <p:cNvPr id="13" name="Text 11"/>
          <p:cNvSpPr/>
          <p:nvPr/>
        </p:nvSpPr>
        <p:spPr>
          <a:xfrm>
            <a:off x="868680" y="4206240"/>
            <a:ext cx="502920" cy="457200"/>
          </a:xfrm>
          <a:prstGeom prst="rect">
            <a:avLst/>
          </a:prstGeom>
          <a:noFill/>
          <a:ln/>
        </p:spPr>
        <p:txBody>
          <a:bodyPr wrap="square" lIns="0" tIns="0" rIns="0" bIns="0" rtlCol="0" anchor="ctr">
            <a:normAutofit/>
          </a:bodyPr>
          <a:lstStyle/>
          <a:p>
            <a:pPr marL="0" indent="0" algn="ctr">
              <a:buNone/>
            </a:pPr>
            <a:r>
              <a:rPr lang="en-US" sz="1800" b="1" dirty="0">
                <a:solidFill>
                  <a:srgbClr val="FFFFFF"/>
                </a:solidFill>
                <a:latin typeface="Aptos" pitchFamily="34" charset="0"/>
                <a:ea typeface="Aptos" pitchFamily="34" charset="-122"/>
                <a:cs typeface="Aptos" pitchFamily="34" charset="-120"/>
              </a:rPr>
              <a:t>3</a:t>
            </a:r>
            <a:endParaRPr lang="en-US" sz="1800" dirty="0"/>
          </a:p>
        </p:txBody>
      </p:sp>
      <p:sp>
        <p:nvSpPr>
          <p:cNvPr id="14" name="Text 12"/>
          <p:cNvSpPr/>
          <p:nvPr/>
        </p:nvSpPr>
        <p:spPr>
          <a:xfrm>
            <a:off x="1572768" y="4187952"/>
            <a:ext cx="9052560" cy="384048"/>
          </a:xfrm>
          <a:prstGeom prst="rect">
            <a:avLst/>
          </a:prstGeom>
          <a:noFill/>
          <a:ln/>
        </p:spPr>
        <p:txBody>
          <a:bodyPr wrap="square" lIns="0" tIns="0" rIns="0" bIns="0" rtlCol="0" anchor="ctr">
            <a:normAutofit/>
          </a:bodyPr>
          <a:lstStyle/>
          <a:p>
            <a:pPr marL="0" indent="0">
              <a:buNone/>
            </a:pPr>
            <a:r>
              <a:rPr lang="en-US" sz="2400" b="1" dirty="0">
                <a:solidFill>
                  <a:srgbClr val="132033"/>
                </a:solidFill>
                <a:latin typeface="Aptos" pitchFamily="34" charset="0"/>
                <a:ea typeface="Aptos" pitchFamily="34" charset="-122"/>
                <a:cs typeface="Aptos" pitchFamily="34" charset="-120"/>
              </a:rPr>
              <a:t>Explain how problem representation affects solution difficulty</a:t>
            </a:r>
            <a:endParaRPr lang="en-US" sz="2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76072" y="566928"/>
            <a:ext cx="8412480" cy="475488"/>
          </a:xfrm>
          <a:prstGeom prst="rect">
            <a:avLst/>
          </a:prstGeom>
          <a:noFill/>
          <a:ln/>
        </p:spPr>
        <p:txBody>
          <a:bodyPr wrap="square" lIns="0" tIns="0" rIns="0" bIns="0" rtlCol="0" anchor="ctr">
            <a:normAutofit lnSpcReduction="10000"/>
          </a:bodyPr>
          <a:lstStyle/>
          <a:p>
            <a:pPr marL="0" indent="0">
              <a:buNone/>
            </a:pPr>
            <a:r>
              <a:rPr lang="en-US" sz="3400" b="1" dirty="0">
                <a:solidFill>
                  <a:srgbClr val="0B2D55"/>
                </a:solidFill>
                <a:latin typeface="Aptos Display" pitchFamily="34" charset="0"/>
                <a:ea typeface="Aptos Display" pitchFamily="34" charset="-122"/>
                <a:cs typeface="Aptos Display" pitchFamily="34" charset="-120"/>
              </a:rPr>
              <a:t>Running scenario: lunar rover mission</a:t>
            </a:r>
            <a:endParaRPr lang="en-US" sz="3400" dirty="0"/>
          </a:p>
        </p:txBody>
      </p:sp>
      <p:sp>
        <p:nvSpPr>
          <p:cNvPr id="3" name="Text 1"/>
          <p:cNvSpPr/>
          <p:nvPr/>
        </p:nvSpPr>
        <p:spPr>
          <a:xfrm>
            <a:off x="594360" y="1051560"/>
            <a:ext cx="7315200" cy="292608"/>
          </a:xfrm>
          <a:prstGeom prst="rect">
            <a:avLst/>
          </a:prstGeom>
          <a:noFill/>
          <a:ln/>
        </p:spPr>
        <p:txBody>
          <a:bodyPr wrap="square" lIns="0" tIns="0" rIns="0" bIns="0" rtlCol="0" anchor="ctr">
            <a:normAutofit/>
          </a:bodyPr>
          <a:lstStyle/>
          <a:p>
            <a:pPr marL="0" indent="0">
              <a:buNone/>
            </a:pPr>
            <a:r>
              <a:rPr lang="en-US" sz="1500" dirty="0">
                <a:solidFill>
                  <a:srgbClr val="132033"/>
                </a:solidFill>
                <a:latin typeface="Aptos" pitchFamily="34" charset="0"/>
                <a:ea typeface="Aptos" pitchFamily="34" charset="-122"/>
                <a:cs typeface="Aptos" pitchFamily="34" charset="-120"/>
              </a:rPr>
              <a:t>How does a messy mission become a searchable problem?</a:t>
            </a:r>
            <a:endParaRPr lang="en-US" sz="1500" dirty="0"/>
          </a:p>
        </p:txBody>
      </p:sp>
      <p:sp>
        <p:nvSpPr>
          <p:cNvPr id="4" name="Text 2"/>
          <p:cNvSpPr/>
          <p:nvPr/>
        </p:nvSpPr>
        <p:spPr>
          <a:xfrm>
            <a:off x="502920" y="6528816"/>
            <a:ext cx="4937760" cy="201168"/>
          </a:xfrm>
          <a:prstGeom prst="rect">
            <a:avLst/>
          </a:prstGeom>
          <a:noFill/>
          <a:ln/>
        </p:spPr>
        <p:txBody>
          <a:bodyPr wrap="square" lIns="0" tIns="0" rIns="0" bIns="0" rtlCol="0" anchor="ctr">
            <a:normAutofit/>
          </a:bodyPr>
          <a:lstStyle/>
          <a:p>
            <a:pPr marL="0" indent="0">
              <a:buNone/>
            </a:pPr>
            <a:r>
              <a:rPr lang="en-US" sz="850" dirty="0">
                <a:solidFill>
                  <a:srgbClr val="6D7C8F"/>
                </a:solidFill>
                <a:latin typeface="Aptos" pitchFamily="34" charset="0"/>
                <a:ea typeface="Aptos" pitchFamily="34" charset="-122"/>
                <a:cs typeface="Aptos" pitchFamily="34" charset="-120"/>
              </a:rPr>
              <a:t>CS 471  |  L04: Problem Formulation</a:t>
            </a:r>
            <a:endParaRPr lang="en-US" sz="850" dirty="0"/>
          </a:p>
        </p:txBody>
      </p:sp>
      <p:sp>
        <p:nvSpPr>
          <p:cNvPr id="5" name="Text 3"/>
          <p:cNvSpPr/>
          <p:nvPr/>
        </p:nvSpPr>
        <p:spPr>
          <a:xfrm>
            <a:off x="11402568" y="6528816"/>
            <a:ext cx="320040" cy="201168"/>
          </a:xfrm>
          <a:prstGeom prst="rect">
            <a:avLst/>
          </a:prstGeom>
          <a:noFill/>
          <a:ln/>
        </p:spPr>
        <p:txBody>
          <a:bodyPr wrap="square" lIns="0" tIns="0" rIns="0" bIns="0" rtlCol="0" anchor="ctr">
            <a:normAutofit/>
          </a:bodyPr>
          <a:lstStyle/>
          <a:p>
            <a:pPr marL="0" indent="0" algn="r">
              <a:buNone/>
            </a:pPr>
            <a:r>
              <a:rPr lang="en-US" sz="850" dirty="0">
                <a:solidFill>
                  <a:srgbClr val="6D7C8F"/>
                </a:solidFill>
                <a:latin typeface="Aptos" pitchFamily="34" charset="0"/>
                <a:ea typeface="Aptos" pitchFamily="34" charset="-122"/>
                <a:cs typeface="Aptos" pitchFamily="34" charset="-120"/>
              </a:rPr>
              <a:t>4</a:t>
            </a:r>
            <a:endParaRPr lang="en-US" sz="850" dirty="0"/>
          </a:p>
        </p:txBody>
      </p:sp>
      <p:pic>
        <p:nvPicPr>
          <p:cNvPr id="6" name="Image 0" descr="/mnt/data/a_high_detail_sci_fi_infographic_concept_art_sce.png"/>
          <p:cNvPicPr>
            <a:picLocks noChangeAspect="1"/>
          </p:cNvPicPr>
          <p:nvPr/>
        </p:nvPicPr>
        <p:blipFill>
          <a:blip r:embed="rId3"/>
          <a:srcRect l="15465" r="15465"/>
          <a:stretch/>
        </p:blipFill>
        <p:spPr>
          <a:xfrm>
            <a:off x="685800" y="1508760"/>
            <a:ext cx="4937760" cy="4023360"/>
          </a:xfrm>
          <a:prstGeom prst="rect">
            <a:avLst/>
          </a:prstGeom>
        </p:spPr>
      </p:pic>
      <p:sp>
        <p:nvSpPr>
          <p:cNvPr id="7" name="Shape 4"/>
          <p:cNvSpPr/>
          <p:nvPr/>
        </p:nvSpPr>
        <p:spPr>
          <a:xfrm>
            <a:off x="5989320" y="1417320"/>
            <a:ext cx="5394960" cy="4251960"/>
          </a:xfrm>
          <a:prstGeom prst="roundRect">
            <a:avLst>
              <a:gd name="adj" fmla="val 1720"/>
            </a:avLst>
          </a:prstGeom>
          <a:solidFill>
            <a:srgbClr val="FFFFFF"/>
          </a:solidFill>
          <a:ln w="12700">
            <a:solidFill>
              <a:srgbClr val="B8C7D8"/>
            </a:solidFill>
            <a:prstDash val="solid"/>
          </a:ln>
          <a:effectLst>
            <a:outerShdw blurRad="12700" dist="50800" dir="2700000" algn="bl" rotWithShape="0">
              <a:srgbClr val="D4DEE8">
                <a:alpha val="25000"/>
              </a:srgbClr>
            </a:outerShdw>
          </a:effectLst>
        </p:spPr>
        <p:txBody>
          <a:bodyPr/>
          <a:lstStyle/>
          <a:p>
            <a:endParaRPr lang="en-US"/>
          </a:p>
        </p:txBody>
      </p:sp>
      <p:sp>
        <p:nvSpPr>
          <p:cNvPr id="8" name="Text 5"/>
          <p:cNvSpPr/>
          <p:nvPr/>
        </p:nvSpPr>
        <p:spPr>
          <a:xfrm>
            <a:off x="6263640" y="1719072"/>
            <a:ext cx="2194560" cy="320040"/>
          </a:xfrm>
          <a:prstGeom prst="rect">
            <a:avLst/>
          </a:prstGeom>
          <a:noFill/>
          <a:ln/>
        </p:spPr>
        <p:txBody>
          <a:bodyPr wrap="square" lIns="0" tIns="0" rIns="0" bIns="0" rtlCol="0" anchor="ctr">
            <a:normAutofit lnSpcReduction="10000"/>
          </a:bodyPr>
          <a:lstStyle/>
          <a:p>
            <a:pPr marL="0" indent="0">
              <a:buNone/>
            </a:pPr>
            <a:r>
              <a:rPr lang="en-US" sz="2200" b="1" dirty="0">
                <a:solidFill>
                  <a:srgbClr val="0B2D55"/>
                </a:solidFill>
                <a:latin typeface="Aptos" pitchFamily="34" charset="0"/>
                <a:ea typeface="Aptos" pitchFamily="34" charset="-122"/>
                <a:cs typeface="Aptos" pitchFamily="34" charset="-120"/>
              </a:rPr>
              <a:t>Mission brief</a:t>
            </a:r>
            <a:endParaRPr lang="en-US" sz="2200" dirty="0"/>
          </a:p>
        </p:txBody>
      </p:sp>
      <p:sp>
        <p:nvSpPr>
          <p:cNvPr id="9" name="Shape 6"/>
          <p:cNvSpPr/>
          <p:nvPr/>
        </p:nvSpPr>
        <p:spPr>
          <a:xfrm>
            <a:off x="6309360" y="2258568"/>
            <a:ext cx="210312" cy="210312"/>
          </a:xfrm>
          <a:prstGeom prst="ellipse">
            <a:avLst/>
          </a:prstGeom>
          <a:solidFill>
            <a:srgbClr val="F2C14E"/>
          </a:solidFill>
          <a:ln w="12700">
            <a:solidFill>
              <a:srgbClr val="F2C14E"/>
            </a:solidFill>
            <a:prstDash val="solid"/>
          </a:ln>
        </p:spPr>
        <p:txBody>
          <a:bodyPr/>
          <a:lstStyle/>
          <a:p>
            <a:endParaRPr lang="en-US"/>
          </a:p>
        </p:txBody>
      </p:sp>
      <p:sp>
        <p:nvSpPr>
          <p:cNvPr id="10" name="Text 7"/>
          <p:cNvSpPr/>
          <p:nvPr/>
        </p:nvSpPr>
        <p:spPr>
          <a:xfrm>
            <a:off x="6309360" y="2304288"/>
            <a:ext cx="210312" cy="164592"/>
          </a:xfrm>
          <a:prstGeom prst="rect">
            <a:avLst/>
          </a:prstGeom>
          <a:noFill/>
          <a:ln/>
        </p:spPr>
        <p:txBody>
          <a:bodyPr wrap="square" lIns="0" tIns="0" rIns="0" bIns="0" rtlCol="0" anchor="ctr">
            <a:normAutofit fontScale="62500" lnSpcReduction="20000"/>
          </a:bodyPr>
          <a:lstStyle/>
          <a:p>
            <a:pPr marL="0" indent="0" algn="ctr">
              <a:buNone/>
            </a:pPr>
            <a:endParaRPr lang="en-US" sz="1800" dirty="0"/>
          </a:p>
        </p:txBody>
      </p:sp>
      <p:sp>
        <p:nvSpPr>
          <p:cNvPr id="11" name="Text 8"/>
          <p:cNvSpPr/>
          <p:nvPr/>
        </p:nvSpPr>
        <p:spPr>
          <a:xfrm>
            <a:off x="6629400" y="2212848"/>
            <a:ext cx="4297680" cy="256032"/>
          </a:xfrm>
          <a:prstGeom prst="rect">
            <a:avLst/>
          </a:prstGeom>
          <a:noFill/>
          <a:ln/>
        </p:spPr>
        <p:txBody>
          <a:bodyPr wrap="square" lIns="0" tIns="0" rIns="0" bIns="0" rtlCol="0" anchor="ctr">
            <a:normAutofit lnSpcReduction="10000"/>
          </a:bodyPr>
          <a:lstStyle/>
          <a:p>
            <a:pPr marL="0" indent="0">
              <a:buNone/>
            </a:pPr>
            <a:r>
              <a:rPr lang="en-US" sz="1700" dirty="0">
                <a:solidFill>
                  <a:srgbClr val="132033"/>
                </a:solidFill>
                <a:latin typeface="Aptos" pitchFamily="34" charset="0"/>
                <a:ea typeface="Aptos" pitchFamily="34" charset="-122"/>
                <a:cs typeface="Aptos" pitchFamily="34" charset="-120"/>
              </a:rPr>
              <a:t>Leave the lander</a:t>
            </a:r>
            <a:endParaRPr lang="en-US" sz="1700" dirty="0"/>
          </a:p>
        </p:txBody>
      </p:sp>
      <p:sp>
        <p:nvSpPr>
          <p:cNvPr id="12" name="Shape 9"/>
          <p:cNvSpPr/>
          <p:nvPr/>
        </p:nvSpPr>
        <p:spPr>
          <a:xfrm>
            <a:off x="6309360" y="2761488"/>
            <a:ext cx="210312" cy="210312"/>
          </a:xfrm>
          <a:prstGeom prst="ellipse">
            <a:avLst/>
          </a:prstGeom>
          <a:solidFill>
            <a:srgbClr val="F2C14E"/>
          </a:solidFill>
          <a:ln w="12700">
            <a:solidFill>
              <a:srgbClr val="F2C14E"/>
            </a:solidFill>
            <a:prstDash val="solid"/>
          </a:ln>
        </p:spPr>
        <p:txBody>
          <a:bodyPr/>
          <a:lstStyle/>
          <a:p>
            <a:endParaRPr lang="en-US"/>
          </a:p>
        </p:txBody>
      </p:sp>
      <p:sp>
        <p:nvSpPr>
          <p:cNvPr id="13" name="Text 10"/>
          <p:cNvSpPr/>
          <p:nvPr/>
        </p:nvSpPr>
        <p:spPr>
          <a:xfrm>
            <a:off x="6309360" y="2807208"/>
            <a:ext cx="210312" cy="164592"/>
          </a:xfrm>
          <a:prstGeom prst="rect">
            <a:avLst/>
          </a:prstGeom>
          <a:noFill/>
          <a:ln/>
        </p:spPr>
        <p:txBody>
          <a:bodyPr wrap="square" lIns="0" tIns="0" rIns="0" bIns="0" rtlCol="0" anchor="ctr">
            <a:normAutofit fontScale="62500" lnSpcReduction="20000"/>
          </a:bodyPr>
          <a:lstStyle/>
          <a:p>
            <a:pPr marL="0" indent="0" algn="ctr">
              <a:buNone/>
            </a:pPr>
            <a:endParaRPr lang="en-US" sz="1800" dirty="0"/>
          </a:p>
        </p:txBody>
      </p:sp>
      <p:sp>
        <p:nvSpPr>
          <p:cNvPr id="14" name="Text 11"/>
          <p:cNvSpPr/>
          <p:nvPr/>
        </p:nvSpPr>
        <p:spPr>
          <a:xfrm>
            <a:off x="6629400" y="2715768"/>
            <a:ext cx="4297680" cy="256032"/>
          </a:xfrm>
          <a:prstGeom prst="rect">
            <a:avLst/>
          </a:prstGeom>
          <a:noFill/>
          <a:ln/>
        </p:spPr>
        <p:txBody>
          <a:bodyPr wrap="square" lIns="0" tIns="0" rIns="0" bIns="0" rtlCol="0" anchor="ctr">
            <a:normAutofit lnSpcReduction="10000"/>
          </a:bodyPr>
          <a:lstStyle/>
          <a:p>
            <a:pPr marL="0" indent="0">
              <a:buNone/>
            </a:pPr>
            <a:r>
              <a:rPr lang="en-US" sz="1700" dirty="0">
                <a:solidFill>
                  <a:srgbClr val="132033"/>
                </a:solidFill>
                <a:latin typeface="Aptos" pitchFamily="34" charset="0"/>
                <a:ea typeface="Aptos" pitchFamily="34" charset="-122"/>
                <a:cs typeface="Aptos" pitchFamily="34" charset="-120"/>
              </a:rPr>
              <a:t>Collect samples from two sites</a:t>
            </a:r>
            <a:endParaRPr lang="en-US" sz="1700" dirty="0"/>
          </a:p>
        </p:txBody>
      </p:sp>
      <p:sp>
        <p:nvSpPr>
          <p:cNvPr id="15" name="Shape 12"/>
          <p:cNvSpPr/>
          <p:nvPr/>
        </p:nvSpPr>
        <p:spPr>
          <a:xfrm>
            <a:off x="6309360" y="3264408"/>
            <a:ext cx="210312" cy="210312"/>
          </a:xfrm>
          <a:prstGeom prst="ellipse">
            <a:avLst/>
          </a:prstGeom>
          <a:solidFill>
            <a:srgbClr val="F2C14E"/>
          </a:solidFill>
          <a:ln w="12700">
            <a:solidFill>
              <a:srgbClr val="F2C14E"/>
            </a:solidFill>
            <a:prstDash val="solid"/>
          </a:ln>
        </p:spPr>
        <p:txBody>
          <a:bodyPr/>
          <a:lstStyle/>
          <a:p>
            <a:endParaRPr lang="en-US"/>
          </a:p>
        </p:txBody>
      </p:sp>
      <p:sp>
        <p:nvSpPr>
          <p:cNvPr id="16" name="Text 13"/>
          <p:cNvSpPr/>
          <p:nvPr/>
        </p:nvSpPr>
        <p:spPr>
          <a:xfrm>
            <a:off x="6309360" y="3310128"/>
            <a:ext cx="210312" cy="164592"/>
          </a:xfrm>
          <a:prstGeom prst="rect">
            <a:avLst/>
          </a:prstGeom>
          <a:noFill/>
          <a:ln/>
        </p:spPr>
        <p:txBody>
          <a:bodyPr wrap="square" lIns="0" tIns="0" rIns="0" bIns="0" rtlCol="0" anchor="ctr">
            <a:normAutofit fontScale="62500" lnSpcReduction="20000"/>
          </a:bodyPr>
          <a:lstStyle/>
          <a:p>
            <a:pPr marL="0" indent="0" algn="ctr">
              <a:buNone/>
            </a:pPr>
            <a:endParaRPr lang="en-US" sz="1800" dirty="0"/>
          </a:p>
        </p:txBody>
      </p:sp>
      <p:sp>
        <p:nvSpPr>
          <p:cNvPr id="17" name="Text 14"/>
          <p:cNvSpPr/>
          <p:nvPr/>
        </p:nvSpPr>
        <p:spPr>
          <a:xfrm>
            <a:off x="6629400" y="3218688"/>
            <a:ext cx="4297680" cy="256032"/>
          </a:xfrm>
          <a:prstGeom prst="rect">
            <a:avLst/>
          </a:prstGeom>
          <a:noFill/>
          <a:ln/>
        </p:spPr>
        <p:txBody>
          <a:bodyPr wrap="square" lIns="0" tIns="0" rIns="0" bIns="0" rtlCol="0" anchor="ctr">
            <a:normAutofit lnSpcReduction="10000"/>
          </a:bodyPr>
          <a:lstStyle/>
          <a:p>
            <a:pPr marL="0" indent="0">
              <a:buNone/>
            </a:pPr>
            <a:r>
              <a:rPr lang="en-US" sz="1700" dirty="0">
                <a:solidFill>
                  <a:srgbClr val="132033"/>
                </a:solidFill>
                <a:latin typeface="Aptos" pitchFamily="34" charset="0"/>
                <a:ea typeface="Aptos" pitchFamily="34" charset="-122"/>
                <a:cs typeface="Aptos" pitchFamily="34" charset="-120"/>
              </a:rPr>
              <a:t>Manage limited battery</a:t>
            </a:r>
            <a:endParaRPr lang="en-US" sz="1700" dirty="0"/>
          </a:p>
        </p:txBody>
      </p:sp>
      <p:sp>
        <p:nvSpPr>
          <p:cNvPr id="18" name="Shape 15"/>
          <p:cNvSpPr/>
          <p:nvPr/>
        </p:nvSpPr>
        <p:spPr>
          <a:xfrm>
            <a:off x="6309360" y="3767328"/>
            <a:ext cx="210312" cy="210312"/>
          </a:xfrm>
          <a:prstGeom prst="ellipse">
            <a:avLst/>
          </a:prstGeom>
          <a:solidFill>
            <a:srgbClr val="D94E4E"/>
          </a:solidFill>
          <a:ln w="12700">
            <a:solidFill>
              <a:srgbClr val="D94E4E"/>
            </a:solidFill>
            <a:prstDash val="solid"/>
          </a:ln>
        </p:spPr>
        <p:txBody>
          <a:bodyPr/>
          <a:lstStyle/>
          <a:p>
            <a:endParaRPr lang="en-US"/>
          </a:p>
        </p:txBody>
      </p:sp>
      <p:sp>
        <p:nvSpPr>
          <p:cNvPr id="19" name="Text 16"/>
          <p:cNvSpPr/>
          <p:nvPr/>
        </p:nvSpPr>
        <p:spPr>
          <a:xfrm>
            <a:off x="6309360" y="3813048"/>
            <a:ext cx="210312" cy="164592"/>
          </a:xfrm>
          <a:prstGeom prst="rect">
            <a:avLst/>
          </a:prstGeom>
          <a:noFill/>
          <a:ln/>
        </p:spPr>
        <p:txBody>
          <a:bodyPr wrap="square" lIns="0" tIns="0" rIns="0" bIns="0" rtlCol="0" anchor="ctr">
            <a:normAutofit fontScale="62500" lnSpcReduction="20000"/>
          </a:bodyPr>
          <a:lstStyle/>
          <a:p>
            <a:pPr marL="0" indent="0" algn="ctr">
              <a:buNone/>
            </a:pPr>
            <a:endParaRPr lang="en-US" sz="1800" dirty="0"/>
          </a:p>
        </p:txBody>
      </p:sp>
      <p:sp>
        <p:nvSpPr>
          <p:cNvPr id="20" name="Text 17"/>
          <p:cNvSpPr/>
          <p:nvPr/>
        </p:nvSpPr>
        <p:spPr>
          <a:xfrm>
            <a:off x="6629400" y="3721608"/>
            <a:ext cx="4297680" cy="256032"/>
          </a:xfrm>
          <a:prstGeom prst="rect">
            <a:avLst/>
          </a:prstGeom>
          <a:noFill/>
          <a:ln/>
        </p:spPr>
        <p:txBody>
          <a:bodyPr wrap="square" lIns="0" tIns="0" rIns="0" bIns="0" rtlCol="0" anchor="ctr">
            <a:normAutofit lnSpcReduction="10000"/>
          </a:bodyPr>
          <a:lstStyle/>
          <a:p>
            <a:pPr marL="0" indent="0">
              <a:buNone/>
            </a:pPr>
            <a:r>
              <a:rPr lang="en-US" sz="1700" dirty="0">
                <a:solidFill>
                  <a:srgbClr val="132033"/>
                </a:solidFill>
                <a:latin typeface="Aptos" pitchFamily="34" charset="0"/>
                <a:ea typeface="Aptos" pitchFamily="34" charset="-122"/>
                <a:cs typeface="Aptos" pitchFamily="34" charset="-120"/>
              </a:rPr>
              <a:t>Avoid unstable terrain</a:t>
            </a:r>
            <a:endParaRPr lang="en-US" sz="1700" dirty="0"/>
          </a:p>
        </p:txBody>
      </p:sp>
      <p:sp>
        <p:nvSpPr>
          <p:cNvPr id="21" name="Shape 18"/>
          <p:cNvSpPr/>
          <p:nvPr/>
        </p:nvSpPr>
        <p:spPr>
          <a:xfrm>
            <a:off x="6309360" y="4270248"/>
            <a:ext cx="210312" cy="210312"/>
          </a:xfrm>
          <a:prstGeom prst="ellipse">
            <a:avLst/>
          </a:prstGeom>
          <a:solidFill>
            <a:srgbClr val="F2C14E"/>
          </a:solidFill>
          <a:ln w="12700">
            <a:solidFill>
              <a:srgbClr val="F2C14E"/>
            </a:solidFill>
            <a:prstDash val="solid"/>
          </a:ln>
        </p:spPr>
        <p:txBody>
          <a:bodyPr/>
          <a:lstStyle/>
          <a:p>
            <a:endParaRPr lang="en-US"/>
          </a:p>
        </p:txBody>
      </p:sp>
      <p:sp>
        <p:nvSpPr>
          <p:cNvPr id="22" name="Text 19"/>
          <p:cNvSpPr/>
          <p:nvPr/>
        </p:nvSpPr>
        <p:spPr>
          <a:xfrm>
            <a:off x="6309360" y="4315968"/>
            <a:ext cx="210312" cy="164592"/>
          </a:xfrm>
          <a:prstGeom prst="rect">
            <a:avLst/>
          </a:prstGeom>
          <a:noFill/>
          <a:ln/>
        </p:spPr>
        <p:txBody>
          <a:bodyPr wrap="square" lIns="0" tIns="0" rIns="0" bIns="0" rtlCol="0" anchor="ctr">
            <a:normAutofit fontScale="62500" lnSpcReduction="20000"/>
          </a:bodyPr>
          <a:lstStyle/>
          <a:p>
            <a:pPr marL="0" indent="0" algn="ctr">
              <a:buNone/>
            </a:pPr>
            <a:endParaRPr lang="en-US" sz="1800" dirty="0"/>
          </a:p>
        </p:txBody>
      </p:sp>
      <p:sp>
        <p:nvSpPr>
          <p:cNvPr id="23" name="Text 20"/>
          <p:cNvSpPr/>
          <p:nvPr/>
        </p:nvSpPr>
        <p:spPr>
          <a:xfrm>
            <a:off x="6629400" y="4224528"/>
            <a:ext cx="4297680" cy="256032"/>
          </a:xfrm>
          <a:prstGeom prst="rect">
            <a:avLst/>
          </a:prstGeom>
          <a:noFill/>
          <a:ln/>
        </p:spPr>
        <p:txBody>
          <a:bodyPr wrap="square" lIns="0" tIns="0" rIns="0" bIns="0" rtlCol="0" anchor="ctr">
            <a:normAutofit lnSpcReduction="10000"/>
          </a:bodyPr>
          <a:lstStyle/>
          <a:p>
            <a:pPr marL="0" indent="0">
              <a:buNone/>
            </a:pPr>
            <a:r>
              <a:rPr lang="en-US" sz="1700" dirty="0">
                <a:solidFill>
                  <a:srgbClr val="132033"/>
                </a:solidFill>
                <a:latin typeface="Aptos" pitchFamily="34" charset="0"/>
                <a:ea typeface="Aptos" pitchFamily="34" charset="-122"/>
                <a:cs typeface="Aptos" pitchFamily="34" charset="-120"/>
              </a:rPr>
              <a:t>Return to the lander</a:t>
            </a:r>
            <a:endParaRPr lang="en-US" sz="1700" dirty="0"/>
          </a:p>
        </p:txBody>
      </p:sp>
      <p:sp>
        <p:nvSpPr>
          <p:cNvPr id="24" name="Text 21"/>
          <p:cNvSpPr/>
          <p:nvPr/>
        </p:nvSpPr>
        <p:spPr>
          <a:xfrm>
            <a:off x="6309360" y="5074920"/>
            <a:ext cx="4526280" cy="411480"/>
          </a:xfrm>
          <a:prstGeom prst="rect">
            <a:avLst/>
          </a:prstGeom>
          <a:noFill/>
          <a:ln/>
        </p:spPr>
        <p:txBody>
          <a:bodyPr wrap="square" lIns="0" tIns="0" rIns="0" bIns="0" rtlCol="0" anchor="ctr">
            <a:normAutofit fontScale="85000" lnSpcReduction="20000"/>
          </a:bodyPr>
          <a:lstStyle/>
          <a:p>
            <a:pPr marL="0" indent="0">
              <a:buNone/>
            </a:pPr>
            <a:r>
              <a:rPr lang="en-US" sz="1800" b="1" dirty="0">
                <a:solidFill>
                  <a:srgbClr val="1D5FA7"/>
                </a:solidFill>
                <a:latin typeface="Aptos" pitchFamily="34" charset="0"/>
                <a:ea typeface="Aptos" pitchFamily="34" charset="-122"/>
                <a:cs typeface="Aptos" pitchFamily="34" charset="-120"/>
              </a:rPr>
              <a:t>Question: what must the rover remember to make correct decisions?</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76072" y="566928"/>
            <a:ext cx="8412480" cy="475488"/>
          </a:xfrm>
          <a:prstGeom prst="rect">
            <a:avLst/>
          </a:prstGeom>
          <a:noFill/>
          <a:ln/>
        </p:spPr>
        <p:txBody>
          <a:bodyPr wrap="square" lIns="0" tIns="0" rIns="0" bIns="0" rtlCol="0" anchor="ctr">
            <a:normAutofit lnSpcReduction="10000"/>
          </a:bodyPr>
          <a:lstStyle/>
          <a:p>
            <a:pPr marL="0" indent="0">
              <a:buNone/>
            </a:pPr>
            <a:r>
              <a:rPr lang="en-US" sz="3400" b="1" dirty="0">
                <a:solidFill>
                  <a:srgbClr val="0B2D55"/>
                </a:solidFill>
                <a:latin typeface="Aptos Display" pitchFamily="34" charset="0"/>
                <a:ea typeface="Aptos Display" pitchFamily="34" charset="-122"/>
                <a:cs typeface="Aptos Display" pitchFamily="34" charset="-120"/>
              </a:rPr>
              <a:t>From mission to model</a:t>
            </a:r>
            <a:endParaRPr lang="en-US" sz="3400" dirty="0"/>
          </a:p>
        </p:txBody>
      </p:sp>
      <p:sp>
        <p:nvSpPr>
          <p:cNvPr id="3" name="Text 1"/>
          <p:cNvSpPr/>
          <p:nvPr/>
        </p:nvSpPr>
        <p:spPr>
          <a:xfrm>
            <a:off x="594360" y="1051560"/>
            <a:ext cx="7315200" cy="292608"/>
          </a:xfrm>
          <a:prstGeom prst="rect">
            <a:avLst/>
          </a:prstGeom>
          <a:noFill/>
          <a:ln/>
        </p:spPr>
        <p:txBody>
          <a:bodyPr wrap="square" lIns="0" tIns="0" rIns="0" bIns="0" rtlCol="0" anchor="ctr">
            <a:normAutofit/>
          </a:bodyPr>
          <a:lstStyle/>
          <a:p>
            <a:pPr marL="0" indent="0">
              <a:buNone/>
            </a:pPr>
            <a:r>
              <a:rPr lang="en-US" sz="1500" dirty="0">
                <a:solidFill>
                  <a:srgbClr val="132033"/>
                </a:solidFill>
                <a:latin typeface="Aptos" pitchFamily="34" charset="0"/>
                <a:ea typeface="Aptos" pitchFamily="34" charset="-122"/>
                <a:cs typeface="Aptos" pitchFamily="34" charset="-120"/>
              </a:rPr>
              <a:t>Formulation translates a real task into something an algorithm can search.</a:t>
            </a:r>
            <a:endParaRPr lang="en-US" sz="1500" dirty="0"/>
          </a:p>
        </p:txBody>
      </p:sp>
      <p:sp>
        <p:nvSpPr>
          <p:cNvPr id="4" name="Text 2"/>
          <p:cNvSpPr/>
          <p:nvPr/>
        </p:nvSpPr>
        <p:spPr>
          <a:xfrm>
            <a:off x="502920" y="6528816"/>
            <a:ext cx="4937760" cy="201168"/>
          </a:xfrm>
          <a:prstGeom prst="rect">
            <a:avLst/>
          </a:prstGeom>
          <a:noFill/>
          <a:ln/>
        </p:spPr>
        <p:txBody>
          <a:bodyPr wrap="square" lIns="0" tIns="0" rIns="0" bIns="0" rtlCol="0" anchor="ctr">
            <a:normAutofit/>
          </a:bodyPr>
          <a:lstStyle/>
          <a:p>
            <a:pPr marL="0" indent="0">
              <a:buNone/>
            </a:pPr>
            <a:r>
              <a:rPr lang="en-US" sz="850" dirty="0">
                <a:solidFill>
                  <a:srgbClr val="6D7C8F"/>
                </a:solidFill>
                <a:latin typeface="Aptos" pitchFamily="34" charset="0"/>
                <a:ea typeface="Aptos" pitchFamily="34" charset="-122"/>
                <a:cs typeface="Aptos" pitchFamily="34" charset="-120"/>
              </a:rPr>
              <a:t>CS 471  |  L04: Problem Formulation</a:t>
            </a:r>
            <a:endParaRPr lang="en-US" sz="850" dirty="0"/>
          </a:p>
        </p:txBody>
      </p:sp>
      <p:sp>
        <p:nvSpPr>
          <p:cNvPr id="5" name="Text 3"/>
          <p:cNvSpPr/>
          <p:nvPr/>
        </p:nvSpPr>
        <p:spPr>
          <a:xfrm>
            <a:off x="11402568" y="6528816"/>
            <a:ext cx="320040" cy="201168"/>
          </a:xfrm>
          <a:prstGeom prst="rect">
            <a:avLst/>
          </a:prstGeom>
          <a:noFill/>
          <a:ln/>
        </p:spPr>
        <p:txBody>
          <a:bodyPr wrap="square" lIns="0" tIns="0" rIns="0" bIns="0" rtlCol="0" anchor="ctr">
            <a:normAutofit/>
          </a:bodyPr>
          <a:lstStyle/>
          <a:p>
            <a:pPr marL="0" indent="0" algn="r">
              <a:buNone/>
            </a:pPr>
            <a:r>
              <a:rPr lang="en-US" sz="850" dirty="0">
                <a:solidFill>
                  <a:srgbClr val="6D7C8F"/>
                </a:solidFill>
                <a:latin typeface="Aptos" pitchFamily="34" charset="0"/>
                <a:ea typeface="Aptos" pitchFamily="34" charset="-122"/>
                <a:cs typeface="Aptos" pitchFamily="34" charset="-120"/>
              </a:rPr>
              <a:t>5</a:t>
            </a:r>
            <a:endParaRPr lang="en-US" sz="850" dirty="0"/>
          </a:p>
        </p:txBody>
      </p:sp>
      <p:sp>
        <p:nvSpPr>
          <p:cNvPr id="6" name="Shape 4"/>
          <p:cNvSpPr/>
          <p:nvPr/>
        </p:nvSpPr>
        <p:spPr>
          <a:xfrm>
            <a:off x="685800" y="1874520"/>
            <a:ext cx="1783080" cy="1188720"/>
          </a:xfrm>
          <a:prstGeom prst="roundRect">
            <a:avLst>
              <a:gd name="adj" fmla="val 6154"/>
            </a:avLst>
          </a:prstGeom>
          <a:solidFill>
            <a:srgbClr val="FFFFFF"/>
          </a:solidFill>
          <a:ln w="12700">
            <a:solidFill>
              <a:srgbClr val="B8C7D8"/>
            </a:solidFill>
            <a:prstDash val="solid"/>
          </a:ln>
          <a:effectLst>
            <a:outerShdw blurRad="12700" dist="50800" dir="2700000" algn="bl" rotWithShape="0">
              <a:srgbClr val="D4DEE8">
                <a:alpha val="25000"/>
              </a:srgbClr>
            </a:outerShdw>
          </a:effectLst>
        </p:spPr>
        <p:txBody>
          <a:bodyPr/>
          <a:lstStyle/>
          <a:p>
            <a:endParaRPr lang="en-US"/>
          </a:p>
        </p:txBody>
      </p:sp>
      <p:sp>
        <p:nvSpPr>
          <p:cNvPr id="7" name="Text 5"/>
          <p:cNvSpPr/>
          <p:nvPr/>
        </p:nvSpPr>
        <p:spPr>
          <a:xfrm>
            <a:off x="822960" y="2057400"/>
            <a:ext cx="1508760" cy="274320"/>
          </a:xfrm>
          <a:prstGeom prst="rect">
            <a:avLst/>
          </a:prstGeom>
          <a:noFill/>
          <a:ln/>
        </p:spPr>
        <p:txBody>
          <a:bodyPr wrap="square" lIns="0" tIns="0" rIns="0" bIns="0" rtlCol="0" anchor="ctr">
            <a:normAutofit/>
          </a:bodyPr>
          <a:lstStyle/>
          <a:p>
            <a:pPr marL="0" indent="0" algn="ctr">
              <a:buNone/>
            </a:pPr>
            <a:r>
              <a:rPr lang="en-US" sz="1500" b="1" dirty="0">
                <a:solidFill>
                  <a:srgbClr val="0B2D55"/>
                </a:solidFill>
                <a:latin typeface="Aptos" pitchFamily="34" charset="0"/>
                <a:ea typeface="Aptos" pitchFamily="34" charset="-122"/>
                <a:cs typeface="Aptos" pitchFamily="34" charset="-120"/>
              </a:rPr>
              <a:t>Mission narrative</a:t>
            </a:r>
            <a:endParaRPr lang="en-US" sz="1500" dirty="0"/>
          </a:p>
        </p:txBody>
      </p:sp>
      <p:sp>
        <p:nvSpPr>
          <p:cNvPr id="8" name="Text 6"/>
          <p:cNvSpPr/>
          <p:nvPr/>
        </p:nvSpPr>
        <p:spPr>
          <a:xfrm>
            <a:off x="795528" y="2496312"/>
            <a:ext cx="1554480" cy="365760"/>
          </a:xfrm>
          <a:prstGeom prst="rect">
            <a:avLst/>
          </a:prstGeom>
          <a:noFill/>
          <a:ln/>
        </p:spPr>
        <p:txBody>
          <a:bodyPr wrap="square" lIns="0" tIns="0" rIns="0" bIns="0" rtlCol="0" anchor="ctr">
            <a:normAutofit/>
          </a:bodyPr>
          <a:lstStyle/>
          <a:p>
            <a:pPr marL="0" indent="0" algn="ctr">
              <a:buNone/>
            </a:pPr>
            <a:r>
              <a:rPr lang="en-US" sz="1150" dirty="0">
                <a:solidFill>
                  <a:srgbClr val="6D7C8F"/>
                </a:solidFill>
                <a:latin typeface="Aptos" pitchFamily="34" charset="0"/>
                <a:ea typeface="Aptos" pitchFamily="34" charset="-122"/>
                <a:cs typeface="Aptos" pitchFamily="34" charset="-120"/>
              </a:rPr>
              <a:t>natural language task</a:t>
            </a:r>
            <a:endParaRPr lang="en-US" sz="1150" dirty="0"/>
          </a:p>
        </p:txBody>
      </p:sp>
      <p:sp>
        <p:nvSpPr>
          <p:cNvPr id="9" name="Shape 7"/>
          <p:cNvSpPr/>
          <p:nvPr/>
        </p:nvSpPr>
        <p:spPr>
          <a:xfrm>
            <a:off x="2496312" y="2468880"/>
            <a:ext cx="320040" cy="0"/>
          </a:xfrm>
          <a:prstGeom prst="line">
            <a:avLst/>
          </a:prstGeom>
          <a:noFill/>
          <a:ln w="25400">
            <a:solidFill>
              <a:srgbClr val="F2C14E"/>
            </a:solidFill>
            <a:prstDash val="solid"/>
            <a:headEnd type="none"/>
            <a:tailEnd type="triangle"/>
          </a:ln>
        </p:spPr>
        <p:txBody>
          <a:bodyPr/>
          <a:lstStyle/>
          <a:p>
            <a:endParaRPr lang="en-US"/>
          </a:p>
        </p:txBody>
      </p:sp>
      <p:sp>
        <p:nvSpPr>
          <p:cNvPr id="10" name="Shape 8"/>
          <p:cNvSpPr/>
          <p:nvPr/>
        </p:nvSpPr>
        <p:spPr>
          <a:xfrm>
            <a:off x="2926080" y="1874520"/>
            <a:ext cx="1783080" cy="1188720"/>
          </a:xfrm>
          <a:prstGeom prst="roundRect">
            <a:avLst>
              <a:gd name="adj" fmla="val 6154"/>
            </a:avLst>
          </a:prstGeom>
          <a:solidFill>
            <a:srgbClr val="DCEEFF"/>
          </a:solidFill>
          <a:ln w="12700">
            <a:solidFill>
              <a:srgbClr val="1D5FA7"/>
            </a:solidFill>
            <a:prstDash val="solid"/>
          </a:ln>
          <a:effectLst>
            <a:outerShdw blurRad="12700" dist="50800" dir="2700000" algn="bl" rotWithShape="0">
              <a:srgbClr val="D4DEE8">
                <a:alpha val="25000"/>
              </a:srgbClr>
            </a:outerShdw>
          </a:effectLst>
        </p:spPr>
        <p:txBody>
          <a:bodyPr/>
          <a:lstStyle/>
          <a:p>
            <a:endParaRPr lang="en-US"/>
          </a:p>
        </p:txBody>
      </p:sp>
      <p:sp>
        <p:nvSpPr>
          <p:cNvPr id="11" name="Text 9"/>
          <p:cNvSpPr/>
          <p:nvPr/>
        </p:nvSpPr>
        <p:spPr>
          <a:xfrm>
            <a:off x="3063240" y="2057400"/>
            <a:ext cx="1508760" cy="274320"/>
          </a:xfrm>
          <a:prstGeom prst="rect">
            <a:avLst/>
          </a:prstGeom>
          <a:noFill/>
          <a:ln/>
        </p:spPr>
        <p:txBody>
          <a:bodyPr wrap="square" lIns="0" tIns="0" rIns="0" bIns="0" rtlCol="0" anchor="ctr">
            <a:normAutofit fontScale="70000" lnSpcReduction="20000"/>
          </a:bodyPr>
          <a:lstStyle/>
          <a:p>
            <a:pPr marL="0" indent="0" algn="ctr">
              <a:buNone/>
            </a:pPr>
            <a:r>
              <a:rPr lang="en-US" sz="1500" b="1" dirty="0">
                <a:solidFill>
                  <a:srgbClr val="0B2D55"/>
                </a:solidFill>
                <a:latin typeface="Aptos" pitchFamily="34" charset="0"/>
                <a:ea typeface="Aptos" pitchFamily="34" charset="-122"/>
                <a:cs typeface="Aptos" pitchFamily="34" charset="-120"/>
              </a:rPr>
              <a:t>Computational representation</a:t>
            </a:r>
            <a:endParaRPr lang="en-US" sz="1500" dirty="0"/>
          </a:p>
        </p:txBody>
      </p:sp>
      <p:sp>
        <p:nvSpPr>
          <p:cNvPr id="12" name="Text 10"/>
          <p:cNvSpPr/>
          <p:nvPr/>
        </p:nvSpPr>
        <p:spPr>
          <a:xfrm>
            <a:off x="3035808" y="2496312"/>
            <a:ext cx="1554480" cy="365760"/>
          </a:xfrm>
          <a:prstGeom prst="rect">
            <a:avLst/>
          </a:prstGeom>
          <a:noFill/>
          <a:ln/>
        </p:spPr>
        <p:txBody>
          <a:bodyPr wrap="square" lIns="0" tIns="0" rIns="0" bIns="0" rtlCol="0" anchor="ctr">
            <a:normAutofit/>
          </a:bodyPr>
          <a:lstStyle/>
          <a:p>
            <a:pPr marL="0" indent="0" algn="ctr">
              <a:buNone/>
            </a:pPr>
            <a:r>
              <a:rPr lang="en-US" sz="1150" dirty="0">
                <a:solidFill>
                  <a:srgbClr val="6D7C8F"/>
                </a:solidFill>
                <a:latin typeface="Aptos" pitchFamily="34" charset="0"/>
                <a:ea typeface="Aptos" pitchFamily="34" charset="-122"/>
                <a:cs typeface="Aptos" pitchFamily="34" charset="-120"/>
              </a:rPr>
              <a:t>states, actions, goals, costs</a:t>
            </a:r>
            <a:endParaRPr lang="en-US" sz="1150" dirty="0"/>
          </a:p>
        </p:txBody>
      </p:sp>
      <p:sp>
        <p:nvSpPr>
          <p:cNvPr id="13" name="Shape 11"/>
          <p:cNvSpPr/>
          <p:nvPr/>
        </p:nvSpPr>
        <p:spPr>
          <a:xfrm>
            <a:off x="4736592" y="2468880"/>
            <a:ext cx="320040" cy="0"/>
          </a:xfrm>
          <a:prstGeom prst="line">
            <a:avLst/>
          </a:prstGeom>
          <a:noFill/>
          <a:ln w="25400">
            <a:solidFill>
              <a:srgbClr val="F2C14E"/>
            </a:solidFill>
            <a:prstDash val="solid"/>
            <a:headEnd type="none"/>
            <a:tailEnd type="triangle"/>
          </a:ln>
        </p:spPr>
        <p:txBody>
          <a:bodyPr/>
          <a:lstStyle/>
          <a:p>
            <a:endParaRPr lang="en-US"/>
          </a:p>
        </p:txBody>
      </p:sp>
      <p:sp>
        <p:nvSpPr>
          <p:cNvPr id="14" name="Shape 12"/>
          <p:cNvSpPr/>
          <p:nvPr/>
        </p:nvSpPr>
        <p:spPr>
          <a:xfrm>
            <a:off x="5166360" y="1874520"/>
            <a:ext cx="1783080" cy="1188720"/>
          </a:xfrm>
          <a:prstGeom prst="roundRect">
            <a:avLst>
              <a:gd name="adj" fmla="val 6154"/>
            </a:avLst>
          </a:prstGeom>
          <a:solidFill>
            <a:srgbClr val="FFFFFF"/>
          </a:solidFill>
          <a:ln w="12700">
            <a:solidFill>
              <a:srgbClr val="B8C7D8"/>
            </a:solidFill>
            <a:prstDash val="solid"/>
          </a:ln>
          <a:effectLst>
            <a:outerShdw blurRad="12700" dist="50800" dir="2700000" algn="bl" rotWithShape="0">
              <a:srgbClr val="D4DEE8">
                <a:alpha val="25000"/>
              </a:srgbClr>
            </a:outerShdw>
          </a:effectLst>
        </p:spPr>
        <p:txBody>
          <a:bodyPr/>
          <a:lstStyle/>
          <a:p>
            <a:endParaRPr lang="en-US"/>
          </a:p>
        </p:txBody>
      </p:sp>
      <p:sp>
        <p:nvSpPr>
          <p:cNvPr id="15" name="Text 13"/>
          <p:cNvSpPr/>
          <p:nvPr/>
        </p:nvSpPr>
        <p:spPr>
          <a:xfrm>
            <a:off x="5303520" y="2057400"/>
            <a:ext cx="1508760" cy="274320"/>
          </a:xfrm>
          <a:prstGeom prst="rect">
            <a:avLst/>
          </a:prstGeom>
          <a:noFill/>
          <a:ln/>
        </p:spPr>
        <p:txBody>
          <a:bodyPr wrap="square" lIns="0" tIns="0" rIns="0" bIns="0" rtlCol="0" anchor="ctr">
            <a:normAutofit/>
          </a:bodyPr>
          <a:lstStyle/>
          <a:p>
            <a:pPr marL="0" indent="0" algn="ctr">
              <a:buNone/>
            </a:pPr>
            <a:r>
              <a:rPr lang="en-US" sz="1500" b="1" dirty="0">
                <a:solidFill>
                  <a:srgbClr val="0B2D55"/>
                </a:solidFill>
                <a:latin typeface="Aptos" pitchFamily="34" charset="0"/>
                <a:ea typeface="Aptos" pitchFamily="34" charset="-122"/>
                <a:cs typeface="Aptos" pitchFamily="34" charset="-120"/>
              </a:rPr>
              <a:t>State space</a:t>
            </a:r>
            <a:endParaRPr lang="en-US" sz="1500" dirty="0"/>
          </a:p>
        </p:txBody>
      </p:sp>
      <p:sp>
        <p:nvSpPr>
          <p:cNvPr id="16" name="Text 14"/>
          <p:cNvSpPr/>
          <p:nvPr/>
        </p:nvSpPr>
        <p:spPr>
          <a:xfrm>
            <a:off x="5276088" y="2496312"/>
            <a:ext cx="1554480" cy="365760"/>
          </a:xfrm>
          <a:prstGeom prst="rect">
            <a:avLst/>
          </a:prstGeom>
          <a:noFill/>
          <a:ln/>
        </p:spPr>
        <p:txBody>
          <a:bodyPr wrap="square" lIns="0" tIns="0" rIns="0" bIns="0" rtlCol="0" anchor="ctr">
            <a:normAutofit/>
          </a:bodyPr>
          <a:lstStyle/>
          <a:p>
            <a:pPr marL="0" indent="0" algn="ctr">
              <a:buNone/>
            </a:pPr>
            <a:r>
              <a:rPr lang="en-US" sz="1150" dirty="0">
                <a:solidFill>
                  <a:srgbClr val="6D7C8F"/>
                </a:solidFill>
                <a:latin typeface="Aptos" pitchFamily="34" charset="0"/>
                <a:ea typeface="Aptos" pitchFamily="34" charset="-122"/>
                <a:cs typeface="Aptos" pitchFamily="34" charset="-120"/>
              </a:rPr>
              <a:t>possible situations</a:t>
            </a:r>
            <a:endParaRPr lang="en-US" sz="1150" dirty="0"/>
          </a:p>
        </p:txBody>
      </p:sp>
      <p:sp>
        <p:nvSpPr>
          <p:cNvPr id="17" name="Shape 15"/>
          <p:cNvSpPr/>
          <p:nvPr/>
        </p:nvSpPr>
        <p:spPr>
          <a:xfrm>
            <a:off x="6976872" y="2468880"/>
            <a:ext cx="320040" cy="0"/>
          </a:xfrm>
          <a:prstGeom prst="line">
            <a:avLst/>
          </a:prstGeom>
          <a:noFill/>
          <a:ln w="25400">
            <a:solidFill>
              <a:srgbClr val="F2C14E"/>
            </a:solidFill>
            <a:prstDash val="solid"/>
            <a:headEnd type="none"/>
            <a:tailEnd type="triangle"/>
          </a:ln>
        </p:spPr>
        <p:txBody>
          <a:bodyPr/>
          <a:lstStyle/>
          <a:p>
            <a:endParaRPr lang="en-US"/>
          </a:p>
        </p:txBody>
      </p:sp>
      <p:sp>
        <p:nvSpPr>
          <p:cNvPr id="18" name="Shape 16"/>
          <p:cNvSpPr/>
          <p:nvPr/>
        </p:nvSpPr>
        <p:spPr>
          <a:xfrm>
            <a:off x="7406640" y="1874520"/>
            <a:ext cx="1783080" cy="1188720"/>
          </a:xfrm>
          <a:prstGeom prst="roundRect">
            <a:avLst>
              <a:gd name="adj" fmla="val 6154"/>
            </a:avLst>
          </a:prstGeom>
          <a:solidFill>
            <a:srgbClr val="FFFFFF"/>
          </a:solidFill>
          <a:ln w="12700">
            <a:solidFill>
              <a:srgbClr val="B8C7D8"/>
            </a:solidFill>
            <a:prstDash val="solid"/>
          </a:ln>
          <a:effectLst>
            <a:outerShdw blurRad="12700" dist="50800" dir="2700000" algn="bl" rotWithShape="0">
              <a:srgbClr val="D4DEE8">
                <a:alpha val="25000"/>
              </a:srgbClr>
            </a:outerShdw>
          </a:effectLst>
        </p:spPr>
        <p:txBody>
          <a:bodyPr/>
          <a:lstStyle/>
          <a:p>
            <a:endParaRPr lang="en-US"/>
          </a:p>
        </p:txBody>
      </p:sp>
      <p:sp>
        <p:nvSpPr>
          <p:cNvPr id="19" name="Text 17"/>
          <p:cNvSpPr/>
          <p:nvPr/>
        </p:nvSpPr>
        <p:spPr>
          <a:xfrm>
            <a:off x="7543800" y="2057400"/>
            <a:ext cx="1508760" cy="274320"/>
          </a:xfrm>
          <a:prstGeom prst="rect">
            <a:avLst/>
          </a:prstGeom>
          <a:noFill/>
          <a:ln/>
        </p:spPr>
        <p:txBody>
          <a:bodyPr wrap="square" lIns="0" tIns="0" rIns="0" bIns="0" rtlCol="0" anchor="ctr">
            <a:normAutofit/>
          </a:bodyPr>
          <a:lstStyle/>
          <a:p>
            <a:pPr marL="0" indent="0" algn="ctr">
              <a:buNone/>
            </a:pPr>
            <a:r>
              <a:rPr lang="en-US" sz="1500" b="1" dirty="0">
                <a:solidFill>
                  <a:srgbClr val="0B2D55"/>
                </a:solidFill>
                <a:latin typeface="Aptos" pitchFamily="34" charset="0"/>
                <a:ea typeface="Aptos" pitchFamily="34" charset="-122"/>
                <a:cs typeface="Aptos" pitchFamily="34" charset="-120"/>
              </a:rPr>
              <a:t>Search algorithm</a:t>
            </a:r>
            <a:endParaRPr lang="en-US" sz="1500" dirty="0"/>
          </a:p>
        </p:txBody>
      </p:sp>
      <p:sp>
        <p:nvSpPr>
          <p:cNvPr id="20" name="Text 18"/>
          <p:cNvSpPr/>
          <p:nvPr/>
        </p:nvSpPr>
        <p:spPr>
          <a:xfrm>
            <a:off x="7516368" y="2496312"/>
            <a:ext cx="1554480" cy="365760"/>
          </a:xfrm>
          <a:prstGeom prst="rect">
            <a:avLst/>
          </a:prstGeom>
          <a:noFill/>
          <a:ln/>
        </p:spPr>
        <p:txBody>
          <a:bodyPr wrap="square" lIns="0" tIns="0" rIns="0" bIns="0" rtlCol="0" anchor="ctr">
            <a:normAutofit/>
          </a:bodyPr>
          <a:lstStyle/>
          <a:p>
            <a:pPr marL="0" indent="0" algn="ctr">
              <a:buNone/>
            </a:pPr>
            <a:r>
              <a:rPr lang="en-US" sz="1150" dirty="0">
                <a:solidFill>
                  <a:srgbClr val="6D7C8F"/>
                </a:solidFill>
                <a:latin typeface="Aptos" pitchFamily="34" charset="0"/>
                <a:ea typeface="Aptos" pitchFamily="34" charset="-122"/>
                <a:cs typeface="Aptos" pitchFamily="34" charset="-120"/>
              </a:rPr>
              <a:t>systematic exploration</a:t>
            </a:r>
            <a:endParaRPr lang="en-US" sz="1150" dirty="0"/>
          </a:p>
        </p:txBody>
      </p:sp>
      <p:sp>
        <p:nvSpPr>
          <p:cNvPr id="21" name="Shape 19"/>
          <p:cNvSpPr/>
          <p:nvPr/>
        </p:nvSpPr>
        <p:spPr>
          <a:xfrm>
            <a:off x="9217152" y="2468880"/>
            <a:ext cx="320040" cy="0"/>
          </a:xfrm>
          <a:prstGeom prst="line">
            <a:avLst/>
          </a:prstGeom>
          <a:noFill/>
          <a:ln w="25400">
            <a:solidFill>
              <a:srgbClr val="F2C14E"/>
            </a:solidFill>
            <a:prstDash val="solid"/>
            <a:headEnd type="none"/>
            <a:tailEnd type="triangle"/>
          </a:ln>
        </p:spPr>
        <p:txBody>
          <a:bodyPr/>
          <a:lstStyle/>
          <a:p>
            <a:endParaRPr lang="en-US"/>
          </a:p>
        </p:txBody>
      </p:sp>
      <p:sp>
        <p:nvSpPr>
          <p:cNvPr id="22" name="Shape 20"/>
          <p:cNvSpPr/>
          <p:nvPr/>
        </p:nvSpPr>
        <p:spPr>
          <a:xfrm>
            <a:off x="9646920" y="1874520"/>
            <a:ext cx="1783080" cy="1188720"/>
          </a:xfrm>
          <a:prstGeom prst="roundRect">
            <a:avLst>
              <a:gd name="adj" fmla="val 6154"/>
            </a:avLst>
          </a:prstGeom>
          <a:solidFill>
            <a:srgbClr val="FFFFFF"/>
          </a:solidFill>
          <a:ln w="12700">
            <a:solidFill>
              <a:srgbClr val="B8C7D8"/>
            </a:solidFill>
            <a:prstDash val="solid"/>
          </a:ln>
          <a:effectLst>
            <a:outerShdw blurRad="12700" dist="50800" dir="2700000" algn="bl" rotWithShape="0">
              <a:srgbClr val="D4DEE8">
                <a:alpha val="25000"/>
              </a:srgbClr>
            </a:outerShdw>
          </a:effectLst>
        </p:spPr>
        <p:txBody>
          <a:bodyPr/>
          <a:lstStyle/>
          <a:p>
            <a:endParaRPr lang="en-US"/>
          </a:p>
        </p:txBody>
      </p:sp>
      <p:sp>
        <p:nvSpPr>
          <p:cNvPr id="23" name="Text 21"/>
          <p:cNvSpPr/>
          <p:nvPr/>
        </p:nvSpPr>
        <p:spPr>
          <a:xfrm>
            <a:off x="9784080" y="2057400"/>
            <a:ext cx="1508760" cy="274320"/>
          </a:xfrm>
          <a:prstGeom prst="rect">
            <a:avLst/>
          </a:prstGeom>
          <a:noFill/>
          <a:ln/>
        </p:spPr>
        <p:txBody>
          <a:bodyPr wrap="square" lIns="0" tIns="0" rIns="0" bIns="0" rtlCol="0" anchor="ctr">
            <a:normAutofit/>
          </a:bodyPr>
          <a:lstStyle/>
          <a:p>
            <a:pPr marL="0" indent="0" algn="ctr">
              <a:buNone/>
            </a:pPr>
            <a:r>
              <a:rPr lang="en-US" sz="1500" b="1" dirty="0">
                <a:solidFill>
                  <a:srgbClr val="0B2D55"/>
                </a:solidFill>
                <a:latin typeface="Aptos" pitchFamily="34" charset="0"/>
                <a:ea typeface="Aptos" pitchFamily="34" charset="-122"/>
                <a:cs typeface="Aptos" pitchFamily="34" charset="-120"/>
              </a:rPr>
              <a:t>Solution path</a:t>
            </a:r>
            <a:endParaRPr lang="en-US" sz="1500" dirty="0"/>
          </a:p>
        </p:txBody>
      </p:sp>
      <p:sp>
        <p:nvSpPr>
          <p:cNvPr id="24" name="Text 22"/>
          <p:cNvSpPr/>
          <p:nvPr/>
        </p:nvSpPr>
        <p:spPr>
          <a:xfrm>
            <a:off x="9756648" y="2496312"/>
            <a:ext cx="1554480" cy="365760"/>
          </a:xfrm>
          <a:prstGeom prst="rect">
            <a:avLst/>
          </a:prstGeom>
          <a:noFill/>
          <a:ln/>
        </p:spPr>
        <p:txBody>
          <a:bodyPr wrap="square" lIns="0" tIns="0" rIns="0" bIns="0" rtlCol="0" anchor="ctr">
            <a:normAutofit/>
          </a:bodyPr>
          <a:lstStyle/>
          <a:p>
            <a:pPr marL="0" indent="0" algn="ctr">
              <a:buNone/>
            </a:pPr>
            <a:r>
              <a:rPr lang="en-US" sz="1150" dirty="0">
                <a:solidFill>
                  <a:srgbClr val="6D7C8F"/>
                </a:solidFill>
                <a:latin typeface="Aptos" pitchFamily="34" charset="0"/>
                <a:ea typeface="Aptos" pitchFamily="34" charset="-122"/>
                <a:cs typeface="Aptos" pitchFamily="34" charset="-120"/>
              </a:rPr>
              <a:t>sequence of actions</a:t>
            </a:r>
            <a:endParaRPr lang="en-US" sz="1150" dirty="0"/>
          </a:p>
        </p:txBody>
      </p:sp>
      <p:sp>
        <p:nvSpPr>
          <p:cNvPr id="25" name="Text 23"/>
          <p:cNvSpPr/>
          <p:nvPr/>
        </p:nvSpPr>
        <p:spPr>
          <a:xfrm>
            <a:off x="1920240" y="4389120"/>
            <a:ext cx="8412480" cy="566928"/>
          </a:xfrm>
          <a:prstGeom prst="rect">
            <a:avLst/>
          </a:prstGeom>
          <a:noFill/>
          <a:ln/>
        </p:spPr>
        <p:txBody>
          <a:bodyPr wrap="square" lIns="0" tIns="0" rIns="0" bIns="0" rtlCol="0" anchor="ctr">
            <a:normAutofit/>
          </a:bodyPr>
          <a:lstStyle/>
          <a:p>
            <a:pPr marL="0" indent="0" algn="ctr">
              <a:buNone/>
            </a:pPr>
            <a:r>
              <a:rPr lang="en-US" sz="2800" b="1" dirty="0">
                <a:solidFill>
                  <a:srgbClr val="0B2D55"/>
                </a:solidFill>
                <a:latin typeface="Aptos" pitchFamily="34" charset="0"/>
                <a:ea typeface="Aptos" pitchFamily="34" charset="-122"/>
                <a:cs typeface="Aptos" pitchFamily="34" charset="-120"/>
              </a:rPr>
              <a:t>Formulation happens before algorithm selection.</a:t>
            </a:r>
            <a:endParaRPr lang="en-US" sz="2800" dirty="0"/>
          </a:p>
        </p:txBody>
      </p:sp>
      <p:sp>
        <p:nvSpPr>
          <p:cNvPr id="26" name="Text 24"/>
          <p:cNvSpPr/>
          <p:nvPr/>
        </p:nvSpPr>
        <p:spPr>
          <a:xfrm>
            <a:off x="1965960" y="5074920"/>
            <a:ext cx="8321040" cy="310896"/>
          </a:xfrm>
          <a:prstGeom prst="rect">
            <a:avLst/>
          </a:prstGeom>
          <a:noFill/>
          <a:ln/>
        </p:spPr>
        <p:txBody>
          <a:bodyPr wrap="square" lIns="0" tIns="0" rIns="0" bIns="0" rtlCol="0" anchor="ctr">
            <a:normAutofit/>
          </a:bodyPr>
          <a:lstStyle/>
          <a:p>
            <a:pPr marL="0" indent="0" algn="ctr">
              <a:buNone/>
            </a:pPr>
            <a:r>
              <a:rPr lang="en-US" sz="1700" dirty="0">
                <a:solidFill>
                  <a:srgbClr val="132033"/>
                </a:solidFill>
                <a:latin typeface="Aptos" pitchFamily="34" charset="0"/>
                <a:ea typeface="Aptos" pitchFamily="34" charset="-122"/>
                <a:cs typeface="Aptos" pitchFamily="34" charset="-120"/>
              </a:rPr>
              <a:t>A better algorithm cannot fully rescue a poorly represented problem.</a:t>
            </a:r>
            <a:endParaRPr lang="en-US" sz="1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76072" y="566928"/>
            <a:ext cx="8412480" cy="475488"/>
          </a:xfrm>
          <a:prstGeom prst="rect">
            <a:avLst/>
          </a:prstGeom>
          <a:noFill/>
          <a:ln/>
        </p:spPr>
        <p:txBody>
          <a:bodyPr wrap="square" lIns="0" tIns="0" rIns="0" bIns="0" rtlCol="0" anchor="ctr">
            <a:normAutofit lnSpcReduction="10000"/>
          </a:bodyPr>
          <a:lstStyle/>
          <a:p>
            <a:pPr marL="0" indent="0">
              <a:buNone/>
            </a:pPr>
            <a:r>
              <a:rPr lang="en-US" sz="3400" b="1" dirty="0">
                <a:solidFill>
                  <a:srgbClr val="0B2D55"/>
                </a:solidFill>
                <a:latin typeface="Aptos Display" pitchFamily="34" charset="0"/>
                <a:ea typeface="Aptos Display" pitchFamily="34" charset="-122"/>
                <a:cs typeface="Aptos Display" pitchFamily="34" charset="-120"/>
              </a:rPr>
              <a:t>The four core elements</a:t>
            </a:r>
            <a:endParaRPr lang="en-US" sz="3400" dirty="0"/>
          </a:p>
        </p:txBody>
      </p:sp>
      <p:sp>
        <p:nvSpPr>
          <p:cNvPr id="3" name="Text 1"/>
          <p:cNvSpPr/>
          <p:nvPr/>
        </p:nvSpPr>
        <p:spPr>
          <a:xfrm>
            <a:off x="594360" y="1051560"/>
            <a:ext cx="7315200" cy="292608"/>
          </a:xfrm>
          <a:prstGeom prst="rect">
            <a:avLst/>
          </a:prstGeom>
          <a:noFill/>
          <a:ln/>
        </p:spPr>
        <p:txBody>
          <a:bodyPr wrap="square" lIns="0" tIns="0" rIns="0" bIns="0" rtlCol="0" anchor="ctr">
            <a:normAutofit/>
          </a:bodyPr>
          <a:lstStyle/>
          <a:p>
            <a:pPr marL="0" indent="0">
              <a:buNone/>
            </a:pPr>
            <a:r>
              <a:rPr lang="en-US" sz="1500" dirty="0">
                <a:solidFill>
                  <a:srgbClr val="132033"/>
                </a:solidFill>
                <a:latin typeface="Aptos" pitchFamily="34" charset="0"/>
                <a:ea typeface="Aptos" pitchFamily="34" charset="-122"/>
                <a:cs typeface="Aptos" pitchFamily="34" charset="-120"/>
              </a:rPr>
              <a:t>A search problem answers four questions.</a:t>
            </a:r>
            <a:endParaRPr lang="en-US" sz="1500" dirty="0"/>
          </a:p>
        </p:txBody>
      </p:sp>
      <p:sp>
        <p:nvSpPr>
          <p:cNvPr id="4" name="Text 2"/>
          <p:cNvSpPr/>
          <p:nvPr/>
        </p:nvSpPr>
        <p:spPr>
          <a:xfrm>
            <a:off x="502920" y="6528816"/>
            <a:ext cx="4937760" cy="201168"/>
          </a:xfrm>
          <a:prstGeom prst="rect">
            <a:avLst/>
          </a:prstGeom>
          <a:noFill/>
          <a:ln/>
        </p:spPr>
        <p:txBody>
          <a:bodyPr wrap="square" lIns="0" tIns="0" rIns="0" bIns="0" rtlCol="0" anchor="ctr">
            <a:normAutofit/>
          </a:bodyPr>
          <a:lstStyle/>
          <a:p>
            <a:pPr marL="0" indent="0">
              <a:buNone/>
            </a:pPr>
            <a:r>
              <a:rPr lang="en-US" sz="850" dirty="0">
                <a:solidFill>
                  <a:srgbClr val="6D7C8F"/>
                </a:solidFill>
                <a:latin typeface="Aptos" pitchFamily="34" charset="0"/>
                <a:ea typeface="Aptos" pitchFamily="34" charset="-122"/>
                <a:cs typeface="Aptos" pitchFamily="34" charset="-120"/>
              </a:rPr>
              <a:t>CS 471  |  L04: Problem Formulation</a:t>
            </a:r>
            <a:endParaRPr lang="en-US" sz="850" dirty="0"/>
          </a:p>
        </p:txBody>
      </p:sp>
      <p:sp>
        <p:nvSpPr>
          <p:cNvPr id="5" name="Text 3"/>
          <p:cNvSpPr/>
          <p:nvPr/>
        </p:nvSpPr>
        <p:spPr>
          <a:xfrm>
            <a:off x="11402568" y="6528816"/>
            <a:ext cx="320040" cy="201168"/>
          </a:xfrm>
          <a:prstGeom prst="rect">
            <a:avLst/>
          </a:prstGeom>
          <a:noFill/>
          <a:ln/>
        </p:spPr>
        <p:txBody>
          <a:bodyPr wrap="square" lIns="0" tIns="0" rIns="0" bIns="0" rtlCol="0" anchor="ctr">
            <a:normAutofit/>
          </a:bodyPr>
          <a:lstStyle/>
          <a:p>
            <a:pPr marL="0" indent="0" algn="r">
              <a:buNone/>
            </a:pPr>
            <a:r>
              <a:rPr lang="en-US" sz="850" dirty="0">
                <a:solidFill>
                  <a:srgbClr val="6D7C8F"/>
                </a:solidFill>
                <a:latin typeface="Aptos" pitchFamily="34" charset="0"/>
                <a:ea typeface="Aptos" pitchFamily="34" charset="-122"/>
                <a:cs typeface="Aptos" pitchFamily="34" charset="-120"/>
              </a:rPr>
              <a:t>6</a:t>
            </a:r>
            <a:endParaRPr lang="en-US" sz="850" dirty="0"/>
          </a:p>
        </p:txBody>
      </p:sp>
      <p:sp>
        <p:nvSpPr>
          <p:cNvPr id="6" name="Shape 4"/>
          <p:cNvSpPr/>
          <p:nvPr/>
        </p:nvSpPr>
        <p:spPr>
          <a:xfrm>
            <a:off x="777240" y="1828800"/>
            <a:ext cx="2423160" cy="1874520"/>
          </a:xfrm>
          <a:prstGeom prst="roundRect">
            <a:avLst>
              <a:gd name="adj" fmla="val 3902"/>
            </a:avLst>
          </a:prstGeom>
          <a:solidFill>
            <a:srgbClr val="FFFFFF"/>
          </a:solidFill>
          <a:ln w="12700">
            <a:solidFill>
              <a:srgbClr val="B8C7D8"/>
            </a:solidFill>
            <a:prstDash val="solid"/>
          </a:ln>
          <a:effectLst>
            <a:outerShdw blurRad="12700" dist="50800" dir="2700000" algn="bl" rotWithShape="0">
              <a:srgbClr val="D4DEE8">
                <a:alpha val="25000"/>
              </a:srgbClr>
            </a:outerShdw>
          </a:effectLst>
        </p:spPr>
        <p:txBody>
          <a:bodyPr/>
          <a:lstStyle/>
          <a:p>
            <a:endParaRPr lang="en-US"/>
          </a:p>
        </p:txBody>
      </p:sp>
      <p:sp>
        <p:nvSpPr>
          <p:cNvPr id="7" name="Shape 5"/>
          <p:cNvSpPr/>
          <p:nvPr/>
        </p:nvSpPr>
        <p:spPr>
          <a:xfrm>
            <a:off x="777240" y="1828800"/>
            <a:ext cx="73152" cy="1874520"/>
          </a:xfrm>
          <a:prstGeom prst="rect">
            <a:avLst/>
          </a:prstGeom>
          <a:solidFill>
            <a:srgbClr val="1D5FA7"/>
          </a:solidFill>
          <a:ln w="12700">
            <a:solidFill>
              <a:srgbClr val="1D5FA7"/>
            </a:solidFill>
            <a:prstDash val="solid"/>
          </a:ln>
        </p:spPr>
        <p:txBody>
          <a:bodyPr/>
          <a:lstStyle/>
          <a:p>
            <a:endParaRPr lang="en-US"/>
          </a:p>
        </p:txBody>
      </p:sp>
      <p:sp>
        <p:nvSpPr>
          <p:cNvPr id="8" name="Text 6"/>
          <p:cNvSpPr/>
          <p:nvPr/>
        </p:nvSpPr>
        <p:spPr>
          <a:xfrm>
            <a:off x="960120" y="1975104"/>
            <a:ext cx="2103120" cy="256032"/>
          </a:xfrm>
          <a:prstGeom prst="rect">
            <a:avLst/>
          </a:prstGeom>
          <a:noFill/>
          <a:ln/>
        </p:spPr>
        <p:txBody>
          <a:bodyPr wrap="square" lIns="0" tIns="0" rIns="0" bIns="0" rtlCol="0" anchor="ctr">
            <a:normAutofit/>
          </a:bodyPr>
          <a:lstStyle/>
          <a:p>
            <a:pPr marL="0" indent="0">
              <a:buNone/>
            </a:pPr>
            <a:r>
              <a:rPr lang="en-US" sz="1500" b="1" dirty="0">
                <a:solidFill>
                  <a:srgbClr val="0B2D55"/>
                </a:solidFill>
                <a:latin typeface="Aptos" pitchFamily="34" charset="0"/>
                <a:ea typeface="Aptos" pitchFamily="34" charset="-122"/>
                <a:cs typeface="Aptos" pitchFamily="34" charset="-120"/>
              </a:rPr>
              <a:t>State</a:t>
            </a:r>
            <a:endParaRPr lang="en-US" sz="1500" dirty="0"/>
          </a:p>
        </p:txBody>
      </p:sp>
      <p:sp>
        <p:nvSpPr>
          <p:cNvPr id="9" name="Text 7"/>
          <p:cNvSpPr/>
          <p:nvPr/>
        </p:nvSpPr>
        <p:spPr>
          <a:xfrm>
            <a:off x="960120" y="2313432"/>
            <a:ext cx="2103120" cy="1280160"/>
          </a:xfrm>
          <a:prstGeom prst="rect">
            <a:avLst/>
          </a:prstGeom>
          <a:noFill/>
          <a:ln/>
        </p:spPr>
        <p:txBody>
          <a:bodyPr wrap="square" lIns="0" tIns="0" rIns="0" bIns="0" rtlCol="0" anchor="ctr">
            <a:normAutofit/>
          </a:bodyPr>
          <a:lstStyle/>
          <a:p>
            <a:pPr marL="0" indent="0">
              <a:buNone/>
            </a:pPr>
            <a:r>
              <a:rPr lang="en-US" sz="1350" dirty="0">
                <a:solidFill>
                  <a:srgbClr val="132033"/>
                </a:solidFill>
                <a:latin typeface="Aptos" pitchFamily="34" charset="0"/>
                <a:ea typeface="Aptos" pitchFamily="34" charset="-122"/>
                <a:cs typeface="Aptos" pitchFamily="34" charset="-120"/>
              </a:rPr>
              <a:t>Where are we?</a:t>
            </a:r>
            <a:endParaRPr lang="en-US" sz="1350" dirty="0"/>
          </a:p>
          <a:p>
            <a:pPr marL="0" indent="0">
              <a:buNone/>
            </a:pPr>
            <a:r>
              <a:rPr lang="en-US" sz="1350" dirty="0">
                <a:solidFill>
                  <a:srgbClr val="132033"/>
                </a:solidFill>
                <a:latin typeface="Aptos" pitchFamily="34" charset="0"/>
                <a:ea typeface="Aptos" pitchFamily="34" charset="-122"/>
                <a:cs typeface="Aptos" pitchFamily="34" charset="-120"/>
              </a:rPr>
              <a:t>Decision-relevant situation</a:t>
            </a:r>
            <a:endParaRPr lang="en-US" sz="1350" dirty="0"/>
          </a:p>
        </p:txBody>
      </p:sp>
      <p:sp>
        <p:nvSpPr>
          <p:cNvPr id="10" name="Shape 8"/>
          <p:cNvSpPr/>
          <p:nvPr/>
        </p:nvSpPr>
        <p:spPr>
          <a:xfrm>
            <a:off x="3566160" y="1828800"/>
            <a:ext cx="2423160" cy="1874520"/>
          </a:xfrm>
          <a:prstGeom prst="roundRect">
            <a:avLst>
              <a:gd name="adj" fmla="val 3902"/>
            </a:avLst>
          </a:prstGeom>
          <a:solidFill>
            <a:srgbClr val="FFFFFF"/>
          </a:solidFill>
          <a:ln w="12700">
            <a:solidFill>
              <a:srgbClr val="B8C7D8"/>
            </a:solidFill>
            <a:prstDash val="solid"/>
          </a:ln>
          <a:effectLst>
            <a:outerShdw blurRad="12700" dist="50800" dir="2700000" algn="bl" rotWithShape="0">
              <a:srgbClr val="D4DEE8">
                <a:alpha val="25000"/>
              </a:srgbClr>
            </a:outerShdw>
          </a:effectLst>
        </p:spPr>
        <p:txBody>
          <a:bodyPr/>
          <a:lstStyle/>
          <a:p>
            <a:endParaRPr lang="en-US"/>
          </a:p>
        </p:txBody>
      </p:sp>
      <p:sp>
        <p:nvSpPr>
          <p:cNvPr id="11" name="Shape 9"/>
          <p:cNvSpPr/>
          <p:nvPr/>
        </p:nvSpPr>
        <p:spPr>
          <a:xfrm>
            <a:off x="3566160" y="1828800"/>
            <a:ext cx="73152" cy="1874520"/>
          </a:xfrm>
          <a:prstGeom prst="rect">
            <a:avLst/>
          </a:prstGeom>
          <a:solidFill>
            <a:srgbClr val="39A875"/>
          </a:solidFill>
          <a:ln w="12700">
            <a:solidFill>
              <a:srgbClr val="39A875"/>
            </a:solidFill>
            <a:prstDash val="solid"/>
          </a:ln>
        </p:spPr>
        <p:txBody>
          <a:bodyPr/>
          <a:lstStyle/>
          <a:p>
            <a:endParaRPr lang="en-US"/>
          </a:p>
        </p:txBody>
      </p:sp>
      <p:sp>
        <p:nvSpPr>
          <p:cNvPr id="12" name="Text 10"/>
          <p:cNvSpPr/>
          <p:nvPr/>
        </p:nvSpPr>
        <p:spPr>
          <a:xfrm>
            <a:off x="3749040" y="1975104"/>
            <a:ext cx="2103120" cy="256032"/>
          </a:xfrm>
          <a:prstGeom prst="rect">
            <a:avLst/>
          </a:prstGeom>
          <a:noFill/>
          <a:ln/>
        </p:spPr>
        <p:txBody>
          <a:bodyPr wrap="square" lIns="0" tIns="0" rIns="0" bIns="0" rtlCol="0" anchor="ctr">
            <a:normAutofit/>
          </a:bodyPr>
          <a:lstStyle/>
          <a:p>
            <a:pPr marL="0" indent="0">
              <a:buNone/>
            </a:pPr>
            <a:r>
              <a:rPr lang="en-US" sz="1500" b="1" dirty="0">
                <a:solidFill>
                  <a:srgbClr val="0B2D55"/>
                </a:solidFill>
                <a:latin typeface="Aptos" pitchFamily="34" charset="0"/>
                <a:ea typeface="Aptos" pitchFamily="34" charset="-122"/>
                <a:cs typeface="Aptos" pitchFamily="34" charset="-120"/>
              </a:rPr>
              <a:t>Actions</a:t>
            </a:r>
            <a:endParaRPr lang="en-US" sz="1500" dirty="0"/>
          </a:p>
        </p:txBody>
      </p:sp>
      <p:sp>
        <p:nvSpPr>
          <p:cNvPr id="13" name="Text 11"/>
          <p:cNvSpPr/>
          <p:nvPr/>
        </p:nvSpPr>
        <p:spPr>
          <a:xfrm>
            <a:off x="3749040" y="2313432"/>
            <a:ext cx="2103120" cy="1280160"/>
          </a:xfrm>
          <a:prstGeom prst="rect">
            <a:avLst/>
          </a:prstGeom>
          <a:noFill/>
          <a:ln/>
        </p:spPr>
        <p:txBody>
          <a:bodyPr wrap="square" lIns="0" tIns="0" rIns="0" bIns="0" rtlCol="0" anchor="ctr">
            <a:normAutofit/>
          </a:bodyPr>
          <a:lstStyle/>
          <a:p>
            <a:pPr marL="0" indent="0">
              <a:buNone/>
            </a:pPr>
            <a:r>
              <a:rPr lang="en-US" sz="1350" dirty="0">
                <a:solidFill>
                  <a:srgbClr val="132033"/>
                </a:solidFill>
                <a:latin typeface="Aptos" pitchFamily="34" charset="0"/>
                <a:ea typeface="Aptos" pitchFamily="34" charset="-122"/>
                <a:cs typeface="Aptos" pitchFamily="34" charset="-120"/>
              </a:rPr>
              <a:t>What can we do?</a:t>
            </a:r>
            <a:endParaRPr lang="en-US" sz="1350" dirty="0"/>
          </a:p>
          <a:p>
            <a:pPr marL="0" indent="0">
              <a:buNone/>
            </a:pPr>
            <a:r>
              <a:rPr lang="en-US" sz="1350" dirty="0">
                <a:solidFill>
                  <a:srgbClr val="132033"/>
                </a:solidFill>
                <a:latin typeface="Aptos" pitchFamily="34" charset="0"/>
                <a:ea typeface="Aptos" pitchFamily="34" charset="-122"/>
                <a:cs typeface="Aptos" pitchFamily="34" charset="-120"/>
              </a:rPr>
              <a:t>Legal moves from a state</a:t>
            </a:r>
            <a:endParaRPr lang="en-US" sz="1350" dirty="0"/>
          </a:p>
        </p:txBody>
      </p:sp>
      <p:sp>
        <p:nvSpPr>
          <p:cNvPr id="14" name="Shape 12"/>
          <p:cNvSpPr/>
          <p:nvPr/>
        </p:nvSpPr>
        <p:spPr>
          <a:xfrm>
            <a:off x="6355080" y="1828800"/>
            <a:ext cx="2423160" cy="1874520"/>
          </a:xfrm>
          <a:prstGeom prst="roundRect">
            <a:avLst>
              <a:gd name="adj" fmla="val 3902"/>
            </a:avLst>
          </a:prstGeom>
          <a:solidFill>
            <a:srgbClr val="FFFFFF"/>
          </a:solidFill>
          <a:ln w="12700">
            <a:solidFill>
              <a:srgbClr val="B8C7D8"/>
            </a:solidFill>
            <a:prstDash val="solid"/>
          </a:ln>
          <a:effectLst>
            <a:outerShdw blurRad="12700" dist="50800" dir="2700000" algn="bl" rotWithShape="0">
              <a:srgbClr val="D4DEE8">
                <a:alpha val="25000"/>
              </a:srgbClr>
            </a:outerShdw>
          </a:effectLst>
        </p:spPr>
        <p:txBody>
          <a:bodyPr/>
          <a:lstStyle/>
          <a:p>
            <a:endParaRPr lang="en-US"/>
          </a:p>
        </p:txBody>
      </p:sp>
      <p:sp>
        <p:nvSpPr>
          <p:cNvPr id="15" name="Shape 13"/>
          <p:cNvSpPr/>
          <p:nvPr/>
        </p:nvSpPr>
        <p:spPr>
          <a:xfrm>
            <a:off x="6355080" y="1828800"/>
            <a:ext cx="73152" cy="1874520"/>
          </a:xfrm>
          <a:prstGeom prst="rect">
            <a:avLst/>
          </a:prstGeom>
          <a:solidFill>
            <a:srgbClr val="F2C14E"/>
          </a:solidFill>
          <a:ln w="12700">
            <a:solidFill>
              <a:srgbClr val="F2C14E"/>
            </a:solidFill>
            <a:prstDash val="solid"/>
          </a:ln>
        </p:spPr>
        <p:txBody>
          <a:bodyPr/>
          <a:lstStyle/>
          <a:p>
            <a:endParaRPr lang="en-US"/>
          </a:p>
        </p:txBody>
      </p:sp>
      <p:sp>
        <p:nvSpPr>
          <p:cNvPr id="16" name="Text 14"/>
          <p:cNvSpPr/>
          <p:nvPr/>
        </p:nvSpPr>
        <p:spPr>
          <a:xfrm>
            <a:off x="6537960" y="1975104"/>
            <a:ext cx="2103120" cy="256032"/>
          </a:xfrm>
          <a:prstGeom prst="rect">
            <a:avLst/>
          </a:prstGeom>
          <a:noFill/>
          <a:ln/>
        </p:spPr>
        <p:txBody>
          <a:bodyPr wrap="square" lIns="0" tIns="0" rIns="0" bIns="0" rtlCol="0" anchor="ctr">
            <a:normAutofit/>
          </a:bodyPr>
          <a:lstStyle/>
          <a:p>
            <a:pPr marL="0" indent="0">
              <a:buNone/>
            </a:pPr>
            <a:r>
              <a:rPr lang="en-US" sz="1500" b="1" dirty="0">
                <a:solidFill>
                  <a:srgbClr val="0B2D55"/>
                </a:solidFill>
                <a:latin typeface="Aptos" pitchFamily="34" charset="0"/>
                <a:ea typeface="Aptos" pitchFamily="34" charset="-122"/>
                <a:cs typeface="Aptos" pitchFamily="34" charset="-120"/>
              </a:rPr>
              <a:t>Goal test</a:t>
            </a:r>
            <a:endParaRPr lang="en-US" sz="1500" dirty="0"/>
          </a:p>
        </p:txBody>
      </p:sp>
      <p:sp>
        <p:nvSpPr>
          <p:cNvPr id="17" name="Text 15"/>
          <p:cNvSpPr/>
          <p:nvPr/>
        </p:nvSpPr>
        <p:spPr>
          <a:xfrm>
            <a:off x="6537960" y="2313432"/>
            <a:ext cx="2103120" cy="1280160"/>
          </a:xfrm>
          <a:prstGeom prst="rect">
            <a:avLst/>
          </a:prstGeom>
          <a:noFill/>
          <a:ln/>
        </p:spPr>
        <p:txBody>
          <a:bodyPr wrap="square" lIns="0" tIns="0" rIns="0" bIns="0" rtlCol="0" anchor="ctr">
            <a:normAutofit/>
          </a:bodyPr>
          <a:lstStyle/>
          <a:p>
            <a:pPr marL="0" indent="0">
              <a:buNone/>
            </a:pPr>
            <a:r>
              <a:rPr lang="en-US" sz="1350" dirty="0">
                <a:solidFill>
                  <a:srgbClr val="132033"/>
                </a:solidFill>
                <a:latin typeface="Aptos" pitchFamily="34" charset="0"/>
                <a:ea typeface="Aptos" pitchFamily="34" charset="-122"/>
                <a:cs typeface="Aptos" pitchFamily="34" charset="-120"/>
              </a:rPr>
              <a:t>When are we done?</a:t>
            </a:r>
            <a:endParaRPr lang="en-US" sz="1350" dirty="0"/>
          </a:p>
          <a:p>
            <a:pPr marL="0" indent="0">
              <a:buNone/>
            </a:pPr>
            <a:r>
              <a:rPr lang="en-US" sz="1350" dirty="0">
                <a:solidFill>
                  <a:srgbClr val="132033"/>
                </a:solidFill>
                <a:latin typeface="Aptos" pitchFamily="34" charset="0"/>
                <a:ea typeface="Aptos" pitchFamily="34" charset="-122"/>
                <a:cs typeface="Aptos" pitchFamily="34" charset="-120"/>
              </a:rPr>
              <a:t>Condition that recognizes success</a:t>
            </a:r>
            <a:endParaRPr lang="en-US" sz="1350" dirty="0"/>
          </a:p>
        </p:txBody>
      </p:sp>
      <p:sp>
        <p:nvSpPr>
          <p:cNvPr id="18" name="Shape 16"/>
          <p:cNvSpPr/>
          <p:nvPr/>
        </p:nvSpPr>
        <p:spPr>
          <a:xfrm>
            <a:off x="9144000" y="1828800"/>
            <a:ext cx="2423160" cy="1874520"/>
          </a:xfrm>
          <a:prstGeom prst="roundRect">
            <a:avLst>
              <a:gd name="adj" fmla="val 3902"/>
            </a:avLst>
          </a:prstGeom>
          <a:solidFill>
            <a:srgbClr val="FFFFFF"/>
          </a:solidFill>
          <a:ln w="12700">
            <a:solidFill>
              <a:srgbClr val="B8C7D8"/>
            </a:solidFill>
            <a:prstDash val="solid"/>
          </a:ln>
          <a:effectLst>
            <a:outerShdw blurRad="12700" dist="50800" dir="2700000" algn="bl" rotWithShape="0">
              <a:srgbClr val="D4DEE8">
                <a:alpha val="25000"/>
              </a:srgbClr>
            </a:outerShdw>
          </a:effectLst>
        </p:spPr>
        <p:txBody>
          <a:bodyPr/>
          <a:lstStyle/>
          <a:p>
            <a:endParaRPr lang="en-US"/>
          </a:p>
        </p:txBody>
      </p:sp>
      <p:sp>
        <p:nvSpPr>
          <p:cNvPr id="19" name="Shape 17"/>
          <p:cNvSpPr/>
          <p:nvPr/>
        </p:nvSpPr>
        <p:spPr>
          <a:xfrm>
            <a:off x="9144000" y="1828800"/>
            <a:ext cx="73152" cy="1874520"/>
          </a:xfrm>
          <a:prstGeom prst="rect">
            <a:avLst/>
          </a:prstGeom>
          <a:solidFill>
            <a:srgbClr val="D94E4E"/>
          </a:solidFill>
          <a:ln w="12700">
            <a:solidFill>
              <a:srgbClr val="D94E4E"/>
            </a:solidFill>
            <a:prstDash val="solid"/>
          </a:ln>
        </p:spPr>
        <p:txBody>
          <a:bodyPr/>
          <a:lstStyle/>
          <a:p>
            <a:endParaRPr lang="en-US"/>
          </a:p>
        </p:txBody>
      </p:sp>
      <p:sp>
        <p:nvSpPr>
          <p:cNvPr id="20" name="Text 18"/>
          <p:cNvSpPr/>
          <p:nvPr/>
        </p:nvSpPr>
        <p:spPr>
          <a:xfrm>
            <a:off x="9326880" y="1975104"/>
            <a:ext cx="2103120" cy="256032"/>
          </a:xfrm>
          <a:prstGeom prst="rect">
            <a:avLst/>
          </a:prstGeom>
          <a:noFill/>
          <a:ln/>
        </p:spPr>
        <p:txBody>
          <a:bodyPr wrap="square" lIns="0" tIns="0" rIns="0" bIns="0" rtlCol="0" anchor="ctr">
            <a:normAutofit/>
          </a:bodyPr>
          <a:lstStyle/>
          <a:p>
            <a:pPr marL="0" indent="0">
              <a:buNone/>
            </a:pPr>
            <a:r>
              <a:rPr lang="en-US" sz="1500" b="1" dirty="0">
                <a:solidFill>
                  <a:srgbClr val="0B2D55"/>
                </a:solidFill>
                <a:latin typeface="Aptos" pitchFamily="34" charset="0"/>
                <a:ea typeface="Aptos" pitchFamily="34" charset="-122"/>
                <a:cs typeface="Aptos" pitchFamily="34" charset="-120"/>
              </a:rPr>
              <a:t>Path cost</a:t>
            </a:r>
            <a:endParaRPr lang="en-US" sz="1500" dirty="0"/>
          </a:p>
        </p:txBody>
      </p:sp>
      <p:sp>
        <p:nvSpPr>
          <p:cNvPr id="21" name="Text 19"/>
          <p:cNvSpPr/>
          <p:nvPr/>
        </p:nvSpPr>
        <p:spPr>
          <a:xfrm>
            <a:off x="9326880" y="2313432"/>
            <a:ext cx="2103120" cy="1280160"/>
          </a:xfrm>
          <a:prstGeom prst="rect">
            <a:avLst/>
          </a:prstGeom>
          <a:noFill/>
          <a:ln/>
        </p:spPr>
        <p:txBody>
          <a:bodyPr wrap="square" lIns="0" tIns="0" rIns="0" bIns="0" rtlCol="0" anchor="ctr">
            <a:normAutofit/>
          </a:bodyPr>
          <a:lstStyle/>
          <a:p>
            <a:pPr marL="0" indent="0">
              <a:buNone/>
            </a:pPr>
            <a:r>
              <a:rPr lang="en-US" sz="1350" dirty="0">
                <a:solidFill>
                  <a:srgbClr val="132033"/>
                </a:solidFill>
                <a:latin typeface="Aptos" pitchFamily="34" charset="0"/>
                <a:ea typeface="Aptos" pitchFamily="34" charset="-122"/>
                <a:cs typeface="Aptos" pitchFamily="34" charset="-120"/>
              </a:rPr>
              <a:t>What is better?</a:t>
            </a:r>
            <a:endParaRPr lang="en-US" sz="1350" dirty="0"/>
          </a:p>
          <a:p>
            <a:pPr marL="0" indent="0">
              <a:buNone/>
            </a:pPr>
            <a:r>
              <a:rPr lang="en-US" sz="1350" dirty="0">
                <a:solidFill>
                  <a:srgbClr val="132033"/>
                </a:solidFill>
                <a:latin typeface="Aptos" pitchFamily="34" charset="0"/>
                <a:ea typeface="Aptos" pitchFamily="34" charset="-122"/>
                <a:cs typeface="Aptos" pitchFamily="34" charset="-120"/>
              </a:rPr>
              <a:t>Cumulative quantity to minimize</a:t>
            </a:r>
            <a:endParaRPr lang="en-US" sz="1350" dirty="0"/>
          </a:p>
        </p:txBody>
      </p:sp>
      <p:sp>
        <p:nvSpPr>
          <p:cNvPr id="22" name="Text 20"/>
          <p:cNvSpPr/>
          <p:nvPr/>
        </p:nvSpPr>
        <p:spPr>
          <a:xfrm>
            <a:off x="914400" y="5074920"/>
            <a:ext cx="10149840" cy="502920"/>
          </a:xfrm>
          <a:prstGeom prst="rect">
            <a:avLst/>
          </a:prstGeom>
          <a:noFill/>
          <a:ln/>
        </p:spPr>
        <p:txBody>
          <a:bodyPr wrap="square" lIns="0" tIns="0" rIns="0" bIns="0" rtlCol="0" anchor="ctr">
            <a:normAutofit/>
          </a:bodyPr>
          <a:lstStyle/>
          <a:p>
            <a:pPr marL="0" indent="0" algn="ctr">
              <a:buNone/>
            </a:pPr>
            <a:r>
              <a:rPr lang="en-US" sz="2300" b="1" dirty="0">
                <a:solidFill>
                  <a:srgbClr val="0B2D55"/>
                </a:solidFill>
                <a:latin typeface="Aptos" pitchFamily="34" charset="0"/>
                <a:ea typeface="Aptos" pitchFamily="34" charset="-122"/>
                <a:cs typeface="Aptos" pitchFamily="34" charset="-120"/>
              </a:rPr>
              <a:t>Initial state: the specific state where the problem starts.</a:t>
            </a:r>
            <a:endParaRPr lang="en-US" sz="2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76072" y="566928"/>
            <a:ext cx="8412480" cy="475488"/>
          </a:xfrm>
          <a:prstGeom prst="rect">
            <a:avLst/>
          </a:prstGeom>
          <a:noFill/>
          <a:ln/>
        </p:spPr>
        <p:txBody>
          <a:bodyPr wrap="square" lIns="0" tIns="0" rIns="0" bIns="0" rtlCol="0" anchor="ctr">
            <a:normAutofit lnSpcReduction="10000"/>
          </a:bodyPr>
          <a:lstStyle/>
          <a:p>
            <a:pPr marL="0" indent="0">
              <a:buNone/>
            </a:pPr>
            <a:r>
              <a:rPr lang="en-US" sz="3400" b="1" dirty="0">
                <a:solidFill>
                  <a:srgbClr val="0B2D55"/>
                </a:solidFill>
                <a:latin typeface="Aptos Display" pitchFamily="34" charset="0"/>
                <a:ea typeface="Aptos Display" pitchFamily="34" charset="-122"/>
                <a:cs typeface="Aptos Display" pitchFamily="34" charset="-120"/>
              </a:rPr>
              <a:t>States: what must the system remember?</a:t>
            </a:r>
            <a:endParaRPr lang="en-US" sz="3400" dirty="0"/>
          </a:p>
        </p:txBody>
      </p:sp>
      <p:sp>
        <p:nvSpPr>
          <p:cNvPr id="3" name="Text 1"/>
          <p:cNvSpPr/>
          <p:nvPr/>
        </p:nvSpPr>
        <p:spPr>
          <a:xfrm>
            <a:off x="594360" y="1051560"/>
            <a:ext cx="7315200" cy="292608"/>
          </a:xfrm>
          <a:prstGeom prst="rect">
            <a:avLst/>
          </a:prstGeom>
          <a:noFill/>
          <a:ln/>
        </p:spPr>
        <p:txBody>
          <a:bodyPr wrap="square" lIns="0" tIns="0" rIns="0" bIns="0" rtlCol="0" anchor="ctr">
            <a:normAutofit/>
          </a:bodyPr>
          <a:lstStyle/>
          <a:p>
            <a:pPr marL="0" indent="0">
              <a:buNone/>
            </a:pPr>
            <a:r>
              <a:rPr lang="en-US" sz="1500" dirty="0">
                <a:solidFill>
                  <a:srgbClr val="132033"/>
                </a:solidFill>
                <a:latin typeface="Aptos" pitchFamily="34" charset="0"/>
                <a:ea typeface="Aptos" pitchFamily="34" charset="-122"/>
                <a:cs typeface="Aptos" pitchFamily="34" charset="-120"/>
              </a:rPr>
              <a:t>A state is a decision-relevant snapshot, not a complete copy of reality.</a:t>
            </a:r>
            <a:endParaRPr lang="en-US" sz="1500" dirty="0"/>
          </a:p>
        </p:txBody>
      </p:sp>
      <p:sp>
        <p:nvSpPr>
          <p:cNvPr id="4" name="Text 2"/>
          <p:cNvSpPr/>
          <p:nvPr/>
        </p:nvSpPr>
        <p:spPr>
          <a:xfrm>
            <a:off x="502920" y="6528816"/>
            <a:ext cx="4937760" cy="201168"/>
          </a:xfrm>
          <a:prstGeom prst="rect">
            <a:avLst/>
          </a:prstGeom>
          <a:noFill/>
          <a:ln/>
        </p:spPr>
        <p:txBody>
          <a:bodyPr wrap="square" lIns="0" tIns="0" rIns="0" bIns="0" rtlCol="0" anchor="ctr">
            <a:normAutofit/>
          </a:bodyPr>
          <a:lstStyle/>
          <a:p>
            <a:pPr marL="0" indent="0">
              <a:buNone/>
            </a:pPr>
            <a:r>
              <a:rPr lang="en-US" sz="850" dirty="0">
                <a:solidFill>
                  <a:srgbClr val="6D7C8F"/>
                </a:solidFill>
                <a:latin typeface="Aptos" pitchFamily="34" charset="0"/>
                <a:ea typeface="Aptos" pitchFamily="34" charset="-122"/>
                <a:cs typeface="Aptos" pitchFamily="34" charset="-120"/>
              </a:rPr>
              <a:t>CS 471  |  L04: Problem Formulation</a:t>
            </a:r>
            <a:endParaRPr lang="en-US" sz="850" dirty="0"/>
          </a:p>
        </p:txBody>
      </p:sp>
      <p:sp>
        <p:nvSpPr>
          <p:cNvPr id="5" name="Text 3"/>
          <p:cNvSpPr/>
          <p:nvPr/>
        </p:nvSpPr>
        <p:spPr>
          <a:xfrm>
            <a:off x="11402568" y="6528816"/>
            <a:ext cx="320040" cy="201168"/>
          </a:xfrm>
          <a:prstGeom prst="rect">
            <a:avLst/>
          </a:prstGeom>
          <a:noFill/>
          <a:ln/>
        </p:spPr>
        <p:txBody>
          <a:bodyPr wrap="square" lIns="0" tIns="0" rIns="0" bIns="0" rtlCol="0" anchor="ctr">
            <a:normAutofit/>
          </a:bodyPr>
          <a:lstStyle/>
          <a:p>
            <a:pPr marL="0" indent="0" algn="r">
              <a:buNone/>
            </a:pPr>
            <a:r>
              <a:rPr lang="en-US" sz="850" dirty="0">
                <a:solidFill>
                  <a:srgbClr val="6D7C8F"/>
                </a:solidFill>
                <a:latin typeface="Aptos" pitchFamily="34" charset="0"/>
                <a:ea typeface="Aptos" pitchFamily="34" charset="-122"/>
                <a:cs typeface="Aptos" pitchFamily="34" charset="-120"/>
              </a:rPr>
              <a:t>7</a:t>
            </a:r>
            <a:endParaRPr lang="en-US" sz="850" dirty="0"/>
          </a:p>
        </p:txBody>
      </p:sp>
      <p:sp>
        <p:nvSpPr>
          <p:cNvPr id="6" name="Text 4"/>
          <p:cNvSpPr/>
          <p:nvPr/>
        </p:nvSpPr>
        <p:spPr>
          <a:xfrm>
            <a:off x="914400" y="1600200"/>
            <a:ext cx="2377440" cy="365760"/>
          </a:xfrm>
          <a:prstGeom prst="rect">
            <a:avLst/>
          </a:prstGeom>
          <a:noFill/>
          <a:ln/>
        </p:spPr>
        <p:txBody>
          <a:bodyPr wrap="square" lIns="0" tIns="0" rIns="0" bIns="0" rtlCol="0" anchor="ctr">
            <a:normAutofit/>
          </a:bodyPr>
          <a:lstStyle/>
          <a:p>
            <a:pPr marL="0" indent="0" algn="ctr">
              <a:buNone/>
            </a:pPr>
            <a:r>
              <a:rPr lang="en-US" sz="2200" b="1" dirty="0">
                <a:solidFill>
                  <a:srgbClr val="D94E4E"/>
                </a:solidFill>
                <a:latin typeface="Aptos" pitchFamily="34" charset="0"/>
                <a:ea typeface="Aptos" pitchFamily="34" charset="-122"/>
                <a:cs typeface="Aptos" pitchFamily="34" charset="-120"/>
              </a:rPr>
              <a:t>Too little</a:t>
            </a:r>
            <a:endParaRPr lang="en-US" sz="2200" dirty="0"/>
          </a:p>
        </p:txBody>
      </p:sp>
      <p:sp>
        <p:nvSpPr>
          <p:cNvPr id="7" name="Shape 5"/>
          <p:cNvSpPr/>
          <p:nvPr/>
        </p:nvSpPr>
        <p:spPr>
          <a:xfrm>
            <a:off x="822960" y="2057400"/>
            <a:ext cx="2834640" cy="1325880"/>
          </a:xfrm>
          <a:prstGeom prst="roundRect">
            <a:avLst>
              <a:gd name="adj" fmla="val 5517"/>
            </a:avLst>
          </a:prstGeom>
          <a:solidFill>
            <a:srgbClr val="FFF3F3"/>
          </a:solidFill>
          <a:ln w="12700">
            <a:solidFill>
              <a:srgbClr val="D94E4E"/>
            </a:solidFill>
            <a:prstDash val="solid"/>
          </a:ln>
          <a:effectLst>
            <a:outerShdw blurRad="12700" dist="50800" dir="2700000" algn="bl" rotWithShape="0">
              <a:srgbClr val="D4DEE8">
                <a:alpha val="25000"/>
              </a:srgbClr>
            </a:outerShdw>
          </a:effectLst>
        </p:spPr>
        <p:txBody>
          <a:bodyPr/>
          <a:lstStyle/>
          <a:p>
            <a:endParaRPr lang="en-US"/>
          </a:p>
        </p:txBody>
      </p:sp>
      <p:sp>
        <p:nvSpPr>
          <p:cNvPr id="8" name="Text 6"/>
          <p:cNvSpPr/>
          <p:nvPr/>
        </p:nvSpPr>
        <p:spPr>
          <a:xfrm>
            <a:off x="1051560" y="2487168"/>
            <a:ext cx="2377440" cy="320040"/>
          </a:xfrm>
          <a:prstGeom prst="rect">
            <a:avLst/>
          </a:prstGeom>
          <a:noFill/>
          <a:ln/>
        </p:spPr>
        <p:txBody>
          <a:bodyPr wrap="square" lIns="0" tIns="0" rIns="0" bIns="0" rtlCol="0" anchor="ctr">
            <a:normAutofit lnSpcReduction="10000"/>
          </a:bodyPr>
          <a:lstStyle/>
          <a:p>
            <a:pPr marL="0" indent="0" algn="ctr">
              <a:buNone/>
            </a:pPr>
            <a:r>
              <a:rPr lang="en-US" sz="2300" b="1" dirty="0">
                <a:solidFill>
                  <a:srgbClr val="D94E4E"/>
                </a:solidFill>
                <a:latin typeface="Aptos" pitchFamily="34" charset="0"/>
                <a:ea typeface="Aptos" pitchFamily="34" charset="-122"/>
                <a:cs typeface="Aptos" pitchFamily="34" charset="-120"/>
              </a:rPr>
              <a:t>location only</a:t>
            </a:r>
            <a:endParaRPr lang="en-US" sz="2300" dirty="0"/>
          </a:p>
        </p:txBody>
      </p:sp>
      <p:sp>
        <p:nvSpPr>
          <p:cNvPr id="9" name="Text 7"/>
          <p:cNvSpPr/>
          <p:nvPr/>
        </p:nvSpPr>
        <p:spPr>
          <a:xfrm>
            <a:off x="868680" y="3520440"/>
            <a:ext cx="2743200" cy="530352"/>
          </a:xfrm>
          <a:prstGeom prst="rect">
            <a:avLst/>
          </a:prstGeom>
          <a:noFill/>
          <a:ln/>
        </p:spPr>
        <p:txBody>
          <a:bodyPr wrap="square" lIns="0" tIns="0" rIns="0" bIns="0" rtlCol="0" anchor="ctr">
            <a:normAutofit/>
          </a:bodyPr>
          <a:lstStyle/>
          <a:p>
            <a:pPr marL="0" indent="0" algn="ctr">
              <a:buNone/>
            </a:pPr>
            <a:r>
              <a:rPr lang="en-US" sz="1400" dirty="0">
                <a:solidFill>
                  <a:srgbClr val="132033"/>
                </a:solidFill>
                <a:latin typeface="Aptos" pitchFamily="34" charset="0"/>
                <a:ea typeface="Aptos" pitchFamily="34" charset="-122"/>
                <a:cs typeface="Aptos" pitchFamily="34" charset="-120"/>
              </a:rPr>
              <a:t>Cannot know whether samples are already collected.</a:t>
            </a:r>
            <a:endParaRPr lang="en-US" sz="1400" dirty="0"/>
          </a:p>
        </p:txBody>
      </p:sp>
      <p:sp>
        <p:nvSpPr>
          <p:cNvPr id="10" name="Shape 8"/>
          <p:cNvSpPr/>
          <p:nvPr/>
        </p:nvSpPr>
        <p:spPr>
          <a:xfrm>
            <a:off x="3977640" y="2743200"/>
            <a:ext cx="777240" cy="0"/>
          </a:xfrm>
          <a:prstGeom prst="line">
            <a:avLst/>
          </a:prstGeom>
          <a:noFill/>
          <a:ln w="25400">
            <a:solidFill>
              <a:srgbClr val="F2C14E"/>
            </a:solidFill>
            <a:prstDash val="solid"/>
            <a:headEnd type="none"/>
            <a:tailEnd type="triangle"/>
          </a:ln>
        </p:spPr>
        <p:txBody>
          <a:bodyPr/>
          <a:lstStyle/>
          <a:p>
            <a:endParaRPr lang="en-US"/>
          </a:p>
        </p:txBody>
      </p:sp>
      <p:sp>
        <p:nvSpPr>
          <p:cNvPr id="11" name="Text 9"/>
          <p:cNvSpPr/>
          <p:nvPr/>
        </p:nvSpPr>
        <p:spPr>
          <a:xfrm>
            <a:off x="4800600" y="1600200"/>
            <a:ext cx="2743200" cy="365760"/>
          </a:xfrm>
          <a:prstGeom prst="rect">
            <a:avLst/>
          </a:prstGeom>
          <a:noFill/>
          <a:ln/>
        </p:spPr>
        <p:txBody>
          <a:bodyPr wrap="square" lIns="0" tIns="0" rIns="0" bIns="0" rtlCol="0" anchor="ctr">
            <a:normAutofit/>
          </a:bodyPr>
          <a:lstStyle/>
          <a:p>
            <a:pPr marL="0" indent="0" algn="ctr">
              <a:buNone/>
            </a:pPr>
            <a:r>
              <a:rPr lang="en-US" sz="2200" b="1" dirty="0">
                <a:solidFill>
                  <a:srgbClr val="39A875"/>
                </a:solidFill>
                <a:latin typeface="Aptos" pitchFamily="34" charset="0"/>
                <a:ea typeface="Aptos" pitchFamily="34" charset="-122"/>
                <a:cs typeface="Aptos" pitchFamily="34" charset="-120"/>
              </a:rPr>
              <a:t>Useful abstraction</a:t>
            </a:r>
            <a:endParaRPr lang="en-US" sz="2200" dirty="0"/>
          </a:p>
        </p:txBody>
      </p:sp>
      <p:sp>
        <p:nvSpPr>
          <p:cNvPr id="12" name="Shape 10"/>
          <p:cNvSpPr/>
          <p:nvPr/>
        </p:nvSpPr>
        <p:spPr>
          <a:xfrm>
            <a:off x="4663440" y="2057400"/>
            <a:ext cx="3017520" cy="1325880"/>
          </a:xfrm>
          <a:prstGeom prst="roundRect">
            <a:avLst>
              <a:gd name="adj" fmla="val 5517"/>
            </a:avLst>
          </a:prstGeom>
          <a:solidFill>
            <a:srgbClr val="F1FBF5"/>
          </a:solidFill>
          <a:ln w="12700">
            <a:solidFill>
              <a:srgbClr val="39A875"/>
            </a:solidFill>
            <a:prstDash val="solid"/>
          </a:ln>
          <a:effectLst>
            <a:outerShdw blurRad="12700" dist="50800" dir="2700000" algn="bl" rotWithShape="0">
              <a:srgbClr val="D4DEE8">
                <a:alpha val="25000"/>
              </a:srgbClr>
            </a:outerShdw>
          </a:effectLst>
        </p:spPr>
        <p:txBody>
          <a:bodyPr/>
          <a:lstStyle/>
          <a:p>
            <a:endParaRPr lang="en-US"/>
          </a:p>
        </p:txBody>
      </p:sp>
      <p:sp>
        <p:nvSpPr>
          <p:cNvPr id="13" name="Text 11"/>
          <p:cNvSpPr/>
          <p:nvPr/>
        </p:nvSpPr>
        <p:spPr>
          <a:xfrm>
            <a:off x="4800600" y="2487168"/>
            <a:ext cx="2743200" cy="320040"/>
          </a:xfrm>
          <a:prstGeom prst="rect">
            <a:avLst/>
          </a:prstGeom>
          <a:noFill/>
          <a:ln/>
        </p:spPr>
        <p:txBody>
          <a:bodyPr wrap="square" lIns="0" tIns="0" rIns="0" bIns="0" rtlCol="0" anchor="ctr">
            <a:normAutofit fontScale="85000" lnSpcReduction="10000"/>
          </a:bodyPr>
          <a:lstStyle/>
          <a:p>
            <a:pPr marL="0" indent="0" algn="ctr">
              <a:buNone/>
            </a:pPr>
            <a:r>
              <a:rPr lang="en-US" sz="2000" b="1" dirty="0">
                <a:solidFill>
                  <a:srgbClr val="39A875"/>
                </a:solidFill>
                <a:latin typeface="Aptos" pitchFamily="34" charset="0"/>
                <a:ea typeface="Aptos" pitchFamily="34" charset="-122"/>
                <a:cs typeface="Aptos" pitchFamily="34" charset="-120"/>
              </a:rPr>
              <a:t>(location, samples, battery)</a:t>
            </a:r>
            <a:endParaRPr lang="en-US" sz="2000" dirty="0"/>
          </a:p>
        </p:txBody>
      </p:sp>
      <p:sp>
        <p:nvSpPr>
          <p:cNvPr id="14" name="Text 12"/>
          <p:cNvSpPr/>
          <p:nvPr/>
        </p:nvSpPr>
        <p:spPr>
          <a:xfrm>
            <a:off x="4709160" y="3520440"/>
            <a:ext cx="2926080" cy="530352"/>
          </a:xfrm>
          <a:prstGeom prst="rect">
            <a:avLst/>
          </a:prstGeom>
          <a:noFill/>
          <a:ln/>
        </p:spPr>
        <p:txBody>
          <a:bodyPr wrap="square" lIns="0" tIns="0" rIns="0" bIns="0" rtlCol="0" anchor="ctr">
            <a:normAutofit/>
          </a:bodyPr>
          <a:lstStyle/>
          <a:p>
            <a:pPr marL="0" indent="0" algn="ctr">
              <a:buNone/>
            </a:pPr>
            <a:r>
              <a:rPr lang="en-US" sz="1400" dirty="0">
                <a:solidFill>
                  <a:srgbClr val="132033"/>
                </a:solidFill>
                <a:latin typeface="Aptos" pitchFamily="34" charset="0"/>
                <a:ea typeface="Aptos" pitchFamily="34" charset="-122"/>
                <a:cs typeface="Aptos" pitchFamily="34" charset="-120"/>
              </a:rPr>
              <a:t>Supports actions, goal recognition, and cost reasoning.</a:t>
            </a:r>
            <a:endParaRPr lang="en-US" sz="1400" dirty="0"/>
          </a:p>
        </p:txBody>
      </p:sp>
      <p:sp>
        <p:nvSpPr>
          <p:cNvPr id="15" name="Shape 13"/>
          <p:cNvSpPr/>
          <p:nvPr/>
        </p:nvSpPr>
        <p:spPr>
          <a:xfrm>
            <a:off x="7955280" y="2743200"/>
            <a:ext cx="777240" cy="0"/>
          </a:xfrm>
          <a:prstGeom prst="line">
            <a:avLst/>
          </a:prstGeom>
          <a:noFill/>
          <a:ln w="25400">
            <a:solidFill>
              <a:srgbClr val="F2C14E"/>
            </a:solidFill>
            <a:prstDash val="solid"/>
            <a:headEnd type="none"/>
            <a:tailEnd type="triangle"/>
          </a:ln>
        </p:spPr>
        <p:txBody>
          <a:bodyPr/>
          <a:lstStyle/>
          <a:p>
            <a:endParaRPr lang="en-US"/>
          </a:p>
        </p:txBody>
      </p:sp>
      <p:sp>
        <p:nvSpPr>
          <p:cNvPr id="16" name="Text 14"/>
          <p:cNvSpPr/>
          <p:nvPr/>
        </p:nvSpPr>
        <p:spPr>
          <a:xfrm>
            <a:off x="8915400" y="1600200"/>
            <a:ext cx="2377440" cy="365760"/>
          </a:xfrm>
          <a:prstGeom prst="rect">
            <a:avLst/>
          </a:prstGeom>
          <a:noFill/>
          <a:ln/>
        </p:spPr>
        <p:txBody>
          <a:bodyPr wrap="square" lIns="0" tIns="0" rIns="0" bIns="0" rtlCol="0" anchor="ctr">
            <a:normAutofit/>
          </a:bodyPr>
          <a:lstStyle/>
          <a:p>
            <a:pPr marL="0" indent="0" algn="ctr">
              <a:buNone/>
            </a:pPr>
            <a:r>
              <a:rPr lang="en-US" sz="2200" b="1" dirty="0">
                <a:solidFill>
                  <a:srgbClr val="6D7C8F"/>
                </a:solidFill>
                <a:latin typeface="Aptos" pitchFamily="34" charset="0"/>
                <a:ea typeface="Aptos" pitchFamily="34" charset="-122"/>
                <a:cs typeface="Aptos" pitchFamily="34" charset="-120"/>
              </a:rPr>
              <a:t>Too much</a:t>
            </a:r>
            <a:endParaRPr lang="en-US" sz="2200" dirty="0"/>
          </a:p>
        </p:txBody>
      </p:sp>
      <p:sp>
        <p:nvSpPr>
          <p:cNvPr id="17" name="Shape 15"/>
          <p:cNvSpPr/>
          <p:nvPr/>
        </p:nvSpPr>
        <p:spPr>
          <a:xfrm>
            <a:off x="8823960" y="2057400"/>
            <a:ext cx="2834640" cy="1325880"/>
          </a:xfrm>
          <a:prstGeom prst="roundRect">
            <a:avLst>
              <a:gd name="adj" fmla="val 5517"/>
            </a:avLst>
          </a:prstGeom>
          <a:solidFill>
            <a:srgbClr val="FFFFFF"/>
          </a:solidFill>
          <a:ln w="12700">
            <a:solidFill>
              <a:srgbClr val="B8C7D8"/>
            </a:solidFill>
            <a:prstDash val="solid"/>
          </a:ln>
          <a:effectLst>
            <a:outerShdw blurRad="12700" dist="50800" dir="2700000" algn="bl" rotWithShape="0">
              <a:srgbClr val="D4DEE8">
                <a:alpha val="25000"/>
              </a:srgbClr>
            </a:outerShdw>
          </a:effectLst>
        </p:spPr>
        <p:txBody>
          <a:bodyPr/>
          <a:lstStyle/>
          <a:p>
            <a:endParaRPr lang="en-US"/>
          </a:p>
        </p:txBody>
      </p:sp>
      <p:sp>
        <p:nvSpPr>
          <p:cNvPr id="18" name="Text 16"/>
          <p:cNvSpPr/>
          <p:nvPr/>
        </p:nvSpPr>
        <p:spPr>
          <a:xfrm>
            <a:off x="8988552" y="2487168"/>
            <a:ext cx="2514600" cy="320040"/>
          </a:xfrm>
          <a:prstGeom prst="rect">
            <a:avLst/>
          </a:prstGeom>
          <a:noFill/>
          <a:ln/>
        </p:spPr>
        <p:txBody>
          <a:bodyPr wrap="square" lIns="0" tIns="0" rIns="0" bIns="0" rtlCol="0" anchor="ctr">
            <a:normAutofit fontScale="92500"/>
          </a:bodyPr>
          <a:lstStyle/>
          <a:p>
            <a:pPr marL="0" indent="0" algn="ctr">
              <a:buNone/>
            </a:pPr>
            <a:r>
              <a:rPr lang="en-US" sz="2000" b="1" dirty="0">
                <a:solidFill>
                  <a:srgbClr val="6D7C8F"/>
                </a:solidFill>
                <a:latin typeface="Aptos" pitchFamily="34" charset="0"/>
                <a:ea typeface="Aptos" pitchFamily="34" charset="-122"/>
                <a:cs typeface="Aptos" pitchFamily="34" charset="-120"/>
              </a:rPr>
              <a:t>everything measurable</a:t>
            </a:r>
            <a:endParaRPr lang="en-US" sz="2000" dirty="0"/>
          </a:p>
        </p:txBody>
      </p:sp>
      <p:sp>
        <p:nvSpPr>
          <p:cNvPr id="19" name="Text 17"/>
          <p:cNvSpPr/>
          <p:nvPr/>
        </p:nvSpPr>
        <p:spPr>
          <a:xfrm>
            <a:off x="8869680" y="3520440"/>
            <a:ext cx="2743200" cy="530352"/>
          </a:xfrm>
          <a:prstGeom prst="rect">
            <a:avLst/>
          </a:prstGeom>
          <a:noFill/>
          <a:ln/>
        </p:spPr>
        <p:txBody>
          <a:bodyPr wrap="square" lIns="0" tIns="0" rIns="0" bIns="0" rtlCol="0" anchor="ctr">
            <a:normAutofit/>
          </a:bodyPr>
          <a:lstStyle/>
          <a:p>
            <a:pPr marL="0" indent="0" algn="ctr">
              <a:buNone/>
            </a:pPr>
            <a:r>
              <a:rPr lang="en-US" sz="1400" dirty="0">
                <a:solidFill>
                  <a:srgbClr val="132033"/>
                </a:solidFill>
                <a:latin typeface="Aptos" pitchFamily="34" charset="0"/>
                <a:ea typeface="Aptos" pitchFamily="34" charset="-122"/>
                <a:cs typeface="Aptos" pitchFamily="34" charset="-120"/>
              </a:rPr>
              <a:t>Adds states without improving decisions.</a:t>
            </a:r>
            <a:endParaRPr lang="en-US" sz="1400" dirty="0"/>
          </a:p>
        </p:txBody>
      </p:sp>
      <p:sp>
        <p:nvSpPr>
          <p:cNvPr id="20" name="Shape 18"/>
          <p:cNvSpPr/>
          <p:nvPr/>
        </p:nvSpPr>
        <p:spPr>
          <a:xfrm>
            <a:off x="786384" y="5440680"/>
            <a:ext cx="1325880" cy="438912"/>
          </a:xfrm>
          <a:prstGeom prst="roundRect">
            <a:avLst>
              <a:gd name="adj" fmla="val 14583"/>
            </a:avLst>
          </a:prstGeom>
          <a:solidFill>
            <a:srgbClr val="FFFFFF">
              <a:alpha val="90000"/>
            </a:srgbClr>
          </a:solidFill>
          <a:ln w="12700">
            <a:solidFill>
              <a:srgbClr val="B8C7D8"/>
            </a:solidFill>
            <a:prstDash val="solid"/>
          </a:ln>
        </p:spPr>
        <p:txBody>
          <a:bodyPr/>
          <a:lstStyle/>
          <a:p>
            <a:endParaRPr lang="en-US"/>
          </a:p>
        </p:txBody>
      </p:sp>
      <p:sp>
        <p:nvSpPr>
          <p:cNvPr id="21" name="Text 19"/>
          <p:cNvSpPr/>
          <p:nvPr/>
        </p:nvSpPr>
        <p:spPr>
          <a:xfrm>
            <a:off x="832104" y="5568696"/>
            <a:ext cx="1234440" cy="164592"/>
          </a:xfrm>
          <a:prstGeom prst="rect">
            <a:avLst/>
          </a:prstGeom>
          <a:noFill/>
          <a:ln/>
        </p:spPr>
        <p:txBody>
          <a:bodyPr wrap="square" lIns="0" tIns="0" rIns="0" bIns="0" rtlCol="0" anchor="ctr">
            <a:normAutofit/>
          </a:bodyPr>
          <a:lstStyle/>
          <a:p>
            <a:pPr marL="0" indent="0" algn="ctr">
              <a:buNone/>
            </a:pPr>
            <a:r>
              <a:rPr lang="en-US" sz="1050" dirty="0">
                <a:solidFill>
                  <a:srgbClr val="6D7C8F"/>
                </a:solidFill>
                <a:latin typeface="Aptos" pitchFamily="34" charset="0"/>
                <a:ea typeface="Aptos" pitchFamily="34" charset="-122"/>
                <a:cs typeface="Aptos" pitchFamily="34" charset="-120"/>
              </a:rPr>
              <a:t>Real world</a:t>
            </a:r>
            <a:endParaRPr lang="en-US" sz="1050" dirty="0"/>
          </a:p>
        </p:txBody>
      </p:sp>
      <p:sp>
        <p:nvSpPr>
          <p:cNvPr id="22" name="Shape 20"/>
          <p:cNvSpPr/>
          <p:nvPr/>
        </p:nvSpPr>
        <p:spPr>
          <a:xfrm>
            <a:off x="2185416" y="5577840"/>
            <a:ext cx="164592" cy="164592"/>
          </a:xfrm>
          <a:prstGeom prst="chevron">
            <a:avLst/>
          </a:prstGeom>
          <a:solidFill>
            <a:srgbClr val="B8C7D8"/>
          </a:solidFill>
          <a:ln w="12700">
            <a:solidFill>
              <a:srgbClr val="B8C7D8"/>
            </a:solidFill>
            <a:prstDash val="solid"/>
          </a:ln>
        </p:spPr>
        <p:txBody>
          <a:bodyPr/>
          <a:lstStyle/>
          <a:p>
            <a:endParaRPr lang="en-US"/>
          </a:p>
        </p:txBody>
      </p:sp>
      <p:sp>
        <p:nvSpPr>
          <p:cNvPr id="23" name="Shape 21"/>
          <p:cNvSpPr/>
          <p:nvPr/>
        </p:nvSpPr>
        <p:spPr>
          <a:xfrm>
            <a:off x="2450592" y="5440680"/>
            <a:ext cx="1325880" cy="438912"/>
          </a:xfrm>
          <a:prstGeom prst="roundRect">
            <a:avLst>
              <a:gd name="adj" fmla="val 14583"/>
            </a:avLst>
          </a:prstGeom>
          <a:solidFill>
            <a:srgbClr val="F2C14E"/>
          </a:solidFill>
          <a:ln w="12700">
            <a:solidFill>
              <a:srgbClr val="F2C14E"/>
            </a:solidFill>
            <a:prstDash val="solid"/>
          </a:ln>
        </p:spPr>
        <p:txBody>
          <a:bodyPr/>
          <a:lstStyle/>
          <a:p>
            <a:endParaRPr lang="en-US"/>
          </a:p>
        </p:txBody>
      </p:sp>
      <p:sp>
        <p:nvSpPr>
          <p:cNvPr id="24" name="Text 22"/>
          <p:cNvSpPr/>
          <p:nvPr/>
        </p:nvSpPr>
        <p:spPr>
          <a:xfrm>
            <a:off x="2496312" y="5568696"/>
            <a:ext cx="1234440" cy="164592"/>
          </a:xfrm>
          <a:prstGeom prst="rect">
            <a:avLst/>
          </a:prstGeom>
          <a:noFill/>
          <a:ln/>
        </p:spPr>
        <p:txBody>
          <a:bodyPr wrap="square" lIns="0" tIns="0" rIns="0" bIns="0" rtlCol="0" anchor="ctr">
            <a:normAutofit/>
          </a:bodyPr>
          <a:lstStyle/>
          <a:p>
            <a:pPr marL="0" indent="0" algn="ctr">
              <a:buNone/>
            </a:pPr>
            <a:r>
              <a:rPr lang="en-US" sz="1050" b="1" dirty="0">
                <a:solidFill>
                  <a:srgbClr val="0B2D55"/>
                </a:solidFill>
                <a:latin typeface="Aptos" pitchFamily="34" charset="0"/>
                <a:ea typeface="Aptos" pitchFamily="34" charset="-122"/>
                <a:cs typeface="Aptos" pitchFamily="34" charset="-120"/>
              </a:rPr>
              <a:t>State</a:t>
            </a:r>
            <a:endParaRPr lang="en-US" sz="1050" dirty="0"/>
          </a:p>
        </p:txBody>
      </p:sp>
      <p:sp>
        <p:nvSpPr>
          <p:cNvPr id="25" name="Shape 23"/>
          <p:cNvSpPr/>
          <p:nvPr/>
        </p:nvSpPr>
        <p:spPr>
          <a:xfrm>
            <a:off x="3849624" y="5577840"/>
            <a:ext cx="164592" cy="164592"/>
          </a:xfrm>
          <a:prstGeom prst="chevron">
            <a:avLst/>
          </a:prstGeom>
          <a:solidFill>
            <a:srgbClr val="B8C7D8"/>
          </a:solidFill>
          <a:ln w="12700">
            <a:solidFill>
              <a:srgbClr val="B8C7D8"/>
            </a:solidFill>
            <a:prstDash val="solid"/>
          </a:ln>
        </p:spPr>
        <p:txBody>
          <a:bodyPr/>
          <a:lstStyle/>
          <a:p>
            <a:endParaRPr lang="en-US"/>
          </a:p>
        </p:txBody>
      </p:sp>
      <p:sp>
        <p:nvSpPr>
          <p:cNvPr id="26" name="Shape 24"/>
          <p:cNvSpPr/>
          <p:nvPr/>
        </p:nvSpPr>
        <p:spPr>
          <a:xfrm>
            <a:off x="4114800" y="5440680"/>
            <a:ext cx="1325880" cy="438912"/>
          </a:xfrm>
          <a:prstGeom prst="roundRect">
            <a:avLst>
              <a:gd name="adj" fmla="val 14583"/>
            </a:avLst>
          </a:prstGeom>
          <a:solidFill>
            <a:srgbClr val="FFFFFF">
              <a:alpha val="90000"/>
            </a:srgbClr>
          </a:solidFill>
          <a:ln w="12700">
            <a:solidFill>
              <a:srgbClr val="B8C7D8"/>
            </a:solidFill>
            <a:prstDash val="solid"/>
          </a:ln>
        </p:spPr>
        <p:txBody>
          <a:bodyPr/>
          <a:lstStyle/>
          <a:p>
            <a:endParaRPr lang="en-US"/>
          </a:p>
        </p:txBody>
      </p:sp>
      <p:sp>
        <p:nvSpPr>
          <p:cNvPr id="27" name="Text 25"/>
          <p:cNvSpPr/>
          <p:nvPr/>
        </p:nvSpPr>
        <p:spPr>
          <a:xfrm>
            <a:off x="4160520" y="5568696"/>
            <a:ext cx="1234440" cy="164592"/>
          </a:xfrm>
          <a:prstGeom prst="rect">
            <a:avLst/>
          </a:prstGeom>
          <a:noFill/>
          <a:ln/>
        </p:spPr>
        <p:txBody>
          <a:bodyPr wrap="square" lIns="0" tIns="0" rIns="0" bIns="0" rtlCol="0" anchor="ctr">
            <a:normAutofit/>
          </a:bodyPr>
          <a:lstStyle/>
          <a:p>
            <a:pPr marL="0" indent="0" algn="ctr">
              <a:buNone/>
            </a:pPr>
            <a:r>
              <a:rPr lang="en-US" sz="1050" dirty="0">
                <a:solidFill>
                  <a:srgbClr val="6D7C8F"/>
                </a:solidFill>
                <a:latin typeface="Aptos" pitchFamily="34" charset="0"/>
                <a:ea typeface="Aptos" pitchFamily="34" charset="-122"/>
                <a:cs typeface="Aptos" pitchFamily="34" charset="-120"/>
              </a:rPr>
              <a:t>Actions</a:t>
            </a:r>
            <a:endParaRPr lang="en-US" sz="1050" dirty="0"/>
          </a:p>
        </p:txBody>
      </p:sp>
      <p:sp>
        <p:nvSpPr>
          <p:cNvPr id="28" name="Shape 26"/>
          <p:cNvSpPr/>
          <p:nvPr/>
        </p:nvSpPr>
        <p:spPr>
          <a:xfrm>
            <a:off x="5513832" y="5577840"/>
            <a:ext cx="164592" cy="164592"/>
          </a:xfrm>
          <a:prstGeom prst="chevron">
            <a:avLst/>
          </a:prstGeom>
          <a:solidFill>
            <a:srgbClr val="B8C7D8"/>
          </a:solidFill>
          <a:ln w="12700">
            <a:solidFill>
              <a:srgbClr val="B8C7D8"/>
            </a:solidFill>
            <a:prstDash val="solid"/>
          </a:ln>
        </p:spPr>
        <p:txBody>
          <a:bodyPr/>
          <a:lstStyle/>
          <a:p>
            <a:endParaRPr lang="en-US"/>
          </a:p>
        </p:txBody>
      </p:sp>
      <p:sp>
        <p:nvSpPr>
          <p:cNvPr id="29" name="Shape 27"/>
          <p:cNvSpPr/>
          <p:nvPr/>
        </p:nvSpPr>
        <p:spPr>
          <a:xfrm>
            <a:off x="5779008" y="5440680"/>
            <a:ext cx="1325880" cy="438912"/>
          </a:xfrm>
          <a:prstGeom prst="roundRect">
            <a:avLst>
              <a:gd name="adj" fmla="val 14583"/>
            </a:avLst>
          </a:prstGeom>
          <a:solidFill>
            <a:srgbClr val="FFFFFF">
              <a:alpha val="90000"/>
            </a:srgbClr>
          </a:solidFill>
          <a:ln w="12700">
            <a:solidFill>
              <a:srgbClr val="B8C7D8"/>
            </a:solidFill>
            <a:prstDash val="solid"/>
          </a:ln>
        </p:spPr>
        <p:txBody>
          <a:bodyPr/>
          <a:lstStyle/>
          <a:p>
            <a:endParaRPr lang="en-US"/>
          </a:p>
        </p:txBody>
      </p:sp>
      <p:sp>
        <p:nvSpPr>
          <p:cNvPr id="30" name="Text 28"/>
          <p:cNvSpPr/>
          <p:nvPr/>
        </p:nvSpPr>
        <p:spPr>
          <a:xfrm>
            <a:off x="5824728" y="5568696"/>
            <a:ext cx="1234440" cy="164592"/>
          </a:xfrm>
          <a:prstGeom prst="rect">
            <a:avLst/>
          </a:prstGeom>
          <a:noFill/>
          <a:ln/>
        </p:spPr>
        <p:txBody>
          <a:bodyPr wrap="square" lIns="0" tIns="0" rIns="0" bIns="0" rtlCol="0" anchor="ctr">
            <a:normAutofit/>
          </a:bodyPr>
          <a:lstStyle/>
          <a:p>
            <a:pPr marL="0" indent="0" algn="ctr">
              <a:buNone/>
            </a:pPr>
            <a:r>
              <a:rPr lang="en-US" sz="1050" dirty="0">
                <a:solidFill>
                  <a:srgbClr val="6D7C8F"/>
                </a:solidFill>
                <a:latin typeface="Aptos" pitchFamily="34" charset="0"/>
                <a:ea typeface="Aptos" pitchFamily="34" charset="-122"/>
                <a:cs typeface="Aptos" pitchFamily="34" charset="-120"/>
              </a:rPr>
              <a:t>Goal</a:t>
            </a:r>
            <a:endParaRPr lang="en-US" sz="1050" dirty="0"/>
          </a:p>
        </p:txBody>
      </p:sp>
      <p:sp>
        <p:nvSpPr>
          <p:cNvPr id="31" name="Shape 29"/>
          <p:cNvSpPr/>
          <p:nvPr/>
        </p:nvSpPr>
        <p:spPr>
          <a:xfrm>
            <a:off x="7178040" y="5577840"/>
            <a:ext cx="164592" cy="164592"/>
          </a:xfrm>
          <a:prstGeom prst="chevron">
            <a:avLst/>
          </a:prstGeom>
          <a:solidFill>
            <a:srgbClr val="B8C7D8"/>
          </a:solidFill>
          <a:ln w="12700">
            <a:solidFill>
              <a:srgbClr val="B8C7D8"/>
            </a:solidFill>
            <a:prstDash val="solid"/>
          </a:ln>
        </p:spPr>
        <p:txBody>
          <a:bodyPr/>
          <a:lstStyle/>
          <a:p>
            <a:endParaRPr lang="en-US"/>
          </a:p>
        </p:txBody>
      </p:sp>
      <p:sp>
        <p:nvSpPr>
          <p:cNvPr id="32" name="Shape 30"/>
          <p:cNvSpPr/>
          <p:nvPr/>
        </p:nvSpPr>
        <p:spPr>
          <a:xfrm>
            <a:off x="7443216" y="5440680"/>
            <a:ext cx="1325880" cy="438912"/>
          </a:xfrm>
          <a:prstGeom prst="roundRect">
            <a:avLst>
              <a:gd name="adj" fmla="val 14583"/>
            </a:avLst>
          </a:prstGeom>
          <a:solidFill>
            <a:srgbClr val="FFFFFF">
              <a:alpha val="90000"/>
            </a:srgbClr>
          </a:solidFill>
          <a:ln w="12700">
            <a:solidFill>
              <a:srgbClr val="B8C7D8"/>
            </a:solidFill>
            <a:prstDash val="solid"/>
          </a:ln>
        </p:spPr>
        <p:txBody>
          <a:bodyPr/>
          <a:lstStyle/>
          <a:p>
            <a:endParaRPr lang="en-US"/>
          </a:p>
        </p:txBody>
      </p:sp>
      <p:sp>
        <p:nvSpPr>
          <p:cNvPr id="33" name="Text 31"/>
          <p:cNvSpPr/>
          <p:nvPr/>
        </p:nvSpPr>
        <p:spPr>
          <a:xfrm>
            <a:off x="7488936" y="5568696"/>
            <a:ext cx="1234440" cy="164592"/>
          </a:xfrm>
          <a:prstGeom prst="rect">
            <a:avLst/>
          </a:prstGeom>
          <a:noFill/>
          <a:ln/>
        </p:spPr>
        <p:txBody>
          <a:bodyPr wrap="square" lIns="0" tIns="0" rIns="0" bIns="0" rtlCol="0" anchor="ctr">
            <a:normAutofit/>
          </a:bodyPr>
          <a:lstStyle/>
          <a:p>
            <a:pPr marL="0" indent="0" algn="ctr">
              <a:buNone/>
            </a:pPr>
            <a:r>
              <a:rPr lang="en-US" sz="1050" dirty="0">
                <a:solidFill>
                  <a:srgbClr val="6D7C8F"/>
                </a:solidFill>
                <a:latin typeface="Aptos" pitchFamily="34" charset="0"/>
                <a:ea typeface="Aptos" pitchFamily="34" charset="-122"/>
                <a:cs typeface="Aptos" pitchFamily="34" charset="-120"/>
              </a:rPr>
              <a:t>Cost</a:t>
            </a:r>
            <a:endParaRPr lang="en-US" sz="1050" dirty="0"/>
          </a:p>
        </p:txBody>
      </p:sp>
      <p:sp>
        <p:nvSpPr>
          <p:cNvPr id="34" name="Shape 32"/>
          <p:cNvSpPr/>
          <p:nvPr/>
        </p:nvSpPr>
        <p:spPr>
          <a:xfrm>
            <a:off x="8842248" y="5577840"/>
            <a:ext cx="164592" cy="164592"/>
          </a:xfrm>
          <a:prstGeom prst="chevron">
            <a:avLst/>
          </a:prstGeom>
          <a:solidFill>
            <a:srgbClr val="B8C7D8"/>
          </a:solidFill>
          <a:ln w="12700">
            <a:solidFill>
              <a:srgbClr val="B8C7D8"/>
            </a:solidFill>
            <a:prstDash val="solid"/>
          </a:ln>
        </p:spPr>
        <p:txBody>
          <a:bodyPr/>
          <a:lstStyle/>
          <a:p>
            <a:endParaRPr lang="en-US"/>
          </a:p>
        </p:txBody>
      </p:sp>
      <p:sp>
        <p:nvSpPr>
          <p:cNvPr id="35" name="Shape 33"/>
          <p:cNvSpPr/>
          <p:nvPr/>
        </p:nvSpPr>
        <p:spPr>
          <a:xfrm>
            <a:off x="9107424" y="5440680"/>
            <a:ext cx="1325880" cy="438912"/>
          </a:xfrm>
          <a:prstGeom prst="roundRect">
            <a:avLst>
              <a:gd name="adj" fmla="val 14583"/>
            </a:avLst>
          </a:prstGeom>
          <a:solidFill>
            <a:srgbClr val="FFFFFF">
              <a:alpha val="90000"/>
            </a:srgbClr>
          </a:solidFill>
          <a:ln w="12700">
            <a:solidFill>
              <a:srgbClr val="B8C7D8"/>
            </a:solidFill>
            <a:prstDash val="solid"/>
          </a:ln>
        </p:spPr>
        <p:txBody>
          <a:bodyPr/>
          <a:lstStyle/>
          <a:p>
            <a:endParaRPr lang="en-US"/>
          </a:p>
        </p:txBody>
      </p:sp>
      <p:sp>
        <p:nvSpPr>
          <p:cNvPr id="36" name="Text 34"/>
          <p:cNvSpPr/>
          <p:nvPr/>
        </p:nvSpPr>
        <p:spPr>
          <a:xfrm>
            <a:off x="9153144" y="5568696"/>
            <a:ext cx="1234440" cy="164592"/>
          </a:xfrm>
          <a:prstGeom prst="rect">
            <a:avLst/>
          </a:prstGeom>
          <a:noFill/>
          <a:ln/>
        </p:spPr>
        <p:txBody>
          <a:bodyPr wrap="square" lIns="0" tIns="0" rIns="0" bIns="0" rtlCol="0" anchor="ctr">
            <a:normAutofit/>
          </a:bodyPr>
          <a:lstStyle/>
          <a:p>
            <a:pPr marL="0" indent="0" algn="ctr">
              <a:buNone/>
            </a:pPr>
            <a:r>
              <a:rPr lang="en-US" sz="1050" dirty="0">
                <a:solidFill>
                  <a:srgbClr val="6D7C8F"/>
                </a:solidFill>
                <a:latin typeface="Aptos" pitchFamily="34" charset="0"/>
                <a:ea typeface="Aptos" pitchFamily="34" charset="-122"/>
                <a:cs typeface="Aptos" pitchFamily="34" charset="-120"/>
              </a:rPr>
              <a:t>Search</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76072" y="566928"/>
            <a:ext cx="8412480" cy="475488"/>
          </a:xfrm>
          <a:prstGeom prst="rect">
            <a:avLst/>
          </a:prstGeom>
          <a:noFill/>
          <a:ln/>
        </p:spPr>
        <p:txBody>
          <a:bodyPr wrap="square" lIns="0" tIns="0" rIns="0" bIns="0" rtlCol="0" anchor="ctr">
            <a:normAutofit lnSpcReduction="10000"/>
          </a:bodyPr>
          <a:lstStyle/>
          <a:p>
            <a:pPr marL="0" indent="0">
              <a:buNone/>
            </a:pPr>
            <a:r>
              <a:rPr lang="en-US" sz="3400" b="1" dirty="0">
                <a:solidFill>
                  <a:srgbClr val="0B2D55"/>
                </a:solidFill>
                <a:latin typeface="Aptos Display" pitchFamily="34" charset="0"/>
                <a:ea typeface="Aptos Display" pitchFamily="34" charset="-122"/>
                <a:cs typeface="Aptos Display" pitchFamily="34" charset="-120"/>
              </a:rPr>
              <a:t>Relevant, missing, and irrelevant information</a:t>
            </a:r>
            <a:endParaRPr lang="en-US" sz="3400" dirty="0"/>
          </a:p>
        </p:txBody>
      </p:sp>
      <p:sp>
        <p:nvSpPr>
          <p:cNvPr id="3" name="Text 1"/>
          <p:cNvSpPr/>
          <p:nvPr/>
        </p:nvSpPr>
        <p:spPr>
          <a:xfrm>
            <a:off x="594360" y="1051560"/>
            <a:ext cx="7315200" cy="292608"/>
          </a:xfrm>
          <a:prstGeom prst="rect">
            <a:avLst/>
          </a:prstGeom>
          <a:noFill/>
          <a:ln/>
        </p:spPr>
        <p:txBody>
          <a:bodyPr wrap="square" lIns="0" tIns="0" rIns="0" bIns="0" rtlCol="0" anchor="ctr">
            <a:normAutofit/>
          </a:bodyPr>
          <a:lstStyle/>
          <a:p>
            <a:pPr marL="0" indent="0">
              <a:buNone/>
            </a:pPr>
            <a:r>
              <a:rPr lang="en-US" sz="1500" dirty="0">
                <a:solidFill>
                  <a:srgbClr val="132033"/>
                </a:solidFill>
                <a:latin typeface="Aptos" pitchFamily="34" charset="0"/>
                <a:ea typeface="Aptos" pitchFamily="34" charset="-122"/>
                <a:cs typeface="Aptos" pitchFamily="34" charset="-120"/>
              </a:rPr>
              <a:t>Representation design is an engineering tradeoff.</a:t>
            </a:r>
            <a:endParaRPr lang="en-US" sz="1500" dirty="0"/>
          </a:p>
        </p:txBody>
      </p:sp>
      <p:sp>
        <p:nvSpPr>
          <p:cNvPr id="4" name="Text 2"/>
          <p:cNvSpPr/>
          <p:nvPr/>
        </p:nvSpPr>
        <p:spPr>
          <a:xfrm>
            <a:off x="502920" y="6528816"/>
            <a:ext cx="4937760" cy="201168"/>
          </a:xfrm>
          <a:prstGeom prst="rect">
            <a:avLst/>
          </a:prstGeom>
          <a:noFill/>
          <a:ln/>
        </p:spPr>
        <p:txBody>
          <a:bodyPr wrap="square" lIns="0" tIns="0" rIns="0" bIns="0" rtlCol="0" anchor="ctr">
            <a:normAutofit/>
          </a:bodyPr>
          <a:lstStyle/>
          <a:p>
            <a:pPr marL="0" indent="0">
              <a:buNone/>
            </a:pPr>
            <a:r>
              <a:rPr lang="en-US" sz="850" dirty="0">
                <a:solidFill>
                  <a:srgbClr val="6D7C8F"/>
                </a:solidFill>
                <a:latin typeface="Aptos" pitchFamily="34" charset="0"/>
                <a:ea typeface="Aptos" pitchFamily="34" charset="-122"/>
                <a:cs typeface="Aptos" pitchFamily="34" charset="-120"/>
              </a:rPr>
              <a:t>CS 471  |  L04: Problem Formulation</a:t>
            </a:r>
            <a:endParaRPr lang="en-US" sz="850" dirty="0"/>
          </a:p>
        </p:txBody>
      </p:sp>
      <p:sp>
        <p:nvSpPr>
          <p:cNvPr id="5" name="Text 3"/>
          <p:cNvSpPr/>
          <p:nvPr/>
        </p:nvSpPr>
        <p:spPr>
          <a:xfrm>
            <a:off x="11402568" y="6528816"/>
            <a:ext cx="320040" cy="201168"/>
          </a:xfrm>
          <a:prstGeom prst="rect">
            <a:avLst/>
          </a:prstGeom>
          <a:noFill/>
          <a:ln/>
        </p:spPr>
        <p:txBody>
          <a:bodyPr wrap="square" lIns="0" tIns="0" rIns="0" bIns="0" rtlCol="0" anchor="ctr">
            <a:normAutofit/>
          </a:bodyPr>
          <a:lstStyle/>
          <a:p>
            <a:pPr marL="0" indent="0" algn="r">
              <a:buNone/>
            </a:pPr>
            <a:r>
              <a:rPr lang="en-US" sz="850" dirty="0">
                <a:solidFill>
                  <a:srgbClr val="6D7C8F"/>
                </a:solidFill>
                <a:latin typeface="Aptos" pitchFamily="34" charset="0"/>
                <a:ea typeface="Aptos" pitchFamily="34" charset="-122"/>
                <a:cs typeface="Aptos" pitchFamily="34" charset="-120"/>
              </a:rPr>
              <a:t>8</a:t>
            </a:r>
            <a:endParaRPr lang="en-US" sz="850" dirty="0"/>
          </a:p>
        </p:txBody>
      </p:sp>
      <p:sp>
        <p:nvSpPr>
          <p:cNvPr id="6" name="Shape 4"/>
          <p:cNvSpPr/>
          <p:nvPr/>
        </p:nvSpPr>
        <p:spPr>
          <a:xfrm>
            <a:off x="868680" y="1645920"/>
            <a:ext cx="3063240" cy="3429000"/>
          </a:xfrm>
          <a:prstGeom prst="roundRect">
            <a:avLst>
              <a:gd name="adj" fmla="val 2388"/>
            </a:avLst>
          </a:prstGeom>
          <a:solidFill>
            <a:srgbClr val="F1FBF5"/>
          </a:solidFill>
          <a:ln w="12700">
            <a:solidFill>
              <a:srgbClr val="39A875"/>
            </a:solidFill>
            <a:prstDash val="solid"/>
          </a:ln>
          <a:effectLst>
            <a:outerShdw blurRad="12700" dist="50800" dir="2700000" algn="bl" rotWithShape="0">
              <a:srgbClr val="D4DEE8">
                <a:alpha val="25000"/>
              </a:srgbClr>
            </a:outerShdw>
          </a:effectLst>
        </p:spPr>
        <p:txBody>
          <a:bodyPr/>
          <a:lstStyle/>
          <a:p>
            <a:endParaRPr lang="en-US"/>
          </a:p>
        </p:txBody>
      </p:sp>
      <p:sp>
        <p:nvSpPr>
          <p:cNvPr id="7" name="Text 5"/>
          <p:cNvSpPr/>
          <p:nvPr/>
        </p:nvSpPr>
        <p:spPr>
          <a:xfrm>
            <a:off x="1069848" y="1874520"/>
            <a:ext cx="2651760" cy="320040"/>
          </a:xfrm>
          <a:prstGeom prst="rect">
            <a:avLst/>
          </a:prstGeom>
          <a:noFill/>
          <a:ln/>
        </p:spPr>
        <p:txBody>
          <a:bodyPr wrap="square" lIns="0" tIns="0" rIns="0" bIns="0" rtlCol="0" anchor="ctr">
            <a:normAutofit fontScale="92500" lnSpcReduction="10000"/>
          </a:bodyPr>
          <a:lstStyle/>
          <a:p>
            <a:pPr marL="0" indent="0" algn="ctr">
              <a:buNone/>
            </a:pPr>
            <a:r>
              <a:rPr lang="en-US" sz="2400" b="1" dirty="0">
                <a:solidFill>
                  <a:srgbClr val="39A875"/>
                </a:solidFill>
                <a:latin typeface="Aptos" pitchFamily="34" charset="0"/>
                <a:ea typeface="Aptos" pitchFamily="34" charset="-122"/>
                <a:cs typeface="Aptos" pitchFamily="34" charset="-120"/>
              </a:rPr>
              <a:t>Relevant</a:t>
            </a:r>
            <a:endParaRPr lang="en-US" sz="2400" dirty="0"/>
          </a:p>
        </p:txBody>
      </p:sp>
      <p:sp>
        <p:nvSpPr>
          <p:cNvPr id="8" name="Text 6"/>
          <p:cNvSpPr/>
          <p:nvPr/>
        </p:nvSpPr>
        <p:spPr>
          <a:xfrm>
            <a:off x="1097280" y="2423160"/>
            <a:ext cx="2606040" cy="594360"/>
          </a:xfrm>
          <a:prstGeom prst="rect">
            <a:avLst/>
          </a:prstGeom>
          <a:noFill/>
          <a:ln/>
        </p:spPr>
        <p:txBody>
          <a:bodyPr wrap="square" lIns="0" tIns="0" rIns="0" bIns="0" rtlCol="0" anchor="ctr">
            <a:normAutofit/>
          </a:bodyPr>
          <a:lstStyle/>
          <a:p>
            <a:pPr marL="0" indent="0" algn="ctr">
              <a:buNone/>
            </a:pPr>
            <a:r>
              <a:rPr lang="en-US" sz="1400" dirty="0">
                <a:solidFill>
                  <a:srgbClr val="132033"/>
                </a:solidFill>
                <a:latin typeface="Aptos" pitchFamily="34" charset="0"/>
                <a:ea typeface="Aptos" pitchFamily="34" charset="-122"/>
                <a:cs typeface="Aptos" pitchFamily="34" charset="-120"/>
              </a:rPr>
              <a:t>Affects legal actions, goal recognition, or cost</a:t>
            </a:r>
            <a:endParaRPr lang="en-US" sz="1400" dirty="0"/>
          </a:p>
        </p:txBody>
      </p:sp>
      <p:sp>
        <p:nvSpPr>
          <p:cNvPr id="9" name="Text 7"/>
          <p:cNvSpPr/>
          <p:nvPr/>
        </p:nvSpPr>
        <p:spPr>
          <a:xfrm>
            <a:off x="1188720" y="3246120"/>
            <a:ext cx="2423160" cy="1005840"/>
          </a:xfrm>
          <a:prstGeom prst="rect">
            <a:avLst/>
          </a:prstGeom>
          <a:noFill/>
          <a:ln/>
        </p:spPr>
        <p:txBody>
          <a:bodyPr wrap="square" lIns="0" tIns="0" rIns="0" bIns="0" rtlCol="0" anchor="ctr">
            <a:normAutofit/>
          </a:bodyPr>
          <a:lstStyle/>
          <a:p>
            <a:pPr marL="0" indent="0" algn="ctr">
              <a:buNone/>
            </a:pPr>
            <a:r>
              <a:rPr lang="en-US" sz="1800" b="1" dirty="0">
                <a:solidFill>
                  <a:srgbClr val="0B2D55"/>
                </a:solidFill>
                <a:latin typeface="Aptos" pitchFamily="34" charset="0"/>
                <a:ea typeface="Aptos" pitchFamily="34" charset="-122"/>
                <a:cs typeface="Aptos" pitchFamily="34" charset="-120"/>
              </a:rPr>
              <a:t>current location</a:t>
            </a:r>
            <a:endParaRPr lang="en-US" sz="1800" dirty="0"/>
          </a:p>
          <a:p>
            <a:pPr marL="0" indent="0" algn="ctr">
              <a:buNone/>
            </a:pPr>
            <a:r>
              <a:rPr lang="en-US" sz="1800" b="1" dirty="0">
                <a:solidFill>
                  <a:srgbClr val="0B2D55"/>
                </a:solidFill>
                <a:latin typeface="Aptos" pitchFamily="34" charset="0"/>
                <a:ea typeface="Aptos" pitchFamily="34" charset="-122"/>
                <a:cs typeface="Aptos" pitchFamily="34" charset="-120"/>
              </a:rPr>
              <a:t>samples collected</a:t>
            </a:r>
            <a:endParaRPr lang="en-US" sz="1800" dirty="0"/>
          </a:p>
          <a:p>
            <a:pPr marL="0" indent="0" algn="ctr">
              <a:buNone/>
            </a:pPr>
            <a:r>
              <a:rPr lang="en-US" sz="1800" b="1" dirty="0">
                <a:solidFill>
                  <a:srgbClr val="0B2D55"/>
                </a:solidFill>
                <a:latin typeface="Aptos" pitchFamily="34" charset="0"/>
                <a:ea typeface="Aptos" pitchFamily="34" charset="-122"/>
                <a:cs typeface="Aptos" pitchFamily="34" charset="-120"/>
              </a:rPr>
              <a:t>battery category</a:t>
            </a:r>
            <a:endParaRPr lang="en-US" sz="1800" dirty="0"/>
          </a:p>
        </p:txBody>
      </p:sp>
      <p:sp>
        <p:nvSpPr>
          <p:cNvPr id="10" name="Shape 8"/>
          <p:cNvSpPr/>
          <p:nvPr/>
        </p:nvSpPr>
        <p:spPr>
          <a:xfrm>
            <a:off x="4526280" y="1645920"/>
            <a:ext cx="3063240" cy="3429000"/>
          </a:xfrm>
          <a:prstGeom prst="roundRect">
            <a:avLst>
              <a:gd name="adj" fmla="val 2388"/>
            </a:avLst>
          </a:prstGeom>
          <a:solidFill>
            <a:srgbClr val="FFF3F3"/>
          </a:solidFill>
          <a:ln w="12700">
            <a:solidFill>
              <a:srgbClr val="D94E4E"/>
            </a:solidFill>
            <a:prstDash val="solid"/>
          </a:ln>
          <a:effectLst>
            <a:outerShdw blurRad="12700" dist="50800" dir="2700000" algn="bl" rotWithShape="0">
              <a:srgbClr val="D4DEE8">
                <a:alpha val="25000"/>
              </a:srgbClr>
            </a:outerShdw>
          </a:effectLst>
        </p:spPr>
        <p:txBody>
          <a:bodyPr/>
          <a:lstStyle/>
          <a:p>
            <a:endParaRPr lang="en-US"/>
          </a:p>
        </p:txBody>
      </p:sp>
      <p:sp>
        <p:nvSpPr>
          <p:cNvPr id="11" name="Text 9"/>
          <p:cNvSpPr/>
          <p:nvPr/>
        </p:nvSpPr>
        <p:spPr>
          <a:xfrm>
            <a:off x="4727448" y="1874520"/>
            <a:ext cx="2651760" cy="320040"/>
          </a:xfrm>
          <a:prstGeom prst="rect">
            <a:avLst/>
          </a:prstGeom>
          <a:noFill/>
          <a:ln/>
        </p:spPr>
        <p:txBody>
          <a:bodyPr wrap="square" lIns="0" tIns="0" rIns="0" bIns="0" rtlCol="0" anchor="ctr">
            <a:normAutofit fontScale="92500" lnSpcReduction="10000"/>
          </a:bodyPr>
          <a:lstStyle/>
          <a:p>
            <a:pPr marL="0" indent="0" algn="ctr">
              <a:buNone/>
            </a:pPr>
            <a:r>
              <a:rPr lang="en-US" sz="2400" b="1" dirty="0">
                <a:solidFill>
                  <a:srgbClr val="D94E4E"/>
                </a:solidFill>
                <a:latin typeface="Aptos" pitchFamily="34" charset="0"/>
                <a:ea typeface="Aptos" pitchFamily="34" charset="-122"/>
                <a:cs typeface="Aptos" pitchFamily="34" charset="-120"/>
              </a:rPr>
              <a:t>Missing</a:t>
            </a:r>
            <a:endParaRPr lang="en-US" sz="2400" dirty="0"/>
          </a:p>
        </p:txBody>
      </p:sp>
      <p:sp>
        <p:nvSpPr>
          <p:cNvPr id="12" name="Text 10"/>
          <p:cNvSpPr/>
          <p:nvPr/>
        </p:nvSpPr>
        <p:spPr>
          <a:xfrm>
            <a:off x="4754880" y="2423160"/>
            <a:ext cx="2606040" cy="594360"/>
          </a:xfrm>
          <a:prstGeom prst="rect">
            <a:avLst/>
          </a:prstGeom>
          <a:noFill/>
          <a:ln/>
        </p:spPr>
        <p:txBody>
          <a:bodyPr wrap="square" lIns="0" tIns="0" rIns="0" bIns="0" rtlCol="0" anchor="ctr">
            <a:normAutofit/>
          </a:bodyPr>
          <a:lstStyle/>
          <a:p>
            <a:pPr marL="0" indent="0" algn="ctr">
              <a:buNone/>
            </a:pPr>
            <a:r>
              <a:rPr lang="en-US" sz="1400" dirty="0">
                <a:solidFill>
                  <a:srgbClr val="132033"/>
                </a:solidFill>
                <a:latin typeface="Aptos" pitchFamily="34" charset="0"/>
                <a:ea typeface="Aptos" pitchFamily="34" charset="-122"/>
                <a:cs typeface="Aptos" pitchFamily="34" charset="-120"/>
              </a:rPr>
              <a:t>Needed for correct decisions but absent</a:t>
            </a:r>
            <a:endParaRPr lang="en-US" sz="1400" dirty="0"/>
          </a:p>
        </p:txBody>
      </p:sp>
      <p:sp>
        <p:nvSpPr>
          <p:cNvPr id="13" name="Text 11"/>
          <p:cNvSpPr/>
          <p:nvPr/>
        </p:nvSpPr>
        <p:spPr>
          <a:xfrm>
            <a:off x="4846320" y="3246120"/>
            <a:ext cx="2423160" cy="1005840"/>
          </a:xfrm>
          <a:prstGeom prst="rect">
            <a:avLst/>
          </a:prstGeom>
          <a:noFill/>
          <a:ln/>
        </p:spPr>
        <p:txBody>
          <a:bodyPr wrap="square" lIns="0" tIns="0" rIns="0" bIns="0" rtlCol="0" anchor="ctr">
            <a:normAutofit/>
          </a:bodyPr>
          <a:lstStyle/>
          <a:p>
            <a:pPr marL="0" indent="0" algn="ctr">
              <a:buNone/>
            </a:pPr>
            <a:r>
              <a:rPr lang="en-US" sz="1800" b="1" dirty="0">
                <a:solidFill>
                  <a:srgbClr val="0B2D55"/>
                </a:solidFill>
                <a:latin typeface="Aptos" pitchFamily="34" charset="0"/>
                <a:ea typeface="Aptos" pitchFamily="34" charset="-122"/>
                <a:cs typeface="Aptos" pitchFamily="34" charset="-120"/>
              </a:rPr>
              <a:t>sample status</a:t>
            </a:r>
            <a:endParaRPr lang="en-US" sz="1800" dirty="0"/>
          </a:p>
          <a:p>
            <a:pPr marL="0" indent="0" algn="ctr">
              <a:buNone/>
            </a:pPr>
            <a:r>
              <a:rPr lang="en-US" sz="1800" b="1" dirty="0">
                <a:solidFill>
                  <a:srgbClr val="0B2D55"/>
                </a:solidFill>
                <a:latin typeface="Aptos" pitchFamily="34" charset="0"/>
                <a:ea typeface="Aptos" pitchFamily="34" charset="-122"/>
                <a:cs typeface="Aptos" pitchFamily="34" charset="-120"/>
              </a:rPr>
              <a:t>remaining battery</a:t>
            </a:r>
            <a:endParaRPr lang="en-US" sz="1800" dirty="0"/>
          </a:p>
          <a:p>
            <a:pPr marL="0" indent="0" algn="ctr">
              <a:buNone/>
            </a:pPr>
            <a:r>
              <a:rPr lang="en-US" sz="1800" b="1" dirty="0">
                <a:solidFill>
                  <a:srgbClr val="0B2D55"/>
                </a:solidFill>
                <a:latin typeface="Aptos" pitchFamily="34" charset="0"/>
                <a:ea typeface="Aptos" pitchFamily="34" charset="-122"/>
                <a:cs typeface="Aptos" pitchFamily="34" charset="-120"/>
              </a:rPr>
              <a:t>hazard status</a:t>
            </a:r>
            <a:endParaRPr lang="en-US" sz="1800" dirty="0"/>
          </a:p>
        </p:txBody>
      </p:sp>
      <p:sp>
        <p:nvSpPr>
          <p:cNvPr id="14" name="Shape 12"/>
          <p:cNvSpPr/>
          <p:nvPr/>
        </p:nvSpPr>
        <p:spPr>
          <a:xfrm>
            <a:off x="8183880" y="1645920"/>
            <a:ext cx="3063240" cy="3429000"/>
          </a:xfrm>
          <a:prstGeom prst="roundRect">
            <a:avLst>
              <a:gd name="adj" fmla="val 2388"/>
            </a:avLst>
          </a:prstGeom>
          <a:solidFill>
            <a:srgbClr val="FFFFFF"/>
          </a:solidFill>
          <a:ln w="12700">
            <a:solidFill>
              <a:srgbClr val="B8C7D8"/>
            </a:solidFill>
            <a:prstDash val="solid"/>
          </a:ln>
          <a:effectLst>
            <a:outerShdw blurRad="12700" dist="50800" dir="2700000" algn="bl" rotWithShape="0">
              <a:srgbClr val="D4DEE8">
                <a:alpha val="25000"/>
              </a:srgbClr>
            </a:outerShdw>
          </a:effectLst>
        </p:spPr>
        <p:txBody>
          <a:bodyPr/>
          <a:lstStyle/>
          <a:p>
            <a:endParaRPr lang="en-US"/>
          </a:p>
        </p:txBody>
      </p:sp>
      <p:sp>
        <p:nvSpPr>
          <p:cNvPr id="15" name="Text 13"/>
          <p:cNvSpPr/>
          <p:nvPr/>
        </p:nvSpPr>
        <p:spPr>
          <a:xfrm>
            <a:off x="8385048" y="1874520"/>
            <a:ext cx="2651760" cy="320040"/>
          </a:xfrm>
          <a:prstGeom prst="rect">
            <a:avLst/>
          </a:prstGeom>
          <a:noFill/>
          <a:ln/>
        </p:spPr>
        <p:txBody>
          <a:bodyPr wrap="square" lIns="0" tIns="0" rIns="0" bIns="0" rtlCol="0" anchor="ctr">
            <a:normAutofit fontScale="92500" lnSpcReduction="10000"/>
          </a:bodyPr>
          <a:lstStyle/>
          <a:p>
            <a:pPr marL="0" indent="0" algn="ctr">
              <a:buNone/>
            </a:pPr>
            <a:r>
              <a:rPr lang="en-US" sz="2400" b="1" dirty="0">
                <a:solidFill>
                  <a:srgbClr val="0B2D55"/>
                </a:solidFill>
                <a:latin typeface="Aptos" pitchFamily="34" charset="0"/>
                <a:ea typeface="Aptos" pitchFamily="34" charset="-122"/>
                <a:cs typeface="Aptos" pitchFamily="34" charset="-120"/>
              </a:rPr>
              <a:t>Irrelevant</a:t>
            </a:r>
            <a:endParaRPr lang="en-US" sz="2400" dirty="0"/>
          </a:p>
        </p:txBody>
      </p:sp>
      <p:sp>
        <p:nvSpPr>
          <p:cNvPr id="16" name="Text 14"/>
          <p:cNvSpPr/>
          <p:nvPr/>
        </p:nvSpPr>
        <p:spPr>
          <a:xfrm>
            <a:off x="8412480" y="2423160"/>
            <a:ext cx="2606040" cy="594360"/>
          </a:xfrm>
          <a:prstGeom prst="rect">
            <a:avLst/>
          </a:prstGeom>
          <a:noFill/>
          <a:ln/>
        </p:spPr>
        <p:txBody>
          <a:bodyPr wrap="square" lIns="0" tIns="0" rIns="0" bIns="0" rtlCol="0" anchor="ctr">
            <a:normAutofit/>
          </a:bodyPr>
          <a:lstStyle/>
          <a:p>
            <a:pPr marL="0" indent="0" algn="ctr">
              <a:buNone/>
            </a:pPr>
            <a:r>
              <a:rPr lang="en-US" sz="1400" dirty="0">
                <a:solidFill>
                  <a:srgbClr val="132033"/>
                </a:solidFill>
                <a:latin typeface="Aptos" pitchFamily="34" charset="0"/>
                <a:ea typeface="Aptos" pitchFamily="34" charset="-122"/>
                <a:cs typeface="Aptos" pitchFamily="34" charset="-120"/>
              </a:rPr>
              <a:t>Adds complexity without changing decisions</a:t>
            </a:r>
            <a:endParaRPr lang="en-US" sz="1400" dirty="0"/>
          </a:p>
        </p:txBody>
      </p:sp>
      <p:sp>
        <p:nvSpPr>
          <p:cNvPr id="17" name="Text 15"/>
          <p:cNvSpPr/>
          <p:nvPr/>
        </p:nvSpPr>
        <p:spPr>
          <a:xfrm>
            <a:off x="8503920" y="3246120"/>
            <a:ext cx="2423160" cy="1005840"/>
          </a:xfrm>
          <a:prstGeom prst="rect">
            <a:avLst/>
          </a:prstGeom>
          <a:noFill/>
          <a:ln/>
        </p:spPr>
        <p:txBody>
          <a:bodyPr wrap="square" lIns="0" tIns="0" rIns="0" bIns="0" rtlCol="0" anchor="ctr">
            <a:normAutofit/>
          </a:bodyPr>
          <a:lstStyle/>
          <a:p>
            <a:pPr marL="0" indent="0" algn="ctr">
              <a:buNone/>
            </a:pPr>
            <a:r>
              <a:rPr lang="en-US" sz="1800" b="1" dirty="0">
                <a:solidFill>
                  <a:srgbClr val="0B2D55"/>
                </a:solidFill>
                <a:latin typeface="Aptos" pitchFamily="34" charset="0"/>
                <a:ea typeface="Aptos" pitchFamily="34" charset="-122"/>
                <a:cs typeface="Aptos" pitchFamily="34" charset="-120"/>
              </a:rPr>
              <a:t>paint color</a:t>
            </a:r>
            <a:endParaRPr lang="en-US" sz="1800" dirty="0"/>
          </a:p>
          <a:p>
            <a:pPr marL="0" indent="0" algn="ctr">
              <a:buNone/>
            </a:pPr>
            <a:r>
              <a:rPr lang="en-US" sz="1800" b="1" dirty="0">
                <a:solidFill>
                  <a:srgbClr val="0B2D55"/>
                </a:solidFill>
                <a:latin typeface="Aptos" pitchFamily="34" charset="0"/>
                <a:ea typeface="Aptos" pitchFamily="34" charset="-122"/>
                <a:cs typeface="Aptos" pitchFamily="34" charset="-120"/>
              </a:rPr>
              <a:t>serial number</a:t>
            </a:r>
            <a:endParaRPr lang="en-US" sz="1800" dirty="0"/>
          </a:p>
          <a:p>
            <a:pPr marL="0" indent="0" algn="ctr">
              <a:buNone/>
            </a:pPr>
            <a:r>
              <a:rPr lang="en-US" sz="1800" b="1" dirty="0">
                <a:solidFill>
                  <a:srgbClr val="0B2D55"/>
                </a:solidFill>
                <a:latin typeface="Aptos" pitchFamily="34" charset="0"/>
                <a:ea typeface="Aptos" pitchFamily="34" charset="-122"/>
                <a:cs typeface="Aptos" pitchFamily="34" charset="-120"/>
              </a:rPr>
              <a:t>operator name</a:t>
            </a:r>
            <a:endParaRPr lang="en-US" sz="1800" dirty="0"/>
          </a:p>
        </p:txBody>
      </p:sp>
      <p:sp>
        <p:nvSpPr>
          <p:cNvPr id="18" name="Text 16"/>
          <p:cNvSpPr/>
          <p:nvPr/>
        </p:nvSpPr>
        <p:spPr>
          <a:xfrm>
            <a:off x="914400" y="5605272"/>
            <a:ext cx="10149840" cy="411480"/>
          </a:xfrm>
          <a:prstGeom prst="rect">
            <a:avLst/>
          </a:prstGeom>
          <a:noFill/>
          <a:ln/>
        </p:spPr>
        <p:txBody>
          <a:bodyPr wrap="square" lIns="0" tIns="0" rIns="0" bIns="0" rtlCol="0" anchor="ctr">
            <a:normAutofit/>
          </a:bodyPr>
          <a:lstStyle/>
          <a:p>
            <a:pPr marL="0" indent="0" algn="ctr">
              <a:buNone/>
            </a:pPr>
            <a:r>
              <a:rPr lang="en-US" sz="2200" b="1" dirty="0">
                <a:solidFill>
                  <a:srgbClr val="0B2D55"/>
                </a:solidFill>
                <a:latin typeface="Aptos" pitchFamily="34" charset="0"/>
                <a:ea typeface="Aptos" pitchFamily="34" charset="-122"/>
                <a:cs typeface="Aptos" pitchFamily="34" charset="-120"/>
              </a:rPr>
              <a:t>Engineering check: does the state support actions, goal tests, and costs?</a:t>
            </a:r>
            <a:endParaRPr lang="en-US" sz="2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76072" y="566928"/>
            <a:ext cx="8412480" cy="475488"/>
          </a:xfrm>
          <a:prstGeom prst="rect">
            <a:avLst/>
          </a:prstGeom>
          <a:noFill/>
          <a:ln/>
        </p:spPr>
        <p:txBody>
          <a:bodyPr wrap="square" lIns="0" tIns="0" rIns="0" bIns="0" rtlCol="0" anchor="ctr">
            <a:normAutofit lnSpcReduction="10000"/>
          </a:bodyPr>
          <a:lstStyle/>
          <a:p>
            <a:pPr marL="0" indent="0">
              <a:buNone/>
            </a:pPr>
            <a:r>
              <a:rPr lang="en-US" sz="3400" b="1" dirty="0">
                <a:solidFill>
                  <a:srgbClr val="0B2D55"/>
                </a:solidFill>
                <a:latin typeface="Aptos Display" pitchFamily="34" charset="0"/>
                <a:ea typeface="Aptos Display" pitchFamily="34" charset="-122"/>
                <a:cs typeface="Aptos Display" pitchFamily="34" charset="-120"/>
              </a:rPr>
              <a:t>Actions and state transitions</a:t>
            </a:r>
            <a:endParaRPr lang="en-US" sz="3400" dirty="0"/>
          </a:p>
        </p:txBody>
      </p:sp>
      <p:sp>
        <p:nvSpPr>
          <p:cNvPr id="3" name="Text 1"/>
          <p:cNvSpPr/>
          <p:nvPr/>
        </p:nvSpPr>
        <p:spPr>
          <a:xfrm>
            <a:off x="594360" y="1051560"/>
            <a:ext cx="7315200" cy="292608"/>
          </a:xfrm>
          <a:prstGeom prst="rect">
            <a:avLst/>
          </a:prstGeom>
          <a:noFill/>
          <a:ln/>
        </p:spPr>
        <p:txBody>
          <a:bodyPr wrap="square" lIns="0" tIns="0" rIns="0" bIns="0" rtlCol="0" anchor="ctr">
            <a:normAutofit/>
          </a:bodyPr>
          <a:lstStyle/>
          <a:p>
            <a:pPr marL="0" indent="0">
              <a:buNone/>
            </a:pPr>
            <a:r>
              <a:rPr lang="en-US" sz="1500" dirty="0">
                <a:solidFill>
                  <a:srgbClr val="132033"/>
                </a:solidFill>
                <a:latin typeface="Aptos" pitchFamily="34" charset="0"/>
                <a:ea typeface="Aptos" pitchFamily="34" charset="-122"/>
                <a:cs typeface="Aptos" pitchFamily="34" charset="-120"/>
              </a:rPr>
              <a:t>Actions are operations available from a state.</a:t>
            </a:r>
            <a:endParaRPr lang="en-US" sz="1500" dirty="0"/>
          </a:p>
        </p:txBody>
      </p:sp>
      <p:sp>
        <p:nvSpPr>
          <p:cNvPr id="4" name="Text 2"/>
          <p:cNvSpPr/>
          <p:nvPr/>
        </p:nvSpPr>
        <p:spPr>
          <a:xfrm>
            <a:off x="502920" y="6528816"/>
            <a:ext cx="4937760" cy="201168"/>
          </a:xfrm>
          <a:prstGeom prst="rect">
            <a:avLst/>
          </a:prstGeom>
          <a:noFill/>
          <a:ln/>
        </p:spPr>
        <p:txBody>
          <a:bodyPr wrap="square" lIns="0" tIns="0" rIns="0" bIns="0" rtlCol="0" anchor="ctr">
            <a:normAutofit/>
          </a:bodyPr>
          <a:lstStyle/>
          <a:p>
            <a:pPr marL="0" indent="0">
              <a:buNone/>
            </a:pPr>
            <a:r>
              <a:rPr lang="en-US" sz="850" dirty="0">
                <a:solidFill>
                  <a:srgbClr val="6D7C8F"/>
                </a:solidFill>
                <a:latin typeface="Aptos" pitchFamily="34" charset="0"/>
                <a:ea typeface="Aptos" pitchFamily="34" charset="-122"/>
                <a:cs typeface="Aptos" pitchFamily="34" charset="-120"/>
              </a:rPr>
              <a:t>CS 471  |  L04: Problem Formulation</a:t>
            </a:r>
            <a:endParaRPr lang="en-US" sz="850" dirty="0"/>
          </a:p>
        </p:txBody>
      </p:sp>
      <p:sp>
        <p:nvSpPr>
          <p:cNvPr id="5" name="Text 3"/>
          <p:cNvSpPr/>
          <p:nvPr/>
        </p:nvSpPr>
        <p:spPr>
          <a:xfrm>
            <a:off x="11402568" y="6528816"/>
            <a:ext cx="320040" cy="201168"/>
          </a:xfrm>
          <a:prstGeom prst="rect">
            <a:avLst/>
          </a:prstGeom>
          <a:noFill/>
          <a:ln/>
        </p:spPr>
        <p:txBody>
          <a:bodyPr wrap="square" lIns="0" tIns="0" rIns="0" bIns="0" rtlCol="0" anchor="ctr">
            <a:normAutofit/>
          </a:bodyPr>
          <a:lstStyle/>
          <a:p>
            <a:pPr marL="0" indent="0" algn="r">
              <a:buNone/>
            </a:pPr>
            <a:r>
              <a:rPr lang="en-US" sz="850" dirty="0">
                <a:solidFill>
                  <a:srgbClr val="6D7C8F"/>
                </a:solidFill>
                <a:latin typeface="Aptos" pitchFamily="34" charset="0"/>
                <a:ea typeface="Aptos" pitchFamily="34" charset="-122"/>
                <a:cs typeface="Aptos" pitchFamily="34" charset="-120"/>
              </a:rPr>
              <a:t>9</a:t>
            </a:r>
            <a:endParaRPr lang="en-US" sz="850" dirty="0"/>
          </a:p>
        </p:txBody>
      </p:sp>
      <p:sp>
        <p:nvSpPr>
          <p:cNvPr id="6" name="Shape 4"/>
          <p:cNvSpPr/>
          <p:nvPr/>
        </p:nvSpPr>
        <p:spPr>
          <a:xfrm>
            <a:off x="777240" y="1600200"/>
            <a:ext cx="3017520" cy="2880360"/>
          </a:xfrm>
          <a:prstGeom prst="roundRect">
            <a:avLst>
              <a:gd name="adj" fmla="val 2540"/>
            </a:avLst>
          </a:prstGeom>
          <a:solidFill>
            <a:srgbClr val="FFFFFF"/>
          </a:solidFill>
          <a:ln w="12700">
            <a:solidFill>
              <a:srgbClr val="B8C7D8"/>
            </a:solidFill>
            <a:prstDash val="solid"/>
          </a:ln>
          <a:effectLst>
            <a:outerShdw blurRad="12700" dist="50800" dir="2700000" algn="bl" rotWithShape="0">
              <a:srgbClr val="D4DEE8">
                <a:alpha val="25000"/>
              </a:srgbClr>
            </a:outerShdw>
          </a:effectLst>
        </p:spPr>
        <p:txBody>
          <a:bodyPr/>
          <a:lstStyle/>
          <a:p>
            <a:endParaRPr lang="en-US"/>
          </a:p>
        </p:txBody>
      </p:sp>
      <p:sp>
        <p:nvSpPr>
          <p:cNvPr id="7" name="Text 5"/>
          <p:cNvSpPr/>
          <p:nvPr/>
        </p:nvSpPr>
        <p:spPr>
          <a:xfrm>
            <a:off x="1024128" y="1874520"/>
            <a:ext cx="2514600" cy="320040"/>
          </a:xfrm>
          <a:prstGeom prst="rect">
            <a:avLst/>
          </a:prstGeom>
          <a:noFill/>
          <a:ln/>
        </p:spPr>
        <p:txBody>
          <a:bodyPr wrap="square" lIns="0" tIns="0" rIns="0" bIns="0" rtlCol="0" anchor="ctr">
            <a:normAutofit lnSpcReduction="10000"/>
          </a:bodyPr>
          <a:lstStyle/>
          <a:p>
            <a:pPr marL="0" indent="0" algn="ctr">
              <a:buNone/>
            </a:pPr>
            <a:r>
              <a:rPr lang="en-US" sz="2200" b="1" dirty="0">
                <a:solidFill>
                  <a:srgbClr val="0B2D55"/>
                </a:solidFill>
                <a:latin typeface="Aptos" pitchFamily="34" charset="0"/>
                <a:ea typeface="Aptos" pitchFamily="34" charset="-122"/>
                <a:cs typeface="Aptos" pitchFamily="34" charset="-120"/>
              </a:rPr>
              <a:t>Current state</a:t>
            </a:r>
            <a:endParaRPr lang="en-US" sz="2200" dirty="0"/>
          </a:p>
        </p:txBody>
      </p:sp>
      <p:sp>
        <p:nvSpPr>
          <p:cNvPr id="8" name="Text 6"/>
          <p:cNvSpPr/>
          <p:nvPr/>
        </p:nvSpPr>
        <p:spPr>
          <a:xfrm>
            <a:off x="1005840" y="2514600"/>
            <a:ext cx="2560320" cy="777240"/>
          </a:xfrm>
          <a:prstGeom prst="rect">
            <a:avLst/>
          </a:prstGeom>
          <a:noFill/>
          <a:ln/>
        </p:spPr>
        <p:txBody>
          <a:bodyPr wrap="square" lIns="0" tIns="0" rIns="0" bIns="0" rtlCol="0" anchor="ctr">
            <a:normAutofit fontScale="92500" lnSpcReduction="20000"/>
          </a:bodyPr>
          <a:lstStyle/>
          <a:p>
            <a:pPr marL="0" indent="0" algn="ctr">
              <a:buNone/>
            </a:pPr>
            <a:r>
              <a:rPr lang="en-US" sz="2000" b="1" dirty="0">
                <a:solidFill>
                  <a:srgbClr val="1D5FA7"/>
                </a:solidFill>
                <a:latin typeface="Aptos" pitchFamily="34" charset="0"/>
                <a:ea typeface="Aptos" pitchFamily="34" charset="-122"/>
                <a:cs typeface="Aptos" pitchFamily="34" charset="-120"/>
              </a:rPr>
              <a:t>(site A, sample A collected, medium battery)</a:t>
            </a:r>
            <a:endParaRPr lang="en-US" sz="2000" dirty="0"/>
          </a:p>
        </p:txBody>
      </p:sp>
      <p:sp>
        <p:nvSpPr>
          <p:cNvPr id="9" name="Shape 7"/>
          <p:cNvSpPr/>
          <p:nvPr/>
        </p:nvSpPr>
        <p:spPr>
          <a:xfrm>
            <a:off x="4572000" y="1737360"/>
            <a:ext cx="1920240" cy="420624"/>
          </a:xfrm>
          <a:prstGeom prst="roundRect">
            <a:avLst>
              <a:gd name="adj" fmla="val 17391"/>
            </a:avLst>
          </a:prstGeom>
          <a:solidFill>
            <a:srgbClr val="1D5FA7"/>
          </a:solidFill>
          <a:ln w="12700">
            <a:solidFill>
              <a:srgbClr val="1D5FA7">
                <a:alpha val="0"/>
              </a:srgbClr>
            </a:solidFill>
            <a:prstDash val="solid"/>
          </a:ln>
        </p:spPr>
        <p:txBody>
          <a:bodyPr/>
          <a:lstStyle/>
          <a:p>
            <a:endParaRPr lang="en-US"/>
          </a:p>
        </p:txBody>
      </p:sp>
      <p:sp>
        <p:nvSpPr>
          <p:cNvPr id="10" name="Text 8"/>
          <p:cNvSpPr/>
          <p:nvPr/>
        </p:nvSpPr>
        <p:spPr>
          <a:xfrm>
            <a:off x="4617720" y="1810512"/>
            <a:ext cx="1828800" cy="310896"/>
          </a:xfrm>
          <a:prstGeom prst="rect">
            <a:avLst/>
          </a:prstGeom>
          <a:noFill/>
          <a:ln/>
        </p:spPr>
        <p:txBody>
          <a:bodyPr wrap="square" lIns="0" tIns="0" rIns="0" bIns="0" rtlCol="0" anchor="ctr">
            <a:normAutofit/>
          </a:bodyPr>
          <a:lstStyle/>
          <a:p>
            <a:pPr marL="0" indent="0" algn="ctr">
              <a:buNone/>
            </a:pPr>
            <a:r>
              <a:rPr lang="en-US" sz="1300" b="1" dirty="0">
                <a:solidFill>
                  <a:srgbClr val="FFFFFF"/>
                </a:solidFill>
                <a:latin typeface="Aptos" pitchFamily="34" charset="0"/>
                <a:ea typeface="Aptos" pitchFamily="34" charset="-122"/>
                <a:cs typeface="Aptos" pitchFamily="34" charset="-120"/>
              </a:rPr>
              <a:t>Move</a:t>
            </a:r>
            <a:endParaRPr lang="en-US" sz="1300" dirty="0"/>
          </a:p>
        </p:txBody>
      </p:sp>
      <p:sp>
        <p:nvSpPr>
          <p:cNvPr id="11" name="Text 9"/>
          <p:cNvSpPr/>
          <p:nvPr/>
        </p:nvSpPr>
        <p:spPr>
          <a:xfrm>
            <a:off x="6720840" y="1819656"/>
            <a:ext cx="1828800" cy="274320"/>
          </a:xfrm>
          <a:prstGeom prst="rect">
            <a:avLst/>
          </a:prstGeom>
          <a:noFill/>
          <a:ln/>
        </p:spPr>
        <p:txBody>
          <a:bodyPr wrap="square" lIns="0" tIns="0" rIns="0" bIns="0" rtlCol="0" anchor="ctr">
            <a:normAutofit/>
          </a:bodyPr>
          <a:lstStyle/>
          <a:p>
            <a:pPr marL="0" indent="0">
              <a:buNone/>
            </a:pPr>
            <a:r>
              <a:rPr lang="en-US" sz="1600" dirty="0">
                <a:solidFill>
                  <a:srgbClr val="132033"/>
                </a:solidFill>
                <a:latin typeface="Aptos" pitchFamily="34" charset="0"/>
                <a:ea typeface="Aptos" pitchFamily="34" charset="-122"/>
                <a:cs typeface="Aptos" pitchFamily="34" charset="-120"/>
              </a:rPr>
              <a:t>to neighboring site</a:t>
            </a:r>
            <a:endParaRPr lang="en-US" sz="1600" dirty="0"/>
          </a:p>
        </p:txBody>
      </p:sp>
      <p:sp>
        <p:nvSpPr>
          <p:cNvPr id="12" name="Shape 10"/>
          <p:cNvSpPr/>
          <p:nvPr/>
        </p:nvSpPr>
        <p:spPr>
          <a:xfrm>
            <a:off x="3840480" y="1938528"/>
            <a:ext cx="594360" cy="0"/>
          </a:xfrm>
          <a:prstGeom prst="line">
            <a:avLst/>
          </a:prstGeom>
          <a:noFill/>
          <a:ln w="25400">
            <a:solidFill>
              <a:srgbClr val="1D5FA7"/>
            </a:solidFill>
            <a:prstDash val="solid"/>
            <a:headEnd type="none"/>
            <a:tailEnd type="triangle"/>
          </a:ln>
        </p:spPr>
        <p:txBody>
          <a:bodyPr/>
          <a:lstStyle/>
          <a:p>
            <a:endParaRPr lang="en-US"/>
          </a:p>
        </p:txBody>
      </p:sp>
      <p:sp>
        <p:nvSpPr>
          <p:cNvPr id="13" name="Shape 11"/>
          <p:cNvSpPr/>
          <p:nvPr/>
        </p:nvSpPr>
        <p:spPr>
          <a:xfrm>
            <a:off x="4572000" y="2651760"/>
            <a:ext cx="1920240" cy="420624"/>
          </a:xfrm>
          <a:prstGeom prst="roundRect">
            <a:avLst>
              <a:gd name="adj" fmla="val 17391"/>
            </a:avLst>
          </a:prstGeom>
          <a:solidFill>
            <a:srgbClr val="F2C14E"/>
          </a:solidFill>
          <a:ln w="12700">
            <a:solidFill>
              <a:srgbClr val="F2C14E">
                <a:alpha val="0"/>
              </a:srgbClr>
            </a:solidFill>
            <a:prstDash val="solid"/>
          </a:ln>
        </p:spPr>
        <p:txBody>
          <a:bodyPr/>
          <a:lstStyle/>
          <a:p>
            <a:endParaRPr lang="en-US"/>
          </a:p>
        </p:txBody>
      </p:sp>
      <p:sp>
        <p:nvSpPr>
          <p:cNvPr id="14" name="Text 12"/>
          <p:cNvSpPr/>
          <p:nvPr/>
        </p:nvSpPr>
        <p:spPr>
          <a:xfrm>
            <a:off x="4617720" y="2724912"/>
            <a:ext cx="1828800" cy="310896"/>
          </a:xfrm>
          <a:prstGeom prst="rect">
            <a:avLst/>
          </a:prstGeom>
          <a:noFill/>
          <a:ln/>
        </p:spPr>
        <p:txBody>
          <a:bodyPr wrap="square" lIns="0" tIns="0" rIns="0" bIns="0" rtlCol="0" anchor="ctr">
            <a:normAutofit/>
          </a:bodyPr>
          <a:lstStyle/>
          <a:p>
            <a:pPr marL="0" indent="0" algn="ctr">
              <a:buNone/>
            </a:pPr>
            <a:r>
              <a:rPr lang="en-US" sz="1300" b="1" dirty="0">
                <a:solidFill>
                  <a:srgbClr val="FFFFFF"/>
                </a:solidFill>
                <a:latin typeface="Aptos" pitchFamily="34" charset="0"/>
                <a:ea typeface="Aptos" pitchFamily="34" charset="-122"/>
                <a:cs typeface="Aptos" pitchFamily="34" charset="-120"/>
              </a:rPr>
              <a:t>Collect</a:t>
            </a:r>
            <a:endParaRPr lang="en-US" sz="1300" dirty="0"/>
          </a:p>
        </p:txBody>
      </p:sp>
      <p:sp>
        <p:nvSpPr>
          <p:cNvPr id="15" name="Text 13"/>
          <p:cNvSpPr/>
          <p:nvPr/>
        </p:nvSpPr>
        <p:spPr>
          <a:xfrm>
            <a:off x="6720840" y="2734056"/>
            <a:ext cx="1828800" cy="274320"/>
          </a:xfrm>
          <a:prstGeom prst="rect">
            <a:avLst/>
          </a:prstGeom>
          <a:noFill/>
          <a:ln/>
        </p:spPr>
        <p:txBody>
          <a:bodyPr wrap="square" lIns="0" tIns="0" rIns="0" bIns="0" rtlCol="0" anchor="ctr">
            <a:normAutofit/>
          </a:bodyPr>
          <a:lstStyle/>
          <a:p>
            <a:pPr marL="0" indent="0">
              <a:buNone/>
            </a:pPr>
            <a:r>
              <a:rPr lang="en-US" sz="1600" dirty="0">
                <a:solidFill>
                  <a:srgbClr val="132033"/>
                </a:solidFill>
                <a:latin typeface="Aptos" pitchFamily="34" charset="0"/>
                <a:ea typeface="Aptos" pitchFamily="34" charset="-122"/>
                <a:cs typeface="Aptos" pitchFamily="34" charset="-120"/>
              </a:rPr>
              <a:t>only at sample site</a:t>
            </a:r>
            <a:endParaRPr lang="en-US" sz="1600" dirty="0"/>
          </a:p>
        </p:txBody>
      </p:sp>
      <p:sp>
        <p:nvSpPr>
          <p:cNvPr id="16" name="Shape 14"/>
          <p:cNvSpPr/>
          <p:nvPr/>
        </p:nvSpPr>
        <p:spPr>
          <a:xfrm>
            <a:off x="3840480" y="2852928"/>
            <a:ext cx="594360" cy="0"/>
          </a:xfrm>
          <a:prstGeom prst="line">
            <a:avLst/>
          </a:prstGeom>
          <a:noFill/>
          <a:ln w="25400">
            <a:solidFill>
              <a:srgbClr val="F2C14E"/>
            </a:solidFill>
            <a:prstDash val="solid"/>
            <a:headEnd type="none"/>
            <a:tailEnd type="triangle"/>
          </a:ln>
        </p:spPr>
        <p:txBody>
          <a:bodyPr/>
          <a:lstStyle/>
          <a:p>
            <a:endParaRPr lang="en-US"/>
          </a:p>
        </p:txBody>
      </p:sp>
      <p:sp>
        <p:nvSpPr>
          <p:cNvPr id="17" name="Shape 15"/>
          <p:cNvSpPr/>
          <p:nvPr/>
        </p:nvSpPr>
        <p:spPr>
          <a:xfrm>
            <a:off x="4572000" y="3566160"/>
            <a:ext cx="1920240" cy="420624"/>
          </a:xfrm>
          <a:prstGeom prst="roundRect">
            <a:avLst>
              <a:gd name="adj" fmla="val 17391"/>
            </a:avLst>
          </a:prstGeom>
          <a:solidFill>
            <a:srgbClr val="39A875"/>
          </a:solidFill>
          <a:ln w="12700">
            <a:solidFill>
              <a:srgbClr val="39A875">
                <a:alpha val="0"/>
              </a:srgbClr>
            </a:solidFill>
            <a:prstDash val="solid"/>
          </a:ln>
        </p:spPr>
        <p:txBody>
          <a:bodyPr/>
          <a:lstStyle/>
          <a:p>
            <a:endParaRPr lang="en-US"/>
          </a:p>
        </p:txBody>
      </p:sp>
      <p:sp>
        <p:nvSpPr>
          <p:cNvPr id="18" name="Text 16"/>
          <p:cNvSpPr/>
          <p:nvPr/>
        </p:nvSpPr>
        <p:spPr>
          <a:xfrm>
            <a:off x="4617720" y="3639312"/>
            <a:ext cx="1828800" cy="310896"/>
          </a:xfrm>
          <a:prstGeom prst="rect">
            <a:avLst/>
          </a:prstGeom>
          <a:noFill/>
          <a:ln/>
        </p:spPr>
        <p:txBody>
          <a:bodyPr wrap="square" lIns="0" tIns="0" rIns="0" bIns="0" rtlCol="0" anchor="ctr">
            <a:normAutofit/>
          </a:bodyPr>
          <a:lstStyle/>
          <a:p>
            <a:pPr marL="0" indent="0" algn="ctr">
              <a:buNone/>
            </a:pPr>
            <a:r>
              <a:rPr lang="en-US" sz="1300" b="1" dirty="0">
                <a:solidFill>
                  <a:srgbClr val="FFFFFF"/>
                </a:solidFill>
                <a:latin typeface="Aptos" pitchFamily="34" charset="0"/>
                <a:ea typeface="Aptos" pitchFamily="34" charset="-122"/>
                <a:cs typeface="Aptos" pitchFamily="34" charset="-120"/>
              </a:rPr>
              <a:t>Recharge</a:t>
            </a:r>
            <a:endParaRPr lang="en-US" sz="1300" dirty="0"/>
          </a:p>
        </p:txBody>
      </p:sp>
      <p:sp>
        <p:nvSpPr>
          <p:cNvPr id="19" name="Text 17"/>
          <p:cNvSpPr/>
          <p:nvPr/>
        </p:nvSpPr>
        <p:spPr>
          <a:xfrm>
            <a:off x="6720840" y="3648456"/>
            <a:ext cx="1828800" cy="274320"/>
          </a:xfrm>
          <a:prstGeom prst="rect">
            <a:avLst/>
          </a:prstGeom>
          <a:noFill/>
          <a:ln/>
        </p:spPr>
        <p:txBody>
          <a:bodyPr wrap="square" lIns="0" tIns="0" rIns="0" bIns="0" rtlCol="0" anchor="ctr">
            <a:normAutofit/>
          </a:bodyPr>
          <a:lstStyle/>
          <a:p>
            <a:pPr marL="0" indent="0">
              <a:buNone/>
            </a:pPr>
            <a:r>
              <a:rPr lang="en-US" sz="1600" dirty="0">
                <a:solidFill>
                  <a:srgbClr val="132033"/>
                </a:solidFill>
                <a:latin typeface="Aptos" pitchFamily="34" charset="0"/>
                <a:ea typeface="Aptos" pitchFamily="34" charset="-122"/>
                <a:cs typeface="Aptos" pitchFamily="34" charset="-120"/>
              </a:rPr>
              <a:t>only at station</a:t>
            </a:r>
            <a:endParaRPr lang="en-US" sz="1600" dirty="0"/>
          </a:p>
        </p:txBody>
      </p:sp>
      <p:sp>
        <p:nvSpPr>
          <p:cNvPr id="20" name="Shape 18"/>
          <p:cNvSpPr/>
          <p:nvPr/>
        </p:nvSpPr>
        <p:spPr>
          <a:xfrm>
            <a:off x="3840480" y="3767328"/>
            <a:ext cx="594360" cy="0"/>
          </a:xfrm>
          <a:prstGeom prst="line">
            <a:avLst/>
          </a:prstGeom>
          <a:noFill/>
          <a:ln w="25400">
            <a:solidFill>
              <a:srgbClr val="39A875"/>
            </a:solidFill>
            <a:prstDash val="solid"/>
            <a:headEnd type="none"/>
            <a:tailEnd type="triangle"/>
          </a:ln>
        </p:spPr>
        <p:txBody>
          <a:bodyPr/>
          <a:lstStyle/>
          <a:p>
            <a:endParaRPr lang="en-US"/>
          </a:p>
        </p:txBody>
      </p:sp>
      <p:sp>
        <p:nvSpPr>
          <p:cNvPr id="21" name="Shape 19"/>
          <p:cNvSpPr/>
          <p:nvPr/>
        </p:nvSpPr>
        <p:spPr>
          <a:xfrm>
            <a:off x="8915400" y="1783080"/>
            <a:ext cx="2468880" cy="1691640"/>
          </a:xfrm>
          <a:prstGeom prst="roundRect">
            <a:avLst>
              <a:gd name="adj" fmla="val 4324"/>
            </a:avLst>
          </a:prstGeom>
          <a:solidFill>
            <a:srgbClr val="DCEEFF"/>
          </a:solidFill>
          <a:ln w="12700">
            <a:solidFill>
              <a:srgbClr val="1D5FA7"/>
            </a:solidFill>
            <a:prstDash val="solid"/>
          </a:ln>
          <a:effectLst>
            <a:outerShdw blurRad="12700" dist="50800" dir="2700000" algn="bl" rotWithShape="0">
              <a:srgbClr val="D4DEE8">
                <a:alpha val="25000"/>
              </a:srgbClr>
            </a:outerShdw>
          </a:effectLst>
        </p:spPr>
        <p:txBody>
          <a:bodyPr/>
          <a:lstStyle/>
          <a:p>
            <a:endParaRPr lang="en-US"/>
          </a:p>
        </p:txBody>
      </p:sp>
      <p:sp>
        <p:nvSpPr>
          <p:cNvPr id="22" name="Text 20"/>
          <p:cNvSpPr/>
          <p:nvPr/>
        </p:nvSpPr>
        <p:spPr>
          <a:xfrm>
            <a:off x="9098280" y="2011680"/>
            <a:ext cx="2103120" cy="320040"/>
          </a:xfrm>
          <a:prstGeom prst="rect">
            <a:avLst/>
          </a:prstGeom>
          <a:noFill/>
          <a:ln/>
        </p:spPr>
        <p:txBody>
          <a:bodyPr wrap="square" lIns="0" tIns="0" rIns="0" bIns="0" rtlCol="0" anchor="ctr">
            <a:normAutofit/>
          </a:bodyPr>
          <a:lstStyle/>
          <a:p>
            <a:pPr marL="0" indent="0" algn="ctr">
              <a:buNone/>
            </a:pPr>
            <a:r>
              <a:rPr lang="en-US" sz="1900" b="1" dirty="0">
                <a:solidFill>
                  <a:srgbClr val="0B2D55"/>
                </a:solidFill>
                <a:latin typeface="Aptos" pitchFamily="34" charset="0"/>
                <a:ea typeface="Aptos" pitchFamily="34" charset="-122"/>
                <a:cs typeface="Aptos" pitchFamily="34" charset="-120"/>
              </a:rPr>
              <a:t>Successor state</a:t>
            </a:r>
            <a:endParaRPr lang="en-US" sz="1900" dirty="0"/>
          </a:p>
        </p:txBody>
      </p:sp>
      <p:sp>
        <p:nvSpPr>
          <p:cNvPr id="23" name="Text 21"/>
          <p:cNvSpPr/>
          <p:nvPr/>
        </p:nvSpPr>
        <p:spPr>
          <a:xfrm>
            <a:off x="9098280" y="2542032"/>
            <a:ext cx="2103120" cy="502920"/>
          </a:xfrm>
          <a:prstGeom prst="rect">
            <a:avLst/>
          </a:prstGeom>
          <a:noFill/>
          <a:ln/>
        </p:spPr>
        <p:txBody>
          <a:bodyPr wrap="square" lIns="0" tIns="0" rIns="0" bIns="0" rtlCol="0" anchor="ctr">
            <a:normAutofit/>
          </a:bodyPr>
          <a:lstStyle/>
          <a:p>
            <a:pPr marL="0" indent="0" algn="ctr">
              <a:buNone/>
            </a:pPr>
            <a:r>
              <a:rPr lang="en-US" sz="1400" dirty="0">
                <a:solidFill>
                  <a:srgbClr val="132033"/>
                </a:solidFill>
                <a:latin typeface="Aptos" pitchFamily="34" charset="0"/>
                <a:ea typeface="Aptos" pitchFamily="34" charset="-122"/>
                <a:cs typeface="Aptos" pitchFamily="34" charset="-120"/>
              </a:rPr>
              <a:t>updated location, samples, and battery</a:t>
            </a:r>
            <a:endParaRPr lang="en-US" sz="1400" dirty="0"/>
          </a:p>
        </p:txBody>
      </p:sp>
      <p:sp>
        <p:nvSpPr>
          <p:cNvPr id="24" name="Text 22"/>
          <p:cNvSpPr/>
          <p:nvPr/>
        </p:nvSpPr>
        <p:spPr>
          <a:xfrm>
            <a:off x="960120" y="5074920"/>
            <a:ext cx="10149840" cy="502920"/>
          </a:xfrm>
          <a:prstGeom prst="rect">
            <a:avLst/>
          </a:prstGeom>
          <a:noFill/>
          <a:ln/>
        </p:spPr>
        <p:txBody>
          <a:bodyPr wrap="square" lIns="0" tIns="0" rIns="0" bIns="0" rtlCol="0" anchor="ctr">
            <a:normAutofit/>
          </a:bodyPr>
          <a:lstStyle/>
          <a:p>
            <a:pPr marL="0" indent="0" algn="ctr">
              <a:buNone/>
            </a:pPr>
            <a:r>
              <a:rPr lang="en-US" sz="2400" b="1" dirty="0">
                <a:solidFill>
                  <a:srgbClr val="0B2D55"/>
                </a:solidFill>
                <a:latin typeface="Aptos" pitchFamily="34" charset="0"/>
                <a:ea typeface="Aptos" pitchFamily="34" charset="-122"/>
                <a:cs typeface="Aptos" pitchFamily="34" charset="-120"/>
              </a:rPr>
              <a:t>Preconditions matter: not every action is legal in every state.</a:t>
            </a:r>
            <a:endParaRPr lang="en-US" sz="2400" dirty="0"/>
          </a:p>
        </p:txBody>
      </p:sp>
      <p:sp>
        <p:nvSpPr>
          <p:cNvPr id="25" name="Shape 23"/>
          <p:cNvSpPr/>
          <p:nvPr/>
        </p:nvSpPr>
        <p:spPr>
          <a:xfrm>
            <a:off x="786384" y="5897880"/>
            <a:ext cx="1325880" cy="438912"/>
          </a:xfrm>
          <a:prstGeom prst="roundRect">
            <a:avLst>
              <a:gd name="adj" fmla="val 14583"/>
            </a:avLst>
          </a:prstGeom>
          <a:solidFill>
            <a:srgbClr val="FFFFFF">
              <a:alpha val="90000"/>
            </a:srgbClr>
          </a:solidFill>
          <a:ln w="12700">
            <a:solidFill>
              <a:srgbClr val="B8C7D8"/>
            </a:solidFill>
            <a:prstDash val="solid"/>
          </a:ln>
        </p:spPr>
        <p:txBody>
          <a:bodyPr/>
          <a:lstStyle/>
          <a:p>
            <a:endParaRPr lang="en-US"/>
          </a:p>
        </p:txBody>
      </p:sp>
      <p:sp>
        <p:nvSpPr>
          <p:cNvPr id="26" name="Text 24"/>
          <p:cNvSpPr/>
          <p:nvPr/>
        </p:nvSpPr>
        <p:spPr>
          <a:xfrm>
            <a:off x="832104" y="6025896"/>
            <a:ext cx="1234440" cy="164592"/>
          </a:xfrm>
          <a:prstGeom prst="rect">
            <a:avLst/>
          </a:prstGeom>
          <a:noFill/>
          <a:ln/>
        </p:spPr>
        <p:txBody>
          <a:bodyPr wrap="square" lIns="0" tIns="0" rIns="0" bIns="0" rtlCol="0" anchor="ctr">
            <a:normAutofit/>
          </a:bodyPr>
          <a:lstStyle/>
          <a:p>
            <a:pPr marL="0" indent="0" algn="ctr">
              <a:buNone/>
            </a:pPr>
            <a:r>
              <a:rPr lang="en-US" sz="1050" dirty="0">
                <a:solidFill>
                  <a:srgbClr val="6D7C8F"/>
                </a:solidFill>
                <a:latin typeface="Aptos" pitchFamily="34" charset="0"/>
                <a:ea typeface="Aptos" pitchFamily="34" charset="-122"/>
                <a:cs typeface="Aptos" pitchFamily="34" charset="-120"/>
              </a:rPr>
              <a:t>Real world</a:t>
            </a:r>
            <a:endParaRPr lang="en-US" sz="1050" dirty="0"/>
          </a:p>
        </p:txBody>
      </p:sp>
      <p:sp>
        <p:nvSpPr>
          <p:cNvPr id="27" name="Shape 25"/>
          <p:cNvSpPr/>
          <p:nvPr/>
        </p:nvSpPr>
        <p:spPr>
          <a:xfrm>
            <a:off x="2185416" y="6035040"/>
            <a:ext cx="164592" cy="164592"/>
          </a:xfrm>
          <a:prstGeom prst="chevron">
            <a:avLst/>
          </a:prstGeom>
          <a:solidFill>
            <a:srgbClr val="B8C7D8"/>
          </a:solidFill>
          <a:ln w="12700">
            <a:solidFill>
              <a:srgbClr val="B8C7D8"/>
            </a:solidFill>
            <a:prstDash val="solid"/>
          </a:ln>
        </p:spPr>
        <p:txBody>
          <a:bodyPr/>
          <a:lstStyle/>
          <a:p>
            <a:endParaRPr lang="en-US"/>
          </a:p>
        </p:txBody>
      </p:sp>
      <p:sp>
        <p:nvSpPr>
          <p:cNvPr id="28" name="Shape 26"/>
          <p:cNvSpPr/>
          <p:nvPr/>
        </p:nvSpPr>
        <p:spPr>
          <a:xfrm>
            <a:off x="2450592" y="5897880"/>
            <a:ext cx="1325880" cy="438912"/>
          </a:xfrm>
          <a:prstGeom prst="roundRect">
            <a:avLst>
              <a:gd name="adj" fmla="val 14583"/>
            </a:avLst>
          </a:prstGeom>
          <a:solidFill>
            <a:srgbClr val="FFFFFF">
              <a:alpha val="90000"/>
            </a:srgbClr>
          </a:solidFill>
          <a:ln w="12700">
            <a:solidFill>
              <a:srgbClr val="B8C7D8"/>
            </a:solidFill>
            <a:prstDash val="solid"/>
          </a:ln>
        </p:spPr>
        <p:txBody>
          <a:bodyPr/>
          <a:lstStyle/>
          <a:p>
            <a:endParaRPr lang="en-US"/>
          </a:p>
        </p:txBody>
      </p:sp>
      <p:sp>
        <p:nvSpPr>
          <p:cNvPr id="29" name="Text 27"/>
          <p:cNvSpPr/>
          <p:nvPr/>
        </p:nvSpPr>
        <p:spPr>
          <a:xfrm>
            <a:off x="2496312" y="6025896"/>
            <a:ext cx="1234440" cy="164592"/>
          </a:xfrm>
          <a:prstGeom prst="rect">
            <a:avLst/>
          </a:prstGeom>
          <a:noFill/>
          <a:ln/>
        </p:spPr>
        <p:txBody>
          <a:bodyPr wrap="square" lIns="0" tIns="0" rIns="0" bIns="0" rtlCol="0" anchor="ctr">
            <a:normAutofit/>
          </a:bodyPr>
          <a:lstStyle/>
          <a:p>
            <a:pPr marL="0" indent="0" algn="ctr">
              <a:buNone/>
            </a:pPr>
            <a:r>
              <a:rPr lang="en-US" sz="1050" dirty="0">
                <a:solidFill>
                  <a:srgbClr val="6D7C8F"/>
                </a:solidFill>
                <a:latin typeface="Aptos" pitchFamily="34" charset="0"/>
                <a:ea typeface="Aptos" pitchFamily="34" charset="-122"/>
                <a:cs typeface="Aptos" pitchFamily="34" charset="-120"/>
              </a:rPr>
              <a:t>State</a:t>
            </a:r>
            <a:endParaRPr lang="en-US" sz="1050" dirty="0"/>
          </a:p>
        </p:txBody>
      </p:sp>
      <p:sp>
        <p:nvSpPr>
          <p:cNvPr id="30" name="Shape 28"/>
          <p:cNvSpPr/>
          <p:nvPr/>
        </p:nvSpPr>
        <p:spPr>
          <a:xfrm>
            <a:off x="3849624" y="6035040"/>
            <a:ext cx="164592" cy="164592"/>
          </a:xfrm>
          <a:prstGeom prst="chevron">
            <a:avLst/>
          </a:prstGeom>
          <a:solidFill>
            <a:srgbClr val="B8C7D8"/>
          </a:solidFill>
          <a:ln w="12700">
            <a:solidFill>
              <a:srgbClr val="B8C7D8"/>
            </a:solidFill>
            <a:prstDash val="solid"/>
          </a:ln>
        </p:spPr>
        <p:txBody>
          <a:bodyPr/>
          <a:lstStyle/>
          <a:p>
            <a:endParaRPr lang="en-US"/>
          </a:p>
        </p:txBody>
      </p:sp>
      <p:sp>
        <p:nvSpPr>
          <p:cNvPr id="31" name="Shape 29"/>
          <p:cNvSpPr/>
          <p:nvPr/>
        </p:nvSpPr>
        <p:spPr>
          <a:xfrm>
            <a:off x="4114800" y="5897880"/>
            <a:ext cx="1325880" cy="438912"/>
          </a:xfrm>
          <a:prstGeom prst="roundRect">
            <a:avLst>
              <a:gd name="adj" fmla="val 14583"/>
            </a:avLst>
          </a:prstGeom>
          <a:solidFill>
            <a:srgbClr val="F2C14E"/>
          </a:solidFill>
          <a:ln w="12700">
            <a:solidFill>
              <a:srgbClr val="F2C14E"/>
            </a:solidFill>
            <a:prstDash val="solid"/>
          </a:ln>
        </p:spPr>
        <p:txBody>
          <a:bodyPr/>
          <a:lstStyle/>
          <a:p>
            <a:endParaRPr lang="en-US"/>
          </a:p>
        </p:txBody>
      </p:sp>
      <p:sp>
        <p:nvSpPr>
          <p:cNvPr id="32" name="Text 30"/>
          <p:cNvSpPr/>
          <p:nvPr/>
        </p:nvSpPr>
        <p:spPr>
          <a:xfrm>
            <a:off x="4160520" y="6025896"/>
            <a:ext cx="1234440" cy="164592"/>
          </a:xfrm>
          <a:prstGeom prst="rect">
            <a:avLst/>
          </a:prstGeom>
          <a:noFill/>
          <a:ln/>
        </p:spPr>
        <p:txBody>
          <a:bodyPr wrap="square" lIns="0" tIns="0" rIns="0" bIns="0" rtlCol="0" anchor="ctr">
            <a:normAutofit/>
          </a:bodyPr>
          <a:lstStyle/>
          <a:p>
            <a:pPr marL="0" indent="0" algn="ctr">
              <a:buNone/>
            </a:pPr>
            <a:r>
              <a:rPr lang="en-US" sz="1050" b="1" dirty="0">
                <a:solidFill>
                  <a:srgbClr val="0B2D55"/>
                </a:solidFill>
                <a:latin typeface="Aptos" pitchFamily="34" charset="0"/>
                <a:ea typeface="Aptos" pitchFamily="34" charset="-122"/>
                <a:cs typeface="Aptos" pitchFamily="34" charset="-120"/>
              </a:rPr>
              <a:t>Actions</a:t>
            </a:r>
            <a:endParaRPr lang="en-US" sz="1050" dirty="0"/>
          </a:p>
        </p:txBody>
      </p:sp>
      <p:sp>
        <p:nvSpPr>
          <p:cNvPr id="33" name="Shape 31"/>
          <p:cNvSpPr/>
          <p:nvPr/>
        </p:nvSpPr>
        <p:spPr>
          <a:xfrm>
            <a:off x="5513832" y="6035040"/>
            <a:ext cx="164592" cy="164592"/>
          </a:xfrm>
          <a:prstGeom prst="chevron">
            <a:avLst/>
          </a:prstGeom>
          <a:solidFill>
            <a:srgbClr val="B8C7D8"/>
          </a:solidFill>
          <a:ln w="12700">
            <a:solidFill>
              <a:srgbClr val="B8C7D8"/>
            </a:solidFill>
            <a:prstDash val="solid"/>
          </a:ln>
        </p:spPr>
        <p:txBody>
          <a:bodyPr/>
          <a:lstStyle/>
          <a:p>
            <a:endParaRPr lang="en-US"/>
          </a:p>
        </p:txBody>
      </p:sp>
      <p:sp>
        <p:nvSpPr>
          <p:cNvPr id="34" name="Shape 32"/>
          <p:cNvSpPr/>
          <p:nvPr/>
        </p:nvSpPr>
        <p:spPr>
          <a:xfrm>
            <a:off x="5779008" y="5897880"/>
            <a:ext cx="1325880" cy="438912"/>
          </a:xfrm>
          <a:prstGeom prst="roundRect">
            <a:avLst>
              <a:gd name="adj" fmla="val 14583"/>
            </a:avLst>
          </a:prstGeom>
          <a:solidFill>
            <a:srgbClr val="FFFFFF">
              <a:alpha val="90000"/>
            </a:srgbClr>
          </a:solidFill>
          <a:ln w="12700">
            <a:solidFill>
              <a:srgbClr val="B8C7D8"/>
            </a:solidFill>
            <a:prstDash val="solid"/>
          </a:ln>
        </p:spPr>
        <p:txBody>
          <a:bodyPr/>
          <a:lstStyle/>
          <a:p>
            <a:endParaRPr lang="en-US"/>
          </a:p>
        </p:txBody>
      </p:sp>
      <p:sp>
        <p:nvSpPr>
          <p:cNvPr id="35" name="Text 33"/>
          <p:cNvSpPr/>
          <p:nvPr/>
        </p:nvSpPr>
        <p:spPr>
          <a:xfrm>
            <a:off x="5824728" y="6025896"/>
            <a:ext cx="1234440" cy="164592"/>
          </a:xfrm>
          <a:prstGeom prst="rect">
            <a:avLst/>
          </a:prstGeom>
          <a:noFill/>
          <a:ln/>
        </p:spPr>
        <p:txBody>
          <a:bodyPr wrap="square" lIns="0" tIns="0" rIns="0" bIns="0" rtlCol="0" anchor="ctr">
            <a:normAutofit/>
          </a:bodyPr>
          <a:lstStyle/>
          <a:p>
            <a:pPr marL="0" indent="0" algn="ctr">
              <a:buNone/>
            </a:pPr>
            <a:r>
              <a:rPr lang="en-US" sz="1050" dirty="0">
                <a:solidFill>
                  <a:srgbClr val="6D7C8F"/>
                </a:solidFill>
                <a:latin typeface="Aptos" pitchFamily="34" charset="0"/>
                <a:ea typeface="Aptos" pitchFamily="34" charset="-122"/>
                <a:cs typeface="Aptos" pitchFamily="34" charset="-120"/>
              </a:rPr>
              <a:t>Goal</a:t>
            </a:r>
            <a:endParaRPr lang="en-US" sz="1050" dirty="0"/>
          </a:p>
        </p:txBody>
      </p:sp>
      <p:sp>
        <p:nvSpPr>
          <p:cNvPr id="36" name="Shape 34"/>
          <p:cNvSpPr/>
          <p:nvPr/>
        </p:nvSpPr>
        <p:spPr>
          <a:xfrm>
            <a:off x="7178040" y="6035040"/>
            <a:ext cx="164592" cy="164592"/>
          </a:xfrm>
          <a:prstGeom prst="chevron">
            <a:avLst/>
          </a:prstGeom>
          <a:solidFill>
            <a:srgbClr val="B8C7D8"/>
          </a:solidFill>
          <a:ln w="12700">
            <a:solidFill>
              <a:srgbClr val="B8C7D8"/>
            </a:solidFill>
            <a:prstDash val="solid"/>
          </a:ln>
        </p:spPr>
        <p:txBody>
          <a:bodyPr/>
          <a:lstStyle/>
          <a:p>
            <a:endParaRPr lang="en-US"/>
          </a:p>
        </p:txBody>
      </p:sp>
      <p:sp>
        <p:nvSpPr>
          <p:cNvPr id="37" name="Shape 35"/>
          <p:cNvSpPr/>
          <p:nvPr/>
        </p:nvSpPr>
        <p:spPr>
          <a:xfrm>
            <a:off x="7443216" y="5897880"/>
            <a:ext cx="1325880" cy="438912"/>
          </a:xfrm>
          <a:prstGeom prst="roundRect">
            <a:avLst>
              <a:gd name="adj" fmla="val 14583"/>
            </a:avLst>
          </a:prstGeom>
          <a:solidFill>
            <a:srgbClr val="FFFFFF">
              <a:alpha val="90000"/>
            </a:srgbClr>
          </a:solidFill>
          <a:ln w="12700">
            <a:solidFill>
              <a:srgbClr val="B8C7D8"/>
            </a:solidFill>
            <a:prstDash val="solid"/>
          </a:ln>
        </p:spPr>
        <p:txBody>
          <a:bodyPr/>
          <a:lstStyle/>
          <a:p>
            <a:endParaRPr lang="en-US"/>
          </a:p>
        </p:txBody>
      </p:sp>
      <p:sp>
        <p:nvSpPr>
          <p:cNvPr id="38" name="Text 36"/>
          <p:cNvSpPr/>
          <p:nvPr/>
        </p:nvSpPr>
        <p:spPr>
          <a:xfrm>
            <a:off x="7488936" y="6025896"/>
            <a:ext cx="1234440" cy="164592"/>
          </a:xfrm>
          <a:prstGeom prst="rect">
            <a:avLst/>
          </a:prstGeom>
          <a:noFill/>
          <a:ln/>
        </p:spPr>
        <p:txBody>
          <a:bodyPr wrap="square" lIns="0" tIns="0" rIns="0" bIns="0" rtlCol="0" anchor="ctr">
            <a:normAutofit/>
          </a:bodyPr>
          <a:lstStyle/>
          <a:p>
            <a:pPr marL="0" indent="0" algn="ctr">
              <a:buNone/>
            </a:pPr>
            <a:r>
              <a:rPr lang="en-US" sz="1050" dirty="0">
                <a:solidFill>
                  <a:srgbClr val="6D7C8F"/>
                </a:solidFill>
                <a:latin typeface="Aptos" pitchFamily="34" charset="0"/>
                <a:ea typeface="Aptos" pitchFamily="34" charset="-122"/>
                <a:cs typeface="Aptos" pitchFamily="34" charset="-120"/>
              </a:rPr>
              <a:t>Cost</a:t>
            </a:r>
            <a:endParaRPr lang="en-US" sz="1050" dirty="0"/>
          </a:p>
        </p:txBody>
      </p:sp>
      <p:sp>
        <p:nvSpPr>
          <p:cNvPr id="39" name="Shape 37"/>
          <p:cNvSpPr/>
          <p:nvPr/>
        </p:nvSpPr>
        <p:spPr>
          <a:xfrm>
            <a:off x="8842248" y="6035040"/>
            <a:ext cx="164592" cy="164592"/>
          </a:xfrm>
          <a:prstGeom prst="chevron">
            <a:avLst/>
          </a:prstGeom>
          <a:solidFill>
            <a:srgbClr val="B8C7D8"/>
          </a:solidFill>
          <a:ln w="12700">
            <a:solidFill>
              <a:srgbClr val="B8C7D8"/>
            </a:solidFill>
            <a:prstDash val="solid"/>
          </a:ln>
        </p:spPr>
        <p:txBody>
          <a:bodyPr/>
          <a:lstStyle/>
          <a:p>
            <a:endParaRPr lang="en-US"/>
          </a:p>
        </p:txBody>
      </p:sp>
      <p:sp>
        <p:nvSpPr>
          <p:cNvPr id="40" name="Shape 38"/>
          <p:cNvSpPr/>
          <p:nvPr/>
        </p:nvSpPr>
        <p:spPr>
          <a:xfrm>
            <a:off x="9107424" y="5897880"/>
            <a:ext cx="1325880" cy="438912"/>
          </a:xfrm>
          <a:prstGeom prst="roundRect">
            <a:avLst>
              <a:gd name="adj" fmla="val 14583"/>
            </a:avLst>
          </a:prstGeom>
          <a:solidFill>
            <a:srgbClr val="FFFFFF">
              <a:alpha val="90000"/>
            </a:srgbClr>
          </a:solidFill>
          <a:ln w="12700">
            <a:solidFill>
              <a:srgbClr val="B8C7D8"/>
            </a:solidFill>
            <a:prstDash val="solid"/>
          </a:ln>
        </p:spPr>
        <p:txBody>
          <a:bodyPr/>
          <a:lstStyle/>
          <a:p>
            <a:endParaRPr lang="en-US"/>
          </a:p>
        </p:txBody>
      </p:sp>
      <p:sp>
        <p:nvSpPr>
          <p:cNvPr id="41" name="Text 39"/>
          <p:cNvSpPr/>
          <p:nvPr/>
        </p:nvSpPr>
        <p:spPr>
          <a:xfrm>
            <a:off x="9153144" y="6025896"/>
            <a:ext cx="1234440" cy="164592"/>
          </a:xfrm>
          <a:prstGeom prst="rect">
            <a:avLst/>
          </a:prstGeom>
          <a:noFill/>
          <a:ln/>
        </p:spPr>
        <p:txBody>
          <a:bodyPr wrap="square" lIns="0" tIns="0" rIns="0" bIns="0" rtlCol="0" anchor="ctr">
            <a:normAutofit/>
          </a:bodyPr>
          <a:lstStyle/>
          <a:p>
            <a:pPr marL="0" indent="0" algn="ctr">
              <a:buNone/>
            </a:pPr>
            <a:r>
              <a:rPr lang="en-US" sz="1050" dirty="0">
                <a:solidFill>
                  <a:srgbClr val="6D7C8F"/>
                </a:solidFill>
                <a:latin typeface="Aptos" pitchFamily="34" charset="0"/>
                <a:ea typeface="Aptos" pitchFamily="34" charset="-122"/>
                <a:cs typeface="Aptos" pitchFamily="34" charset="-120"/>
              </a:rPr>
              <a:t>Search</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76072" y="566928"/>
            <a:ext cx="8412480" cy="475488"/>
          </a:xfrm>
          <a:prstGeom prst="rect">
            <a:avLst/>
          </a:prstGeom>
          <a:noFill/>
          <a:ln/>
        </p:spPr>
        <p:txBody>
          <a:bodyPr wrap="square" lIns="0" tIns="0" rIns="0" bIns="0" rtlCol="0" anchor="ctr">
            <a:normAutofit lnSpcReduction="10000"/>
          </a:bodyPr>
          <a:lstStyle/>
          <a:p>
            <a:pPr marL="0" indent="0">
              <a:buNone/>
            </a:pPr>
            <a:r>
              <a:rPr lang="en-US" sz="3400" b="1" dirty="0">
                <a:solidFill>
                  <a:srgbClr val="0B2D55"/>
                </a:solidFill>
                <a:latin typeface="Aptos Display" pitchFamily="34" charset="0"/>
                <a:ea typeface="Aptos Display" pitchFamily="34" charset="-122"/>
                <a:cs typeface="Aptos Display" pitchFamily="34" charset="-120"/>
              </a:rPr>
              <a:t>Goal tests: when is the mission complete?</a:t>
            </a:r>
            <a:endParaRPr lang="en-US" sz="3400" dirty="0"/>
          </a:p>
        </p:txBody>
      </p:sp>
      <p:sp>
        <p:nvSpPr>
          <p:cNvPr id="3" name="Text 1"/>
          <p:cNvSpPr/>
          <p:nvPr/>
        </p:nvSpPr>
        <p:spPr>
          <a:xfrm>
            <a:off x="594360" y="1051560"/>
            <a:ext cx="7315200" cy="292608"/>
          </a:xfrm>
          <a:prstGeom prst="rect">
            <a:avLst/>
          </a:prstGeom>
          <a:noFill/>
          <a:ln/>
        </p:spPr>
        <p:txBody>
          <a:bodyPr wrap="square" lIns="0" tIns="0" rIns="0" bIns="0" rtlCol="0" anchor="ctr">
            <a:normAutofit/>
          </a:bodyPr>
          <a:lstStyle/>
          <a:p>
            <a:pPr marL="0" indent="0">
              <a:buNone/>
            </a:pPr>
            <a:r>
              <a:rPr lang="en-US" sz="1500" dirty="0">
                <a:solidFill>
                  <a:srgbClr val="132033"/>
                </a:solidFill>
                <a:latin typeface="Aptos" pitchFamily="34" charset="0"/>
                <a:ea typeface="Aptos" pitchFamily="34" charset="-122"/>
                <a:cs typeface="Aptos" pitchFamily="34" charset="-120"/>
              </a:rPr>
              <a:t>The goal test evaluates a state, not the amount of effort spent.</a:t>
            </a:r>
            <a:endParaRPr lang="en-US" sz="1500" dirty="0"/>
          </a:p>
        </p:txBody>
      </p:sp>
      <p:sp>
        <p:nvSpPr>
          <p:cNvPr id="4" name="Text 2"/>
          <p:cNvSpPr/>
          <p:nvPr/>
        </p:nvSpPr>
        <p:spPr>
          <a:xfrm>
            <a:off x="502920" y="6528816"/>
            <a:ext cx="4937760" cy="201168"/>
          </a:xfrm>
          <a:prstGeom prst="rect">
            <a:avLst/>
          </a:prstGeom>
          <a:noFill/>
          <a:ln/>
        </p:spPr>
        <p:txBody>
          <a:bodyPr wrap="square" lIns="0" tIns="0" rIns="0" bIns="0" rtlCol="0" anchor="ctr">
            <a:normAutofit/>
          </a:bodyPr>
          <a:lstStyle/>
          <a:p>
            <a:pPr marL="0" indent="0">
              <a:buNone/>
            </a:pPr>
            <a:r>
              <a:rPr lang="en-US" sz="850" dirty="0">
                <a:solidFill>
                  <a:srgbClr val="6D7C8F"/>
                </a:solidFill>
                <a:latin typeface="Aptos" pitchFamily="34" charset="0"/>
                <a:ea typeface="Aptos" pitchFamily="34" charset="-122"/>
                <a:cs typeface="Aptos" pitchFamily="34" charset="-120"/>
              </a:rPr>
              <a:t>CS 471  |  L04: Problem Formulation</a:t>
            </a:r>
            <a:endParaRPr lang="en-US" sz="850" dirty="0"/>
          </a:p>
        </p:txBody>
      </p:sp>
      <p:sp>
        <p:nvSpPr>
          <p:cNvPr id="5" name="Text 3"/>
          <p:cNvSpPr/>
          <p:nvPr/>
        </p:nvSpPr>
        <p:spPr>
          <a:xfrm>
            <a:off x="11402568" y="6528816"/>
            <a:ext cx="320040" cy="201168"/>
          </a:xfrm>
          <a:prstGeom prst="rect">
            <a:avLst/>
          </a:prstGeom>
          <a:noFill/>
          <a:ln/>
        </p:spPr>
        <p:txBody>
          <a:bodyPr wrap="square" lIns="0" tIns="0" rIns="0" bIns="0" rtlCol="0" anchor="ctr">
            <a:normAutofit/>
          </a:bodyPr>
          <a:lstStyle/>
          <a:p>
            <a:pPr marL="0" indent="0" algn="r">
              <a:buNone/>
            </a:pPr>
            <a:r>
              <a:rPr lang="en-US" sz="850" dirty="0">
                <a:solidFill>
                  <a:srgbClr val="6D7C8F"/>
                </a:solidFill>
                <a:latin typeface="Aptos" pitchFamily="34" charset="0"/>
                <a:ea typeface="Aptos" pitchFamily="34" charset="-122"/>
                <a:cs typeface="Aptos" pitchFamily="34" charset="-120"/>
              </a:rPr>
              <a:t>10</a:t>
            </a:r>
            <a:endParaRPr lang="en-US" sz="850" dirty="0"/>
          </a:p>
        </p:txBody>
      </p:sp>
      <p:sp>
        <p:nvSpPr>
          <p:cNvPr id="6" name="Shape 4"/>
          <p:cNvSpPr/>
          <p:nvPr/>
        </p:nvSpPr>
        <p:spPr>
          <a:xfrm>
            <a:off x="868680" y="1828800"/>
            <a:ext cx="3063240" cy="2057400"/>
          </a:xfrm>
          <a:prstGeom prst="roundRect">
            <a:avLst>
              <a:gd name="adj" fmla="val 3556"/>
            </a:avLst>
          </a:prstGeom>
          <a:solidFill>
            <a:srgbClr val="FFFFFF"/>
          </a:solidFill>
          <a:ln w="12700">
            <a:solidFill>
              <a:srgbClr val="D94E4E"/>
            </a:solidFill>
            <a:prstDash val="solid"/>
          </a:ln>
          <a:effectLst>
            <a:outerShdw blurRad="12700" dist="50800" dir="2700000" algn="bl" rotWithShape="0">
              <a:srgbClr val="D4DEE8">
                <a:alpha val="25000"/>
              </a:srgbClr>
            </a:outerShdw>
          </a:effectLst>
        </p:spPr>
        <p:txBody>
          <a:bodyPr/>
          <a:lstStyle/>
          <a:p>
            <a:endParaRPr lang="en-US"/>
          </a:p>
        </p:txBody>
      </p:sp>
      <p:sp>
        <p:nvSpPr>
          <p:cNvPr id="7" name="Text 5"/>
          <p:cNvSpPr/>
          <p:nvPr/>
        </p:nvSpPr>
        <p:spPr>
          <a:xfrm>
            <a:off x="1097280" y="2029968"/>
            <a:ext cx="2606040" cy="320040"/>
          </a:xfrm>
          <a:prstGeom prst="rect">
            <a:avLst/>
          </a:prstGeom>
          <a:noFill/>
          <a:ln/>
        </p:spPr>
        <p:txBody>
          <a:bodyPr wrap="square" lIns="0" tIns="0" rIns="0" bIns="0" rtlCol="0" anchor="ctr">
            <a:normAutofit lnSpcReduction="10000"/>
          </a:bodyPr>
          <a:lstStyle/>
          <a:p>
            <a:pPr marL="0" indent="0" algn="ctr">
              <a:buNone/>
            </a:pPr>
            <a:r>
              <a:rPr lang="en-US" sz="2200" b="1" dirty="0">
                <a:solidFill>
                  <a:srgbClr val="D94E4E"/>
                </a:solidFill>
                <a:latin typeface="Aptos" pitchFamily="34" charset="0"/>
                <a:ea typeface="Aptos" pitchFamily="34" charset="-122"/>
                <a:cs typeface="Aptos" pitchFamily="34" charset="-120"/>
              </a:rPr>
              <a:t>Weak</a:t>
            </a:r>
            <a:endParaRPr lang="en-US" sz="2200" dirty="0"/>
          </a:p>
        </p:txBody>
      </p:sp>
      <p:sp>
        <p:nvSpPr>
          <p:cNvPr id="8" name="Text 6"/>
          <p:cNvSpPr/>
          <p:nvPr/>
        </p:nvSpPr>
        <p:spPr>
          <a:xfrm>
            <a:off x="1097280" y="2606040"/>
            <a:ext cx="2606040" cy="502920"/>
          </a:xfrm>
          <a:prstGeom prst="rect">
            <a:avLst/>
          </a:prstGeom>
          <a:noFill/>
          <a:ln/>
        </p:spPr>
        <p:txBody>
          <a:bodyPr wrap="square" lIns="0" tIns="0" rIns="0" bIns="0" rtlCol="0" anchor="ctr">
            <a:normAutofit/>
          </a:bodyPr>
          <a:lstStyle/>
          <a:p>
            <a:pPr marL="0" indent="0" algn="ctr">
              <a:buNone/>
            </a:pPr>
            <a:r>
              <a:rPr lang="en-US" sz="1900" b="1" dirty="0">
                <a:solidFill>
                  <a:srgbClr val="0B2D55"/>
                </a:solidFill>
                <a:latin typeface="Aptos" pitchFamily="34" charset="0"/>
                <a:ea typeface="Aptos" pitchFamily="34" charset="-122"/>
                <a:cs typeface="Aptos" pitchFamily="34" charset="-120"/>
              </a:rPr>
              <a:t>Rover is at the lander</a:t>
            </a:r>
            <a:endParaRPr lang="en-US" sz="1900" dirty="0"/>
          </a:p>
        </p:txBody>
      </p:sp>
      <p:sp>
        <p:nvSpPr>
          <p:cNvPr id="9" name="Text 7"/>
          <p:cNvSpPr/>
          <p:nvPr/>
        </p:nvSpPr>
        <p:spPr>
          <a:xfrm>
            <a:off x="1097280" y="3246120"/>
            <a:ext cx="2606040" cy="329184"/>
          </a:xfrm>
          <a:prstGeom prst="rect">
            <a:avLst/>
          </a:prstGeom>
          <a:noFill/>
          <a:ln/>
        </p:spPr>
        <p:txBody>
          <a:bodyPr wrap="square" lIns="0" tIns="0" rIns="0" bIns="0" rtlCol="0" anchor="ctr">
            <a:normAutofit fontScale="92500"/>
          </a:bodyPr>
          <a:lstStyle/>
          <a:p>
            <a:pPr marL="0" indent="0" algn="ctr">
              <a:buNone/>
            </a:pPr>
            <a:r>
              <a:rPr lang="en-US" sz="1350" dirty="0">
                <a:solidFill>
                  <a:srgbClr val="132033"/>
                </a:solidFill>
                <a:latin typeface="Aptos" pitchFamily="34" charset="0"/>
                <a:ea typeface="Aptos" pitchFamily="34" charset="-122"/>
                <a:cs typeface="Aptos" pitchFamily="34" charset="-120"/>
              </a:rPr>
              <a:t>May return before collecting samples</a:t>
            </a:r>
            <a:endParaRPr lang="en-US" sz="1350" dirty="0"/>
          </a:p>
        </p:txBody>
      </p:sp>
      <p:sp>
        <p:nvSpPr>
          <p:cNvPr id="10" name="Shape 8"/>
          <p:cNvSpPr/>
          <p:nvPr/>
        </p:nvSpPr>
        <p:spPr>
          <a:xfrm>
            <a:off x="4526280" y="1828800"/>
            <a:ext cx="3063240" cy="2057400"/>
          </a:xfrm>
          <a:prstGeom prst="roundRect">
            <a:avLst>
              <a:gd name="adj" fmla="val 3556"/>
            </a:avLst>
          </a:prstGeom>
          <a:solidFill>
            <a:srgbClr val="FFFFFF"/>
          </a:solidFill>
          <a:ln w="12700">
            <a:solidFill>
              <a:srgbClr val="F2C14E"/>
            </a:solidFill>
            <a:prstDash val="solid"/>
          </a:ln>
          <a:effectLst>
            <a:outerShdw blurRad="12700" dist="50800" dir="2700000" algn="bl" rotWithShape="0">
              <a:srgbClr val="D4DEE8">
                <a:alpha val="25000"/>
              </a:srgbClr>
            </a:outerShdw>
          </a:effectLst>
        </p:spPr>
        <p:txBody>
          <a:bodyPr/>
          <a:lstStyle/>
          <a:p>
            <a:endParaRPr lang="en-US"/>
          </a:p>
        </p:txBody>
      </p:sp>
      <p:sp>
        <p:nvSpPr>
          <p:cNvPr id="11" name="Text 9"/>
          <p:cNvSpPr/>
          <p:nvPr/>
        </p:nvSpPr>
        <p:spPr>
          <a:xfrm>
            <a:off x="4754880" y="2029968"/>
            <a:ext cx="2606040" cy="320040"/>
          </a:xfrm>
          <a:prstGeom prst="rect">
            <a:avLst/>
          </a:prstGeom>
          <a:noFill/>
          <a:ln/>
        </p:spPr>
        <p:txBody>
          <a:bodyPr wrap="square" lIns="0" tIns="0" rIns="0" bIns="0" rtlCol="0" anchor="ctr">
            <a:normAutofit lnSpcReduction="10000"/>
          </a:bodyPr>
          <a:lstStyle/>
          <a:p>
            <a:pPr marL="0" indent="0" algn="ctr">
              <a:buNone/>
            </a:pPr>
            <a:r>
              <a:rPr lang="en-US" sz="2200" b="1" dirty="0">
                <a:solidFill>
                  <a:srgbClr val="F2C14E"/>
                </a:solidFill>
                <a:latin typeface="Aptos" pitchFamily="34" charset="0"/>
                <a:ea typeface="Aptos" pitchFamily="34" charset="-122"/>
                <a:cs typeface="Aptos" pitchFamily="34" charset="-120"/>
              </a:rPr>
              <a:t>Incomplete</a:t>
            </a:r>
            <a:endParaRPr lang="en-US" sz="2200" dirty="0"/>
          </a:p>
        </p:txBody>
      </p:sp>
      <p:sp>
        <p:nvSpPr>
          <p:cNvPr id="12" name="Text 10"/>
          <p:cNvSpPr/>
          <p:nvPr/>
        </p:nvSpPr>
        <p:spPr>
          <a:xfrm>
            <a:off x="4754880" y="2606040"/>
            <a:ext cx="2606040" cy="502920"/>
          </a:xfrm>
          <a:prstGeom prst="rect">
            <a:avLst/>
          </a:prstGeom>
          <a:noFill/>
          <a:ln/>
        </p:spPr>
        <p:txBody>
          <a:bodyPr wrap="square" lIns="0" tIns="0" rIns="0" bIns="0" rtlCol="0" anchor="ctr">
            <a:normAutofit fontScale="92500" lnSpcReduction="10000"/>
          </a:bodyPr>
          <a:lstStyle/>
          <a:p>
            <a:pPr marL="0" indent="0" algn="ctr">
              <a:buNone/>
            </a:pPr>
            <a:r>
              <a:rPr lang="en-US" sz="1900" b="1" dirty="0">
                <a:solidFill>
                  <a:srgbClr val="0B2D55"/>
                </a:solidFill>
                <a:latin typeface="Aptos" pitchFamily="34" charset="0"/>
                <a:ea typeface="Aptos" pitchFamily="34" charset="-122"/>
                <a:cs typeface="Aptos" pitchFamily="34" charset="-120"/>
              </a:rPr>
              <a:t>At least one sample collected</a:t>
            </a:r>
            <a:endParaRPr lang="en-US" sz="1900" dirty="0"/>
          </a:p>
        </p:txBody>
      </p:sp>
      <p:sp>
        <p:nvSpPr>
          <p:cNvPr id="13" name="Text 11"/>
          <p:cNvSpPr/>
          <p:nvPr/>
        </p:nvSpPr>
        <p:spPr>
          <a:xfrm>
            <a:off x="4754880" y="3246120"/>
            <a:ext cx="2606040" cy="329184"/>
          </a:xfrm>
          <a:prstGeom prst="rect">
            <a:avLst/>
          </a:prstGeom>
          <a:noFill/>
          <a:ln/>
        </p:spPr>
        <p:txBody>
          <a:bodyPr wrap="square" lIns="0" tIns="0" rIns="0" bIns="0" rtlCol="0" anchor="ctr">
            <a:normAutofit/>
          </a:bodyPr>
          <a:lstStyle/>
          <a:p>
            <a:pPr marL="0" indent="0" algn="ctr">
              <a:buNone/>
            </a:pPr>
            <a:r>
              <a:rPr lang="en-US" sz="1350" dirty="0">
                <a:solidFill>
                  <a:srgbClr val="132033"/>
                </a:solidFill>
                <a:latin typeface="Aptos" pitchFamily="34" charset="0"/>
                <a:ea typeface="Aptos" pitchFamily="34" charset="-122"/>
                <a:cs typeface="Aptos" pitchFamily="34" charset="-120"/>
              </a:rPr>
              <a:t>May never return safely</a:t>
            </a:r>
            <a:endParaRPr lang="en-US" sz="1350" dirty="0"/>
          </a:p>
        </p:txBody>
      </p:sp>
      <p:sp>
        <p:nvSpPr>
          <p:cNvPr id="14" name="Shape 12"/>
          <p:cNvSpPr/>
          <p:nvPr/>
        </p:nvSpPr>
        <p:spPr>
          <a:xfrm>
            <a:off x="8183880" y="1828800"/>
            <a:ext cx="3063240" cy="2057400"/>
          </a:xfrm>
          <a:prstGeom prst="roundRect">
            <a:avLst>
              <a:gd name="adj" fmla="val 3556"/>
            </a:avLst>
          </a:prstGeom>
          <a:solidFill>
            <a:srgbClr val="F1FBF5"/>
          </a:solidFill>
          <a:ln w="12700">
            <a:solidFill>
              <a:srgbClr val="39A875"/>
            </a:solidFill>
            <a:prstDash val="solid"/>
          </a:ln>
          <a:effectLst>
            <a:outerShdw blurRad="12700" dist="50800" dir="2700000" algn="bl" rotWithShape="0">
              <a:srgbClr val="D4DEE8">
                <a:alpha val="25000"/>
              </a:srgbClr>
            </a:outerShdw>
          </a:effectLst>
        </p:spPr>
        <p:txBody>
          <a:bodyPr/>
          <a:lstStyle/>
          <a:p>
            <a:endParaRPr lang="en-US"/>
          </a:p>
        </p:txBody>
      </p:sp>
      <p:sp>
        <p:nvSpPr>
          <p:cNvPr id="15" name="Text 13"/>
          <p:cNvSpPr/>
          <p:nvPr/>
        </p:nvSpPr>
        <p:spPr>
          <a:xfrm>
            <a:off x="8412480" y="2029968"/>
            <a:ext cx="2606040" cy="320040"/>
          </a:xfrm>
          <a:prstGeom prst="rect">
            <a:avLst/>
          </a:prstGeom>
          <a:noFill/>
          <a:ln/>
        </p:spPr>
        <p:txBody>
          <a:bodyPr wrap="square" lIns="0" tIns="0" rIns="0" bIns="0" rtlCol="0" anchor="ctr">
            <a:normAutofit lnSpcReduction="10000"/>
          </a:bodyPr>
          <a:lstStyle/>
          <a:p>
            <a:pPr marL="0" indent="0" algn="ctr">
              <a:buNone/>
            </a:pPr>
            <a:r>
              <a:rPr lang="en-US" sz="2200" b="1" dirty="0">
                <a:solidFill>
                  <a:srgbClr val="39A875"/>
                </a:solidFill>
                <a:latin typeface="Aptos" pitchFamily="34" charset="0"/>
                <a:ea typeface="Aptos" pitchFamily="34" charset="-122"/>
                <a:cs typeface="Aptos" pitchFamily="34" charset="-120"/>
              </a:rPr>
              <a:t>Complete</a:t>
            </a:r>
            <a:endParaRPr lang="en-US" sz="2200" dirty="0"/>
          </a:p>
        </p:txBody>
      </p:sp>
      <p:sp>
        <p:nvSpPr>
          <p:cNvPr id="16" name="Text 14"/>
          <p:cNvSpPr/>
          <p:nvPr/>
        </p:nvSpPr>
        <p:spPr>
          <a:xfrm>
            <a:off x="8412480" y="2606040"/>
            <a:ext cx="2606040" cy="502920"/>
          </a:xfrm>
          <a:prstGeom prst="rect">
            <a:avLst/>
          </a:prstGeom>
          <a:noFill/>
          <a:ln/>
        </p:spPr>
        <p:txBody>
          <a:bodyPr wrap="square" lIns="0" tIns="0" rIns="0" bIns="0" rtlCol="0" anchor="ctr">
            <a:normAutofit fontScale="92500" lnSpcReduction="10000"/>
          </a:bodyPr>
          <a:lstStyle/>
          <a:p>
            <a:pPr marL="0" indent="0" algn="ctr">
              <a:buNone/>
            </a:pPr>
            <a:r>
              <a:rPr lang="en-US" sz="1900" b="1" dirty="0">
                <a:solidFill>
                  <a:srgbClr val="0B2D55"/>
                </a:solidFill>
                <a:latin typeface="Aptos" pitchFamily="34" charset="0"/>
                <a:ea typeface="Aptos" pitchFamily="34" charset="-122"/>
                <a:cs typeface="Aptos" pitchFamily="34" charset="-120"/>
              </a:rPr>
              <a:t>Both samples collected and rover at lander</a:t>
            </a:r>
            <a:endParaRPr lang="en-US" sz="1900" dirty="0"/>
          </a:p>
        </p:txBody>
      </p:sp>
      <p:sp>
        <p:nvSpPr>
          <p:cNvPr id="17" name="Text 15"/>
          <p:cNvSpPr/>
          <p:nvPr/>
        </p:nvSpPr>
        <p:spPr>
          <a:xfrm>
            <a:off x="8412480" y="3246120"/>
            <a:ext cx="2606040" cy="329184"/>
          </a:xfrm>
          <a:prstGeom prst="rect">
            <a:avLst/>
          </a:prstGeom>
          <a:noFill/>
          <a:ln/>
        </p:spPr>
        <p:txBody>
          <a:bodyPr wrap="square" lIns="0" tIns="0" rIns="0" bIns="0" rtlCol="0" anchor="ctr">
            <a:normAutofit fontScale="92500"/>
          </a:bodyPr>
          <a:lstStyle/>
          <a:p>
            <a:pPr marL="0" indent="0" algn="ctr">
              <a:buNone/>
            </a:pPr>
            <a:r>
              <a:rPr lang="en-US" sz="1350" dirty="0">
                <a:solidFill>
                  <a:srgbClr val="132033"/>
                </a:solidFill>
                <a:latin typeface="Aptos" pitchFamily="34" charset="0"/>
                <a:ea typeface="Aptos" pitchFamily="34" charset="-122"/>
                <a:cs typeface="Aptos" pitchFamily="34" charset="-120"/>
              </a:rPr>
              <a:t>Captures the actual mission objective</a:t>
            </a:r>
            <a:endParaRPr lang="en-US" sz="1350" dirty="0"/>
          </a:p>
        </p:txBody>
      </p:sp>
      <p:sp>
        <p:nvSpPr>
          <p:cNvPr id="18" name="Text 16"/>
          <p:cNvSpPr/>
          <p:nvPr/>
        </p:nvSpPr>
        <p:spPr>
          <a:xfrm>
            <a:off x="576071" y="5074920"/>
            <a:ext cx="10951899" cy="548640"/>
          </a:xfrm>
          <a:prstGeom prst="rect">
            <a:avLst/>
          </a:prstGeom>
          <a:noFill/>
          <a:ln/>
        </p:spPr>
        <p:txBody>
          <a:bodyPr wrap="square" lIns="0" tIns="0" rIns="0" bIns="0" rtlCol="0" anchor="ctr">
            <a:normAutofit/>
          </a:bodyPr>
          <a:lstStyle/>
          <a:p>
            <a:pPr marL="0" indent="0" algn="ctr">
              <a:buNone/>
            </a:pPr>
            <a:r>
              <a:rPr lang="en-US" sz="2400" b="1" dirty="0">
                <a:solidFill>
                  <a:srgbClr val="0B2D55"/>
                </a:solidFill>
                <a:latin typeface="Aptos" pitchFamily="34" charset="0"/>
                <a:ea typeface="Aptos" pitchFamily="34" charset="-122"/>
                <a:cs typeface="Aptos" pitchFamily="34" charset="-120"/>
              </a:rPr>
              <a:t>A good goal test is precise, checkable, and aligned with the actual objective.</a:t>
            </a:r>
            <a:endParaRPr lang="en-US" sz="2400" dirty="0"/>
          </a:p>
        </p:txBody>
      </p:sp>
      <p:sp>
        <p:nvSpPr>
          <p:cNvPr id="19" name="Shape 17"/>
          <p:cNvSpPr/>
          <p:nvPr/>
        </p:nvSpPr>
        <p:spPr>
          <a:xfrm>
            <a:off x="786384" y="5897880"/>
            <a:ext cx="1325880" cy="438912"/>
          </a:xfrm>
          <a:prstGeom prst="roundRect">
            <a:avLst>
              <a:gd name="adj" fmla="val 14583"/>
            </a:avLst>
          </a:prstGeom>
          <a:solidFill>
            <a:srgbClr val="FFFFFF">
              <a:alpha val="90000"/>
            </a:srgbClr>
          </a:solidFill>
          <a:ln w="12700">
            <a:solidFill>
              <a:srgbClr val="B8C7D8"/>
            </a:solidFill>
            <a:prstDash val="solid"/>
          </a:ln>
        </p:spPr>
        <p:txBody>
          <a:bodyPr/>
          <a:lstStyle/>
          <a:p>
            <a:endParaRPr lang="en-US"/>
          </a:p>
        </p:txBody>
      </p:sp>
      <p:sp>
        <p:nvSpPr>
          <p:cNvPr id="20" name="Text 18"/>
          <p:cNvSpPr/>
          <p:nvPr/>
        </p:nvSpPr>
        <p:spPr>
          <a:xfrm>
            <a:off x="832104" y="6025896"/>
            <a:ext cx="1234440" cy="164592"/>
          </a:xfrm>
          <a:prstGeom prst="rect">
            <a:avLst/>
          </a:prstGeom>
          <a:noFill/>
          <a:ln/>
        </p:spPr>
        <p:txBody>
          <a:bodyPr wrap="square" lIns="0" tIns="0" rIns="0" bIns="0" rtlCol="0" anchor="ctr">
            <a:normAutofit/>
          </a:bodyPr>
          <a:lstStyle/>
          <a:p>
            <a:pPr marL="0" indent="0" algn="ctr">
              <a:buNone/>
            </a:pPr>
            <a:r>
              <a:rPr lang="en-US" sz="1050" dirty="0">
                <a:solidFill>
                  <a:srgbClr val="6D7C8F"/>
                </a:solidFill>
                <a:latin typeface="Aptos" pitchFamily="34" charset="0"/>
                <a:ea typeface="Aptos" pitchFamily="34" charset="-122"/>
                <a:cs typeface="Aptos" pitchFamily="34" charset="-120"/>
              </a:rPr>
              <a:t>Real world</a:t>
            </a:r>
            <a:endParaRPr lang="en-US" sz="1050" dirty="0"/>
          </a:p>
        </p:txBody>
      </p:sp>
      <p:sp>
        <p:nvSpPr>
          <p:cNvPr id="21" name="Shape 19"/>
          <p:cNvSpPr/>
          <p:nvPr/>
        </p:nvSpPr>
        <p:spPr>
          <a:xfrm>
            <a:off x="2185416" y="6035040"/>
            <a:ext cx="164592" cy="164592"/>
          </a:xfrm>
          <a:prstGeom prst="chevron">
            <a:avLst/>
          </a:prstGeom>
          <a:solidFill>
            <a:srgbClr val="B8C7D8"/>
          </a:solidFill>
          <a:ln w="12700">
            <a:solidFill>
              <a:srgbClr val="B8C7D8"/>
            </a:solidFill>
            <a:prstDash val="solid"/>
          </a:ln>
        </p:spPr>
        <p:txBody>
          <a:bodyPr/>
          <a:lstStyle/>
          <a:p>
            <a:endParaRPr lang="en-US"/>
          </a:p>
        </p:txBody>
      </p:sp>
      <p:sp>
        <p:nvSpPr>
          <p:cNvPr id="22" name="Shape 20"/>
          <p:cNvSpPr/>
          <p:nvPr/>
        </p:nvSpPr>
        <p:spPr>
          <a:xfrm>
            <a:off x="2450592" y="5897880"/>
            <a:ext cx="1325880" cy="438912"/>
          </a:xfrm>
          <a:prstGeom prst="roundRect">
            <a:avLst>
              <a:gd name="adj" fmla="val 14583"/>
            </a:avLst>
          </a:prstGeom>
          <a:solidFill>
            <a:srgbClr val="FFFFFF">
              <a:alpha val="90000"/>
            </a:srgbClr>
          </a:solidFill>
          <a:ln w="12700">
            <a:solidFill>
              <a:srgbClr val="B8C7D8"/>
            </a:solidFill>
            <a:prstDash val="solid"/>
          </a:ln>
        </p:spPr>
        <p:txBody>
          <a:bodyPr/>
          <a:lstStyle/>
          <a:p>
            <a:endParaRPr lang="en-US"/>
          </a:p>
        </p:txBody>
      </p:sp>
      <p:sp>
        <p:nvSpPr>
          <p:cNvPr id="23" name="Text 21"/>
          <p:cNvSpPr/>
          <p:nvPr/>
        </p:nvSpPr>
        <p:spPr>
          <a:xfrm>
            <a:off x="2496312" y="6025896"/>
            <a:ext cx="1234440" cy="164592"/>
          </a:xfrm>
          <a:prstGeom prst="rect">
            <a:avLst/>
          </a:prstGeom>
          <a:noFill/>
          <a:ln/>
        </p:spPr>
        <p:txBody>
          <a:bodyPr wrap="square" lIns="0" tIns="0" rIns="0" bIns="0" rtlCol="0" anchor="ctr">
            <a:normAutofit/>
          </a:bodyPr>
          <a:lstStyle/>
          <a:p>
            <a:pPr marL="0" indent="0" algn="ctr">
              <a:buNone/>
            </a:pPr>
            <a:r>
              <a:rPr lang="en-US" sz="1050" dirty="0">
                <a:solidFill>
                  <a:srgbClr val="6D7C8F"/>
                </a:solidFill>
                <a:latin typeface="Aptos" pitchFamily="34" charset="0"/>
                <a:ea typeface="Aptos" pitchFamily="34" charset="-122"/>
                <a:cs typeface="Aptos" pitchFamily="34" charset="-120"/>
              </a:rPr>
              <a:t>State</a:t>
            </a:r>
            <a:endParaRPr lang="en-US" sz="1050" dirty="0"/>
          </a:p>
        </p:txBody>
      </p:sp>
      <p:sp>
        <p:nvSpPr>
          <p:cNvPr id="24" name="Shape 22"/>
          <p:cNvSpPr/>
          <p:nvPr/>
        </p:nvSpPr>
        <p:spPr>
          <a:xfrm>
            <a:off x="3849624" y="6035040"/>
            <a:ext cx="164592" cy="164592"/>
          </a:xfrm>
          <a:prstGeom prst="chevron">
            <a:avLst/>
          </a:prstGeom>
          <a:solidFill>
            <a:srgbClr val="B8C7D8"/>
          </a:solidFill>
          <a:ln w="12700">
            <a:solidFill>
              <a:srgbClr val="B8C7D8"/>
            </a:solidFill>
            <a:prstDash val="solid"/>
          </a:ln>
        </p:spPr>
        <p:txBody>
          <a:bodyPr/>
          <a:lstStyle/>
          <a:p>
            <a:endParaRPr lang="en-US"/>
          </a:p>
        </p:txBody>
      </p:sp>
      <p:sp>
        <p:nvSpPr>
          <p:cNvPr id="25" name="Shape 23"/>
          <p:cNvSpPr/>
          <p:nvPr/>
        </p:nvSpPr>
        <p:spPr>
          <a:xfrm>
            <a:off x="4114800" y="5897880"/>
            <a:ext cx="1325880" cy="438912"/>
          </a:xfrm>
          <a:prstGeom prst="roundRect">
            <a:avLst>
              <a:gd name="adj" fmla="val 14583"/>
            </a:avLst>
          </a:prstGeom>
          <a:solidFill>
            <a:srgbClr val="FFFFFF">
              <a:alpha val="90000"/>
            </a:srgbClr>
          </a:solidFill>
          <a:ln w="12700">
            <a:solidFill>
              <a:srgbClr val="B8C7D8"/>
            </a:solidFill>
            <a:prstDash val="solid"/>
          </a:ln>
        </p:spPr>
        <p:txBody>
          <a:bodyPr/>
          <a:lstStyle/>
          <a:p>
            <a:endParaRPr lang="en-US"/>
          </a:p>
        </p:txBody>
      </p:sp>
      <p:sp>
        <p:nvSpPr>
          <p:cNvPr id="26" name="Text 24"/>
          <p:cNvSpPr/>
          <p:nvPr/>
        </p:nvSpPr>
        <p:spPr>
          <a:xfrm>
            <a:off x="4160520" y="6025896"/>
            <a:ext cx="1234440" cy="164592"/>
          </a:xfrm>
          <a:prstGeom prst="rect">
            <a:avLst/>
          </a:prstGeom>
          <a:noFill/>
          <a:ln/>
        </p:spPr>
        <p:txBody>
          <a:bodyPr wrap="square" lIns="0" tIns="0" rIns="0" bIns="0" rtlCol="0" anchor="ctr">
            <a:normAutofit/>
          </a:bodyPr>
          <a:lstStyle/>
          <a:p>
            <a:pPr marL="0" indent="0" algn="ctr">
              <a:buNone/>
            </a:pPr>
            <a:r>
              <a:rPr lang="en-US" sz="1050" dirty="0">
                <a:solidFill>
                  <a:srgbClr val="6D7C8F"/>
                </a:solidFill>
                <a:latin typeface="Aptos" pitchFamily="34" charset="0"/>
                <a:ea typeface="Aptos" pitchFamily="34" charset="-122"/>
                <a:cs typeface="Aptos" pitchFamily="34" charset="-120"/>
              </a:rPr>
              <a:t>Actions</a:t>
            </a:r>
            <a:endParaRPr lang="en-US" sz="1050" dirty="0"/>
          </a:p>
        </p:txBody>
      </p:sp>
      <p:sp>
        <p:nvSpPr>
          <p:cNvPr id="27" name="Shape 25"/>
          <p:cNvSpPr/>
          <p:nvPr/>
        </p:nvSpPr>
        <p:spPr>
          <a:xfrm>
            <a:off x="5513832" y="6035040"/>
            <a:ext cx="164592" cy="164592"/>
          </a:xfrm>
          <a:prstGeom prst="chevron">
            <a:avLst/>
          </a:prstGeom>
          <a:solidFill>
            <a:srgbClr val="B8C7D8"/>
          </a:solidFill>
          <a:ln w="12700">
            <a:solidFill>
              <a:srgbClr val="B8C7D8"/>
            </a:solidFill>
            <a:prstDash val="solid"/>
          </a:ln>
        </p:spPr>
        <p:txBody>
          <a:bodyPr/>
          <a:lstStyle/>
          <a:p>
            <a:endParaRPr lang="en-US"/>
          </a:p>
        </p:txBody>
      </p:sp>
      <p:sp>
        <p:nvSpPr>
          <p:cNvPr id="28" name="Shape 26"/>
          <p:cNvSpPr/>
          <p:nvPr/>
        </p:nvSpPr>
        <p:spPr>
          <a:xfrm>
            <a:off x="5779008" y="5897880"/>
            <a:ext cx="1325880" cy="438912"/>
          </a:xfrm>
          <a:prstGeom prst="roundRect">
            <a:avLst>
              <a:gd name="adj" fmla="val 14583"/>
            </a:avLst>
          </a:prstGeom>
          <a:solidFill>
            <a:srgbClr val="F2C14E"/>
          </a:solidFill>
          <a:ln w="12700">
            <a:solidFill>
              <a:srgbClr val="F2C14E"/>
            </a:solidFill>
            <a:prstDash val="solid"/>
          </a:ln>
        </p:spPr>
        <p:txBody>
          <a:bodyPr/>
          <a:lstStyle/>
          <a:p>
            <a:endParaRPr lang="en-US"/>
          </a:p>
        </p:txBody>
      </p:sp>
      <p:sp>
        <p:nvSpPr>
          <p:cNvPr id="29" name="Text 27"/>
          <p:cNvSpPr/>
          <p:nvPr/>
        </p:nvSpPr>
        <p:spPr>
          <a:xfrm>
            <a:off x="5824728" y="6025896"/>
            <a:ext cx="1234440" cy="164592"/>
          </a:xfrm>
          <a:prstGeom prst="rect">
            <a:avLst/>
          </a:prstGeom>
          <a:noFill/>
          <a:ln/>
        </p:spPr>
        <p:txBody>
          <a:bodyPr wrap="square" lIns="0" tIns="0" rIns="0" bIns="0" rtlCol="0" anchor="ctr">
            <a:normAutofit/>
          </a:bodyPr>
          <a:lstStyle/>
          <a:p>
            <a:pPr marL="0" indent="0" algn="ctr">
              <a:buNone/>
            </a:pPr>
            <a:r>
              <a:rPr lang="en-US" sz="1050" b="1" dirty="0">
                <a:solidFill>
                  <a:srgbClr val="0B2D55"/>
                </a:solidFill>
                <a:latin typeface="Aptos" pitchFamily="34" charset="0"/>
                <a:ea typeface="Aptos" pitchFamily="34" charset="-122"/>
                <a:cs typeface="Aptos" pitchFamily="34" charset="-120"/>
              </a:rPr>
              <a:t>Goal</a:t>
            </a:r>
            <a:endParaRPr lang="en-US" sz="1050" dirty="0"/>
          </a:p>
        </p:txBody>
      </p:sp>
      <p:sp>
        <p:nvSpPr>
          <p:cNvPr id="30" name="Shape 28"/>
          <p:cNvSpPr/>
          <p:nvPr/>
        </p:nvSpPr>
        <p:spPr>
          <a:xfrm>
            <a:off x="7178040" y="6035040"/>
            <a:ext cx="164592" cy="164592"/>
          </a:xfrm>
          <a:prstGeom prst="chevron">
            <a:avLst/>
          </a:prstGeom>
          <a:solidFill>
            <a:srgbClr val="B8C7D8"/>
          </a:solidFill>
          <a:ln w="12700">
            <a:solidFill>
              <a:srgbClr val="B8C7D8"/>
            </a:solidFill>
            <a:prstDash val="solid"/>
          </a:ln>
        </p:spPr>
        <p:txBody>
          <a:bodyPr/>
          <a:lstStyle/>
          <a:p>
            <a:endParaRPr lang="en-US"/>
          </a:p>
        </p:txBody>
      </p:sp>
      <p:sp>
        <p:nvSpPr>
          <p:cNvPr id="31" name="Shape 29"/>
          <p:cNvSpPr/>
          <p:nvPr/>
        </p:nvSpPr>
        <p:spPr>
          <a:xfrm>
            <a:off x="7443216" y="5897880"/>
            <a:ext cx="1325880" cy="438912"/>
          </a:xfrm>
          <a:prstGeom prst="roundRect">
            <a:avLst>
              <a:gd name="adj" fmla="val 14583"/>
            </a:avLst>
          </a:prstGeom>
          <a:solidFill>
            <a:srgbClr val="FFFFFF">
              <a:alpha val="90000"/>
            </a:srgbClr>
          </a:solidFill>
          <a:ln w="12700">
            <a:solidFill>
              <a:srgbClr val="B8C7D8"/>
            </a:solidFill>
            <a:prstDash val="solid"/>
          </a:ln>
        </p:spPr>
        <p:txBody>
          <a:bodyPr/>
          <a:lstStyle/>
          <a:p>
            <a:endParaRPr lang="en-US"/>
          </a:p>
        </p:txBody>
      </p:sp>
      <p:sp>
        <p:nvSpPr>
          <p:cNvPr id="32" name="Text 30"/>
          <p:cNvSpPr/>
          <p:nvPr/>
        </p:nvSpPr>
        <p:spPr>
          <a:xfrm>
            <a:off x="7488936" y="6025896"/>
            <a:ext cx="1234440" cy="164592"/>
          </a:xfrm>
          <a:prstGeom prst="rect">
            <a:avLst/>
          </a:prstGeom>
          <a:noFill/>
          <a:ln/>
        </p:spPr>
        <p:txBody>
          <a:bodyPr wrap="square" lIns="0" tIns="0" rIns="0" bIns="0" rtlCol="0" anchor="ctr">
            <a:normAutofit/>
          </a:bodyPr>
          <a:lstStyle/>
          <a:p>
            <a:pPr marL="0" indent="0" algn="ctr">
              <a:buNone/>
            </a:pPr>
            <a:r>
              <a:rPr lang="en-US" sz="1050" dirty="0">
                <a:solidFill>
                  <a:srgbClr val="6D7C8F"/>
                </a:solidFill>
                <a:latin typeface="Aptos" pitchFamily="34" charset="0"/>
                <a:ea typeface="Aptos" pitchFamily="34" charset="-122"/>
                <a:cs typeface="Aptos" pitchFamily="34" charset="-120"/>
              </a:rPr>
              <a:t>Cost</a:t>
            </a:r>
            <a:endParaRPr lang="en-US" sz="1050" dirty="0"/>
          </a:p>
        </p:txBody>
      </p:sp>
      <p:sp>
        <p:nvSpPr>
          <p:cNvPr id="33" name="Shape 31"/>
          <p:cNvSpPr/>
          <p:nvPr/>
        </p:nvSpPr>
        <p:spPr>
          <a:xfrm>
            <a:off x="8842248" y="6035040"/>
            <a:ext cx="164592" cy="164592"/>
          </a:xfrm>
          <a:prstGeom prst="chevron">
            <a:avLst/>
          </a:prstGeom>
          <a:solidFill>
            <a:srgbClr val="B8C7D8"/>
          </a:solidFill>
          <a:ln w="12700">
            <a:solidFill>
              <a:srgbClr val="B8C7D8"/>
            </a:solidFill>
            <a:prstDash val="solid"/>
          </a:ln>
        </p:spPr>
        <p:txBody>
          <a:bodyPr/>
          <a:lstStyle/>
          <a:p>
            <a:endParaRPr lang="en-US"/>
          </a:p>
        </p:txBody>
      </p:sp>
      <p:sp>
        <p:nvSpPr>
          <p:cNvPr id="34" name="Shape 32"/>
          <p:cNvSpPr/>
          <p:nvPr/>
        </p:nvSpPr>
        <p:spPr>
          <a:xfrm>
            <a:off x="9107424" y="5897880"/>
            <a:ext cx="1325880" cy="438912"/>
          </a:xfrm>
          <a:prstGeom prst="roundRect">
            <a:avLst>
              <a:gd name="adj" fmla="val 14583"/>
            </a:avLst>
          </a:prstGeom>
          <a:solidFill>
            <a:srgbClr val="FFFFFF">
              <a:alpha val="90000"/>
            </a:srgbClr>
          </a:solidFill>
          <a:ln w="12700">
            <a:solidFill>
              <a:srgbClr val="B8C7D8"/>
            </a:solidFill>
            <a:prstDash val="solid"/>
          </a:ln>
        </p:spPr>
        <p:txBody>
          <a:bodyPr/>
          <a:lstStyle/>
          <a:p>
            <a:endParaRPr lang="en-US"/>
          </a:p>
        </p:txBody>
      </p:sp>
      <p:sp>
        <p:nvSpPr>
          <p:cNvPr id="35" name="Text 33"/>
          <p:cNvSpPr/>
          <p:nvPr/>
        </p:nvSpPr>
        <p:spPr>
          <a:xfrm>
            <a:off x="9153144" y="6025896"/>
            <a:ext cx="1234440" cy="164592"/>
          </a:xfrm>
          <a:prstGeom prst="rect">
            <a:avLst/>
          </a:prstGeom>
          <a:noFill/>
          <a:ln/>
        </p:spPr>
        <p:txBody>
          <a:bodyPr wrap="square" lIns="0" tIns="0" rIns="0" bIns="0" rtlCol="0" anchor="ctr">
            <a:normAutofit/>
          </a:bodyPr>
          <a:lstStyle/>
          <a:p>
            <a:pPr marL="0" indent="0" algn="ctr">
              <a:buNone/>
            </a:pPr>
            <a:r>
              <a:rPr lang="en-US" sz="1050" dirty="0">
                <a:solidFill>
                  <a:srgbClr val="6D7C8F"/>
                </a:solidFill>
                <a:latin typeface="Aptos" pitchFamily="34" charset="0"/>
                <a:ea typeface="Aptos" pitchFamily="34" charset="-122"/>
                <a:cs typeface="Aptos" pitchFamily="34" charset="-120"/>
              </a:rPr>
              <a:t>Search</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76072" y="566928"/>
            <a:ext cx="8412480" cy="475488"/>
          </a:xfrm>
          <a:prstGeom prst="rect">
            <a:avLst/>
          </a:prstGeom>
          <a:noFill/>
          <a:ln/>
        </p:spPr>
        <p:txBody>
          <a:bodyPr wrap="square" lIns="0" tIns="0" rIns="0" bIns="0" rtlCol="0" anchor="ctr">
            <a:normAutofit lnSpcReduction="10000"/>
          </a:bodyPr>
          <a:lstStyle/>
          <a:p>
            <a:pPr marL="0" indent="0">
              <a:buNone/>
            </a:pPr>
            <a:r>
              <a:rPr lang="en-US" sz="3400" b="1" dirty="0">
                <a:solidFill>
                  <a:srgbClr val="0B2D55"/>
                </a:solidFill>
                <a:latin typeface="Aptos Display" pitchFamily="34" charset="0"/>
                <a:ea typeface="Aptos Display" pitchFamily="34" charset="-122"/>
                <a:cs typeface="Aptos Display" pitchFamily="34" charset="-120"/>
              </a:rPr>
              <a:t>Path costs: what does “best” mean?</a:t>
            </a:r>
            <a:endParaRPr lang="en-US" sz="3400" dirty="0"/>
          </a:p>
        </p:txBody>
      </p:sp>
      <p:sp>
        <p:nvSpPr>
          <p:cNvPr id="3" name="Text 1"/>
          <p:cNvSpPr/>
          <p:nvPr/>
        </p:nvSpPr>
        <p:spPr>
          <a:xfrm>
            <a:off x="594360" y="1051560"/>
            <a:ext cx="7315200" cy="292608"/>
          </a:xfrm>
          <a:prstGeom prst="rect">
            <a:avLst/>
          </a:prstGeom>
          <a:noFill/>
          <a:ln/>
        </p:spPr>
        <p:txBody>
          <a:bodyPr wrap="square" lIns="0" tIns="0" rIns="0" bIns="0" rtlCol="0" anchor="ctr">
            <a:normAutofit/>
          </a:bodyPr>
          <a:lstStyle/>
          <a:p>
            <a:pPr marL="0" indent="0">
              <a:buNone/>
            </a:pPr>
            <a:r>
              <a:rPr lang="en-US" sz="1500" dirty="0">
                <a:solidFill>
                  <a:srgbClr val="132033"/>
                </a:solidFill>
                <a:latin typeface="Aptos" pitchFamily="34" charset="0"/>
                <a:ea typeface="Aptos" pitchFamily="34" charset="-122"/>
                <a:cs typeface="Aptos" pitchFamily="34" charset="-120"/>
              </a:rPr>
              <a:t>Changing the cost function can change the preferred solution.</a:t>
            </a:r>
            <a:endParaRPr lang="en-US" sz="1500" dirty="0"/>
          </a:p>
        </p:txBody>
      </p:sp>
      <p:sp>
        <p:nvSpPr>
          <p:cNvPr id="4" name="Text 2"/>
          <p:cNvSpPr/>
          <p:nvPr/>
        </p:nvSpPr>
        <p:spPr>
          <a:xfrm>
            <a:off x="502920" y="6528816"/>
            <a:ext cx="4937760" cy="201168"/>
          </a:xfrm>
          <a:prstGeom prst="rect">
            <a:avLst/>
          </a:prstGeom>
          <a:noFill/>
          <a:ln/>
        </p:spPr>
        <p:txBody>
          <a:bodyPr wrap="square" lIns="0" tIns="0" rIns="0" bIns="0" rtlCol="0" anchor="ctr">
            <a:normAutofit/>
          </a:bodyPr>
          <a:lstStyle/>
          <a:p>
            <a:pPr marL="0" indent="0">
              <a:buNone/>
            </a:pPr>
            <a:r>
              <a:rPr lang="en-US" sz="850" dirty="0">
                <a:solidFill>
                  <a:srgbClr val="6D7C8F"/>
                </a:solidFill>
                <a:latin typeface="Aptos" pitchFamily="34" charset="0"/>
                <a:ea typeface="Aptos" pitchFamily="34" charset="-122"/>
                <a:cs typeface="Aptos" pitchFamily="34" charset="-120"/>
              </a:rPr>
              <a:t>CS 471  |  L04: Problem Formulation</a:t>
            </a:r>
            <a:endParaRPr lang="en-US" sz="850" dirty="0"/>
          </a:p>
        </p:txBody>
      </p:sp>
      <p:sp>
        <p:nvSpPr>
          <p:cNvPr id="5" name="Text 3"/>
          <p:cNvSpPr/>
          <p:nvPr/>
        </p:nvSpPr>
        <p:spPr>
          <a:xfrm>
            <a:off x="11402568" y="6528816"/>
            <a:ext cx="320040" cy="201168"/>
          </a:xfrm>
          <a:prstGeom prst="rect">
            <a:avLst/>
          </a:prstGeom>
          <a:noFill/>
          <a:ln/>
        </p:spPr>
        <p:txBody>
          <a:bodyPr wrap="square" lIns="0" tIns="0" rIns="0" bIns="0" rtlCol="0" anchor="ctr">
            <a:normAutofit/>
          </a:bodyPr>
          <a:lstStyle/>
          <a:p>
            <a:pPr marL="0" indent="0" algn="r">
              <a:buNone/>
            </a:pPr>
            <a:r>
              <a:rPr lang="en-US" sz="850" dirty="0">
                <a:solidFill>
                  <a:srgbClr val="6D7C8F"/>
                </a:solidFill>
                <a:latin typeface="Aptos" pitchFamily="34" charset="0"/>
                <a:ea typeface="Aptos" pitchFamily="34" charset="-122"/>
                <a:cs typeface="Aptos" pitchFamily="34" charset="-120"/>
              </a:rPr>
              <a:t>11</a:t>
            </a:r>
            <a:endParaRPr lang="en-US" sz="850" dirty="0"/>
          </a:p>
        </p:txBody>
      </p:sp>
      <p:sp>
        <p:nvSpPr>
          <p:cNvPr id="6" name="Shape 4"/>
          <p:cNvSpPr/>
          <p:nvPr/>
        </p:nvSpPr>
        <p:spPr>
          <a:xfrm>
            <a:off x="777240" y="1645920"/>
            <a:ext cx="4937760" cy="1005840"/>
          </a:xfrm>
          <a:prstGeom prst="roundRect">
            <a:avLst>
              <a:gd name="adj" fmla="val 7273"/>
            </a:avLst>
          </a:prstGeom>
          <a:solidFill>
            <a:srgbClr val="FFFFFF"/>
          </a:solidFill>
          <a:ln w="12700">
            <a:solidFill>
              <a:srgbClr val="B8C7D8"/>
            </a:solidFill>
            <a:prstDash val="solid"/>
          </a:ln>
          <a:effectLst>
            <a:outerShdw blurRad="12700" dist="50800" dir="2700000" algn="bl" rotWithShape="0">
              <a:srgbClr val="D4DEE8">
                <a:alpha val="25000"/>
              </a:srgbClr>
            </a:outerShdw>
          </a:effectLst>
        </p:spPr>
        <p:txBody>
          <a:bodyPr/>
          <a:lstStyle/>
          <a:p>
            <a:endParaRPr lang="en-US"/>
          </a:p>
        </p:txBody>
      </p:sp>
      <p:sp>
        <p:nvSpPr>
          <p:cNvPr id="7" name="Shape 5"/>
          <p:cNvSpPr/>
          <p:nvPr/>
        </p:nvSpPr>
        <p:spPr>
          <a:xfrm>
            <a:off x="777240" y="1645920"/>
            <a:ext cx="73152" cy="1005840"/>
          </a:xfrm>
          <a:prstGeom prst="rect">
            <a:avLst/>
          </a:prstGeom>
          <a:solidFill>
            <a:srgbClr val="1D5FA7"/>
          </a:solidFill>
          <a:ln w="12700">
            <a:solidFill>
              <a:srgbClr val="1D5FA7"/>
            </a:solidFill>
            <a:prstDash val="solid"/>
          </a:ln>
        </p:spPr>
        <p:txBody>
          <a:bodyPr/>
          <a:lstStyle/>
          <a:p>
            <a:endParaRPr lang="en-US"/>
          </a:p>
        </p:txBody>
      </p:sp>
      <p:sp>
        <p:nvSpPr>
          <p:cNvPr id="8" name="Text 6"/>
          <p:cNvSpPr/>
          <p:nvPr/>
        </p:nvSpPr>
        <p:spPr>
          <a:xfrm>
            <a:off x="960120" y="1792224"/>
            <a:ext cx="4617720" cy="256032"/>
          </a:xfrm>
          <a:prstGeom prst="rect">
            <a:avLst/>
          </a:prstGeom>
          <a:noFill/>
          <a:ln/>
        </p:spPr>
        <p:txBody>
          <a:bodyPr wrap="square" lIns="0" tIns="0" rIns="0" bIns="0" rtlCol="0" anchor="ctr">
            <a:normAutofit/>
          </a:bodyPr>
          <a:lstStyle/>
          <a:p>
            <a:pPr marL="0" indent="0">
              <a:buNone/>
            </a:pPr>
            <a:r>
              <a:rPr lang="en-US" sz="1500" b="1" dirty="0">
                <a:solidFill>
                  <a:srgbClr val="0B2D55"/>
                </a:solidFill>
                <a:latin typeface="Aptos" pitchFamily="34" charset="0"/>
                <a:ea typeface="Aptos" pitchFamily="34" charset="-122"/>
                <a:cs typeface="Aptos" pitchFamily="34" charset="-120"/>
              </a:rPr>
              <a:t>Shortest distance</a:t>
            </a:r>
            <a:endParaRPr lang="en-US" sz="1500" dirty="0"/>
          </a:p>
        </p:txBody>
      </p:sp>
      <p:sp>
        <p:nvSpPr>
          <p:cNvPr id="9" name="Text 7"/>
          <p:cNvSpPr/>
          <p:nvPr/>
        </p:nvSpPr>
        <p:spPr>
          <a:xfrm>
            <a:off x="960120" y="2130552"/>
            <a:ext cx="4617720" cy="411480"/>
          </a:xfrm>
          <a:prstGeom prst="rect">
            <a:avLst/>
          </a:prstGeom>
          <a:noFill/>
          <a:ln/>
        </p:spPr>
        <p:txBody>
          <a:bodyPr wrap="square" lIns="0" tIns="0" rIns="0" bIns="0" rtlCol="0" anchor="ctr">
            <a:normAutofit/>
          </a:bodyPr>
          <a:lstStyle/>
          <a:p>
            <a:pPr marL="0" indent="0">
              <a:buNone/>
            </a:pPr>
            <a:r>
              <a:rPr lang="en-US" sz="1350" dirty="0">
                <a:solidFill>
                  <a:srgbClr val="132033"/>
                </a:solidFill>
                <a:latin typeface="Aptos" pitchFamily="34" charset="0"/>
                <a:ea typeface="Aptos" pitchFamily="34" charset="-122"/>
                <a:cs typeface="Aptos" pitchFamily="34" charset="-120"/>
              </a:rPr>
              <a:t>Minimize meters traveled</a:t>
            </a:r>
            <a:endParaRPr lang="en-US" sz="1350" dirty="0"/>
          </a:p>
        </p:txBody>
      </p:sp>
      <p:sp>
        <p:nvSpPr>
          <p:cNvPr id="10" name="Shape 8"/>
          <p:cNvSpPr/>
          <p:nvPr/>
        </p:nvSpPr>
        <p:spPr>
          <a:xfrm>
            <a:off x="6355080" y="1645920"/>
            <a:ext cx="4937760" cy="1005840"/>
          </a:xfrm>
          <a:prstGeom prst="roundRect">
            <a:avLst>
              <a:gd name="adj" fmla="val 7273"/>
            </a:avLst>
          </a:prstGeom>
          <a:solidFill>
            <a:srgbClr val="FFFFFF"/>
          </a:solidFill>
          <a:ln w="12700">
            <a:solidFill>
              <a:srgbClr val="B8C7D8"/>
            </a:solidFill>
            <a:prstDash val="solid"/>
          </a:ln>
          <a:effectLst>
            <a:outerShdw blurRad="12700" dist="50800" dir="2700000" algn="bl" rotWithShape="0">
              <a:srgbClr val="D4DEE8">
                <a:alpha val="25000"/>
              </a:srgbClr>
            </a:outerShdw>
          </a:effectLst>
        </p:spPr>
        <p:txBody>
          <a:bodyPr/>
          <a:lstStyle/>
          <a:p>
            <a:endParaRPr lang="en-US"/>
          </a:p>
        </p:txBody>
      </p:sp>
      <p:sp>
        <p:nvSpPr>
          <p:cNvPr id="11" name="Shape 9"/>
          <p:cNvSpPr/>
          <p:nvPr/>
        </p:nvSpPr>
        <p:spPr>
          <a:xfrm>
            <a:off x="6355080" y="1645920"/>
            <a:ext cx="73152" cy="1005840"/>
          </a:xfrm>
          <a:prstGeom prst="rect">
            <a:avLst/>
          </a:prstGeom>
          <a:solidFill>
            <a:srgbClr val="39A875"/>
          </a:solidFill>
          <a:ln w="12700">
            <a:solidFill>
              <a:srgbClr val="39A875"/>
            </a:solidFill>
            <a:prstDash val="solid"/>
          </a:ln>
        </p:spPr>
        <p:txBody>
          <a:bodyPr/>
          <a:lstStyle/>
          <a:p>
            <a:endParaRPr lang="en-US"/>
          </a:p>
        </p:txBody>
      </p:sp>
      <p:sp>
        <p:nvSpPr>
          <p:cNvPr id="12" name="Text 10"/>
          <p:cNvSpPr/>
          <p:nvPr/>
        </p:nvSpPr>
        <p:spPr>
          <a:xfrm>
            <a:off x="6537960" y="1792224"/>
            <a:ext cx="4617720" cy="256032"/>
          </a:xfrm>
          <a:prstGeom prst="rect">
            <a:avLst/>
          </a:prstGeom>
          <a:noFill/>
          <a:ln/>
        </p:spPr>
        <p:txBody>
          <a:bodyPr wrap="square" lIns="0" tIns="0" rIns="0" bIns="0" rtlCol="0" anchor="ctr">
            <a:normAutofit/>
          </a:bodyPr>
          <a:lstStyle/>
          <a:p>
            <a:pPr marL="0" indent="0">
              <a:buNone/>
            </a:pPr>
            <a:r>
              <a:rPr lang="en-US" sz="1500" b="1" dirty="0">
                <a:solidFill>
                  <a:srgbClr val="0B2D55"/>
                </a:solidFill>
                <a:latin typeface="Aptos" pitchFamily="34" charset="0"/>
                <a:ea typeface="Aptos" pitchFamily="34" charset="-122"/>
                <a:cs typeface="Aptos" pitchFamily="34" charset="-120"/>
              </a:rPr>
              <a:t>Least energy</a:t>
            </a:r>
            <a:endParaRPr lang="en-US" sz="1500" dirty="0"/>
          </a:p>
        </p:txBody>
      </p:sp>
      <p:sp>
        <p:nvSpPr>
          <p:cNvPr id="13" name="Text 11"/>
          <p:cNvSpPr/>
          <p:nvPr/>
        </p:nvSpPr>
        <p:spPr>
          <a:xfrm>
            <a:off x="6537960" y="2130552"/>
            <a:ext cx="4617720" cy="411480"/>
          </a:xfrm>
          <a:prstGeom prst="rect">
            <a:avLst/>
          </a:prstGeom>
          <a:noFill/>
          <a:ln/>
        </p:spPr>
        <p:txBody>
          <a:bodyPr wrap="square" lIns="0" tIns="0" rIns="0" bIns="0" rtlCol="0" anchor="ctr">
            <a:normAutofit/>
          </a:bodyPr>
          <a:lstStyle/>
          <a:p>
            <a:pPr marL="0" indent="0">
              <a:buNone/>
            </a:pPr>
            <a:r>
              <a:rPr lang="en-US" sz="1350" dirty="0">
                <a:solidFill>
                  <a:srgbClr val="132033"/>
                </a:solidFill>
                <a:latin typeface="Aptos" pitchFamily="34" charset="0"/>
                <a:ea typeface="Aptos" pitchFamily="34" charset="-122"/>
                <a:cs typeface="Aptos" pitchFamily="34" charset="-120"/>
              </a:rPr>
              <a:t>Minimize battery consumed</a:t>
            </a:r>
            <a:endParaRPr lang="en-US" sz="1350" dirty="0"/>
          </a:p>
        </p:txBody>
      </p:sp>
      <p:sp>
        <p:nvSpPr>
          <p:cNvPr id="14" name="Shape 12"/>
          <p:cNvSpPr/>
          <p:nvPr/>
        </p:nvSpPr>
        <p:spPr>
          <a:xfrm>
            <a:off x="777240" y="3154680"/>
            <a:ext cx="4937760" cy="1005840"/>
          </a:xfrm>
          <a:prstGeom prst="roundRect">
            <a:avLst>
              <a:gd name="adj" fmla="val 7273"/>
            </a:avLst>
          </a:prstGeom>
          <a:solidFill>
            <a:srgbClr val="FFFFFF"/>
          </a:solidFill>
          <a:ln w="12700">
            <a:solidFill>
              <a:srgbClr val="B8C7D8"/>
            </a:solidFill>
            <a:prstDash val="solid"/>
          </a:ln>
          <a:effectLst>
            <a:outerShdw blurRad="12700" dist="50800" dir="2700000" algn="bl" rotWithShape="0">
              <a:srgbClr val="D4DEE8">
                <a:alpha val="25000"/>
              </a:srgbClr>
            </a:outerShdw>
          </a:effectLst>
        </p:spPr>
        <p:txBody>
          <a:bodyPr/>
          <a:lstStyle/>
          <a:p>
            <a:endParaRPr lang="en-US"/>
          </a:p>
        </p:txBody>
      </p:sp>
      <p:sp>
        <p:nvSpPr>
          <p:cNvPr id="15" name="Shape 13"/>
          <p:cNvSpPr/>
          <p:nvPr/>
        </p:nvSpPr>
        <p:spPr>
          <a:xfrm>
            <a:off x="777240" y="3154680"/>
            <a:ext cx="73152" cy="1005840"/>
          </a:xfrm>
          <a:prstGeom prst="rect">
            <a:avLst/>
          </a:prstGeom>
          <a:solidFill>
            <a:srgbClr val="D94E4E"/>
          </a:solidFill>
          <a:ln w="12700">
            <a:solidFill>
              <a:srgbClr val="D94E4E"/>
            </a:solidFill>
            <a:prstDash val="solid"/>
          </a:ln>
        </p:spPr>
        <p:txBody>
          <a:bodyPr/>
          <a:lstStyle/>
          <a:p>
            <a:endParaRPr lang="en-US"/>
          </a:p>
        </p:txBody>
      </p:sp>
      <p:sp>
        <p:nvSpPr>
          <p:cNvPr id="16" name="Text 14"/>
          <p:cNvSpPr/>
          <p:nvPr/>
        </p:nvSpPr>
        <p:spPr>
          <a:xfrm>
            <a:off x="960120" y="3300984"/>
            <a:ext cx="4617720" cy="256032"/>
          </a:xfrm>
          <a:prstGeom prst="rect">
            <a:avLst/>
          </a:prstGeom>
          <a:noFill/>
          <a:ln/>
        </p:spPr>
        <p:txBody>
          <a:bodyPr wrap="square" lIns="0" tIns="0" rIns="0" bIns="0" rtlCol="0" anchor="ctr">
            <a:normAutofit/>
          </a:bodyPr>
          <a:lstStyle/>
          <a:p>
            <a:pPr marL="0" indent="0">
              <a:buNone/>
            </a:pPr>
            <a:r>
              <a:rPr lang="en-US" sz="1500" b="1" dirty="0">
                <a:solidFill>
                  <a:srgbClr val="0B2D55"/>
                </a:solidFill>
                <a:latin typeface="Aptos" pitchFamily="34" charset="0"/>
                <a:ea typeface="Aptos" pitchFamily="34" charset="-122"/>
                <a:cs typeface="Aptos" pitchFamily="34" charset="-120"/>
              </a:rPr>
              <a:t>Lowest risk</a:t>
            </a:r>
            <a:endParaRPr lang="en-US" sz="1500" dirty="0"/>
          </a:p>
        </p:txBody>
      </p:sp>
      <p:sp>
        <p:nvSpPr>
          <p:cNvPr id="17" name="Text 15"/>
          <p:cNvSpPr/>
          <p:nvPr/>
        </p:nvSpPr>
        <p:spPr>
          <a:xfrm>
            <a:off x="960120" y="3639312"/>
            <a:ext cx="4617720" cy="411480"/>
          </a:xfrm>
          <a:prstGeom prst="rect">
            <a:avLst/>
          </a:prstGeom>
          <a:noFill/>
          <a:ln/>
        </p:spPr>
        <p:txBody>
          <a:bodyPr wrap="square" lIns="0" tIns="0" rIns="0" bIns="0" rtlCol="0" anchor="ctr">
            <a:normAutofit/>
          </a:bodyPr>
          <a:lstStyle/>
          <a:p>
            <a:pPr marL="0" indent="0">
              <a:buNone/>
            </a:pPr>
            <a:r>
              <a:rPr lang="en-US" sz="1350" dirty="0">
                <a:solidFill>
                  <a:srgbClr val="132033"/>
                </a:solidFill>
                <a:latin typeface="Aptos" pitchFamily="34" charset="0"/>
                <a:ea typeface="Aptos" pitchFamily="34" charset="-122"/>
                <a:cs typeface="Aptos" pitchFamily="34" charset="-120"/>
              </a:rPr>
              <a:t>Avoid unstable terrain</a:t>
            </a:r>
            <a:endParaRPr lang="en-US" sz="1350" dirty="0"/>
          </a:p>
        </p:txBody>
      </p:sp>
      <p:sp>
        <p:nvSpPr>
          <p:cNvPr id="18" name="Shape 16"/>
          <p:cNvSpPr/>
          <p:nvPr/>
        </p:nvSpPr>
        <p:spPr>
          <a:xfrm>
            <a:off x="6355080" y="3154680"/>
            <a:ext cx="4937760" cy="1005840"/>
          </a:xfrm>
          <a:prstGeom prst="roundRect">
            <a:avLst>
              <a:gd name="adj" fmla="val 7273"/>
            </a:avLst>
          </a:prstGeom>
          <a:solidFill>
            <a:srgbClr val="FFFFFF"/>
          </a:solidFill>
          <a:ln w="12700">
            <a:solidFill>
              <a:srgbClr val="B8C7D8"/>
            </a:solidFill>
            <a:prstDash val="solid"/>
          </a:ln>
          <a:effectLst>
            <a:outerShdw blurRad="12700" dist="50800" dir="2700000" algn="bl" rotWithShape="0">
              <a:srgbClr val="D4DEE8">
                <a:alpha val="25000"/>
              </a:srgbClr>
            </a:outerShdw>
          </a:effectLst>
        </p:spPr>
        <p:txBody>
          <a:bodyPr/>
          <a:lstStyle/>
          <a:p>
            <a:endParaRPr lang="en-US"/>
          </a:p>
        </p:txBody>
      </p:sp>
      <p:sp>
        <p:nvSpPr>
          <p:cNvPr id="19" name="Shape 17"/>
          <p:cNvSpPr/>
          <p:nvPr/>
        </p:nvSpPr>
        <p:spPr>
          <a:xfrm>
            <a:off x="6355080" y="3154680"/>
            <a:ext cx="73152" cy="1005840"/>
          </a:xfrm>
          <a:prstGeom prst="rect">
            <a:avLst/>
          </a:prstGeom>
          <a:solidFill>
            <a:srgbClr val="F2C14E"/>
          </a:solidFill>
          <a:ln w="12700">
            <a:solidFill>
              <a:srgbClr val="F2C14E"/>
            </a:solidFill>
            <a:prstDash val="solid"/>
          </a:ln>
        </p:spPr>
        <p:txBody>
          <a:bodyPr/>
          <a:lstStyle/>
          <a:p>
            <a:endParaRPr lang="en-US"/>
          </a:p>
        </p:txBody>
      </p:sp>
      <p:sp>
        <p:nvSpPr>
          <p:cNvPr id="20" name="Text 18"/>
          <p:cNvSpPr/>
          <p:nvPr/>
        </p:nvSpPr>
        <p:spPr>
          <a:xfrm>
            <a:off x="6537960" y="3300984"/>
            <a:ext cx="4617720" cy="256032"/>
          </a:xfrm>
          <a:prstGeom prst="rect">
            <a:avLst/>
          </a:prstGeom>
          <a:noFill/>
          <a:ln/>
        </p:spPr>
        <p:txBody>
          <a:bodyPr wrap="square" lIns="0" tIns="0" rIns="0" bIns="0" rtlCol="0" anchor="ctr">
            <a:normAutofit/>
          </a:bodyPr>
          <a:lstStyle/>
          <a:p>
            <a:pPr marL="0" indent="0">
              <a:buNone/>
            </a:pPr>
            <a:r>
              <a:rPr lang="en-US" sz="1500" b="1" dirty="0">
                <a:solidFill>
                  <a:srgbClr val="0B2D55"/>
                </a:solidFill>
                <a:latin typeface="Aptos" pitchFamily="34" charset="0"/>
                <a:ea typeface="Aptos" pitchFamily="34" charset="-122"/>
                <a:cs typeface="Aptos" pitchFamily="34" charset="-120"/>
              </a:rPr>
              <a:t>Fastest time</a:t>
            </a:r>
            <a:endParaRPr lang="en-US" sz="1500" dirty="0"/>
          </a:p>
        </p:txBody>
      </p:sp>
      <p:sp>
        <p:nvSpPr>
          <p:cNvPr id="21" name="Text 19"/>
          <p:cNvSpPr/>
          <p:nvPr/>
        </p:nvSpPr>
        <p:spPr>
          <a:xfrm>
            <a:off x="6537960" y="3639312"/>
            <a:ext cx="4617720" cy="411480"/>
          </a:xfrm>
          <a:prstGeom prst="rect">
            <a:avLst/>
          </a:prstGeom>
          <a:noFill/>
          <a:ln/>
        </p:spPr>
        <p:txBody>
          <a:bodyPr wrap="square" lIns="0" tIns="0" rIns="0" bIns="0" rtlCol="0" anchor="ctr">
            <a:normAutofit/>
          </a:bodyPr>
          <a:lstStyle/>
          <a:p>
            <a:pPr marL="0" indent="0">
              <a:buNone/>
            </a:pPr>
            <a:r>
              <a:rPr lang="en-US" sz="1350" dirty="0">
                <a:solidFill>
                  <a:srgbClr val="132033"/>
                </a:solidFill>
                <a:latin typeface="Aptos" pitchFamily="34" charset="0"/>
                <a:ea typeface="Aptos" pitchFamily="34" charset="-122"/>
                <a:cs typeface="Aptos" pitchFamily="34" charset="-120"/>
              </a:rPr>
              <a:t>Minimize mission duration</a:t>
            </a:r>
            <a:endParaRPr lang="en-US" sz="1350" dirty="0"/>
          </a:p>
        </p:txBody>
      </p:sp>
      <p:sp>
        <p:nvSpPr>
          <p:cNvPr id="22" name="Text 20"/>
          <p:cNvSpPr/>
          <p:nvPr/>
        </p:nvSpPr>
        <p:spPr>
          <a:xfrm>
            <a:off x="960120" y="5074920"/>
            <a:ext cx="10149840" cy="502920"/>
          </a:xfrm>
          <a:prstGeom prst="rect">
            <a:avLst/>
          </a:prstGeom>
          <a:noFill/>
          <a:ln/>
        </p:spPr>
        <p:txBody>
          <a:bodyPr wrap="square" lIns="0" tIns="0" rIns="0" bIns="0" rtlCol="0" anchor="ctr">
            <a:normAutofit/>
          </a:bodyPr>
          <a:lstStyle/>
          <a:p>
            <a:pPr marL="0" indent="0" algn="ctr">
              <a:buNone/>
            </a:pPr>
            <a:r>
              <a:rPr lang="en-US" sz="2600" b="1" dirty="0">
                <a:solidFill>
                  <a:srgbClr val="0B2D55"/>
                </a:solidFill>
                <a:latin typeface="Aptos" pitchFamily="34" charset="0"/>
                <a:ea typeface="Aptos" pitchFamily="34" charset="-122"/>
                <a:cs typeface="Aptos" pitchFamily="34" charset="-120"/>
              </a:rPr>
              <a:t>Same map. Same goal. Different cost. Different “best” path.</a:t>
            </a:r>
            <a:endParaRPr lang="en-US" sz="2600" dirty="0"/>
          </a:p>
        </p:txBody>
      </p:sp>
      <p:sp>
        <p:nvSpPr>
          <p:cNvPr id="23" name="Shape 21"/>
          <p:cNvSpPr/>
          <p:nvPr/>
        </p:nvSpPr>
        <p:spPr>
          <a:xfrm>
            <a:off x="786384" y="5897880"/>
            <a:ext cx="1325880" cy="438912"/>
          </a:xfrm>
          <a:prstGeom prst="roundRect">
            <a:avLst>
              <a:gd name="adj" fmla="val 14583"/>
            </a:avLst>
          </a:prstGeom>
          <a:solidFill>
            <a:srgbClr val="FFFFFF">
              <a:alpha val="90000"/>
            </a:srgbClr>
          </a:solidFill>
          <a:ln w="12700">
            <a:solidFill>
              <a:srgbClr val="B8C7D8"/>
            </a:solidFill>
            <a:prstDash val="solid"/>
          </a:ln>
        </p:spPr>
        <p:txBody>
          <a:bodyPr/>
          <a:lstStyle/>
          <a:p>
            <a:endParaRPr lang="en-US"/>
          </a:p>
        </p:txBody>
      </p:sp>
      <p:sp>
        <p:nvSpPr>
          <p:cNvPr id="24" name="Text 22"/>
          <p:cNvSpPr/>
          <p:nvPr/>
        </p:nvSpPr>
        <p:spPr>
          <a:xfrm>
            <a:off x="832104" y="6025896"/>
            <a:ext cx="1234440" cy="164592"/>
          </a:xfrm>
          <a:prstGeom prst="rect">
            <a:avLst/>
          </a:prstGeom>
          <a:noFill/>
          <a:ln/>
        </p:spPr>
        <p:txBody>
          <a:bodyPr wrap="square" lIns="0" tIns="0" rIns="0" bIns="0" rtlCol="0" anchor="ctr">
            <a:normAutofit/>
          </a:bodyPr>
          <a:lstStyle/>
          <a:p>
            <a:pPr marL="0" indent="0" algn="ctr">
              <a:buNone/>
            </a:pPr>
            <a:r>
              <a:rPr lang="en-US" sz="1050" dirty="0">
                <a:solidFill>
                  <a:srgbClr val="6D7C8F"/>
                </a:solidFill>
                <a:latin typeface="Aptos" pitchFamily="34" charset="0"/>
                <a:ea typeface="Aptos" pitchFamily="34" charset="-122"/>
                <a:cs typeface="Aptos" pitchFamily="34" charset="-120"/>
              </a:rPr>
              <a:t>Real world</a:t>
            </a:r>
            <a:endParaRPr lang="en-US" sz="1050" dirty="0"/>
          </a:p>
        </p:txBody>
      </p:sp>
      <p:sp>
        <p:nvSpPr>
          <p:cNvPr id="25" name="Shape 23"/>
          <p:cNvSpPr/>
          <p:nvPr/>
        </p:nvSpPr>
        <p:spPr>
          <a:xfrm>
            <a:off x="2185416" y="6035040"/>
            <a:ext cx="164592" cy="164592"/>
          </a:xfrm>
          <a:prstGeom prst="chevron">
            <a:avLst/>
          </a:prstGeom>
          <a:solidFill>
            <a:srgbClr val="B8C7D8"/>
          </a:solidFill>
          <a:ln w="12700">
            <a:solidFill>
              <a:srgbClr val="B8C7D8"/>
            </a:solidFill>
            <a:prstDash val="solid"/>
          </a:ln>
        </p:spPr>
        <p:txBody>
          <a:bodyPr/>
          <a:lstStyle/>
          <a:p>
            <a:endParaRPr lang="en-US"/>
          </a:p>
        </p:txBody>
      </p:sp>
      <p:sp>
        <p:nvSpPr>
          <p:cNvPr id="26" name="Shape 24"/>
          <p:cNvSpPr/>
          <p:nvPr/>
        </p:nvSpPr>
        <p:spPr>
          <a:xfrm>
            <a:off x="2450592" y="5897880"/>
            <a:ext cx="1325880" cy="438912"/>
          </a:xfrm>
          <a:prstGeom prst="roundRect">
            <a:avLst>
              <a:gd name="adj" fmla="val 14583"/>
            </a:avLst>
          </a:prstGeom>
          <a:solidFill>
            <a:srgbClr val="FFFFFF">
              <a:alpha val="90000"/>
            </a:srgbClr>
          </a:solidFill>
          <a:ln w="12700">
            <a:solidFill>
              <a:srgbClr val="B8C7D8"/>
            </a:solidFill>
            <a:prstDash val="solid"/>
          </a:ln>
        </p:spPr>
        <p:txBody>
          <a:bodyPr/>
          <a:lstStyle/>
          <a:p>
            <a:endParaRPr lang="en-US"/>
          </a:p>
        </p:txBody>
      </p:sp>
      <p:sp>
        <p:nvSpPr>
          <p:cNvPr id="27" name="Text 25"/>
          <p:cNvSpPr/>
          <p:nvPr/>
        </p:nvSpPr>
        <p:spPr>
          <a:xfrm>
            <a:off x="2496312" y="6025896"/>
            <a:ext cx="1234440" cy="164592"/>
          </a:xfrm>
          <a:prstGeom prst="rect">
            <a:avLst/>
          </a:prstGeom>
          <a:noFill/>
          <a:ln/>
        </p:spPr>
        <p:txBody>
          <a:bodyPr wrap="square" lIns="0" tIns="0" rIns="0" bIns="0" rtlCol="0" anchor="ctr">
            <a:normAutofit/>
          </a:bodyPr>
          <a:lstStyle/>
          <a:p>
            <a:pPr marL="0" indent="0" algn="ctr">
              <a:buNone/>
            </a:pPr>
            <a:r>
              <a:rPr lang="en-US" sz="1050" dirty="0">
                <a:solidFill>
                  <a:srgbClr val="6D7C8F"/>
                </a:solidFill>
                <a:latin typeface="Aptos" pitchFamily="34" charset="0"/>
                <a:ea typeface="Aptos" pitchFamily="34" charset="-122"/>
                <a:cs typeface="Aptos" pitchFamily="34" charset="-120"/>
              </a:rPr>
              <a:t>State</a:t>
            </a:r>
            <a:endParaRPr lang="en-US" sz="1050" dirty="0"/>
          </a:p>
        </p:txBody>
      </p:sp>
      <p:sp>
        <p:nvSpPr>
          <p:cNvPr id="28" name="Shape 26"/>
          <p:cNvSpPr/>
          <p:nvPr/>
        </p:nvSpPr>
        <p:spPr>
          <a:xfrm>
            <a:off x="3849624" y="6035040"/>
            <a:ext cx="164592" cy="164592"/>
          </a:xfrm>
          <a:prstGeom prst="chevron">
            <a:avLst/>
          </a:prstGeom>
          <a:solidFill>
            <a:srgbClr val="B8C7D8"/>
          </a:solidFill>
          <a:ln w="12700">
            <a:solidFill>
              <a:srgbClr val="B8C7D8"/>
            </a:solidFill>
            <a:prstDash val="solid"/>
          </a:ln>
        </p:spPr>
        <p:txBody>
          <a:bodyPr/>
          <a:lstStyle/>
          <a:p>
            <a:endParaRPr lang="en-US"/>
          </a:p>
        </p:txBody>
      </p:sp>
      <p:sp>
        <p:nvSpPr>
          <p:cNvPr id="29" name="Shape 27"/>
          <p:cNvSpPr/>
          <p:nvPr/>
        </p:nvSpPr>
        <p:spPr>
          <a:xfrm>
            <a:off x="4114800" y="5897880"/>
            <a:ext cx="1325880" cy="438912"/>
          </a:xfrm>
          <a:prstGeom prst="roundRect">
            <a:avLst>
              <a:gd name="adj" fmla="val 14583"/>
            </a:avLst>
          </a:prstGeom>
          <a:solidFill>
            <a:srgbClr val="FFFFFF">
              <a:alpha val="90000"/>
            </a:srgbClr>
          </a:solidFill>
          <a:ln w="12700">
            <a:solidFill>
              <a:srgbClr val="B8C7D8"/>
            </a:solidFill>
            <a:prstDash val="solid"/>
          </a:ln>
        </p:spPr>
        <p:txBody>
          <a:bodyPr/>
          <a:lstStyle/>
          <a:p>
            <a:endParaRPr lang="en-US"/>
          </a:p>
        </p:txBody>
      </p:sp>
      <p:sp>
        <p:nvSpPr>
          <p:cNvPr id="30" name="Text 28"/>
          <p:cNvSpPr/>
          <p:nvPr/>
        </p:nvSpPr>
        <p:spPr>
          <a:xfrm>
            <a:off x="4160520" y="6025896"/>
            <a:ext cx="1234440" cy="164592"/>
          </a:xfrm>
          <a:prstGeom prst="rect">
            <a:avLst/>
          </a:prstGeom>
          <a:noFill/>
          <a:ln/>
        </p:spPr>
        <p:txBody>
          <a:bodyPr wrap="square" lIns="0" tIns="0" rIns="0" bIns="0" rtlCol="0" anchor="ctr">
            <a:normAutofit/>
          </a:bodyPr>
          <a:lstStyle/>
          <a:p>
            <a:pPr marL="0" indent="0" algn="ctr">
              <a:buNone/>
            </a:pPr>
            <a:r>
              <a:rPr lang="en-US" sz="1050" dirty="0">
                <a:solidFill>
                  <a:srgbClr val="6D7C8F"/>
                </a:solidFill>
                <a:latin typeface="Aptos" pitchFamily="34" charset="0"/>
                <a:ea typeface="Aptos" pitchFamily="34" charset="-122"/>
                <a:cs typeface="Aptos" pitchFamily="34" charset="-120"/>
              </a:rPr>
              <a:t>Actions</a:t>
            </a:r>
            <a:endParaRPr lang="en-US" sz="1050" dirty="0"/>
          </a:p>
        </p:txBody>
      </p:sp>
      <p:sp>
        <p:nvSpPr>
          <p:cNvPr id="31" name="Shape 29"/>
          <p:cNvSpPr/>
          <p:nvPr/>
        </p:nvSpPr>
        <p:spPr>
          <a:xfrm>
            <a:off x="5513832" y="6035040"/>
            <a:ext cx="164592" cy="164592"/>
          </a:xfrm>
          <a:prstGeom prst="chevron">
            <a:avLst/>
          </a:prstGeom>
          <a:solidFill>
            <a:srgbClr val="B8C7D8"/>
          </a:solidFill>
          <a:ln w="12700">
            <a:solidFill>
              <a:srgbClr val="B8C7D8"/>
            </a:solidFill>
            <a:prstDash val="solid"/>
          </a:ln>
        </p:spPr>
        <p:txBody>
          <a:bodyPr/>
          <a:lstStyle/>
          <a:p>
            <a:endParaRPr lang="en-US"/>
          </a:p>
        </p:txBody>
      </p:sp>
      <p:sp>
        <p:nvSpPr>
          <p:cNvPr id="32" name="Shape 30"/>
          <p:cNvSpPr/>
          <p:nvPr/>
        </p:nvSpPr>
        <p:spPr>
          <a:xfrm>
            <a:off x="5779008" y="5897880"/>
            <a:ext cx="1325880" cy="438912"/>
          </a:xfrm>
          <a:prstGeom prst="roundRect">
            <a:avLst>
              <a:gd name="adj" fmla="val 14583"/>
            </a:avLst>
          </a:prstGeom>
          <a:solidFill>
            <a:srgbClr val="FFFFFF">
              <a:alpha val="90000"/>
            </a:srgbClr>
          </a:solidFill>
          <a:ln w="12700">
            <a:solidFill>
              <a:srgbClr val="B8C7D8"/>
            </a:solidFill>
            <a:prstDash val="solid"/>
          </a:ln>
        </p:spPr>
        <p:txBody>
          <a:bodyPr/>
          <a:lstStyle/>
          <a:p>
            <a:endParaRPr lang="en-US"/>
          </a:p>
        </p:txBody>
      </p:sp>
      <p:sp>
        <p:nvSpPr>
          <p:cNvPr id="33" name="Text 31"/>
          <p:cNvSpPr/>
          <p:nvPr/>
        </p:nvSpPr>
        <p:spPr>
          <a:xfrm>
            <a:off x="5824728" y="6025896"/>
            <a:ext cx="1234440" cy="164592"/>
          </a:xfrm>
          <a:prstGeom prst="rect">
            <a:avLst/>
          </a:prstGeom>
          <a:noFill/>
          <a:ln/>
        </p:spPr>
        <p:txBody>
          <a:bodyPr wrap="square" lIns="0" tIns="0" rIns="0" bIns="0" rtlCol="0" anchor="ctr">
            <a:normAutofit/>
          </a:bodyPr>
          <a:lstStyle/>
          <a:p>
            <a:pPr marL="0" indent="0" algn="ctr">
              <a:buNone/>
            </a:pPr>
            <a:r>
              <a:rPr lang="en-US" sz="1050" dirty="0">
                <a:solidFill>
                  <a:srgbClr val="6D7C8F"/>
                </a:solidFill>
                <a:latin typeface="Aptos" pitchFamily="34" charset="0"/>
                <a:ea typeface="Aptos" pitchFamily="34" charset="-122"/>
                <a:cs typeface="Aptos" pitchFamily="34" charset="-120"/>
              </a:rPr>
              <a:t>Goal</a:t>
            </a:r>
            <a:endParaRPr lang="en-US" sz="1050" dirty="0"/>
          </a:p>
        </p:txBody>
      </p:sp>
      <p:sp>
        <p:nvSpPr>
          <p:cNvPr id="34" name="Shape 32"/>
          <p:cNvSpPr/>
          <p:nvPr/>
        </p:nvSpPr>
        <p:spPr>
          <a:xfrm>
            <a:off x="7178040" y="6035040"/>
            <a:ext cx="164592" cy="164592"/>
          </a:xfrm>
          <a:prstGeom prst="chevron">
            <a:avLst/>
          </a:prstGeom>
          <a:solidFill>
            <a:srgbClr val="B8C7D8"/>
          </a:solidFill>
          <a:ln w="12700">
            <a:solidFill>
              <a:srgbClr val="B8C7D8"/>
            </a:solidFill>
            <a:prstDash val="solid"/>
          </a:ln>
        </p:spPr>
        <p:txBody>
          <a:bodyPr/>
          <a:lstStyle/>
          <a:p>
            <a:endParaRPr lang="en-US"/>
          </a:p>
        </p:txBody>
      </p:sp>
      <p:sp>
        <p:nvSpPr>
          <p:cNvPr id="35" name="Shape 33"/>
          <p:cNvSpPr/>
          <p:nvPr/>
        </p:nvSpPr>
        <p:spPr>
          <a:xfrm>
            <a:off x="7443216" y="5897880"/>
            <a:ext cx="1325880" cy="438912"/>
          </a:xfrm>
          <a:prstGeom prst="roundRect">
            <a:avLst>
              <a:gd name="adj" fmla="val 14583"/>
            </a:avLst>
          </a:prstGeom>
          <a:solidFill>
            <a:srgbClr val="F2C14E"/>
          </a:solidFill>
          <a:ln w="12700">
            <a:solidFill>
              <a:srgbClr val="F2C14E"/>
            </a:solidFill>
            <a:prstDash val="solid"/>
          </a:ln>
        </p:spPr>
        <p:txBody>
          <a:bodyPr/>
          <a:lstStyle/>
          <a:p>
            <a:endParaRPr lang="en-US"/>
          </a:p>
        </p:txBody>
      </p:sp>
      <p:sp>
        <p:nvSpPr>
          <p:cNvPr id="36" name="Text 34"/>
          <p:cNvSpPr/>
          <p:nvPr/>
        </p:nvSpPr>
        <p:spPr>
          <a:xfrm>
            <a:off x="7488936" y="6025896"/>
            <a:ext cx="1234440" cy="164592"/>
          </a:xfrm>
          <a:prstGeom prst="rect">
            <a:avLst/>
          </a:prstGeom>
          <a:noFill/>
          <a:ln/>
        </p:spPr>
        <p:txBody>
          <a:bodyPr wrap="square" lIns="0" tIns="0" rIns="0" bIns="0" rtlCol="0" anchor="ctr">
            <a:normAutofit/>
          </a:bodyPr>
          <a:lstStyle/>
          <a:p>
            <a:pPr marL="0" indent="0" algn="ctr">
              <a:buNone/>
            </a:pPr>
            <a:r>
              <a:rPr lang="en-US" sz="1050" b="1" dirty="0">
                <a:solidFill>
                  <a:srgbClr val="0B2D55"/>
                </a:solidFill>
                <a:latin typeface="Aptos" pitchFamily="34" charset="0"/>
                <a:ea typeface="Aptos" pitchFamily="34" charset="-122"/>
                <a:cs typeface="Aptos" pitchFamily="34" charset="-120"/>
              </a:rPr>
              <a:t>Cost</a:t>
            </a:r>
            <a:endParaRPr lang="en-US" sz="1050" dirty="0"/>
          </a:p>
        </p:txBody>
      </p:sp>
      <p:sp>
        <p:nvSpPr>
          <p:cNvPr id="37" name="Shape 35"/>
          <p:cNvSpPr/>
          <p:nvPr/>
        </p:nvSpPr>
        <p:spPr>
          <a:xfrm>
            <a:off x="8842248" y="6035040"/>
            <a:ext cx="164592" cy="164592"/>
          </a:xfrm>
          <a:prstGeom prst="chevron">
            <a:avLst/>
          </a:prstGeom>
          <a:solidFill>
            <a:srgbClr val="B8C7D8"/>
          </a:solidFill>
          <a:ln w="12700">
            <a:solidFill>
              <a:srgbClr val="B8C7D8"/>
            </a:solidFill>
            <a:prstDash val="solid"/>
          </a:ln>
        </p:spPr>
        <p:txBody>
          <a:bodyPr/>
          <a:lstStyle/>
          <a:p>
            <a:endParaRPr lang="en-US"/>
          </a:p>
        </p:txBody>
      </p:sp>
      <p:sp>
        <p:nvSpPr>
          <p:cNvPr id="38" name="Shape 36"/>
          <p:cNvSpPr/>
          <p:nvPr/>
        </p:nvSpPr>
        <p:spPr>
          <a:xfrm>
            <a:off x="9107424" y="5897880"/>
            <a:ext cx="1325880" cy="438912"/>
          </a:xfrm>
          <a:prstGeom prst="roundRect">
            <a:avLst>
              <a:gd name="adj" fmla="val 14583"/>
            </a:avLst>
          </a:prstGeom>
          <a:solidFill>
            <a:srgbClr val="FFFFFF">
              <a:alpha val="90000"/>
            </a:srgbClr>
          </a:solidFill>
          <a:ln w="12700">
            <a:solidFill>
              <a:srgbClr val="B8C7D8"/>
            </a:solidFill>
            <a:prstDash val="solid"/>
          </a:ln>
        </p:spPr>
        <p:txBody>
          <a:bodyPr/>
          <a:lstStyle/>
          <a:p>
            <a:endParaRPr lang="en-US"/>
          </a:p>
        </p:txBody>
      </p:sp>
      <p:sp>
        <p:nvSpPr>
          <p:cNvPr id="39" name="Text 37"/>
          <p:cNvSpPr/>
          <p:nvPr/>
        </p:nvSpPr>
        <p:spPr>
          <a:xfrm>
            <a:off x="9153144" y="6025896"/>
            <a:ext cx="1234440" cy="164592"/>
          </a:xfrm>
          <a:prstGeom prst="rect">
            <a:avLst/>
          </a:prstGeom>
          <a:noFill/>
          <a:ln/>
        </p:spPr>
        <p:txBody>
          <a:bodyPr wrap="square" lIns="0" tIns="0" rIns="0" bIns="0" rtlCol="0" anchor="ctr">
            <a:normAutofit/>
          </a:bodyPr>
          <a:lstStyle/>
          <a:p>
            <a:pPr marL="0" indent="0" algn="ctr">
              <a:buNone/>
            </a:pPr>
            <a:r>
              <a:rPr lang="en-US" sz="1050" dirty="0">
                <a:solidFill>
                  <a:srgbClr val="6D7C8F"/>
                </a:solidFill>
                <a:latin typeface="Aptos" pitchFamily="34" charset="0"/>
                <a:ea typeface="Aptos" pitchFamily="34" charset="-122"/>
                <a:cs typeface="Aptos" pitchFamily="34" charset="-120"/>
              </a:rPr>
              <a:t>Search</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76072" y="566928"/>
            <a:ext cx="8412480" cy="475488"/>
          </a:xfrm>
          <a:prstGeom prst="rect">
            <a:avLst/>
          </a:prstGeom>
          <a:noFill/>
          <a:ln/>
        </p:spPr>
        <p:txBody>
          <a:bodyPr wrap="square" lIns="0" tIns="0" rIns="0" bIns="0" rtlCol="0" anchor="ctr">
            <a:normAutofit lnSpcReduction="10000"/>
          </a:bodyPr>
          <a:lstStyle/>
          <a:p>
            <a:pPr marL="0" indent="0">
              <a:buNone/>
            </a:pPr>
            <a:r>
              <a:rPr lang="en-US" sz="3400" b="1" dirty="0">
                <a:solidFill>
                  <a:srgbClr val="0B2D55"/>
                </a:solidFill>
                <a:latin typeface="Aptos Display" pitchFamily="34" charset="0"/>
                <a:ea typeface="Aptos Display" pitchFamily="34" charset="-122"/>
                <a:cs typeface="Aptos Display" pitchFamily="34" charset="-120"/>
              </a:rPr>
              <a:t>Complete rover formulation</a:t>
            </a:r>
            <a:endParaRPr lang="en-US" sz="3400" dirty="0"/>
          </a:p>
        </p:txBody>
      </p:sp>
      <p:sp>
        <p:nvSpPr>
          <p:cNvPr id="3" name="Text 1"/>
          <p:cNvSpPr/>
          <p:nvPr/>
        </p:nvSpPr>
        <p:spPr>
          <a:xfrm>
            <a:off x="594360" y="1051560"/>
            <a:ext cx="7315200" cy="292608"/>
          </a:xfrm>
          <a:prstGeom prst="rect">
            <a:avLst/>
          </a:prstGeom>
          <a:noFill/>
          <a:ln/>
        </p:spPr>
        <p:txBody>
          <a:bodyPr wrap="square" lIns="0" tIns="0" rIns="0" bIns="0" rtlCol="0" anchor="ctr">
            <a:normAutofit/>
          </a:bodyPr>
          <a:lstStyle/>
          <a:p>
            <a:pPr marL="0" indent="0">
              <a:buNone/>
            </a:pPr>
            <a:r>
              <a:rPr lang="en-US" sz="1500" dirty="0">
                <a:solidFill>
                  <a:srgbClr val="132033"/>
                </a:solidFill>
                <a:latin typeface="Aptos" pitchFamily="34" charset="0"/>
                <a:ea typeface="Aptos" pitchFamily="34" charset="-122"/>
                <a:cs typeface="Aptos" pitchFamily="34" charset="-120"/>
              </a:rPr>
              <a:t>Now assemble the pieces into one coherent search problem.</a:t>
            </a:r>
            <a:endParaRPr lang="en-US" sz="1500" dirty="0"/>
          </a:p>
        </p:txBody>
      </p:sp>
      <p:sp>
        <p:nvSpPr>
          <p:cNvPr id="4" name="Text 2"/>
          <p:cNvSpPr/>
          <p:nvPr/>
        </p:nvSpPr>
        <p:spPr>
          <a:xfrm>
            <a:off x="502920" y="6528816"/>
            <a:ext cx="4937760" cy="201168"/>
          </a:xfrm>
          <a:prstGeom prst="rect">
            <a:avLst/>
          </a:prstGeom>
          <a:noFill/>
          <a:ln/>
        </p:spPr>
        <p:txBody>
          <a:bodyPr wrap="square" lIns="0" tIns="0" rIns="0" bIns="0" rtlCol="0" anchor="ctr">
            <a:normAutofit/>
          </a:bodyPr>
          <a:lstStyle/>
          <a:p>
            <a:pPr marL="0" indent="0">
              <a:buNone/>
            </a:pPr>
            <a:r>
              <a:rPr lang="en-US" sz="850" dirty="0">
                <a:solidFill>
                  <a:srgbClr val="6D7C8F"/>
                </a:solidFill>
                <a:latin typeface="Aptos" pitchFamily="34" charset="0"/>
                <a:ea typeface="Aptos" pitchFamily="34" charset="-122"/>
                <a:cs typeface="Aptos" pitchFamily="34" charset="-120"/>
              </a:rPr>
              <a:t>CS 471  |  L04: Problem Formulation</a:t>
            </a:r>
            <a:endParaRPr lang="en-US" sz="850" dirty="0"/>
          </a:p>
        </p:txBody>
      </p:sp>
      <p:sp>
        <p:nvSpPr>
          <p:cNvPr id="5" name="Text 3"/>
          <p:cNvSpPr/>
          <p:nvPr/>
        </p:nvSpPr>
        <p:spPr>
          <a:xfrm>
            <a:off x="11402568" y="6528816"/>
            <a:ext cx="320040" cy="201168"/>
          </a:xfrm>
          <a:prstGeom prst="rect">
            <a:avLst/>
          </a:prstGeom>
          <a:noFill/>
          <a:ln/>
        </p:spPr>
        <p:txBody>
          <a:bodyPr wrap="square" lIns="0" tIns="0" rIns="0" bIns="0" rtlCol="0" anchor="ctr">
            <a:normAutofit/>
          </a:bodyPr>
          <a:lstStyle/>
          <a:p>
            <a:pPr marL="0" indent="0" algn="r">
              <a:buNone/>
            </a:pPr>
            <a:r>
              <a:rPr lang="en-US" sz="850" dirty="0">
                <a:solidFill>
                  <a:srgbClr val="6D7C8F"/>
                </a:solidFill>
                <a:latin typeface="Aptos" pitchFamily="34" charset="0"/>
                <a:ea typeface="Aptos" pitchFamily="34" charset="-122"/>
                <a:cs typeface="Aptos" pitchFamily="34" charset="-120"/>
              </a:rPr>
              <a:t>12</a:t>
            </a:r>
            <a:endParaRPr lang="en-US" sz="850" dirty="0"/>
          </a:p>
        </p:txBody>
      </p:sp>
      <p:sp>
        <p:nvSpPr>
          <p:cNvPr id="6" name="Shape 4"/>
          <p:cNvSpPr/>
          <p:nvPr/>
        </p:nvSpPr>
        <p:spPr>
          <a:xfrm>
            <a:off x="914400" y="1508760"/>
            <a:ext cx="10332720" cy="749808"/>
          </a:xfrm>
          <a:prstGeom prst="roundRect">
            <a:avLst>
              <a:gd name="adj" fmla="val 9756"/>
            </a:avLst>
          </a:prstGeom>
          <a:solidFill>
            <a:srgbClr val="F4F8FC"/>
          </a:solidFill>
          <a:ln w="12700">
            <a:solidFill>
              <a:srgbClr val="B8C7D8"/>
            </a:solidFill>
            <a:prstDash val="solid"/>
          </a:ln>
        </p:spPr>
        <p:txBody>
          <a:bodyPr/>
          <a:lstStyle/>
          <a:p>
            <a:endParaRPr lang="en-US"/>
          </a:p>
        </p:txBody>
      </p:sp>
      <p:sp>
        <p:nvSpPr>
          <p:cNvPr id="7" name="Text 5"/>
          <p:cNvSpPr/>
          <p:nvPr/>
        </p:nvSpPr>
        <p:spPr>
          <a:xfrm>
            <a:off x="1143000" y="1709928"/>
            <a:ext cx="1645920" cy="274320"/>
          </a:xfrm>
          <a:prstGeom prst="rect">
            <a:avLst/>
          </a:prstGeom>
          <a:noFill/>
          <a:ln/>
        </p:spPr>
        <p:txBody>
          <a:bodyPr wrap="square" lIns="0" tIns="0" rIns="0" bIns="0" rtlCol="0" anchor="ctr">
            <a:normAutofit/>
          </a:bodyPr>
          <a:lstStyle/>
          <a:p>
            <a:pPr marL="0" indent="0">
              <a:buNone/>
            </a:pPr>
            <a:r>
              <a:rPr lang="en-US" sz="1800" b="1" dirty="0">
                <a:solidFill>
                  <a:srgbClr val="0B2D55"/>
                </a:solidFill>
                <a:latin typeface="Aptos" pitchFamily="34" charset="0"/>
                <a:ea typeface="Aptos" pitchFamily="34" charset="-122"/>
                <a:cs typeface="Aptos" pitchFamily="34" charset="-120"/>
              </a:rPr>
              <a:t>State</a:t>
            </a:r>
            <a:endParaRPr lang="en-US" sz="1800" dirty="0"/>
          </a:p>
        </p:txBody>
      </p:sp>
      <p:sp>
        <p:nvSpPr>
          <p:cNvPr id="8" name="Text 6"/>
          <p:cNvSpPr/>
          <p:nvPr/>
        </p:nvSpPr>
        <p:spPr>
          <a:xfrm>
            <a:off x="2971800" y="1709928"/>
            <a:ext cx="7863840" cy="274320"/>
          </a:xfrm>
          <a:prstGeom prst="rect">
            <a:avLst/>
          </a:prstGeom>
          <a:noFill/>
          <a:ln/>
        </p:spPr>
        <p:txBody>
          <a:bodyPr wrap="square" lIns="0" tIns="0" rIns="0" bIns="0" rtlCol="0" anchor="ctr">
            <a:normAutofit/>
          </a:bodyPr>
          <a:lstStyle/>
          <a:p>
            <a:pPr marL="0" indent="0">
              <a:buNone/>
            </a:pPr>
            <a:r>
              <a:rPr lang="en-US" sz="1800" dirty="0">
                <a:solidFill>
                  <a:srgbClr val="132033"/>
                </a:solidFill>
                <a:latin typeface="Aptos" pitchFamily="34" charset="0"/>
                <a:ea typeface="Aptos" pitchFamily="34" charset="-122"/>
                <a:cs typeface="Aptos" pitchFamily="34" charset="-120"/>
              </a:rPr>
              <a:t>(location, samples collected, battery category)</a:t>
            </a:r>
            <a:endParaRPr lang="en-US" sz="1800" dirty="0"/>
          </a:p>
        </p:txBody>
      </p:sp>
      <p:sp>
        <p:nvSpPr>
          <p:cNvPr id="9" name="Shape 7"/>
          <p:cNvSpPr/>
          <p:nvPr/>
        </p:nvSpPr>
        <p:spPr>
          <a:xfrm>
            <a:off x="914400" y="2468880"/>
            <a:ext cx="10332720" cy="749808"/>
          </a:xfrm>
          <a:prstGeom prst="roundRect">
            <a:avLst>
              <a:gd name="adj" fmla="val 9756"/>
            </a:avLst>
          </a:prstGeom>
          <a:solidFill>
            <a:srgbClr val="FFFFFF"/>
          </a:solidFill>
          <a:ln w="12700">
            <a:solidFill>
              <a:srgbClr val="B8C7D8"/>
            </a:solidFill>
            <a:prstDash val="solid"/>
          </a:ln>
        </p:spPr>
        <p:txBody>
          <a:bodyPr/>
          <a:lstStyle/>
          <a:p>
            <a:endParaRPr lang="en-US"/>
          </a:p>
        </p:txBody>
      </p:sp>
      <p:sp>
        <p:nvSpPr>
          <p:cNvPr id="10" name="Text 8"/>
          <p:cNvSpPr/>
          <p:nvPr/>
        </p:nvSpPr>
        <p:spPr>
          <a:xfrm>
            <a:off x="1143000" y="2670048"/>
            <a:ext cx="1645920" cy="274320"/>
          </a:xfrm>
          <a:prstGeom prst="rect">
            <a:avLst/>
          </a:prstGeom>
          <a:noFill/>
          <a:ln/>
        </p:spPr>
        <p:txBody>
          <a:bodyPr wrap="square" lIns="0" tIns="0" rIns="0" bIns="0" rtlCol="0" anchor="ctr">
            <a:normAutofit/>
          </a:bodyPr>
          <a:lstStyle/>
          <a:p>
            <a:pPr marL="0" indent="0">
              <a:buNone/>
            </a:pPr>
            <a:r>
              <a:rPr lang="en-US" sz="1800" b="1" dirty="0">
                <a:solidFill>
                  <a:srgbClr val="0B2D55"/>
                </a:solidFill>
                <a:latin typeface="Aptos" pitchFamily="34" charset="0"/>
                <a:ea typeface="Aptos" pitchFamily="34" charset="-122"/>
                <a:cs typeface="Aptos" pitchFamily="34" charset="-120"/>
              </a:rPr>
              <a:t>Actions</a:t>
            </a:r>
            <a:endParaRPr lang="en-US" sz="1800" dirty="0"/>
          </a:p>
        </p:txBody>
      </p:sp>
      <p:sp>
        <p:nvSpPr>
          <p:cNvPr id="11" name="Text 9"/>
          <p:cNvSpPr/>
          <p:nvPr/>
        </p:nvSpPr>
        <p:spPr>
          <a:xfrm>
            <a:off x="2971800" y="2670048"/>
            <a:ext cx="7863840" cy="274320"/>
          </a:xfrm>
          <a:prstGeom prst="rect">
            <a:avLst/>
          </a:prstGeom>
          <a:noFill/>
          <a:ln/>
        </p:spPr>
        <p:txBody>
          <a:bodyPr wrap="square" lIns="0" tIns="0" rIns="0" bIns="0" rtlCol="0" anchor="ctr">
            <a:normAutofit/>
          </a:bodyPr>
          <a:lstStyle/>
          <a:p>
            <a:pPr marL="0" indent="0">
              <a:buNone/>
            </a:pPr>
            <a:r>
              <a:rPr lang="en-US" sz="1800" dirty="0">
                <a:solidFill>
                  <a:srgbClr val="132033"/>
                </a:solidFill>
                <a:latin typeface="Aptos" pitchFamily="34" charset="0"/>
                <a:ea typeface="Aptos" pitchFamily="34" charset="-122"/>
                <a:cs typeface="Aptos" pitchFamily="34" charset="-120"/>
              </a:rPr>
              <a:t>move, collect sample, recharge, return</a:t>
            </a:r>
            <a:endParaRPr lang="en-US" sz="1800" dirty="0"/>
          </a:p>
        </p:txBody>
      </p:sp>
      <p:sp>
        <p:nvSpPr>
          <p:cNvPr id="12" name="Shape 10"/>
          <p:cNvSpPr/>
          <p:nvPr/>
        </p:nvSpPr>
        <p:spPr>
          <a:xfrm>
            <a:off x="914400" y="3429000"/>
            <a:ext cx="10332720" cy="749808"/>
          </a:xfrm>
          <a:prstGeom prst="roundRect">
            <a:avLst>
              <a:gd name="adj" fmla="val 9756"/>
            </a:avLst>
          </a:prstGeom>
          <a:solidFill>
            <a:srgbClr val="F4F8FC"/>
          </a:solidFill>
          <a:ln w="12700">
            <a:solidFill>
              <a:srgbClr val="B8C7D8"/>
            </a:solidFill>
            <a:prstDash val="solid"/>
          </a:ln>
        </p:spPr>
        <p:txBody>
          <a:bodyPr/>
          <a:lstStyle/>
          <a:p>
            <a:endParaRPr lang="en-US"/>
          </a:p>
        </p:txBody>
      </p:sp>
      <p:sp>
        <p:nvSpPr>
          <p:cNvPr id="13" name="Text 11"/>
          <p:cNvSpPr/>
          <p:nvPr/>
        </p:nvSpPr>
        <p:spPr>
          <a:xfrm>
            <a:off x="1143000" y="3630168"/>
            <a:ext cx="1645920" cy="274320"/>
          </a:xfrm>
          <a:prstGeom prst="rect">
            <a:avLst/>
          </a:prstGeom>
          <a:noFill/>
          <a:ln/>
        </p:spPr>
        <p:txBody>
          <a:bodyPr wrap="square" lIns="0" tIns="0" rIns="0" bIns="0" rtlCol="0" anchor="ctr">
            <a:normAutofit/>
          </a:bodyPr>
          <a:lstStyle/>
          <a:p>
            <a:pPr marL="0" indent="0">
              <a:buNone/>
            </a:pPr>
            <a:r>
              <a:rPr lang="en-US" sz="1800" b="1" dirty="0">
                <a:solidFill>
                  <a:srgbClr val="0B2D55"/>
                </a:solidFill>
                <a:latin typeface="Aptos" pitchFamily="34" charset="0"/>
                <a:ea typeface="Aptos" pitchFamily="34" charset="-122"/>
                <a:cs typeface="Aptos" pitchFamily="34" charset="-120"/>
              </a:rPr>
              <a:t>Goal test</a:t>
            </a:r>
            <a:endParaRPr lang="en-US" sz="1800" dirty="0"/>
          </a:p>
        </p:txBody>
      </p:sp>
      <p:sp>
        <p:nvSpPr>
          <p:cNvPr id="14" name="Text 12"/>
          <p:cNvSpPr/>
          <p:nvPr/>
        </p:nvSpPr>
        <p:spPr>
          <a:xfrm>
            <a:off x="2971800" y="3630168"/>
            <a:ext cx="7863840" cy="274320"/>
          </a:xfrm>
          <a:prstGeom prst="rect">
            <a:avLst/>
          </a:prstGeom>
          <a:noFill/>
          <a:ln/>
        </p:spPr>
        <p:txBody>
          <a:bodyPr wrap="square" lIns="0" tIns="0" rIns="0" bIns="0" rtlCol="0" anchor="ctr">
            <a:normAutofit/>
          </a:bodyPr>
          <a:lstStyle/>
          <a:p>
            <a:pPr marL="0" indent="0">
              <a:buNone/>
            </a:pPr>
            <a:r>
              <a:rPr lang="en-US" sz="1800" dirty="0">
                <a:solidFill>
                  <a:srgbClr val="132033"/>
                </a:solidFill>
                <a:latin typeface="Aptos" pitchFamily="34" charset="0"/>
                <a:ea typeface="Aptos" pitchFamily="34" charset="-122"/>
                <a:cs typeface="Aptos" pitchFamily="34" charset="-120"/>
              </a:rPr>
              <a:t>both samples collected AND rover at lander</a:t>
            </a:r>
            <a:endParaRPr lang="en-US" sz="1800" dirty="0"/>
          </a:p>
        </p:txBody>
      </p:sp>
      <p:sp>
        <p:nvSpPr>
          <p:cNvPr id="15" name="Shape 13"/>
          <p:cNvSpPr/>
          <p:nvPr/>
        </p:nvSpPr>
        <p:spPr>
          <a:xfrm>
            <a:off x="914400" y="4389120"/>
            <a:ext cx="10332720" cy="749808"/>
          </a:xfrm>
          <a:prstGeom prst="roundRect">
            <a:avLst>
              <a:gd name="adj" fmla="val 9756"/>
            </a:avLst>
          </a:prstGeom>
          <a:solidFill>
            <a:srgbClr val="FFFFFF"/>
          </a:solidFill>
          <a:ln w="12700">
            <a:solidFill>
              <a:srgbClr val="B8C7D8"/>
            </a:solidFill>
            <a:prstDash val="solid"/>
          </a:ln>
        </p:spPr>
        <p:txBody>
          <a:bodyPr/>
          <a:lstStyle/>
          <a:p>
            <a:endParaRPr lang="en-US"/>
          </a:p>
        </p:txBody>
      </p:sp>
      <p:sp>
        <p:nvSpPr>
          <p:cNvPr id="16" name="Text 14"/>
          <p:cNvSpPr/>
          <p:nvPr/>
        </p:nvSpPr>
        <p:spPr>
          <a:xfrm>
            <a:off x="1143000" y="4590288"/>
            <a:ext cx="1645920" cy="274320"/>
          </a:xfrm>
          <a:prstGeom prst="rect">
            <a:avLst/>
          </a:prstGeom>
          <a:noFill/>
          <a:ln/>
        </p:spPr>
        <p:txBody>
          <a:bodyPr wrap="square" lIns="0" tIns="0" rIns="0" bIns="0" rtlCol="0" anchor="ctr">
            <a:normAutofit/>
          </a:bodyPr>
          <a:lstStyle/>
          <a:p>
            <a:pPr marL="0" indent="0">
              <a:buNone/>
            </a:pPr>
            <a:r>
              <a:rPr lang="en-US" sz="1800" b="1" dirty="0">
                <a:solidFill>
                  <a:srgbClr val="0B2D55"/>
                </a:solidFill>
                <a:latin typeface="Aptos" pitchFamily="34" charset="0"/>
                <a:ea typeface="Aptos" pitchFamily="34" charset="-122"/>
                <a:cs typeface="Aptos" pitchFamily="34" charset="-120"/>
              </a:rPr>
              <a:t>Path cost</a:t>
            </a:r>
            <a:endParaRPr lang="en-US" sz="1800" dirty="0"/>
          </a:p>
        </p:txBody>
      </p:sp>
      <p:sp>
        <p:nvSpPr>
          <p:cNvPr id="17" name="Text 15"/>
          <p:cNvSpPr/>
          <p:nvPr/>
        </p:nvSpPr>
        <p:spPr>
          <a:xfrm>
            <a:off x="2971800" y="4590288"/>
            <a:ext cx="7863840" cy="274320"/>
          </a:xfrm>
          <a:prstGeom prst="rect">
            <a:avLst/>
          </a:prstGeom>
          <a:noFill/>
          <a:ln/>
        </p:spPr>
        <p:txBody>
          <a:bodyPr wrap="square" lIns="0" tIns="0" rIns="0" bIns="0" rtlCol="0" anchor="ctr">
            <a:normAutofit/>
          </a:bodyPr>
          <a:lstStyle/>
          <a:p>
            <a:pPr marL="0" indent="0">
              <a:buNone/>
            </a:pPr>
            <a:r>
              <a:rPr lang="en-US" sz="1800" dirty="0">
                <a:solidFill>
                  <a:srgbClr val="132033"/>
                </a:solidFill>
                <a:latin typeface="Aptos" pitchFamily="34" charset="0"/>
                <a:ea typeface="Aptos" pitchFamily="34" charset="-122"/>
                <a:cs typeface="Aptos" pitchFamily="34" charset="-120"/>
              </a:rPr>
              <a:t>total energy used, with hazard penalties</a:t>
            </a:r>
            <a:endParaRPr lang="en-US" sz="1800" dirty="0"/>
          </a:p>
        </p:txBody>
      </p:sp>
      <p:sp>
        <p:nvSpPr>
          <p:cNvPr id="18" name="Text 16"/>
          <p:cNvSpPr/>
          <p:nvPr/>
        </p:nvSpPr>
        <p:spPr>
          <a:xfrm>
            <a:off x="960120" y="5577840"/>
            <a:ext cx="10149840" cy="365760"/>
          </a:xfrm>
          <a:prstGeom prst="rect">
            <a:avLst/>
          </a:prstGeom>
          <a:noFill/>
          <a:ln/>
        </p:spPr>
        <p:txBody>
          <a:bodyPr wrap="square" lIns="0" tIns="0" rIns="0" bIns="0" rtlCol="0" anchor="ctr">
            <a:normAutofit/>
          </a:bodyPr>
          <a:lstStyle/>
          <a:p>
            <a:pPr marL="0" indent="0" algn="ctr">
              <a:buNone/>
            </a:pPr>
            <a:r>
              <a:rPr lang="en-US" sz="1800" b="1" dirty="0">
                <a:solidFill>
                  <a:srgbClr val="1D5FA7"/>
                </a:solidFill>
                <a:latin typeface="Aptos" pitchFamily="34" charset="0"/>
                <a:ea typeface="Aptos" pitchFamily="34" charset="-122"/>
                <a:cs typeface="Aptos" pitchFamily="34" charset="-120"/>
              </a:rPr>
              <a:t>This template is reusable across route planning, robotics, cyber response, scheduling, and games.</a:t>
            </a:r>
            <a:endParaRPr lang="en-US"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76072" y="566928"/>
            <a:ext cx="8412480" cy="475488"/>
          </a:xfrm>
          <a:prstGeom prst="rect">
            <a:avLst/>
          </a:prstGeom>
          <a:noFill/>
          <a:ln/>
        </p:spPr>
        <p:txBody>
          <a:bodyPr wrap="square" lIns="0" tIns="0" rIns="0" bIns="0" rtlCol="0" anchor="ctr">
            <a:normAutofit lnSpcReduction="10000"/>
          </a:bodyPr>
          <a:lstStyle/>
          <a:p>
            <a:pPr marL="0" indent="0">
              <a:buNone/>
            </a:pPr>
            <a:r>
              <a:rPr lang="en-US" sz="3400" b="1" dirty="0">
                <a:solidFill>
                  <a:srgbClr val="0B2D55"/>
                </a:solidFill>
                <a:latin typeface="Aptos Display" pitchFamily="34" charset="0"/>
                <a:ea typeface="Aptos Display" pitchFamily="34" charset="-122"/>
                <a:cs typeface="Aptos Display" pitchFamily="34" charset="-120"/>
              </a:rPr>
              <a:t>Representation changes the state space</a:t>
            </a:r>
            <a:endParaRPr lang="en-US" sz="3400" dirty="0"/>
          </a:p>
        </p:txBody>
      </p:sp>
      <p:sp>
        <p:nvSpPr>
          <p:cNvPr id="3" name="Text 1"/>
          <p:cNvSpPr/>
          <p:nvPr/>
        </p:nvSpPr>
        <p:spPr>
          <a:xfrm>
            <a:off x="594360" y="1051560"/>
            <a:ext cx="7315200" cy="292608"/>
          </a:xfrm>
          <a:prstGeom prst="rect">
            <a:avLst/>
          </a:prstGeom>
          <a:noFill/>
          <a:ln/>
        </p:spPr>
        <p:txBody>
          <a:bodyPr wrap="square" lIns="0" tIns="0" rIns="0" bIns="0" rtlCol="0" anchor="ctr">
            <a:normAutofit/>
          </a:bodyPr>
          <a:lstStyle/>
          <a:p>
            <a:pPr marL="0" indent="0">
              <a:buNone/>
            </a:pPr>
            <a:r>
              <a:rPr lang="en-US" sz="1500" dirty="0">
                <a:solidFill>
                  <a:srgbClr val="132033"/>
                </a:solidFill>
                <a:latin typeface="Aptos" pitchFamily="34" charset="0"/>
                <a:ea typeface="Aptos" pitchFamily="34" charset="-122"/>
                <a:cs typeface="Aptos" pitchFamily="34" charset="-120"/>
              </a:rPr>
              <a:t>More expressive representations create more possible states.</a:t>
            </a:r>
            <a:endParaRPr lang="en-US" sz="1500" dirty="0"/>
          </a:p>
        </p:txBody>
      </p:sp>
      <p:sp>
        <p:nvSpPr>
          <p:cNvPr id="4" name="Text 2"/>
          <p:cNvSpPr/>
          <p:nvPr/>
        </p:nvSpPr>
        <p:spPr>
          <a:xfrm>
            <a:off x="502920" y="6528816"/>
            <a:ext cx="4937760" cy="201168"/>
          </a:xfrm>
          <a:prstGeom prst="rect">
            <a:avLst/>
          </a:prstGeom>
          <a:noFill/>
          <a:ln/>
        </p:spPr>
        <p:txBody>
          <a:bodyPr wrap="square" lIns="0" tIns="0" rIns="0" bIns="0" rtlCol="0" anchor="ctr">
            <a:normAutofit/>
          </a:bodyPr>
          <a:lstStyle/>
          <a:p>
            <a:pPr marL="0" indent="0">
              <a:buNone/>
            </a:pPr>
            <a:r>
              <a:rPr lang="en-US" sz="850" dirty="0">
                <a:solidFill>
                  <a:srgbClr val="6D7C8F"/>
                </a:solidFill>
                <a:latin typeface="Aptos" pitchFamily="34" charset="0"/>
                <a:ea typeface="Aptos" pitchFamily="34" charset="-122"/>
                <a:cs typeface="Aptos" pitchFamily="34" charset="-120"/>
              </a:rPr>
              <a:t>CS 471  |  L04: Problem Formulation</a:t>
            </a:r>
            <a:endParaRPr lang="en-US" sz="850" dirty="0"/>
          </a:p>
        </p:txBody>
      </p:sp>
      <p:sp>
        <p:nvSpPr>
          <p:cNvPr id="5" name="Text 3"/>
          <p:cNvSpPr/>
          <p:nvPr/>
        </p:nvSpPr>
        <p:spPr>
          <a:xfrm>
            <a:off x="11402568" y="6528816"/>
            <a:ext cx="320040" cy="201168"/>
          </a:xfrm>
          <a:prstGeom prst="rect">
            <a:avLst/>
          </a:prstGeom>
          <a:noFill/>
          <a:ln/>
        </p:spPr>
        <p:txBody>
          <a:bodyPr wrap="square" lIns="0" tIns="0" rIns="0" bIns="0" rtlCol="0" anchor="ctr">
            <a:normAutofit/>
          </a:bodyPr>
          <a:lstStyle/>
          <a:p>
            <a:pPr marL="0" indent="0" algn="r">
              <a:buNone/>
            </a:pPr>
            <a:r>
              <a:rPr lang="en-US" sz="850" dirty="0">
                <a:solidFill>
                  <a:srgbClr val="6D7C8F"/>
                </a:solidFill>
                <a:latin typeface="Aptos" pitchFamily="34" charset="0"/>
                <a:ea typeface="Aptos" pitchFamily="34" charset="-122"/>
                <a:cs typeface="Aptos" pitchFamily="34" charset="-120"/>
              </a:rPr>
              <a:t>13</a:t>
            </a:r>
            <a:endParaRPr lang="en-US" sz="850" dirty="0"/>
          </a:p>
        </p:txBody>
      </p:sp>
      <p:sp>
        <p:nvSpPr>
          <p:cNvPr id="6" name="Shape 4"/>
          <p:cNvSpPr/>
          <p:nvPr/>
        </p:nvSpPr>
        <p:spPr>
          <a:xfrm>
            <a:off x="914400" y="1645920"/>
            <a:ext cx="4206240" cy="822960"/>
          </a:xfrm>
          <a:prstGeom prst="roundRect">
            <a:avLst>
              <a:gd name="adj" fmla="val 8889"/>
            </a:avLst>
          </a:prstGeom>
          <a:solidFill>
            <a:srgbClr val="FFFFFF"/>
          </a:solidFill>
          <a:ln w="12700">
            <a:solidFill>
              <a:srgbClr val="B8C7D8"/>
            </a:solidFill>
            <a:prstDash val="solid"/>
          </a:ln>
          <a:effectLst>
            <a:outerShdw blurRad="12700" dist="50800" dir="2700000" algn="bl" rotWithShape="0">
              <a:srgbClr val="D4DEE8">
                <a:alpha val="25000"/>
              </a:srgbClr>
            </a:outerShdw>
          </a:effectLst>
        </p:spPr>
        <p:txBody>
          <a:bodyPr/>
          <a:lstStyle/>
          <a:p>
            <a:endParaRPr lang="en-US" sz="2800"/>
          </a:p>
        </p:txBody>
      </p:sp>
      <p:sp>
        <p:nvSpPr>
          <p:cNvPr id="7" name="Shape 5"/>
          <p:cNvSpPr/>
          <p:nvPr/>
        </p:nvSpPr>
        <p:spPr>
          <a:xfrm>
            <a:off x="914400" y="1645920"/>
            <a:ext cx="73152" cy="822960"/>
          </a:xfrm>
          <a:prstGeom prst="rect">
            <a:avLst/>
          </a:prstGeom>
          <a:solidFill>
            <a:srgbClr val="D94E4E"/>
          </a:solidFill>
          <a:ln w="12700">
            <a:solidFill>
              <a:srgbClr val="D94E4E"/>
            </a:solidFill>
            <a:prstDash val="solid"/>
          </a:ln>
        </p:spPr>
        <p:txBody>
          <a:bodyPr/>
          <a:lstStyle/>
          <a:p>
            <a:endParaRPr lang="en-US" sz="2800"/>
          </a:p>
        </p:txBody>
      </p:sp>
      <p:sp>
        <p:nvSpPr>
          <p:cNvPr id="8" name="Text 6"/>
          <p:cNvSpPr/>
          <p:nvPr/>
        </p:nvSpPr>
        <p:spPr>
          <a:xfrm>
            <a:off x="1097280" y="1792224"/>
            <a:ext cx="3886200" cy="256032"/>
          </a:xfrm>
          <a:prstGeom prst="rect">
            <a:avLst/>
          </a:prstGeom>
          <a:noFill/>
          <a:ln/>
        </p:spPr>
        <p:txBody>
          <a:bodyPr wrap="square" lIns="0" tIns="0" rIns="0" bIns="0" rtlCol="0" anchor="ctr">
            <a:noAutofit/>
          </a:bodyPr>
          <a:lstStyle/>
          <a:p>
            <a:pPr marL="0" indent="0">
              <a:buNone/>
            </a:pPr>
            <a:r>
              <a:rPr lang="en-US" sz="2000" b="1" dirty="0">
                <a:solidFill>
                  <a:srgbClr val="0B2D55"/>
                </a:solidFill>
                <a:latin typeface="Aptos" pitchFamily="34" charset="0"/>
                <a:ea typeface="Aptos" pitchFamily="34" charset="-122"/>
                <a:cs typeface="Aptos" pitchFamily="34" charset="-120"/>
              </a:rPr>
              <a:t>Location only</a:t>
            </a:r>
            <a:endParaRPr lang="en-US" sz="2000" dirty="0"/>
          </a:p>
        </p:txBody>
      </p:sp>
      <p:sp>
        <p:nvSpPr>
          <p:cNvPr id="9" name="Text 7"/>
          <p:cNvSpPr/>
          <p:nvPr/>
        </p:nvSpPr>
        <p:spPr>
          <a:xfrm>
            <a:off x="1097280" y="2130552"/>
            <a:ext cx="3886200" cy="228600"/>
          </a:xfrm>
          <a:prstGeom prst="rect">
            <a:avLst/>
          </a:prstGeom>
          <a:noFill/>
          <a:ln/>
        </p:spPr>
        <p:txBody>
          <a:bodyPr wrap="square" lIns="0" tIns="0" rIns="0" bIns="0" rtlCol="0" anchor="ctr">
            <a:noAutofit/>
          </a:bodyPr>
          <a:lstStyle/>
          <a:p>
            <a:pPr marL="0" indent="0">
              <a:buNone/>
            </a:pPr>
            <a:r>
              <a:rPr lang="en-US" sz="1100" dirty="0">
                <a:solidFill>
                  <a:srgbClr val="132033"/>
                </a:solidFill>
                <a:latin typeface="Aptos" pitchFamily="34" charset="0"/>
                <a:ea typeface="Aptos" pitchFamily="34" charset="-122"/>
                <a:cs typeface="Aptos" pitchFamily="34" charset="-120"/>
              </a:rPr>
              <a:t>6 locations</a:t>
            </a:r>
            <a:endParaRPr lang="en-US" sz="1100" dirty="0"/>
          </a:p>
          <a:p>
            <a:pPr marL="0" indent="0">
              <a:buNone/>
            </a:pPr>
            <a:r>
              <a:rPr lang="en-US" sz="1100" dirty="0">
                <a:solidFill>
                  <a:srgbClr val="132033"/>
                </a:solidFill>
                <a:latin typeface="Aptos" pitchFamily="34" charset="0"/>
                <a:ea typeface="Aptos" pitchFamily="34" charset="-122"/>
                <a:cs typeface="Aptos" pitchFamily="34" charset="-120"/>
              </a:rPr>
              <a:t>6 states</a:t>
            </a:r>
            <a:endParaRPr lang="en-US" sz="1100" dirty="0"/>
          </a:p>
        </p:txBody>
      </p:sp>
      <p:sp>
        <p:nvSpPr>
          <p:cNvPr id="10" name="Shape 8"/>
          <p:cNvSpPr/>
          <p:nvPr/>
        </p:nvSpPr>
        <p:spPr>
          <a:xfrm>
            <a:off x="914400" y="2788920"/>
            <a:ext cx="4206240" cy="822960"/>
          </a:xfrm>
          <a:prstGeom prst="roundRect">
            <a:avLst>
              <a:gd name="adj" fmla="val 8889"/>
            </a:avLst>
          </a:prstGeom>
          <a:solidFill>
            <a:srgbClr val="FFFFFF"/>
          </a:solidFill>
          <a:ln w="12700">
            <a:solidFill>
              <a:srgbClr val="B8C7D8"/>
            </a:solidFill>
            <a:prstDash val="solid"/>
          </a:ln>
          <a:effectLst>
            <a:outerShdw blurRad="12700" dist="50800" dir="2700000" algn="bl" rotWithShape="0">
              <a:srgbClr val="D4DEE8">
                <a:alpha val="25000"/>
              </a:srgbClr>
            </a:outerShdw>
          </a:effectLst>
        </p:spPr>
        <p:txBody>
          <a:bodyPr/>
          <a:lstStyle/>
          <a:p>
            <a:endParaRPr lang="en-US" sz="2800"/>
          </a:p>
        </p:txBody>
      </p:sp>
      <p:sp>
        <p:nvSpPr>
          <p:cNvPr id="11" name="Shape 9"/>
          <p:cNvSpPr/>
          <p:nvPr/>
        </p:nvSpPr>
        <p:spPr>
          <a:xfrm>
            <a:off x="914400" y="2788920"/>
            <a:ext cx="73152" cy="822960"/>
          </a:xfrm>
          <a:prstGeom prst="rect">
            <a:avLst/>
          </a:prstGeom>
          <a:solidFill>
            <a:srgbClr val="F2C14E"/>
          </a:solidFill>
          <a:ln w="12700">
            <a:solidFill>
              <a:srgbClr val="F2C14E"/>
            </a:solidFill>
            <a:prstDash val="solid"/>
          </a:ln>
        </p:spPr>
        <p:txBody>
          <a:bodyPr/>
          <a:lstStyle/>
          <a:p>
            <a:endParaRPr lang="en-US" sz="2800"/>
          </a:p>
        </p:txBody>
      </p:sp>
      <p:sp>
        <p:nvSpPr>
          <p:cNvPr id="12" name="Text 10"/>
          <p:cNvSpPr/>
          <p:nvPr/>
        </p:nvSpPr>
        <p:spPr>
          <a:xfrm>
            <a:off x="1097280" y="2935224"/>
            <a:ext cx="3886200" cy="256032"/>
          </a:xfrm>
          <a:prstGeom prst="rect">
            <a:avLst/>
          </a:prstGeom>
          <a:noFill/>
          <a:ln/>
        </p:spPr>
        <p:txBody>
          <a:bodyPr wrap="square" lIns="0" tIns="0" rIns="0" bIns="0" rtlCol="0" anchor="ctr">
            <a:noAutofit/>
          </a:bodyPr>
          <a:lstStyle/>
          <a:p>
            <a:pPr marL="0" indent="0">
              <a:buNone/>
            </a:pPr>
            <a:r>
              <a:rPr lang="en-US" sz="2000" b="1" dirty="0">
                <a:solidFill>
                  <a:srgbClr val="0B2D55"/>
                </a:solidFill>
                <a:latin typeface="Aptos" pitchFamily="34" charset="0"/>
                <a:ea typeface="Aptos" pitchFamily="34" charset="-122"/>
                <a:cs typeface="Aptos" pitchFamily="34" charset="-120"/>
              </a:rPr>
              <a:t>Add samples</a:t>
            </a:r>
            <a:endParaRPr lang="en-US" sz="2000" dirty="0"/>
          </a:p>
        </p:txBody>
      </p:sp>
      <p:sp>
        <p:nvSpPr>
          <p:cNvPr id="13" name="Text 11"/>
          <p:cNvSpPr/>
          <p:nvPr/>
        </p:nvSpPr>
        <p:spPr>
          <a:xfrm>
            <a:off x="1097280" y="3273552"/>
            <a:ext cx="3886200" cy="228600"/>
          </a:xfrm>
          <a:prstGeom prst="rect">
            <a:avLst/>
          </a:prstGeom>
          <a:noFill/>
          <a:ln/>
        </p:spPr>
        <p:txBody>
          <a:bodyPr wrap="square" lIns="0" tIns="0" rIns="0" bIns="0" rtlCol="0" anchor="ctr">
            <a:noAutofit/>
          </a:bodyPr>
          <a:lstStyle/>
          <a:p>
            <a:pPr marL="0" indent="0">
              <a:buNone/>
            </a:pPr>
            <a:r>
              <a:rPr lang="en-US" sz="1100" dirty="0">
                <a:solidFill>
                  <a:srgbClr val="132033"/>
                </a:solidFill>
                <a:latin typeface="Aptos" pitchFamily="34" charset="0"/>
                <a:ea typeface="Aptos" pitchFamily="34" charset="-122"/>
                <a:cs typeface="Aptos" pitchFamily="34" charset="-120"/>
              </a:rPr>
              <a:t>6 × 4 sample statuses</a:t>
            </a:r>
            <a:endParaRPr lang="en-US" sz="1100" dirty="0"/>
          </a:p>
          <a:p>
            <a:pPr marL="0" indent="0">
              <a:buNone/>
            </a:pPr>
            <a:r>
              <a:rPr lang="en-US" sz="1100" dirty="0">
                <a:solidFill>
                  <a:srgbClr val="132033"/>
                </a:solidFill>
                <a:latin typeface="Aptos" pitchFamily="34" charset="0"/>
                <a:ea typeface="Aptos" pitchFamily="34" charset="-122"/>
                <a:cs typeface="Aptos" pitchFamily="34" charset="-120"/>
              </a:rPr>
              <a:t>24 states</a:t>
            </a:r>
            <a:endParaRPr lang="en-US" sz="1100" dirty="0"/>
          </a:p>
        </p:txBody>
      </p:sp>
      <p:sp>
        <p:nvSpPr>
          <p:cNvPr id="14" name="Shape 12"/>
          <p:cNvSpPr/>
          <p:nvPr/>
        </p:nvSpPr>
        <p:spPr>
          <a:xfrm>
            <a:off x="914400" y="3931920"/>
            <a:ext cx="4206240" cy="822960"/>
          </a:xfrm>
          <a:prstGeom prst="roundRect">
            <a:avLst>
              <a:gd name="adj" fmla="val 8889"/>
            </a:avLst>
          </a:prstGeom>
          <a:solidFill>
            <a:srgbClr val="FFFFFF"/>
          </a:solidFill>
          <a:ln w="12700">
            <a:solidFill>
              <a:srgbClr val="B8C7D8"/>
            </a:solidFill>
            <a:prstDash val="solid"/>
          </a:ln>
          <a:effectLst>
            <a:outerShdw blurRad="12700" dist="50800" dir="2700000" algn="bl" rotWithShape="0">
              <a:srgbClr val="D4DEE8">
                <a:alpha val="25000"/>
              </a:srgbClr>
            </a:outerShdw>
          </a:effectLst>
        </p:spPr>
        <p:txBody>
          <a:bodyPr/>
          <a:lstStyle/>
          <a:p>
            <a:endParaRPr lang="en-US" sz="2800"/>
          </a:p>
        </p:txBody>
      </p:sp>
      <p:sp>
        <p:nvSpPr>
          <p:cNvPr id="15" name="Shape 13"/>
          <p:cNvSpPr/>
          <p:nvPr/>
        </p:nvSpPr>
        <p:spPr>
          <a:xfrm>
            <a:off x="914400" y="3931920"/>
            <a:ext cx="73152" cy="822960"/>
          </a:xfrm>
          <a:prstGeom prst="rect">
            <a:avLst/>
          </a:prstGeom>
          <a:solidFill>
            <a:srgbClr val="39A875"/>
          </a:solidFill>
          <a:ln w="12700">
            <a:solidFill>
              <a:srgbClr val="39A875"/>
            </a:solidFill>
            <a:prstDash val="solid"/>
          </a:ln>
        </p:spPr>
        <p:txBody>
          <a:bodyPr/>
          <a:lstStyle/>
          <a:p>
            <a:endParaRPr lang="en-US" sz="2800"/>
          </a:p>
        </p:txBody>
      </p:sp>
      <p:sp>
        <p:nvSpPr>
          <p:cNvPr id="16" name="Text 14"/>
          <p:cNvSpPr/>
          <p:nvPr/>
        </p:nvSpPr>
        <p:spPr>
          <a:xfrm>
            <a:off x="1097280" y="4078224"/>
            <a:ext cx="3886200" cy="256032"/>
          </a:xfrm>
          <a:prstGeom prst="rect">
            <a:avLst/>
          </a:prstGeom>
          <a:noFill/>
          <a:ln/>
        </p:spPr>
        <p:txBody>
          <a:bodyPr wrap="square" lIns="0" tIns="0" rIns="0" bIns="0" rtlCol="0" anchor="ctr">
            <a:noAutofit/>
          </a:bodyPr>
          <a:lstStyle/>
          <a:p>
            <a:pPr marL="0" indent="0">
              <a:buNone/>
            </a:pPr>
            <a:r>
              <a:rPr lang="en-US" sz="2000" b="1" dirty="0">
                <a:solidFill>
                  <a:srgbClr val="0B2D55"/>
                </a:solidFill>
                <a:latin typeface="Aptos" pitchFamily="34" charset="0"/>
                <a:ea typeface="Aptos" pitchFamily="34" charset="-122"/>
                <a:cs typeface="Aptos" pitchFamily="34" charset="-120"/>
              </a:rPr>
              <a:t>Add battery</a:t>
            </a:r>
            <a:endParaRPr lang="en-US" sz="2000" dirty="0"/>
          </a:p>
        </p:txBody>
      </p:sp>
      <p:sp>
        <p:nvSpPr>
          <p:cNvPr id="17" name="Text 15"/>
          <p:cNvSpPr/>
          <p:nvPr/>
        </p:nvSpPr>
        <p:spPr>
          <a:xfrm>
            <a:off x="1097280" y="4416552"/>
            <a:ext cx="3886200" cy="228600"/>
          </a:xfrm>
          <a:prstGeom prst="rect">
            <a:avLst/>
          </a:prstGeom>
          <a:noFill/>
          <a:ln/>
        </p:spPr>
        <p:txBody>
          <a:bodyPr wrap="square" lIns="0" tIns="0" rIns="0" bIns="0" rtlCol="0" anchor="ctr">
            <a:noAutofit/>
          </a:bodyPr>
          <a:lstStyle/>
          <a:p>
            <a:pPr marL="0" indent="0">
              <a:buNone/>
            </a:pPr>
            <a:r>
              <a:rPr lang="en-US" sz="1100" dirty="0">
                <a:solidFill>
                  <a:srgbClr val="132033"/>
                </a:solidFill>
                <a:latin typeface="Aptos" pitchFamily="34" charset="0"/>
                <a:ea typeface="Aptos" pitchFamily="34" charset="-122"/>
                <a:cs typeface="Aptos" pitchFamily="34" charset="-120"/>
              </a:rPr>
              <a:t>6 × 4 × 3 battery categories</a:t>
            </a:r>
            <a:endParaRPr lang="en-US" sz="1100" dirty="0"/>
          </a:p>
          <a:p>
            <a:pPr marL="0" indent="0">
              <a:buNone/>
            </a:pPr>
            <a:r>
              <a:rPr lang="en-US" sz="1100" dirty="0">
                <a:solidFill>
                  <a:srgbClr val="132033"/>
                </a:solidFill>
                <a:latin typeface="Aptos" pitchFamily="34" charset="0"/>
                <a:ea typeface="Aptos" pitchFamily="34" charset="-122"/>
                <a:cs typeface="Aptos" pitchFamily="34" charset="-120"/>
              </a:rPr>
              <a:t>72 states</a:t>
            </a:r>
            <a:endParaRPr lang="en-US" sz="1100" dirty="0"/>
          </a:p>
        </p:txBody>
      </p:sp>
      <p:sp>
        <p:nvSpPr>
          <p:cNvPr id="18" name="Shape 16"/>
          <p:cNvSpPr/>
          <p:nvPr/>
        </p:nvSpPr>
        <p:spPr>
          <a:xfrm>
            <a:off x="5440680" y="2926080"/>
            <a:ext cx="1097280" cy="0"/>
          </a:xfrm>
          <a:prstGeom prst="line">
            <a:avLst/>
          </a:prstGeom>
          <a:noFill/>
          <a:ln w="25400">
            <a:solidFill>
              <a:srgbClr val="1D5FA7"/>
            </a:solidFill>
            <a:prstDash val="solid"/>
            <a:headEnd type="none"/>
            <a:tailEnd type="triangle"/>
          </a:ln>
        </p:spPr>
        <p:txBody>
          <a:bodyPr/>
          <a:lstStyle/>
          <a:p>
            <a:endParaRPr lang="en-US"/>
          </a:p>
        </p:txBody>
      </p:sp>
      <p:sp>
        <p:nvSpPr>
          <p:cNvPr id="19" name="Shape 17"/>
          <p:cNvSpPr/>
          <p:nvPr/>
        </p:nvSpPr>
        <p:spPr>
          <a:xfrm>
            <a:off x="6720840" y="1965960"/>
            <a:ext cx="4069080" cy="2057400"/>
          </a:xfrm>
          <a:prstGeom prst="roundRect">
            <a:avLst>
              <a:gd name="adj" fmla="val 3556"/>
            </a:avLst>
          </a:prstGeom>
          <a:solidFill>
            <a:srgbClr val="DCEEFF"/>
          </a:solidFill>
          <a:ln w="12700">
            <a:solidFill>
              <a:srgbClr val="1D5FA7"/>
            </a:solidFill>
            <a:prstDash val="solid"/>
          </a:ln>
          <a:effectLst>
            <a:outerShdw blurRad="12700" dist="50800" dir="2700000" algn="bl" rotWithShape="0">
              <a:srgbClr val="D4DEE8">
                <a:alpha val="25000"/>
              </a:srgbClr>
            </a:outerShdw>
          </a:effectLst>
        </p:spPr>
        <p:txBody>
          <a:bodyPr/>
          <a:lstStyle/>
          <a:p>
            <a:endParaRPr lang="en-US"/>
          </a:p>
        </p:txBody>
      </p:sp>
      <p:sp>
        <p:nvSpPr>
          <p:cNvPr id="20" name="Text 18"/>
          <p:cNvSpPr/>
          <p:nvPr/>
        </p:nvSpPr>
        <p:spPr>
          <a:xfrm>
            <a:off x="6995160" y="2331720"/>
            <a:ext cx="3520440" cy="347472"/>
          </a:xfrm>
          <a:prstGeom prst="rect">
            <a:avLst/>
          </a:prstGeom>
          <a:noFill/>
          <a:ln/>
        </p:spPr>
        <p:txBody>
          <a:bodyPr wrap="square" lIns="0" tIns="0" rIns="0" bIns="0" rtlCol="0" anchor="ctr">
            <a:normAutofit fontScale="92500"/>
          </a:bodyPr>
          <a:lstStyle/>
          <a:p>
            <a:pPr marL="0" indent="0" algn="ctr">
              <a:buNone/>
            </a:pPr>
            <a:r>
              <a:rPr lang="en-US" sz="2400" b="1" dirty="0">
                <a:solidFill>
                  <a:srgbClr val="0B2D55"/>
                </a:solidFill>
                <a:latin typeface="Aptos" pitchFamily="34" charset="0"/>
                <a:ea typeface="Aptos" pitchFamily="34" charset="-122"/>
                <a:cs typeface="Aptos" pitchFamily="34" charset="-120"/>
              </a:rPr>
              <a:t>Bigger is not always worse.</a:t>
            </a:r>
            <a:endParaRPr lang="en-US" sz="2400" dirty="0"/>
          </a:p>
        </p:txBody>
      </p:sp>
      <p:sp>
        <p:nvSpPr>
          <p:cNvPr id="21" name="Text 19"/>
          <p:cNvSpPr/>
          <p:nvPr/>
        </p:nvSpPr>
        <p:spPr>
          <a:xfrm>
            <a:off x="6995160" y="2926080"/>
            <a:ext cx="3520440" cy="640080"/>
          </a:xfrm>
          <a:prstGeom prst="rect">
            <a:avLst/>
          </a:prstGeom>
          <a:noFill/>
          <a:ln/>
        </p:spPr>
        <p:txBody>
          <a:bodyPr wrap="square" lIns="0" tIns="0" rIns="0" bIns="0" rtlCol="0" anchor="ctr">
            <a:normAutofit fontScale="92500"/>
          </a:bodyPr>
          <a:lstStyle/>
          <a:p>
            <a:pPr marL="0" indent="0" algn="ctr">
              <a:buNone/>
            </a:pPr>
            <a:r>
              <a:rPr lang="en-US" sz="1700" dirty="0">
                <a:solidFill>
                  <a:srgbClr val="132033"/>
                </a:solidFill>
                <a:latin typeface="Aptos" pitchFamily="34" charset="0"/>
                <a:ea typeface="Aptos" pitchFamily="34" charset="-122"/>
                <a:cs typeface="Aptos" pitchFamily="34" charset="-120"/>
              </a:rPr>
              <a:t>The question is whether the added state detail supports correct decisions.</a:t>
            </a:r>
            <a:endParaRPr lang="en-US" sz="1700" dirty="0"/>
          </a:p>
        </p:txBody>
      </p:sp>
      <p:sp>
        <p:nvSpPr>
          <p:cNvPr id="22" name="Text 20"/>
          <p:cNvSpPr/>
          <p:nvPr/>
        </p:nvSpPr>
        <p:spPr>
          <a:xfrm>
            <a:off x="960120" y="5212080"/>
            <a:ext cx="10149840" cy="411480"/>
          </a:xfrm>
          <a:prstGeom prst="rect">
            <a:avLst/>
          </a:prstGeom>
          <a:noFill/>
          <a:ln/>
        </p:spPr>
        <p:txBody>
          <a:bodyPr wrap="square" lIns="0" tIns="0" rIns="0" bIns="0" rtlCol="0" anchor="ctr">
            <a:normAutofit fontScale="92500"/>
          </a:bodyPr>
          <a:lstStyle/>
          <a:p>
            <a:pPr marL="0" indent="0" algn="ctr">
              <a:buNone/>
            </a:pPr>
            <a:r>
              <a:rPr lang="en-US" sz="2100" b="1" dirty="0">
                <a:solidFill>
                  <a:srgbClr val="0B2D55"/>
                </a:solidFill>
                <a:latin typeface="Aptos" pitchFamily="34" charset="0"/>
                <a:ea typeface="Aptos" pitchFamily="34" charset="-122"/>
                <a:cs typeface="Aptos" pitchFamily="34" charset="-120"/>
              </a:rPr>
              <a:t>Richer models may be necessary, but unnecessary detail increases search difficulty.</a:t>
            </a:r>
            <a:endParaRPr lang="en-US" sz="2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76072" y="566928"/>
            <a:ext cx="8412480" cy="475488"/>
          </a:xfrm>
          <a:prstGeom prst="rect">
            <a:avLst/>
          </a:prstGeom>
          <a:noFill/>
          <a:ln/>
        </p:spPr>
        <p:txBody>
          <a:bodyPr wrap="square" lIns="0" tIns="0" rIns="0" bIns="0" rtlCol="0" anchor="ctr">
            <a:normAutofit lnSpcReduction="10000"/>
          </a:bodyPr>
          <a:lstStyle/>
          <a:p>
            <a:pPr marL="0" indent="0">
              <a:buNone/>
            </a:pPr>
            <a:r>
              <a:rPr lang="en-US" sz="3400" b="1" dirty="0">
                <a:solidFill>
                  <a:srgbClr val="0B2D55"/>
                </a:solidFill>
                <a:latin typeface="Aptos Display" pitchFamily="34" charset="0"/>
                <a:ea typeface="Aptos Display" pitchFamily="34" charset="-122"/>
                <a:cs typeface="Aptos Display" pitchFamily="34" charset="-120"/>
              </a:rPr>
              <a:t>The representation tradeoff</a:t>
            </a:r>
            <a:endParaRPr lang="en-US" sz="3400" dirty="0"/>
          </a:p>
        </p:txBody>
      </p:sp>
      <p:sp>
        <p:nvSpPr>
          <p:cNvPr id="3" name="Text 1"/>
          <p:cNvSpPr/>
          <p:nvPr/>
        </p:nvSpPr>
        <p:spPr>
          <a:xfrm>
            <a:off x="594360" y="1051560"/>
            <a:ext cx="7315200" cy="292608"/>
          </a:xfrm>
          <a:prstGeom prst="rect">
            <a:avLst/>
          </a:prstGeom>
          <a:noFill/>
          <a:ln/>
        </p:spPr>
        <p:txBody>
          <a:bodyPr wrap="square" lIns="0" tIns="0" rIns="0" bIns="0" rtlCol="0" anchor="ctr">
            <a:normAutofit/>
          </a:bodyPr>
          <a:lstStyle/>
          <a:p>
            <a:pPr marL="0" indent="0">
              <a:buNone/>
            </a:pPr>
            <a:r>
              <a:rPr lang="en-US" sz="1500" dirty="0">
                <a:solidFill>
                  <a:srgbClr val="132033"/>
                </a:solidFill>
                <a:latin typeface="Aptos" pitchFamily="34" charset="0"/>
                <a:ea typeface="Aptos" pitchFamily="34" charset="-122"/>
                <a:cs typeface="Aptos" pitchFamily="34" charset="-120"/>
              </a:rPr>
              <a:t>Good abstraction preserves what matters and removes what does not.</a:t>
            </a:r>
            <a:endParaRPr lang="en-US" sz="1500" dirty="0"/>
          </a:p>
        </p:txBody>
      </p:sp>
      <p:sp>
        <p:nvSpPr>
          <p:cNvPr id="4" name="Text 2"/>
          <p:cNvSpPr/>
          <p:nvPr/>
        </p:nvSpPr>
        <p:spPr>
          <a:xfrm>
            <a:off x="502920" y="6528816"/>
            <a:ext cx="4937760" cy="201168"/>
          </a:xfrm>
          <a:prstGeom prst="rect">
            <a:avLst/>
          </a:prstGeom>
          <a:noFill/>
          <a:ln/>
        </p:spPr>
        <p:txBody>
          <a:bodyPr wrap="square" lIns="0" tIns="0" rIns="0" bIns="0" rtlCol="0" anchor="ctr">
            <a:normAutofit/>
          </a:bodyPr>
          <a:lstStyle/>
          <a:p>
            <a:pPr marL="0" indent="0">
              <a:buNone/>
            </a:pPr>
            <a:r>
              <a:rPr lang="en-US" sz="850" dirty="0">
                <a:solidFill>
                  <a:srgbClr val="6D7C8F"/>
                </a:solidFill>
                <a:latin typeface="Aptos" pitchFamily="34" charset="0"/>
                <a:ea typeface="Aptos" pitchFamily="34" charset="-122"/>
                <a:cs typeface="Aptos" pitchFamily="34" charset="-120"/>
              </a:rPr>
              <a:t>CS 471  |  L04: Problem Formulation</a:t>
            </a:r>
            <a:endParaRPr lang="en-US" sz="850" dirty="0"/>
          </a:p>
        </p:txBody>
      </p:sp>
      <p:sp>
        <p:nvSpPr>
          <p:cNvPr id="5" name="Text 3"/>
          <p:cNvSpPr/>
          <p:nvPr/>
        </p:nvSpPr>
        <p:spPr>
          <a:xfrm>
            <a:off x="11402568" y="6528816"/>
            <a:ext cx="320040" cy="201168"/>
          </a:xfrm>
          <a:prstGeom prst="rect">
            <a:avLst/>
          </a:prstGeom>
          <a:noFill/>
          <a:ln/>
        </p:spPr>
        <p:txBody>
          <a:bodyPr wrap="square" lIns="0" tIns="0" rIns="0" bIns="0" rtlCol="0" anchor="ctr">
            <a:normAutofit/>
          </a:bodyPr>
          <a:lstStyle/>
          <a:p>
            <a:pPr marL="0" indent="0" algn="r">
              <a:buNone/>
            </a:pPr>
            <a:r>
              <a:rPr lang="en-US" sz="850" dirty="0">
                <a:solidFill>
                  <a:srgbClr val="6D7C8F"/>
                </a:solidFill>
                <a:latin typeface="Aptos" pitchFamily="34" charset="0"/>
                <a:ea typeface="Aptos" pitchFamily="34" charset="-122"/>
                <a:cs typeface="Aptos" pitchFamily="34" charset="-120"/>
              </a:rPr>
              <a:t>14</a:t>
            </a:r>
            <a:endParaRPr lang="en-US" sz="850" dirty="0"/>
          </a:p>
        </p:txBody>
      </p:sp>
      <p:sp>
        <p:nvSpPr>
          <p:cNvPr id="6" name="Text 4"/>
          <p:cNvSpPr/>
          <p:nvPr/>
        </p:nvSpPr>
        <p:spPr>
          <a:xfrm>
            <a:off x="914400" y="2356756"/>
            <a:ext cx="2377440" cy="320040"/>
          </a:xfrm>
          <a:prstGeom prst="rect">
            <a:avLst/>
          </a:prstGeom>
          <a:noFill/>
          <a:ln/>
        </p:spPr>
        <p:txBody>
          <a:bodyPr wrap="square" lIns="0" tIns="0" rIns="0" bIns="0" rtlCol="0" anchor="ctr">
            <a:normAutofit fontScale="92500" lnSpcReduction="10000"/>
          </a:bodyPr>
          <a:lstStyle/>
          <a:p>
            <a:pPr marL="0" indent="0" algn="ctr">
              <a:buNone/>
            </a:pPr>
            <a:r>
              <a:rPr lang="en-US" sz="2400" b="1" dirty="0">
                <a:solidFill>
                  <a:srgbClr val="D94E4E"/>
                </a:solidFill>
                <a:latin typeface="Aptos" pitchFamily="34" charset="0"/>
                <a:ea typeface="Aptos" pitchFamily="34" charset="-122"/>
                <a:cs typeface="Aptos" pitchFamily="34" charset="-120"/>
              </a:rPr>
              <a:t>Too simple</a:t>
            </a:r>
            <a:endParaRPr lang="en-US" sz="2400" dirty="0"/>
          </a:p>
        </p:txBody>
      </p:sp>
      <p:sp>
        <p:nvSpPr>
          <p:cNvPr id="7" name="Text 5"/>
          <p:cNvSpPr/>
          <p:nvPr/>
        </p:nvSpPr>
        <p:spPr>
          <a:xfrm>
            <a:off x="731520" y="2813956"/>
            <a:ext cx="2743200" cy="457200"/>
          </a:xfrm>
          <a:prstGeom prst="rect">
            <a:avLst/>
          </a:prstGeom>
          <a:noFill/>
          <a:ln/>
        </p:spPr>
        <p:txBody>
          <a:bodyPr wrap="square" lIns="0" tIns="0" rIns="0" bIns="0" rtlCol="0" anchor="ctr">
            <a:normAutofit/>
          </a:bodyPr>
          <a:lstStyle/>
          <a:p>
            <a:pPr marL="0" indent="0" algn="ctr">
              <a:buNone/>
            </a:pPr>
            <a:r>
              <a:rPr lang="en-US" sz="1500" dirty="0">
                <a:solidFill>
                  <a:srgbClr val="132033"/>
                </a:solidFill>
                <a:latin typeface="Aptos" pitchFamily="34" charset="0"/>
                <a:ea typeface="Aptos" pitchFamily="34" charset="-122"/>
                <a:cs typeface="Aptos" pitchFamily="34" charset="-120"/>
              </a:rPr>
              <a:t>incorrect or impossible decisions</a:t>
            </a:r>
            <a:endParaRPr lang="en-US" sz="1500" dirty="0"/>
          </a:p>
        </p:txBody>
      </p:sp>
      <p:sp>
        <p:nvSpPr>
          <p:cNvPr id="8" name="Text 6"/>
          <p:cNvSpPr/>
          <p:nvPr/>
        </p:nvSpPr>
        <p:spPr>
          <a:xfrm>
            <a:off x="4023360" y="1600200"/>
            <a:ext cx="4206240" cy="411480"/>
          </a:xfrm>
          <a:prstGeom prst="rect">
            <a:avLst/>
          </a:prstGeom>
          <a:noFill/>
          <a:ln/>
        </p:spPr>
        <p:txBody>
          <a:bodyPr wrap="square" lIns="0" tIns="0" rIns="0" bIns="0" rtlCol="0" anchor="ctr">
            <a:normAutofit/>
          </a:bodyPr>
          <a:lstStyle/>
          <a:p>
            <a:pPr marL="0" indent="0" algn="ctr">
              <a:buNone/>
            </a:pPr>
            <a:r>
              <a:rPr lang="en-US" sz="2600" b="1" dirty="0">
                <a:solidFill>
                  <a:srgbClr val="39A875"/>
                </a:solidFill>
                <a:latin typeface="Aptos" pitchFamily="34" charset="0"/>
                <a:ea typeface="Aptos" pitchFamily="34" charset="-122"/>
                <a:cs typeface="Aptos" pitchFamily="34" charset="-120"/>
              </a:rPr>
              <a:t>Appropriate abstraction</a:t>
            </a:r>
            <a:endParaRPr lang="en-US" sz="2600" dirty="0"/>
          </a:p>
        </p:txBody>
      </p:sp>
      <p:sp>
        <p:nvSpPr>
          <p:cNvPr id="9" name="Text 7"/>
          <p:cNvSpPr/>
          <p:nvPr/>
        </p:nvSpPr>
        <p:spPr>
          <a:xfrm>
            <a:off x="3886200" y="2148840"/>
            <a:ext cx="4480560" cy="457200"/>
          </a:xfrm>
          <a:prstGeom prst="rect">
            <a:avLst/>
          </a:prstGeom>
          <a:noFill/>
          <a:ln/>
        </p:spPr>
        <p:txBody>
          <a:bodyPr wrap="square" lIns="0" tIns="0" rIns="0" bIns="0" rtlCol="0" anchor="ctr">
            <a:normAutofit/>
          </a:bodyPr>
          <a:lstStyle/>
          <a:p>
            <a:pPr marL="0" indent="0" algn="ctr">
              <a:buNone/>
            </a:pPr>
            <a:r>
              <a:rPr lang="en-US" sz="1700" dirty="0">
                <a:solidFill>
                  <a:srgbClr val="132033"/>
                </a:solidFill>
                <a:latin typeface="Aptos" pitchFamily="34" charset="0"/>
                <a:ea typeface="Aptos" pitchFamily="34" charset="-122"/>
                <a:cs typeface="Aptos" pitchFamily="34" charset="-120"/>
              </a:rPr>
              <a:t>enough information at manageable complexity</a:t>
            </a:r>
            <a:endParaRPr lang="en-US" sz="1700" dirty="0"/>
          </a:p>
        </p:txBody>
      </p:sp>
      <p:sp>
        <p:nvSpPr>
          <p:cNvPr id="10" name="Text 8"/>
          <p:cNvSpPr/>
          <p:nvPr/>
        </p:nvSpPr>
        <p:spPr>
          <a:xfrm>
            <a:off x="8915400" y="2356756"/>
            <a:ext cx="2377440" cy="320040"/>
          </a:xfrm>
          <a:prstGeom prst="rect">
            <a:avLst/>
          </a:prstGeom>
          <a:noFill/>
          <a:ln/>
        </p:spPr>
        <p:txBody>
          <a:bodyPr wrap="square" lIns="0" tIns="0" rIns="0" bIns="0" rtlCol="0" anchor="ctr">
            <a:normAutofit fontScale="92500" lnSpcReduction="10000"/>
          </a:bodyPr>
          <a:lstStyle/>
          <a:p>
            <a:pPr marL="0" indent="0" algn="ctr">
              <a:buNone/>
            </a:pPr>
            <a:r>
              <a:rPr lang="en-US" sz="2400" b="1" dirty="0">
                <a:solidFill>
                  <a:srgbClr val="6D7C8F"/>
                </a:solidFill>
                <a:latin typeface="Aptos" pitchFamily="34" charset="0"/>
                <a:ea typeface="Aptos" pitchFamily="34" charset="-122"/>
                <a:cs typeface="Aptos" pitchFamily="34" charset="-120"/>
              </a:rPr>
              <a:t>Too detailed</a:t>
            </a:r>
            <a:endParaRPr lang="en-US" sz="2400" dirty="0"/>
          </a:p>
        </p:txBody>
      </p:sp>
      <p:sp>
        <p:nvSpPr>
          <p:cNvPr id="11" name="Text 9"/>
          <p:cNvSpPr/>
          <p:nvPr/>
        </p:nvSpPr>
        <p:spPr>
          <a:xfrm>
            <a:off x="8732520" y="2813956"/>
            <a:ext cx="2743200" cy="457200"/>
          </a:xfrm>
          <a:prstGeom prst="rect">
            <a:avLst/>
          </a:prstGeom>
          <a:noFill/>
          <a:ln/>
        </p:spPr>
        <p:txBody>
          <a:bodyPr wrap="square" lIns="0" tIns="0" rIns="0" bIns="0" rtlCol="0" anchor="ctr">
            <a:normAutofit/>
          </a:bodyPr>
          <a:lstStyle/>
          <a:p>
            <a:pPr marL="0" indent="0" algn="ctr">
              <a:buNone/>
            </a:pPr>
            <a:r>
              <a:rPr lang="en-US" sz="1500" dirty="0">
                <a:solidFill>
                  <a:srgbClr val="132033"/>
                </a:solidFill>
                <a:latin typeface="Aptos" pitchFamily="34" charset="0"/>
                <a:ea typeface="Aptos" pitchFamily="34" charset="-122"/>
                <a:cs typeface="Aptos" pitchFamily="34" charset="-120"/>
              </a:rPr>
              <a:t>unnecessary search burden</a:t>
            </a:r>
            <a:endParaRPr lang="en-US" sz="1500" dirty="0"/>
          </a:p>
        </p:txBody>
      </p:sp>
      <p:sp>
        <p:nvSpPr>
          <p:cNvPr id="12" name="Shape 10"/>
          <p:cNvSpPr/>
          <p:nvPr/>
        </p:nvSpPr>
        <p:spPr>
          <a:xfrm>
            <a:off x="1005840" y="4206240"/>
            <a:ext cx="10058400" cy="0"/>
          </a:xfrm>
          <a:prstGeom prst="line">
            <a:avLst/>
          </a:prstGeom>
          <a:noFill/>
          <a:ln w="38100">
            <a:solidFill>
              <a:srgbClr val="B8C7D8"/>
            </a:solidFill>
            <a:prstDash val="solid"/>
          </a:ln>
        </p:spPr>
        <p:txBody>
          <a:bodyPr/>
          <a:lstStyle/>
          <a:p>
            <a:endParaRPr lang="en-US"/>
          </a:p>
        </p:txBody>
      </p:sp>
      <p:sp>
        <p:nvSpPr>
          <p:cNvPr id="13" name="Shape 11"/>
          <p:cNvSpPr/>
          <p:nvPr/>
        </p:nvSpPr>
        <p:spPr>
          <a:xfrm>
            <a:off x="896112" y="4096512"/>
            <a:ext cx="219456" cy="219456"/>
          </a:xfrm>
          <a:prstGeom prst="ellipse">
            <a:avLst/>
          </a:prstGeom>
          <a:solidFill>
            <a:srgbClr val="D94E4E"/>
          </a:solidFill>
          <a:ln w="12700">
            <a:solidFill>
              <a:srgbClr val="D94E4E"/>
            </a:solidFill>
            <a:prstDash val="solid"/>
          </a:ln>
        </p:spPr>
        <p:txBody>
          <a:bodyPr/>
          <a:lstStyle/>
          <a:p>
            <a:endParaRPr lang="en-US"/>
          </a:p>
        </p:txBody>
      </p:sp>
      <p:sp>
        <p:nvSpPr>
          <p:cNvPr id="14" name="Shape 12"/>
          <p:cNvSpPr/>
          <p:nvPr/>
        </p:nvSpPr>
        <p:spPr>
          <a:xfrm>
            <a:off x="5925312" y="4096512"/>
            <a:ext cx="219456" cy="219456"/>
          </a:xfrm>
          <a:prstGeom prst="ellipse">
            <a:avLst/>
          </a:prstGeom>
          <a:solidFill>
            <a:srgbClr val="39A875"/>
          </a:solidFill>
          <a:ln w="12700">
            <a:solidFill>
              <a:srgbClr val="39A875"/>
            </a:solidFill>
            <a:prstDash val="solid"/>
          </a:ln>
        </p:spPr>
        <p:txBody>
          <a:bodyPr/>
          <a:lstStyle/>
          <a:p>
            <a:endParaRPr lang="en-US"/>
          </a:p>
        </p:txBody>
      </p:sp>
      <p:sp>
        <p:nvSpPr>
          <p:cNvPr id="15" name="Shape 13"/>
          <p:cNvSpPr/>
          <p:nvPr/>
        </p:nvSpPr>
        <p:spPr>
          <a:xfrm>
            <a:off x="10954512" y="4096512"/>
            <a:ext cx="219456" cy="219456"/>
          </a:xfrm>
          <a:prstGeom prst="ellipse">
            <a:avLst/>
          </a:prstGeom>
          <a:solidFill>
            <a:srgbClr val="6D7C8F"/>
          </a:solidFill>
          <a:ln w="12700">
            <a:solidFill>
              <a:srgbClr val="6D7C8F"/>
            </a:solidFill>
            <a:prstDash val="solid"/>
          </a:ln>
        </p:spPr>
        <p:txBody>
          <a:bodyPr/>
          <a:lstStyle/>
          <a:p>
            <a:endParaRPr lang="en-US"/>
          </a:p>
        </p:txBody>
      </p:sp>
      <p:sp>
        <p:nvSpPr>
          <p:cNvPr id="16" name="Text 14"/>
          <p:cNvSpPr/>
          <p:nvPr/>
        </p:nvSpPr>
        <p:spPr>
          <a:xfrm>
            <a:off x="1005840" y="5074920"/>
            <a:ext cx="10149840" cy="502920"/>
          </a:xfrm>
          <a:prstGeom prst="rect">
            <a:avLst/>
          </a:prstGeom>
          <a:noFill/>
          <a:ln/>
        </p:spPr>
        <p:txBody>
          <a:bodyPr wrap="square" lIns="0" tIns="0" rIns="0" bIns="0" rtlCol="0" anchor="ctr">
            <a:normAutofit fontScale="85000" lnSpcReduction="20000"/>
          </a:bodyPr>
          <a:lstStyle/>
          <a:p>
            <a:pPr marL="0" indent="0" algn="ctr">
              <a:buNone/>
            </a:pPr>
            <a:r>
              <a:rPr lang="en-US" sz="2300" b="1" dirty="0">
                <a:solidFill>
                  <a:srgbClr val="0B2D55"/>
                </a:solidFill>
                <a:latin typeface="Aptos" pitchFamily="34" charset="0"/>
                <a:ea typeface="Aptos" pitchFamily="34" charset="-122"/>
                <a:cs typeface="Aptos" pitchFamily="34" charset="-120"/>
              </a:rPr>
              <a:t>Use this test: can the state determine legal actions, recognize the goal, and calculate relevant costs?</a:t>
            </a:r>
            <a:endParaRPr lang="en-US" sz="2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76072" y="566928"/>
            <a:ext cx="8412480" cy="475488"/>
          </a:xfrm>
          <a:prstGeom prst="rect">
            <a:avLst/>
          </a:prstGeom>
          <a:noFill/>
          <a:ln/>
        </p:spPr>
        <p:txBody>
          <a:bodyPr wrap="square" lIns="0" tIns="0" rIns="0" bIns="0" rtlCol="0" anchor="ctr">
            <a:normAutofit lnSpcReduction="10000"/>
          </a:bodyPr>
          <a:lstStyle/>
          <a:p>
            <a:pPr marL="0" indent="0">
              <a:buNone/>
            </a:pPr>
            <a:r>
              <a:rPr lang="en-US" sz="3400" b="1" dirty="0">
                <a:solidFill>
                  <a:srgbClr val="0B2D55"/>
                </a:solidFill>
                <a:latin typeface="Aptos Display" pitchFamily="34" charset="0"/>
                <a:ea typeface="Aptos Display" pitchFamily="34" charset="-122"/>
                <a:cs typeface="Aptos Display" pitchFamily="34" charset="-120"/>
              </a:rPr>
              <a:t>Debug the formulation</a:t>
            </a:r>
            <a:endParaRPr lang="en-US" sz="3400" dirty="0"/>
          </a:p>
        </p:txBody>
      </p:sp>
      <p:sp>
        <p:nvSpPr>
          <p:cNvPr id="3" name="Text 1"/>
          <p:cNvSpPr/>
          <p:nvPr/>
        </p:nvSpPr>
        <p:spPr>
          <a:xfrm>
            <a:off x="594360" y="1051560"/>
            <a:ext cx="7315200" cy="292608"/>
          </a:xfrm>
          <a:prstGeom prst="rect">
            <a:avLst/>
          </a:prstGeom>
          <a:noFill/>
          <a:ln/>
        </p:spPr>
        <p:txBody>
          <a:bodyPr wrap="square" lIns="0" tIns="0" rIns="0" bIns="0" rtlCol="0" anchor="ctr">
            <a:normAutofit/>
          </a:bodyPr>
          <a:lstStyle/>
          <a:p>
            <a:pPr marL="0" indent="0">
              <a:buNone/>
            </a:pPr>
            <a:r>
              <a:rPr lang="en-US" sz="1500" dirty="0">
                <a:solidFill>
                  <a:srgbClr val="132033"/>
                </a:solidFill>
                <a:latin typeface="Aptos" pitchFamily="34" charset="0"/>
                <a:ea typeface="Aptos" pitchFamily="34" charset="-122"/>
                <a:cs typeface="Aptos" pitchFamily="34" charset="-120"/>
              </a:rPr>
              <a:t>Find the flaw before the algorithm runs.</a:t>
            </a:r>
            <a:endParaRPr lang="en-US" sz="1500" dirty="0"/>
          </a:p>
        </p:txBody>
      </p:sp>
      <p:sp>
        <p:nvSpPr>
          <p:cNvPr id="4" name="Text 2"/>
          <p:cNvSpPr/>
          <p:nvPr/>
        </p:nvSpPr>
        <p:spPr>
          <a:xfrm>
            <a:off x="502920" y="6528816"/>
            <a:ext cx="4937760" cy="201168"/>
          </a:xfrm>
          <a:prstGeom prst="rect">
            <a:avLst/>
          </a:prstGeom>
          <a:noFill/>
          <a:ln/>
        </p:spPr>
        <p:txBody>
          <a:bodyPr wrap="square" lIns="0" tIns="0" rIns="0" bIns="0" rtlCol="0" anchor="ctr">
            <a:normAutofit/>
          </a:bodyPr>
          <a:lstStyle/>
          <a:p>
            <a:pPr marL="0" indent="0">
              <a:buNone/>
            </a:pPr>
            <a:r>
              <a:rPr lang="en-US" sz="850" dirty="0">
                <a:solidFill>
                  <a:srgbClr val="6D7C8F"/>
                </a:solidFill>
                <a:latin typeface="Aptos" pitchFamily="34" charset="0"/>
                <a:ea typeface="Aptos" pitchFamily="34" charset="-122"/>
                <a:cs typeface="Aptos" pitchFamily="34" charset="-120"/>
              </a:rPr>
              <a:t>CS 471  |  L04: Problem Formulation</a:t>
            </a:r>
            <a:endParaRPr lang="en-US" sz="850" dirty="0"/>
          </a:p>
        </p:txBody>
      </p:sp>
      <p:sp>
        <p:nvSpPr>
          <p:cNvPr id="5" name="Text 3"/>
          <p:cNvSpPr/>
          <p:nvPr/>
        </p:nvSpPr>
        <p:spPr>
          <a:xfrm>
            <a:off x="11402568" y="6528816"/>
            <a:ext cx="320040" cy="201168"/>
          </a:xfrm>
          <a:prstGeom prst="rect">
            <a:avLst/>
          </a:prstGeom>
          <a:noFill/>
          <a:ln/>
        </p:spPr>
        <p:txBody>
          <a:bodyPr wrap="square" lIns="0" tIns="0" rIns="0" bIns="0" rtlCol="0" anchor="ctr">
            <a:normAutofit/>
          </a:bodyPr>
          <a:lstStyle/>
          <a:p>
            <a:pPr marL="0" indent="0" algn="r">
              <a:buNone/>
            </a:pPr>
            <a:r>
              <a:rPr lang="en-US" sz="850" dirty="0">
                <a:solidFill>
                  <a:srgbClr val="6D7C8F"/>
                </a:solidFill>
                <a:latin typeface="Aptos" pitchFamily="34" charset="0"/>
                <a:ea typeface="Aptos" pitchFamily="34" charset="-122"/>
                <a:cs typeface="Aptos" pitchFamily="34" charset="-120"/>
              </a:rPr>
              <a:t>15</a:t>
            </a:r>
            <a:endParaRPr lang="en-US" sz="850" dirty="0"/>
          </a:p>
        </p:txBody>
      </p:sp>
      <p:sp>
        <p:nvSpPr>
          <p:cNvPr id="6" name="Shape 4"/>
          <p:cNvSpPr/>
          <p:nvPr/>
        </p:nvSpPr>
        <p:spPr>
          <a:xfrm>
            <a:off x="777240" y="1554480"/>
            <a:ext cx="4800600" cy="3749040"/>
          </a:xfrm>
          <a:prstGeom prst="roundRect">
            <a:avLst>
              <a:gd name="adj" fmla="val 1951"/>
            </a:avLst>
          </a:prstGeom>
          <a:solidFill>
            <a:srgbClr val="FFFFFF"/>
          </a:solidFill>
          <a:ln w="12700">
            <a:solidFill>
              <a:srgbClr val="B8C7D8"/>
            </a:solidFill>
            <a:prstDash val="solid"/>
          </a:ln>
          <a:effectLst>
            <a:outerShdw blurRad="12700" dist="50800" dir="2700000" algn="bl" rotWithShape="0">
              <a:srgbClr val="D4DEE8">
                <a:alpha val="25000"/>
              </a:srgbClr>
            </a:outerShdw>
          </a:effectLst>
        </p:spPr>
        <p:txBody>
          <a:bodyPr/>
          <a:lstStyle/>
          <a:p>
            <a:endParaRPr lang="en-US"/>
          </a:p>
        </p:txBody>
      </p:sp>
      <p:sp>
        <p:nvSpPr>
          <p:cNvPr id="7" name="Text 5"/>
          <p:cNvSpPr/>
          <p:nvPr/>
        </p:nvSpPr>
        <p:spPr>
          <a:xfrm>
            <a:off x="1051560" y="1828800"/>
            <a:ext cx="4251960" cy="310896"/>
          </a:xfrm>
          <a:prstGeom prst="rect">
            <a:avLst/>
          </a:prstGeom>
          <a:noFill/>
          <a:ln/>
        </p:spPr>
        <p:txBody>
          <a:bodyPr wrap="square" lIns="0" tIns="0" rIns="0" bIns="0" rtlCol="0" anchor="ctr">
            <a:normAutofit lnSpcReduction="10000"/>
          </a:bodyPr>
          <a:lstStyle/>
          <a:p>
            <a:pPr marL="0" indent="0">
              <a:buNone/>
            </a:pPr>
            <a:r>
              <a:rPr lang="en-US" sz="2200" b="1" dirty="0">
                <a:solidFill>
                  <a:srgbClr val="0B2D55"/>
                </a:solidFill>
                <a:latin typeface="Aptos" pitchFamily="34" charset="0"/>
                <a:ea typeface="Aptos" pitchFamily="34" charset="-122"/>
                <a:cs typeface="Aptos" pitchFamily="34" charset="-120"/>
              </a:rPr>
              <a:t>Inspection vehicle scenario</a:t>
            </a:r>
            <a:endParaRPr lang="en-US" sz="2200" dirty="0"/>
          </a:p>
        </p:txBody>
      </p:sp>
      <p:sp>
        <p:nvSpPr>
          <p:cNvPr id="8" name="Text 6"/>
          <p:cNvSpPr/>
          <p:nvPr/>
        </p:nvSpPr>
        <p:spPr>
          <a:xfrm>
            <a:off x="1051560" y="2331720"/>
            <a:ext cx="4160520" cy="685800"/>
          </a:xfrm>
          <a:prstGeom prst="rect">
            <a:avLst/>
          </a:prstGeom>
          <a:noFill/>
          <a:ln/>
        </p:spPr>
        <p:txBody>
          <a:bodyPr wrap="square" lIns="0" tIns="0" rIns="0" bIns="0" rtlCol="0" anchor="ctr">
            <a:normAutofit fontScale="92500" lnSpcReduction="20000"/>
          </a:bodyPr>
          <a:lstStyle/>
          <a:p>
            <a:pPr marL="0" indent="0">
              <a:buNone/>
            </a:pPr>
            <a:r>
              <a:rPr lang="en-US" sz="1800" dirty="0">
                <a:solidFill>
                  <a:srgbClr val="132033"/>
                </a:solidFill>
                <a:latin typeface="Aptos" pitchFamily="34" charset="0"/>
                <a:ea typeface="Aptos" pitchFamily="34" charset="-122"/>
                <a:cs typeface="Aptos" pitchFamily="34" charset="-120"/>
              </a:rPr>
              <a:t>An underwater vehicle must inspect two bridge supports, avoid restricted zones, manage battery, and return to the dock.</a:t>
            </a:r>
            <a:endParaRPr lang="en-US" sz="1800" dirty="0"/>
          </a:p>
        </p:txBody>
      </p:sp>
      <p:sp>
        <p:nvSpPr>
          <p:cNvPr id="9" name="Text 7"/>
          <p:cNvSpPr/>
          <p:nvPr/>
        </p:nvSpPr>
        <p:spPr>
          <a:xfrm>
            <a:off x="1051560" y="3429000"/>
            <a:ext cx="4160520" cy="1051560"/>
          </a:xfrm>
          <a:prstGeom prst="rect">
            <a:avLst/>
          </a:prstGeom>
          <a:noFill/>
          <a:ln/>
        </p:spPr>
        <p:txBody>
          <a:bodyPr wrap="square" lIns="0" tIns="0" rIns="0" bIns="0" rtlCol="0" anchor="ctr">
            <a:normAutofit lnSpcReduction="10000"/>
          </a:bodyPr>
          <a:lstStyle/>
          <a:p>
            <a:pPr marL="0" indent="0">
              <a:buNone/>
            </a:pPr>
            <a:r>
              <a:rPr lang="en-US" sz="1800" b="1" dirty="0">
                <a:solidFill>
                  <a:srgbClr val="D94E4E"/>
                </a:solidFill>
                <a:latin typeface="Aptos" pitchFamily="34" charset="0"/>
                <a:ea typeface="Aptos" pitchFamily="34" charset="-122"/>
                <a:cs typeface="Aptos" pitchFamily="34" charset="-120"/>
              </a:rPr>
              <a:t>Flawed formulation: </a:t>
            </a:r>
          </a:p>
          <a:p>
            <a:pPr lvl="1"/>
            <a:r>
              <a:rPr lang="en-US" b="1" dirty="0">
                <a:solidFill>
                  <a:srgbClr val="D94E4E"/>
                </a:solidFill>
                <a:latin typeface="Aptos" pitchFamily="34" charset="0"/>
                <a:ea typeface="Aptos" pitchFamily="34" charset="-122"/>
                <a:cs typeface="Aptos" pitchFamily="34" charset="-120"/>
              </a:rPr>
              <a:t>state = current location; </a:t>
            </a:r>
          </a:p>
          <a:p>
            <a:pPr lvl="1"/>
            <a:r>
              <a:rPr lang="en-US" b="1" dirty="0">
                <a:solidFill>
                  <a:srgbClr val="D94E4E"/>
                </a:solidFill>
                <a:latin typeface="Aptos" pitchFamily="34" charset="0"/>
                <a:ea typeface="Aptos" pitchFamily="34" charset="-122"/>
                <a:cs typeface="Aptos" pitchFamily="34" charset="-120"/>
              </a:rPr>
              <a:t>goal = vehicle reaches a support; </a:t>
            </a:r>
          </a:p>
          <a:p>
            <a:pPr lvl="1"/>
            <a:r>
              <a:rPr lang="en-US" b="1" dirty="0">
                <a:solidFill>
                  <a:srgbClr val="D94E4E"/>
                </a:solidFill>
                <a:latin typeface="Aptos" pitchFamily="34" charset="0"/>
                <a:ea typeface="Aptos" pitchFamily="34" charset="-122"/>
                <a:cs typeface="Aptos" pitchFamily="34" charset="-120"/>
              </a:rPr>
              <a:t>cost = number of actions.</a:t>
            </a:r>
            <a:endParaRPr lang="en-US" dirty="0"/>
          </a:p>
        </p:txBody>
      </p:sp>
      <p:sp>
        <p:nvSpPr>
          <p:cNvPr id="10" name="Shape 8"/>
          <p:cNvSpPr/>
          <p:nvPr/>
        </p:nvSpPr>
        <p:spPr>
          <a:xfrm>
            <a:off x="6172200" y="1554480"/>
            <a:ext cx="5029200" cy="3749040"/>
          </a:xfrm>
          <a:prstGeom prst="roundRect">
            <a:avLst>
              <a:gd name="adj" fmla="val 1951"/>
            </a:avLst>
          </a:prstGeom>
          <a:solidFill>
            <a:srgbClr val="F4F8FC"/>
          </a:solidFill>
          <a:ln w="12700">
            <a:solidFill>
              <a:srgbClr val="B8C7D8"/>
            </a:solidFill>
            <a:prstDash val="solid"/>
          </a:ln>
          <a:effectLst>
            <a:outerShdw blurRad="12700" dist="50800" dir="2700000" algn="bl" rotWithShape="0">
              <a:srgbClr val="D4DEE8">
                <a:alpha val="25000"/>
              </a:srgbClr>
            </a:outerShdw>
          </a:effectLst>
        </p:spPr>
        <p:txBody>
          <a:bodyPr/>
          <a:lstStyle/>
          <a:p>
            <a:endParaRPr lang="en-US"/>
          </a:p>
        </p:txBody>
      </p:sp>
      <p:sp>
        <p:nvSpPr>
          <p:cNvPr id="11" name="Text 9"/>
          <p:cNvSpPr/>
          <p:nvPr/>
        </p:nvSpPr>
        <p:spPr>
          <a:xfrm>
            <a:off x="6446520" y="1828800"/>
            <a:ext cx="4526280" cy="320040"/>
          </a:xfrm>
          <a:prstGeom prst="rect">
            <a:avLst/>
          </a:prstGeom>
          <a:noFill/>
          <a:ln/>
        </p:spPr>
        <p:txBody>
          <a:bodyPr wrap="square" lIns="0" tIns="0" rIns="0" bIns="0" rtlCol="0" anchor="ctr">
            <a:normAutofit lnSpcReduction="10000"/>
          </a:bodyPr>
          <a:lstStyle/>
          <a:p>
            <a:pPr marL="0" indent="0">
              <a:buNone/>
            </a:pPr>
            <a:r>
              <a:rPr lang="en-US" sz="2200" b="1" dirty="0">
                <a:solidFill>
                  <a:srgbClr val="0B2D55"/>
                </a:solidFill>
                <a:latin typeface="Aptos" pitchFamily="34" charset="0"/>
                <a:ea typeface="Aptos" pitchFamily="34" charset="-122"/>
                <a:cs typeface="Aptos" pitchFamily="34" charset="-120"/>
              </a:rPr>
              <a:t>Group task</a:t>
            </a:r>
            <a:endParaRPr lang="en-US" sz="2200" dirty="0"/>
          </a:p>
        </p:txBody>
      </p:sp>
      <p:sp>
        <p:nvSpPr>
          <p:cNvPr id="12" name="Shape 10"/>
          <p:cNvSpPr/>
          <p:nvPr/>
        </p:nvSpPr>
        <p:spPr>
          <a:xfrm>
            <a:off x="6446520" y="2423160"/>
            <a:ext cx="237744" cy="237744"/>
          </a:xfrm>
          <a:prstGeom prst="ellipse">
            <a:avLst/>
          </a:prstGeom>
          <a:solidFill>
            <a:srgbClr val="F2C14E"/>
          </a:solidFill>
          <a:ln w="12700">
            <a:solidFill>
              <a:srgbClr val="F2C14E"/>
            </a:solidFill>
            <a:prstDash val="solid"/>
          </a:ln>
        </p:spPr>
        <p:txBody>
          <a:bodyPr/>
          <a:lstStyle/>
          <a:p>
            <a:endParaRPr lang="en-US"/>
          </a:p>
        </p:txBody>
      </p:sp>
      <p:sp>
        <p:nvSpPr>
          <p:cNvPr id="13" name="Text 11"/>
          <p:cNvSpPr/>
          <p:nvPr/>
        </p:nvSpPr>
        <p:spPr>
          <a:xfrm>
            <a:off x="6446520" y="2468880"/>
            <a:ext cx="237744" cy="192024"/>
          </a:xfrm>
          <a:prstGeom prst="rect">
            <a:avLst/>
          </a:prstGeom>
          <a:noFill/>
          <a:ln/>
        </p:spPr>
        <p:txBody>
          <a:bodyPr wrap="square" lIns="0" tIns="0" rIns="0" bIns="0" rtlCol="0" anchor="ctr">
            <a:normAutofit fontScale="85000" lnSpcReduction="20000"/>
          </a:bodyPr>
          <a:lstStyle/>
          <a:p>
            <a:pPr marL="0" indent="0" algn="ctr">
              <a:buNone/>
            </a:pPr>
            <a:endParaRPr lang="en-US" sz="1800" dirty="0"/>
          </a:p>
        </p:txBody>
      </p:sp>
      <p:sp>
        <p:nvSpPr>
          <p:cNvPr id="14" name="Text 12"/>
          <p:cNvSpPr/>
          <p:nvPr/>
        </p:nvSpPr>
        <p:spPr>
          <a:xfrm>
            <a:off x="6812280" y="2377440"/>
            <a:ext cx="3977640" cy="292608"/>
          </a:xfrm>
          <a:prstGeom prst="rect">
            <a:avLst/>
          </a:prstGeom>
          <a:noFill/>
          <a:ln/>
        </p:spPr>
        <p:txBody>
          <a:bodyPr wrap="square" lIns="0" tIns="0" rIns="0" bIns="0" rtlCol="0" anchor="ctr">
            <a:normAutofit/>
          </a:bodyPr>
          <a:lstStyle/>
          <a:p>
            <a:pPr marL="0" indent="0">
              <a:buNone/>
            </a:pPr>
            <a:r>
              <a:rPr lang="en-US" sz="1700" dirty="0">
                <a:solidFill>
                  <a:srgbClr val="132033"/>
                </a:solidFill>
                <a:latin typeface="Aptos" pitchFamily="34" charset="0"/>
                <a:ea typeface="Aptos" pitchFamily="34" charset="-122"/>
                <a:cs typeface="Aptos" pitchFamily="34" charset="-120"/>
              </a:rPr>
              <a:t>One missing state feature</a:t>
            </a:r>
            <a:endParaRPr lang="en-US" sz="1700" dirty="0"/>
          </a:p>
        </p:txBody>
      </p:sp>
      <p:sp>
        <p:nvSpPr>
          <p:cNvPr id="15" name="Shape 13"/>
          <p:cNvSpPr/>
          <p:nvPr/>
        </p:nvSpPr>
        <p:spPr>
          <a:xfrm>
            <a:off x="6446520" y="3017520"/>
            <a:ext cx="237744" cy="237744"/>
          </a:xfrm>
          <a:prstGeom prst="ellipse">
            <a:avLst/>
          </a:prstGeom>
          <a:solidFill>
            <a:srgbClr val="F2C14E"/>
          </a:solidFill>
          <a:ln w="12700">
            <a:solidFill>
              <a:srgbClr val="F2C14E"/>
            </a:solidFill>
            <a:prstDash val="solid"/>
          </a:ln>
        </p:spPr>
        <p:txBody>
          <a:bodyPr/>
          <a:lstStyle/>
          <a:p>
            <a:endParaRPr lang="en-US"/>
          </a:p>
        </p:txBody>
      </p:sp>
      <p:sp>
        <p:nvSpPr>
          <p:cNvPr id="16" name="Text 14"/>
          <p:cNvSpPr/>
          <p:nvPr/>
        </p:nvSpPr>
        <p:spPr>
          <a:xfrm>
            <a:off x="6446520" y="3063240"/>
            <a:ext cx="237744" cy="192024"/>
          </a:xfrm>
          <a:prstGeom prst="rect">
            <a:avLst/>
          </a:prstGeom>
          <a:noFill/>
          <a:ln/>
        </p:spPr>
        <p:txBody>
          <a:bodyPr wrap="square" lIns="0" tIns="0" rIns="0" bIns="0" rtlCol="0" anchor="ctr">
            <a:normAutofit fontScale="85000" lnSpcReduction="20000"/>
          </a:bodyPr>
          <a:lstStyle/>
          <a:p>
            <a:pPr marL="0" indent="0" algn="ctr">
              <a:buNone/>
            </a:pPr>
            <a:endParaRPr lang="en-US" sz="1800" dirty="0"/>
          </a:p>
        </p:txBody>
      </p:sp>
      <p:sp>
        <p:nvSpPr>
          <p:cNvPr id="17" name="Text 15"/>
          <p:cNvSpPr/>
          <p:nvPr/>
        </p:nvSpPr>
        <p:spPr>
          <a:xfrm>
            <a:off x="6812280" y="2971800"/>
            <a:ext cx="3977640" cy="292608"/>
          </a:xfrm>
          <a:prstGeom prst="rect">
            <a:avLst/>
          </a:prstGeom>
          <a:noFill/>
          <a:ln/>
        </p:spPr>
        <p:txBody>
          <a:bodyPr wrap="square" lIns="0" tIns="0" rIns="0" bIns="0" rtlCol="0" anchor="ctr">
            <a:normAutofit/>
          </a:bodyPr>
          <a:lstStyle/>
          <a:p>
            <a:pPr marL="0" indent="0">
              <a:buNone/>
            </a:pPr>
            <a:r>
              <a:rPr lang="en-US" sz="1700" dirty="0">
                <a:solidFill>
                  <a:srgbClr val="132033"/>
                </a:solidFill>
                <a:latin typeface="Aptos" pitchFamily="34" charset="0"/>
                <a:ea typeface="Aptos" pitchFamily="34" charset="-122"/>
                <a:cs typeface="Aptos" pitchFamily="34" charset="-120"/>
              </a:rPr>
              <a:t>One questionable action or precondition</a:t>
            </a:r>
            <a:endParaRPr lang="en-US" sz="1700" dirty="0"/>
          </a:p>
        </p:txBody>
      </p:sp>
      <p:sp>
        <p:nvSpPr>
          <p:cNvPr id="18" name="Shape 16"/>
          <p:cNvSpPr/>
          <p:nvPr/>
        </p:nvSpPr>
        <p:spPr>
          <a:xfrm>
            <a:off x="6446520" y="3611880"/>
            <a:ext cx="237744" cy="237744"/>
          </a:xfrm>
          <a:prstGeom prst="ellipse">
            <a:avLst/>
          </a:prstGeom>
          <a:solidFill>
            <a:srgbClr val="F2C14E"/>
          </a:solidFill>
          <a:ln w="12700">
            <a:solidFill>
              <a:srgbClr val="F2C14E"/>
            </a:solidFill>
            <a:prstDash val="solid"/>
          </a:ln>
        </p:spPr>
        <p:txBody>
          <a:bodyPr/>
          <a:lstStyle/>
          <a:p>
            <a:endParaRPr lang="en-US"/>
          </a:p>
        </p:txBody>
      </p:sp>
      <p:sp>
        <p:nvSpPr>
          <p:cNvPr id="19" name="Text 17"/>
          <p:cNvSpPr/>
          <p:nvPr/>
        </p:nvSpPr>
        <p:spPr>
          <a:xfrm>
            <a:off x="6446520" y="3657600"/>
            <a:ext cx="237744" cy="192024"/>
          </a:xfrm>
          <a:prstGeom prst="rect">
            <a:avLst/>
          </a:prstGeom>
          <a:noFill/>
          <a:ln/>
        </p:spPr>
        <p:txBody>
          <a:bodyPr wrap="square" lIns="0" tIns="0" rIns="0" bIns="0" rtlCol="0" anchor="ctr">
            <a:normAutofit fontScale="85000" lnSpcReduction="20000"/>
          </a:bodyPr>
          <a:lstStyle/>
          <a:p>
            <a:pPr marL="0" indent="0" algn="ctr">
              <a:buNone/>
            </a:pPr>
            <a:endParaRPr lang="en-US" sz="1800" dirty="0"/>
          </a:p>
        </p:txBody>
      </p:sp>
      <p:sp>
        <p:nvSpPr>
          <p:cNvPr id="20" name="Text 18"/>
          <p:cNvSpPr/>
          <p:nvPr/>
        </p:nvSpPr>
        <p:spPr>
          <a:xfrm>
            <a:off x="6812280" y="3566160"/>
            <a:ext cx="3977640" cy="292608"/>
          </a:xfrm>
          <a:prstGeom prst="rect">
            <a:avLst/>
          </a:prstGeom>
          <a:noFill/>
          <a:ln/>
        </p:spPr>
        <p:txBody>
          <a:bodyPr wrap="square" lIns="0" tIns="0" rIns="0" bIns="0" rtlCol="0" anchor="ctr">
            <a:normAutofit/>
          </a:bodyPr>
          <a:lstStyle/>
          <a:p>
            <a:pPr marL="0" indent="0">
              <a:buNone/>
            </a:pPr>
            <a:r>
              <a:rPr lang="en-US" sz="1700" dirty="0">
                <a:solidFill>
                  <a:srgbClr val="132033"/>
                </a:solidFill>
                <a:latin typeface="Aptos" pitchFamily="34" charset="0"/>
                <a:ea typeface="Aptos" pitchFamily="34" charset="-122"/>
                <a:cs typeface="Aptos" pitchFamily="34" charset="-120"/>
              </a:rPr>
              <a:t>One incomplete goal test</a:t>
            </a:r>
            <a:endParaRPr lang="en-US" sz="1700" dirty="0"/>
          </a:p>
        </p:txBody>
      </p:sp>
      <p:sp>
        <p:nvSpPr>
          <p:cNvPr id="21" name="Shape 19"/>
          <p:cNvSpPr/>
          <p:nvPr/>
        </p:nvSpPr>
        <p:spPr>
          <a:xfrm>
            <a:off x="6446520" y="4206240"/>
            <a:ext cx="237744" cy="237744"/>
          </a:xfrm>
          <a:prstGeom prst="ellipse">
            <a:avLst/>
          </a:prstGeom>
          <a:solidFill>
            <a:srgbClr val="F2C14E"/>
          </a:solidFill>
          <a:ln w="12700">
            <a:solidFill>
              <a:srgbClr val="F2C14E"/>
            </a:solidFill>
            <a:prstDash val="solid"/>
          </a:ln>
        </p:spPr>
        <p:txBody>
          <a:bodyPr/>
          <a:lstStyle/>
          <a:p>
            <a:endParaRPr lang="en-US"/>
          </a:p>
        </p:txBody>
      </p:sp>
      <p:sp>
        <p:nvSpPr>
          <p:cNvPr id="22" name="Text 20"/>
          <p:cNvSpPr/>
          <p:nvPr/>
        </p:nvSpPr>
        <p:spPr>
          <a:xfrm>
            <a:off x="6446520" y="4251960"/>
            <a:ext cx="237744" cy="192024"/>
          </a:xfrm>
          <a:prstGeom prst="rect">
            <a:avLst/>
          </a:prstGeom>
          <a:noFill/>
          <a:ln/>
        </p:spPr>
        <p:txBody>
          <a:bodyPr wrap="square" lIns="0" tIns="0" rIns="0" bIns="0" rtlCol="0" anchor="ctr">
            <a:normAutofit fontScale="85000" lnSpcReduction="20000"/>
          </a:bodyPr>
          <a:lstStyle/>
          <a:p>
            <a:pPr marL="0" indent="0" algn="ctr">
              <a:buNone/>
            </a:pPr>
            <a:endParaRPr lang="en-US" sz="1800" dirty="0"/>
          </a:p>
        </p:txBody>
      </p:sp>
      <p:sp>
        <p:nvSpPr>
          <p:cNvPr id="23" name="Text 21"/>
          <p:cNvSpPr/>
          <p:nvPr/>
        </p:nvSpPr>
        <p:spPr>
          <a:xfrm>
            <a:off x="6812280" y="4160520"/>
            <a:ext cx="3977640" cy="292608"/>
          </a:xfrm>
          <a:prstGeom prst="rect">
            <a:avLst/>
          </a:prstGeom>
          <a:noFill/>
          <a:ln/>
        </p:spPr>
        <p:txBody>
          <a:bodyPr wrap="square" lIns="0" tIns="0" rIns="0" bIns="0" rtlCol="0" anchor="ctr">
            <a:normAutofit/>
          </a:bodyPr>
          <a:lstStyle/>
          <a:p>
            <a:pPr marL="0" indent="0">
              <a:buNone/>
            </a:pPr>
            <a:r>
              <a:rPr lang="en-US" sz="1700" dirty="0">
                <a:solidFill>
                  <a:srgbClr val="132033"/>
                </a:solidFill>
                <a:latin typeface="Aptos" pitchFamily="34" charset="0"/>
                <a:ea typeface="Aptos" pitchFamily="34" charset="-122"/>
                <a:cs typeface="Aptos" pitchFamily="34" charset="-120"/>
              </a:rPr>
              <a:t>One mismatched path cost</a:t>
            </a:r>
            <a:endParaRPr lang="en-US" sz="17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576072" y="566928"/>
            <a:ext cx="8412480" cy="475488"/>
          </a:xfrm>
          <a:prstGeom prst="rect">
            <a:avLst/>
          </a:prstGeom>
          <a:noFill/>
          <a:ln/>
        </p:spPr>
        <p:txBody>
          <a:bodyPr wrap="square" lIns="0" tIns="0" rIns="0" bIns="0" rtlCol="0" anchor="ctr">
            <a:normAutofit lnSpcReduction="10000"/>
          </a:bodyPr>
          <a:lstStyle/>
          <a:p>
            <a:pPr marL="0" indent="0">
              <a:buNone/>
            </a:pPr>
            <a:r>
              <a:rPr lang="en-US" sz="3400" b="1" dirty="0">
                <a:solidFill>
                  <a:srgbClr val="0B2D55"/>
                </a:solidFill>
                <a:latin typeface="Aptos Display" pitchFamily="34" charset="0"/>
                <a:ea typeface="Aptos Display" pitchFamily="34" charset="-122"/>
                <a:cs typeface="Aptos Display" pitchFamily="34" charset="-120"/>
              </a:rPr>
              <a:t>Formulation sprint</a:t>
            </a:r>
            <a:endParaRPr lang="en-US" sz="3400" dirty="0"/>
          </a:p>
        </p:txBody>
      </p:sp>
      <p:sp>
        <p:nvSpPr>
          <p:cNvPr id="3" name="Text 1"/>
          <p:cNvSpPr/>
          <p:nvPr/>
        </p:nvSpPr>
        <p:spPr>
          <a:xfrm>
            <a:off x="594360" y="1051560"/>
            <a:ext cx="7315200" cy="292608"/>
          </a:xfrm>
          <a:prstGeom prst="rect">
            <a:avLst/>
          </a:prstGeom>
          <a:noFill/>
          <a:ln/>
        </p:spPr>
        <p:txBody>
          <a:bodyPr wrap="square" lIns="0" tIns="0" rIns="0" bIns="0" rtlCol="0" anchor="ctr">
            <a:normAutofit/>
          </a:bodyPr>
          <a:lstStyle/>
          <a:p>
            <a:pPr marL="0" indent="0">
              <a:buNone/>
            </a:pPr>
            <a:r>
              <a:rPr lang="en-US" sz="1500" dirty="0">
                <a:solidFill>
                  <a:srgbClr val="132033"/>
                </a:solidFill>
                <a:latin typeface="Aptos" pitchFamily="34" charset="0"/>
                <a:ea typeface="Aptos" pitchFamily="34" charset="-122"/>
                <a:cs typeface="Aptos" pitchFamily="34" charset="-120"/>
              </a:rPr>
              <a:t>Build a search problem from a new mission brief.</a:t>
            </a:r>
            <a:endParaRPr lang="en-US" sz="1500" dirty="0"/>
          </a:p>
        </p:txBody>
      </p:sp>
      <p:sp>
        <p:nvSpPr>
          <p:cNvPr id="4" name="Text 2"/>
          <p:cNvSpPr/>
          <p:nvPr/>
        </p:nvSpPr>
        <p:spPr>
          <a:xfrm>
            <a:off x="502920" y="6528816"/>
            <a:ext cx="4937760" cy="201168"/>
          </a:xfrm>
          <a:prstGeom prst="rect">
            <a:avLst/>
          </a:prstGeom>
          <a:noFill/>
          <a:ln/>
        </p:spPr>
        <p:txBody>
          <a:bodyPr wrap="square" lIns="0" tIns="0" rIns="0" bIns="0" rtlCol="0" anchor="ctr">
            <a:normAutofit/>
          </a:bodyPr>
          <a:lstStyle/>
          <a:p>
            <a:pPr marL="0" indent="0">
              <a:buNone/>
            </a:pPr>
            <a:r>
              <a:rPr lang="en-US" sz="850" dirty="0">
                <a:solidFill>
                  <a:srgbClr val="6D7C8F"/>
                </a:solidFill>
                <a:latin typeface="Aptos" pitchFamily="34" charset="0"/>
                <a:ea typeface="Aptos" pitchFamily="34" charset="-122"/>
                <a:cs typeface="Aptos" pitchFamily="34" charset="-120"/>
              </a:rPr>
              <a:t>CS 471  |  L04: Problem Formulation</a:t>
            </a:r>
            <a:endParaRPr lang="en-US" sz="850" dirty="0"/>
          </a:p>
        </p:txBody>
      </p:sp>
      <p:sp>
        <p:nvSpPr>
          <p:cNvPr id="5" name="Text 3"/>
          <p:cNvSpPr/>
          <p:nvPr/>
        </p:nvSpPr>
        <p:spPr>
          <a:xfrm>
            <a:off x="11402568" y="6528816"/>
            <a:ext cx="320040" cy="201168"/>
          </a:xfrm>
          <a:prstGeom prst="rect">
            <a:avLst/>
          </a:prstGeom>
          <a:noFill/>
          <a:ln/>
        </p:spPr>
        <p:txBody>
          <a:bodyPr wrap="square" lIns="0" tIns="0" rIns="0" bIns="0" rtlCol="0" anchor="ctr">
            <a:normAutofit/>
          </a:bodyPr>
          <a:lstStyle/>
          <a:p>
            <a:pPr marL="0" indent="0" algn="r">
              <a:buNone/>
            </a:pPr>
            <a:r>
              <a:rPr lang="en-US" sz="850" dirty="0">
                <a:solidFill>
                  <a:srgbClr val="6D7C8F"/>
                </a:solidFill>
                <a:latin typeface="Aptos" pitchFamily="34" charset="0"/>
                <a:ea typeface="Aptos" pitchFamily="34" charset="-122"/>
                <a:cs typeface="Aptos" pitchFamily="34" charset="-120"/>
              </a:rPr>
              <a:t>16</a:t>
            </a:r>
            <a:endParaRPr lang="en-US" sz="850" dirty="0"/>
          </a:p>
        </p:txBody>
      </p:sp>
      <p:sp>
        <p:nvSpPr>
          <p:cNvPr id="6" name="Text 4"/>
          <p:cNvSpPr/>
          <p:nvPr/>
        </p:nvSpPr>
        <p:spPr>
          <a:xfrm>
            <a:off x="822960" y="1554480"/>
            <a:ext cx="2011680" cy="320040"/>
          </a:xfrm>
          <a:prstGeom prst="rect">
            <a:avLst/>
          </a:prstGeom>
          <a:noFill/>
          <a:ln/>
        </p:spPr>
        <p:txBody>
          <a:bodyPr wrap="square" lIns="0" tIns="0" rIns="0" bIns="0" rtlCol="0" anchor="ctr">
            <a:normAutofit fontScale="92500" lnSpcReduction="10000"/>
          </a:bodyPr>
          <a:lstStyle/>
          <a:p>
            <a:pPr marL="0" indent="0">
              <a:buNone/>
            </a:pPr>
            <a:r>
              <a:rPr lang="en-US" sz="2400" b="1" dirty="0">
                <a:solidFill>
                  <a:srgbClr val="0B2D55"/>
                </a:solidFill>
                <a:latin typeface="Aptos" pitchFamily="34" charset="0"/>
                <a:ea typeface="Aptos" pitchFamily="34" charset="-122"/>
                <a:cs typeface="Aptos" pitchFamily="34" charset="-120"/>
              </a:rPr>
              <a:t>Scenario</a:t>
            </a:r>
            <a:endParaRPr lang="en-US" sz="2400" dirty="0"/>
          </a:p>
        </p:txBody>
      </p:sp>
      <p:sp>
        <p:nvSpPr>
          <p:cNvPr id="7" name="Text 5"/>
          <p:cNvSpPr/>
          <p:nvPr/>
        </p:nvSpPr>
        <p:spPr>
          <a:xfrm>
            <a:off x="868680" y="2057400"/>
            <a:ext cx="4572000" cy="1097280"/>
          </a:xfrm>
          <a:prstGeom prst="rect">
            <a:avLst/>
          </a:prstGeom>
          <a:noFill/>
          <a:ln/>
        </p:spPr>
        <p:txBody>
          <a:bodyPr wrap="square" lIns="0" tIns="0" rIns="0" bIns="0" rtlCol="0" anchor="ctr">
            <a:normAutofit fontScale="92500" lnSpcReduction="20000"/>
          </a:bodyPr>
          <a:lstStyle/>
          <a:p>
            <a:pPr marL="0" indent="0">
              <a:buNone/>
            </a:pPr>
            <a:r>
              <a:rPr lang="en-US" sz="2200" dirty="0">
                <a:solidFill>
                  <a:srgbClr val="132033"/>
                </a:solidFill>
                <a:latin typeface="Aptos" pitchFamily="34" charset="0"/>
                <a:ea typeface="Aptos" pitchFamily="34" charset="-122"/>
                <a:cs typeface="Aptos" pitchFamily="34" charset="-120"/>
              </a:rPr>
              <a:t>A medical-delivery robot must move through a damaged building, deliver medicine to two rooms, avoid blocked corridors, and return to the lobby.</a:t>
            </a:r>
            <a:endParaRPr lang="en-US" sz="2200" dirty="0"/>
          </a:p>
        </p:txBody>
      </p:sp>
      <p:sp>
        <p:nvSpPr>
          <p:cNvPr id="8" name="Shape 6"/>
          <p:cNvSpPr/>
          <p:nvPr/>
        </p:nvSpPr>
        <p:spPr>
          <a:xfrm>
            <a:off x="6035040" y="1600200"/>
            <a:ext cx="5074920" cy="621792"/>
          </a:xfrm>
          <a:prstGeom prst="roundRect">
            <a:avLst>
              <a:gd name="adj" fmla="val 11765"/>
            </a:avLst>
          </a:prstGeom>
          <a:solidFill>
            <a:srgbClr val="F4F8FC"/>
          </a:solidFill>
          <a:ln w="12700">
            <a:solidFill>
              <a:srgbClr val="B8C7D8"/>
            </a:solidFill>
            <a:prstDash val="solid"/>
          </a:ln>
        </p:spPr>
        <p:txBody>
          <a:bodyPr/>
          <a:lstStyle/>
          <a:p>
            <a:endParaRPr lang="en-US"/>
          </a:p>
        </p:txBody>
      </p:sp>
      <p:sp>
        <p:nvSpPr>
          <p:cNvPr id="9" name="Text 7"/>
          <p:cNvSpPr/>
          <p:nvPr/>
        </p:nvSpPr>
        <p:spPr>
          <a:xfrm>
            <a:off x="6263640" y="1764792"/>
            <a:ext cx="1280160" cy="274320"/>
          </a:xfrm>
          <a:prstGeom prst="rect">
            <a:avLst/>
          </a:prstGeom>
          <a:noFill/>
          <a:ln/>
        </p:spPr>
        <p:txBody>
          <a:bodyPr wrap="square" lIns="0" tIns="0" rIns="0" bIns="0" rtlCol="0" anchor="ctr">
            <a:normAutofit/>
          </a:bodyPr>
          <a:lstStyle/>
          <a:p>
            <a:pPr marL="0" indent="0">
              <a:buNone/>
            </a:pPr>
            <a:r>
              <a:rPr lang="en-US" sz="1600" b="1" dirty="0">
                <a:solidFill>
                  <a:srgbClr val="0B2D55"/>
                </a:solidFill>
                <a:latin typeface="Aptos" pitchFamily="34" charset="0"/>
                <a:ea typeface="Aptos" pitchFamily="34" charset="-122"/>
                <a:cs typeface="Aptos" pitchFamily="34" charset="-120"/>
              </a:rPr>
              <a:t>State</a:t>
            </a:r>
            <a:endParaRPr lang="en-US" sz="1600" dirty="0"/>
          </a:p>
        </p:txBody>
      </p:sp>
      <p:sp>
        <p:nvSpPr>
          <p:cNvPr id="10" name="Text 8"/>
          <p:cNvSpPr/>
          <p:nvPr/>
        </p:nvSpPr>
        <p:spPr>
          <a:xfrm>
            <a:off x="7635240" y="1764792"/>
            <a:ext cx="3200400" cy="274320"/>
          </a:xfrm>
          <a:prstGeom prst="rect">
            <a:avLst/>
          </a:prstGeom>
          <a:noFill/>
          <a:ln/>
        </p:spPr>
        <p:txBody>
          <a:bodyPr wrap="square" lIns="0" tIns="0" rIns="0" bIns="0" rtlCol="0" anchor="ctr">
            <a:normAutofit/>
          </a:bodyPr>
          <a:lstStyle/>
          <a:p>
            <a:pPr marL="0" indent="0">
              <a:buNone/>
            </a:pPr>
            <a:r>
              <a:rPr lang="en-US" sz="1600" dirty="0">
                <a:solidFill>
                  <a:srgbClr val="6D7C8F"/>
                </a:solidFill>
                <a:latin typeface="Aptos" pitchFamily="34" charset="0"/>
                <a:ea typeface="Aptos" pitchFamily="34" charset="-122"/>
                <a:cs typeface="Aptos" pitchFamily="34" charset="-120"/>
              </a:rPr>
              <a:t>What must it remember?</a:t>
            </a:r>
            <a:endParaRPr lang="en-US" sz="1600" dirty="0"/>
          </a:p>
        </p:txBody>
      </p:sp>
      <p:sp>
        <p:nvSpPr>
          <p:cNvPr id="11" name="Shape 9"/>
          <p:cNvSpPr/>
          <p:nvPr/>
        </p:nvSpPr>
        <p:spPr>
          <a:xfrm>
            <a:off x="6035040" y="2468880"/>
            <a:ext cx="5074920" cy="621792"/>
          </a:xfrm>
          <a:prstGeom prst="roundRect">
            <a:avLst>
              <a:gd name="adj" fmla="val 11765"/>
            </a:avLst>
          </a:prstGeom>
          <a:solidFill>
            <a:srgbClr val="FFFFFF"/>
          </a:solidFill>
          <a:ln w="12700">
            <a:solidFill>
              <a:srgbClr val="B8C7D8"/>
            </a:solidFill>
            <a:prstDash val="solid"/>
          </a:ln>
        </p:spPr>
        <p:txBody>
          <a:bodyPr/>
          <a:lstStyle/>
          <a:p>
            <a:endParaRPr lang="en-US"/>
          </a:p>
        </p:txBody>
      </p:sp>
      <p:sp>
        <p:nvSpPr>
          <p:cNvPr id="12" name="Text 10"/>
          <p:cNvSpPr/>
          <p:nvPr/>
        </p:nvSpPr>
        <p:spPr>
          <a:xfrm>
            <a:off x="6263640" y="2633472"/>
            <a:ext cx="1280160" cy="274320"/>
          </a:xfrm>
          <a:prstGeom prst="rect">
            <a:avLst/>
          </a:prstGeom>
          <a:noFill/>
          <a:ln/>
        </p:spPr>
        <p:txBody>
          <a:bodyPr wrap="square" lIns="0" tIns="0" rIns="0" bIns="0" rtlCol="0" anchor="ctr">
            <a:normAutofit/>
          </a:bodyPr>
          <a:lstStyle/>
          <a:p>
            <a:pPr marL="0" indent="0">
              <a:buNone/>
            </a:pPr>
            <a:r>
              <a:rPr lang="en-US" sz="1600" b="1" dirty="0">
                <a:solidFill>
                  <a:srgbClr val="0B2D55"/>
                </a:solidFill>
                <a:latin typeface="Aptos" pitchFamily="34" charset="0"/>
                <a:ea typeface="Aptos" pitchFamily="34" charset="-122"/>
                <a:cs typeface="Aptos" pitchFamily="34" charset="-120"/>
              </a:rPr>
              <a:t>Actions</a:t>
            </a:r>
            <a:endParaRPr lang="en-US" sz="1600" dirty="0"/>
          </a:p>
        </p:txBody>
      </p:sp>
      <p:sp>
        <p:nvSpPr>
          <p:cNvPr id="13" name="Text 11"/>
          <p:cNvSpPr/>
          <p:nvPr/>
        </p:nvSpPr>
        <p:spPr>
          <a:xfrm>
            <a:off x="7635240" y="2633472"/>
            <a:ext cx="3200400" cy="274320"/>
          </a:xfrm>
          <a:prstGeom prst="rect">
            <a:avLst/>
          </a:prstGeom>
          <a:noFill/>
          <a:ln/>
        </p:spPr>
        <p:txBody>
          <a:bodyPr wrap="square" lIns="0" tIns="0" rIns="0" bIns="0" rtlCol="0" anchor="ctr">
            <a:normAutofit/>
          </a:bodyPr>
          <a:lstStyle/>
          <a:p>
            <a:pPr marL="0" indent="0">
              <a:buNone/>
            </a:pPr>
            <a:r>
              <a:rPr lang="en-US" sz="1600" dirty="0">
                <a:solidFill>
                  <a:srgbClr val="6D7C8F"/>
                </a:solidFill>
                <a:latin typeface="Aptos" pitchFamily="34" charset="0"/>
                <a:ea typeface="Aptos" pitchFamily="34" charset="-122"/>
                <a:cs typeface="Aptos" pitchFamily="34" charset="-120"/>
              </a:rPr>
              <a:t>What can it do?</a:t>
            </a:r>
            <a:endParaRPr lang="en-US" sz="1600" dirty="0"/>
          </a:p>
        </p:txBody>
      </p:sp>
      <p:sp>
        <p:nvSpPr>
          <p:cNvPr id="14" name="Shape 12"/>
          <p:cNvSpPr/>
          <p:nvPr/>
        </p:nvSpPr>
        <p:spPr>
          <a:xfrm>
            <a:off x="6035040" y="3337560"/>
            <a:ext cx="5074920" cy="621792"/>
          </a:xfrm>
          <a:prstGeom prst="roundRect">
            <a:avLst>
              <a:gd name="adj" fmla="val 11765"/>
            </a:avLst>
          </a:prstGeom>
          <a:solidFill>
            <a:srgbClr val="F4F8FC"/>
          </a:solidFill>
          <a:ln w="12700">
            <a:solidFill>
              <a:srgbClr val="B8C7D8"/>
            </a:solidFill>
            <a:prstDash val="solid"/>
          </a:ln>
        </p:spPr>
        <p:txBody>
          <a:bodyPr/>
          <a:lstStyle/>
          <a:p>
            <a:endParaRPr lang="en-US"/>
          </a:p>
        </p:txBody>
      </p:sp>
      <p:sp>
        <p:nvSpPr>
          <p:cNvPr id="15" name="Text 13"/>
          <p:cNvSpPr/>
          <p:nvPr/>
        </p:nvSpPr>
        <p:spPr>
          <a:xfrm>
            <a:off x="6263640" y="3502152"/>
            <a:ext cx="1280160" cy="274320"/>
          </a:xfrm>
          <a:prstGeom prst="rect">
            <a:avLst/>
          </a:prstGeom>
          <a:noFill/>
          <a:ln/>
        </p:spPr>
        <p:txBody>
          <a:bodyPr wrap="square" lIns="0" tIns="0" rIns="0" bIns="0" rtlCol="0" anchor="ctr">
            <a:normAutofit/>
          </a:bodyPr>
          <a:lstStyle/>
          <a:p>
            <a:pPr marL="0" indent="0">
              <a:buNone/>
            </a:pPr>
            <a:r>
              <a:rPr lang="en-US" sz="1600" b="1" dirty="0">
                <a:solidFill>
                  <a:srgbClr val="0B2D55"/>
                </a:solidFill>
                <a:latin typeface="Aptos" pitchFamily="34" charset="0"/>
                <a:ea typeface="Aptos" pitchFamily="34" charset="-122"/>
                <a:cs typeface="Aptos" pitchFamily="34" charset="-120"/>
              </a:rPr>
              <a:t>Goal test</a:t>
            </a:r>
            <a:endParaRPr lang="en-US" sz="1600" dirty="0"/>
          </a:p>
        </p:txBody>
      </p:sp>
      <p:sp>
        <p:nvSpPr>
          <p:cNvPr id="16" name="Text 14"/>
          <p:cNvSpPr/>
          <p:nvPr/>
        </p:nvSpPr>
        <p:spPr>
          <a:xfrm>
            <a:off x="7635240" y="3502152"/>
            <a:ext cx="3200400" cy="274320"/>
          </a:xfrm>
          <a:prstGeom prst="rect">
            <a:avLst/>
          </a:prstGeom>
          <a:noFill/>
          <a:ln/>
        </p:spPr>
        <p:txBody>
          <a:bodyPr wrap="square" lIns="0" tIns="0" rIns="0" bIns="0" rtlCol="0" anchor="ctr">
            <a:normAutofit/>
          </a:bodyPr>
          <a:lstStyle/>
          <a:p>
            <a:pPr marL="0" indent="0">
              <a:buNone/>
            </a:pPr>
            <a:r>
              <a:rPr lang="en-US" sz="1600" dirty="0">
                <a:solidFill>
                  <a:srgbClr val="6D7C8F"/>
                </a:solidFill>
                <a:latin typeface="Aptos" pitchFamily="34" charset="0"/>
                <a:ea typeface="Aptos" pitchFamily="34" charset="-122"/>
                <a:cs typeface="Aptos" pitchFamily="34" charset="-120"/>
              </a:rPr>
              <a:t>When is the mission complete?</a:t>
            </a:r>
            <a:endParaRPr lang="en-US" sz="1600" dirty="0"/>
          </a:p>
        </p:txBody>
      </p:sp>
      <p:sp>
        <p:nvSpPr>
          <p:cNvPr id="17" name="Shape 15"/>
          <p:cNvSpPr/>
          <p:nvPr/>
        </p:nvSpPr>
        <p:spPr>
          <a:xfrm>
            <a:off x="6035040" y="4206240"/>
            <a:ext cx="5074920" cy="621792"/>
          </a:xfrm>
          <a:prstGeom prst="roundRect">
            <a:avLst>
              <a:gd name="adj" fmla="val 11765"/>
            </a:avLst>
          </a:prstGeom>
          <a:solidFill>
            <a:srgbClr val="FFFFFF"/>
          </a:solidFill>
          <a:ln w="12700">
            <a:solidFill>
              <a:srgbClr val="B8C7D8"/>
            </a:solidFill>
            <a:prstDash val="solid"/>
          </a:ln>
        </p:spPr>
        <p:txBody>
          <a:bodyPr/>
          <a:lstStyle/>
          <a:p>
            <a:endParaRPr lang="en-US"/>
          </a:p>
        </p:txBody>
      </p:sp>
      <p:sp>
        <p:nvSpPr>
          <p:cNvPr id="18" name="Text 16"/>
          <p:cNvSpPr/>
          <p:nvPr/>
        </p:nvSpPr>
        <p:spPr>
          <a:xfrm>
            <a:off x="6263640" y="4370832"/>
            <a:ext cx="1280160" cy="274320"/>
          </a:xfrm>
          <a:prstGeom prst="rect">
            <a:avLst/>
          </a:prstGeom>
          <a:noFill/>
          <a:ln/>
        </p:spPr>
        <p:txBody>
          <a:bodyPr wrap="square" lIns="0" tIns="0" rIns="0" bIns="0" rtlCol="0" anchor="ctr">
            <a:normAutofit/>
          </a:bodyPr>
          <a:lstStyle/>
          <a:p>
            <a:pPr marL="0" indent="0">
              <a:buNone/>
            </a:pPr>
            <a:r>
              <a:rPr lang="en-US" sz="1600" b="1" dirty="0">
                <a:solidFill>
                  <a:srgbClr val="0B2D55"/>
                </a:solidFill>
                <a:latin typeface="Aptos" pitchFamily="34" charset="0"/>
                <a:ea typeface="Aptos" pitchFamily="34" charset="-122"/>
                <a:cs typeface="Aptos" pitchFamily="34" charset="-120"/>
              </a:rPr>
              <a:t>Path cost</a:t>
            </a:r>
            <a:endParaRPr lang="en-US" sz="1600" dirty="0"/>
          </a:p>
        </p:txBody>
      </p:sp>
      <p:sp>
        <p:nvSpPr>
          <p:cNvPr id="19" name="Text 17"/>
          <p:cNvSpPr/>
          <p:nvPr/>
        </p:nvSpPr>
        <p:spPr>
          <a:xfrm>
            <a:off x="7635240" y="4370832"/>
            <a:ext cx="3200400" cy="274320"/>
          </a:xfrm>
          <a:prstGeom prst="rect">
            <a:avLst/>
          </a:prstGeom>
          <a:noFill/>
          <a:ln/>
        </p:spPr>
        <p:txBody>
          <a:bodyPr wrap="square" lIns="0" tIns="0" rIns="0" bIns="0" rtlCol="0" anchor="ctr">
            <a:normAutofit/>
          </a:bodyPr>
          <a:lstStyle/>
          <a:p>
            <a:pPr marL="0" indent="0">
              <a:buNone/>
            </a:pPr>
            <a:r>
              <a:rPr lang="en-US" sz="1600" dirty="0">
                <a:solidFill>
                  <a:srgbClr val="6D7C8F"/>
                </a:solidFill>
                <a:latin typeface="Aptos" pitchFamily="34" charset="0"/>
                <a:ea typeface="Aptos" pitchFamily="34" charset="-122"/>
                <a:cs typeface="Aptos" pitchFamily="34" charset="-120"/>
              </a:rPr>
              <a:t>What should be minimized?</a:t>
            </a:r>
            <a:endParaRPr lang="en-US" sz="1600" dirty="0"/>
          </a:p>
        </p:txBody>
      </p:sp>
      <p:sp>
        <p:nvSpPr>
          <p:cNvPr id="20" name="Text 18"/>
          <p:cNvSpPr/>
          <p:nvPr/>
        </p:nvSpPr>
        <p:spPr>
          <a:xfrm>
            <a:off x="960120" y="5486400"/>
            <a:ext cx="10149840" cy="457200"/>
          </a:xfrm>
          <a:prstGeom prst="rect">
            <a:avLst/>
          </a:prstGeom>
          <a:noFill/>
          <a:ln/>
        </p:spPr>
        <p:txBody>
          <a:bodyPr wrap="square" lIns="0" tIns="0" rIns="0" bIns="0" rtlCol="0" anchor="ctr">
            <a:normAutofit fontScale="92500"/>
          </a:bodyPr>
          <a:lstStyle/>
          <a:p>
            <a:pPr marL="0" indent="0" algn="ctr">
              <a:buNone/>
            </a:pPr>
            <a:r>
              <a:rPr lang="en-US" sz="2300" b="1" dirty="0">
                <a:solidFill>
                  <a:srgbClr val="1D5FA7"/>
                </a:solidFill>
                <a:latin typeface="Aptos" pitchFamily="34" charset="0"/>
                <a:ea typeface="Aptos" pitchFamily="34" charset="-122"/>
                <a:cs typeface="Aptos" pitchFamily="34" charset="-120"/>
              </a:rPr>
              <a:t>Pairs: create the four-part formulation. Be ready to defend one design choice.</a:t>
            </a:r>
            <a:endParaRPr lang="en-US" sz="2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576072" y="566928"/>
            <a:ext cx="8412480" cy="475488"/>
          </a:xfrm>
          <a:prstGeom prst="rect">
            <a:avLst/>
          </a:prstGeom>
          <a:noFill/>
          <a:ln/>
        </p:spPr>
        <p:txBody>
          <a:bodyPr wrap="square" lIns="0" tIns="0" rIns="0" bIns="0" rtlCol="0" anchor="ctr">
            <a:normAutofit lnSpcReduction="10000"/>
          </a:bodyPr>
          <a:lstStyle/>
          <a:p>
            <a:pPr marL="0" indent="0">
              <a:buNone/>
            </a:pPr>
            <a:r>
              <a:rPr lang="en-US" sz="3400" b="1" dirty="0">
                <a:solidFill>
                  <a:srgbClr val="0B2D55"/>
                </a:solidFill>
                <a:latin typeface="Aptos Display" pitchFamily="34" charset="0"/>
                <a:ea typeface="Aptos Display" pitchFamily="34" charset="-122"/>
                <a:cs typeface="Aptos Display" pitchFamily="34" charset="-120"/>
              </a:rPr>
              <a:t>Critique and revise</a:t>
            </a:r>
            <a:endParaRPr lang="en-US" sz="3400" dirty="0"/>
          </a:p>
        </p:txBody>
      </p:sp>
      <p:sp>
        <p:nvSpPr>
          <p:cNvPr id="3" name="Text 1"/>
          <p:cNvSpPr/>
          <p:nvPr/>
        </p:nvSpPr>
        <p:spPr>
          <a:xfrm>
            <a:off x="594360" y="1051560"/>
            <a:ext cx="7315200" cy="292608"/>
          </a:xfrm>
          <a:prstGeom prst="rect">
            <a:avLst/>
          </a:prstGeom>
          <a:noFill/>
          <a:ln/>
        </p:spPr>
        <p:txBody>
          <a:bodyPr wrap="square" lIns="0" tIns="0" rIns="0" bIns="0" rtlCol="0" anchor="ctr">
            <a:normAutofit/>
          </a:bodyPr>
          <a:lstStyle/>
          <a:p>
            <a:pPr marL="0" indent="0">
              <a:buNone/>
            </a:pPr>
            <a:r>
              <a:rPr lang="en-US" sz="1500" dirty="0">
                <a:solidFill>
                  <a:srgbClr val="132033"/>
                </a:solidFill>
                <a:latin typeface="Aptos" pitchFamily="34" charset="0"/>
                <a:ea typeface="Aptos" pitchFamily="34" charset="-122"/>
                <a:cs typeface="Aptos" pitchFamily="34" charset="-120"/>
              </a:rPr>
              <a:t>A formulation is not finished until it survives questions.</a:t>
            </a:r>
            <a:endParaRPr lang="en-US" sz="1500" dirty="0"/>
          </a:p>
        </p:txBody>
      </p:sp>
      <p:sp>
        <p:nvSpPr>
          <p:cNvPr id="4" name="Text 2"/>
          <p:cNvSpPr/>
          <p:nvPr/>
        </p:nvSpPr>
        <p:spPr>
          <a:xfrm>
            <a:off x="502920" y="6528816"/>
            <a:ext cx="4937760" cy="201168"/>
          </a:xfrm>
          <a:prstGeom prst="rect">
            <a:avLst/>
          </a:prstGeom>
          <a:noFill/>
          <a:ln/>
        </p:spPr>
        <p:txBody>
          <a:bodyPr wrap="square" lIns="0" tIns="0" rIns="0" bIns="0" rtlCol="0" anchor="ctr">
            <a:normAutofit/>
          </a:bodyPr>
          <a:lstStyle/>
          <a:p>
            <a:pPr marL="0" indent="0">
              <a:buNone/>
            </a:pPr>
            <a:r>
              <a:rPr lang="en-US" sz="850" dirty="0">
                <a:solidFill>
                  <a:srgbClr val="6D7C8F"/>
                </a:solidFill>
                <a:latin typeface="Aptos" pitchFamily="34" charset="0"/>
                <a:ea typeface="Aptos" pitchFamily="34" charset="-122"/>
                <a:cs typeface="Aptos" pitchFamily="34" charset="-120"/>
              </a:rPr>
              <a:t>CS 471  |  L04: Problem Formulation</a:t>
            </a:r>
            <a:endParaRPr lang="en-US" sz="850" dirty="0"/>
          </a:p>
        </p:txBody>
      </p:sp>
      <p:sp>
        <p:nvSpPr>
          <p:cNvPr id="5" name="Text 3"/>
          <p:cNvSpPr/>
          <p:nvPr/>
        </p:nvSpPr>
        <p:spPr>
          <a:xfrm>
            <a:off x="11402568" y="6528816"/>
            <a:ext cx="320040" cy="201168"/>
          </a:xfrm>
          <a:prstGeom prst="rect">
            <a:avLst/>
          </a:prstGeom>
          <a:noFill/>
          <a:ln/>
        </p:spPr>
        <p:txBody>
          <a:bodyPr wrap="square" lIns="0" tIns="0" rIns="0" bIns="0" rtlCol="0" anchor="ctr">
            <a:normAutofit/>
          </a:bodyPr>
          <a:lstStyle/>
          <a:p>
            <a:pPr marL="0" indent="0" algn="r">
              <a:buNone/>
            </a:pPr>
            <a:r>
              <a:rPr lang="en-US" sz="850" dirty="0">
                <a:solidFill>
                  <a:srgbClr val="6D7C8F"/>
                </a:solidFill>
                <a:latin typeface="Aptos" pitchFamily="34" charset="0"/>
                <a:ea typeface="Aptos" pitchFamily="34" charset="-122"/>
                <a:cs typeface="Aptos" pitchFamily="34" charset="-120"/>
              </a:rPr>
              <a:t>17</a:t>
            </a:r>
            <a:endParaRPr lang="en-US" sz="850" dirty="0"/>
          </a:p>
        </p:txBody>
      </p:sp>
      <p:sp>
        <p:nvSpPr>
          <p:cNvPr id="6" name="Shape 4"/>
          <p:cNvSpPr/>
          <p:nvPr/>
        </p:nvSpPr>
        <p:spPr>
          <a:xfrm>
            <a:off x="822960" y="1600200"/>
            <a:ext cx="4892040" cy="1005840"/>
          </a:xfrm>
          <a:prstGeom prst="roundRect">
            <a:avLst>
              <a:gd name="adj" fmla="val 7273"/>
            </a:avLst>
          </a:prstGeom>
          <a:solidFill>
            <a:srgbClr val="FFFFFF"/>
          </a:solidFill>
          <a:ln w="12700">
            <a:solidFill>
              <a:srgbClr val="B8C7D8"/>
            </a:solidFill>
            <a:prstDash val="solid"/>
          </a:ln>
          <a:effectLst>
            <a:outerShdw blurRad="12700" dist="50800" dir="2700000" algn="bl" rotWithShape="0">
              <a:srgbClr val="D4DEE8">
                <a:alpha val="25000"/>
              </a:srgbClr>
            </a:outerShdw>
          </a:effectLst>
        </p:spPr>
        <p:txBody>
          <a:bodyPr/>
          <a:lstStyle/>
          <a:p>
            <a:endParaRPr lang="en-US"/>
          </a:p>
        </p:txBody>
      </p:sp>
      <p:sp>
        <p:nvSpPr>
          <p:cNvPr id="7" name="Shape 5"/>
          <p:cNvSpPr/>
          <p:nvPr/>
        </p:nvSpPr>
        <p:spPr>
          <a:xfrm>
            <a:off x="822960" y="1600200"/>
            <a:ext cx="73152" cy="1005840"/>
          </a:xfrm>
          <a:prstGeom prst="rect">
            <a:avLst/>
          </a:prstGeom>
          <a:solidFill>
            <a:srgbClr val="39A875"/>
          </a:solidFill>
          <a:ln w="12700">
            <a:solidFill>
              <a:srgbClr val="39A875"/>
            </a:solidFill>
            <a:prstDash val="solid"/>
          </a:ln>
        </p:spPr>
        <p:txBody>
          <a:bodyPr/>
          <a:lstStyle/>
          <a:p>
            <a:endParaRPr lang="en-US"/>
          </a:p>
        </p:txBody>
      </p:sp>
      <p:sp>
        <p:nvSpPr>
          <p:cNvPr id="8" name="Text 6"/>
          <p:cNvSpPr/>
          <p:nvPr/>
        </p:nvSpPr>
        <p:spPr>
          <a:xfrm>
            <a:off x="1005840" y="1746504"/>
            <a:ext cx="4572000" cy="256032"/>
          </a:xfrm>
          <a:prstGeom prst="rect">
            <a:avLst/>
          </a:prstGeom>
          <a:noFill/>
          <a:ln/>
        </p:spPr>
        <p:txBody>
          <a:bodyPr wrap="square" lIns="0" tIns="0" rIns="0" bIns="0" rtlCol="0" anchor="ctr">
            <a:normAutofit/>
          </a:bodyPr>
          <a:lstStyle/>
          <a:p>
            <a:pPr marL="0" indent="0">
              <a:buNone/>
            </a:pPr>
            <a:r>
              <a:rPr lang="en-US" sz="1500" b="1" dirty="0">
                <a:solidFill>
                  <a:srgbClr val="0B2D55"/>
                </a:solidFill>
                <a:latin typeface="Aptos" pitchFamily="34" charset="0"/>
                <a:ea typeface="Aptos" pitchFamily="34" charset="-122"/>
                <a:cs typeface="Aptos" pitchFamily="34" charset="-120"/>
              </a:rPr>
              <a:t>Actions</a:t>
            </a:r>
            <a:endParaRPr lang="en-US" sz="1500" dirty="0"/>
          </a:p>
        </p:txBody>
      </p:sp>
      <p:sp>
        <p:nvSpPr>
          <p:cNvPr id="9" name="Text 7"/>
          <p:cNvSpPr/>
          <p:nvPr/>
        </p:nvSpPr>
        <p:spPr>
          <a:xfrm>
            <a:off x="1005840" y="2084832"/>
            <a:ext cx="4572000" cy="411480"/>
          </a:xfrm>
          <a:prstGeom prst="rect">
            <a:avLst/>
          </a:prstGeom>
          <a:noFill/>
          <a:ln/>
        </p:spPr>
        <p:txBody>
          <a:bodyPr wrap="square" lIns="0" tIns="0" rIns="0" bIns="0" rtlCol="0" anchor="ctr">
            <a:normAutofit/>
          </a:bodyPr>
          <a:lstStyle/>
          <a:p>
            <a:pPr marL="0" indent="0">
              <a:buNone/>
            </a:pPr>
            <a:r>
              <a:rPr lang="en-US" sz="1350" dirty="0">
                <a:solidFill>
                  <a:srgbClr val="132033"/>
                </a:solidFill>
                <a:latin typeface="Aptos" pitchFamily="34" charset="0"/>
                <a:ea typeface="Aptos" pitchFamily="34" charset="-122"/>
                <a:cs typeface="Aptos" pitchFamily="34" charset="-120"/>
              </a:rPr>
              <a:t>Does the state tell us which actions are legal?</a:t>
            </a:r>
            <a:endParaRPr lang="en-US" sz="1350" dirty="0"/>
          </a:p>
        </p:txBody>
      </p:sp>
      <p:sp>
        <p:nvSpPr>
          <p:cNvPr id="10" name="Shape 8"/>
          <p:cNvSpPr/>
          <p:nvPr/>
        </p:nvSpPr>
        <p:spPr>
          <a:xfrm>
            <a:off x="6400800" y="1600200"/>
            <a:ext cx="4892040" cy="1005840"/>
          </a:xfrm>
          <a:prstGeom prst="roundRect">
            <a:avLst>
              <a:gd name="adj" fmla="val 7273"/>
            </a:avLst>
          </a:prstGeom>
          <a:solidFill>
            <a:srgbClr val="FFFFFF"/>
          </a:solidFill>
          <a:ln w="12700">
            <a:solidFill>
              <a:srgbClr val="B8C7D8"/>
            </a:solidFill>
            <a:prstDash val="solid"/>
          </a:ln>
          <a:effectLst>
            <a:outerShdw blurRad="12700" dist="50800" dir="2700000" algn="bl" rotWithShape="0">
              <a:srgbClr val="D4DEE8">
                <a:alpha val="25000"/>
              </a:srgbClr>
            </a:outerShdw>
          </a:effectLst>
        </p:spPr>
        <p:txBody>
          <a:bodyPr/>
          <a:lstStyle/>
          <a:p>
            <a:endParaRPr lang="en-US"/>
          </a:p>
        </p:txBody>
      </p:sp>
      <p:sp>
        <p:nvSpPr>
          <p:cNvPr id="11" name="Shape 9"/>
          <p:cNvSpPr/>
          <p:nvPr/>
        </p:nvSpPr>
        <p:spPr>
          <a:xfrm>
            <a:off x="6400800" y="1600200"/>
            <a:ext cx="73152" cy="1005840"/>
          </a:xfrm>
          <a:prstGeom prst="rect">
            <a:avLst/>
          </a:prstGeom>
          <a:solidFill>
            <a:srgbClr val="F2C14E"/>
          </a:solidFill>
          <a:ln w="12700">
            <a:solidFill>
              <a:srgbClr val="F2C14E"/>
            </a:solidFill>
            <a:prstDash val="solid"/>
          </a:ln>
        </p:spPr>
        <p:txBody>
          <a:bodyPr/>
          <a:lstStyle/>
          <a:p>
            <a:endParaRPr lang="en-US"/>
          </a:p>
        </p:txBody>
      </p:sp>
      <p:sp>
        <p:nvSpPr>
          <p:cNvPr id="12" name="Text 10"/>
          <p:cNvSpPr/>
          <p:nvPr/>
        </p:nvSpPr>
        <p:spPr>
          <a:xfrm>
            <a:off x="6583680" y="1746504"/>
            <a:ext cx="4572000" cy="256032"/>
          </a:xfrm>
          <a:prstGeom prst="rect">
            <a:avLst/>
          </a:prstGeom>
          <a:noFill/>
          <a:ln/>
        </p:spPr>
        <p:txBody>
          <a:bodyPr wrap="square" lIns="0" tIns="0" rIns="0" bIns="0" rtlCol="0" anchor="ctr">
            <a:normAutofit/>
          </a:bodyPr>
          <a:lstStyle/>
          <a:p>
            <a:pPr marL="0" indent="0">
              <a:buNone/>
            </a:pPr>
            <a:r>
              <a:rPr lang="en-US" sz="1500" b="1" dirty="0">
                <a:solidFill>
                  <a:srgbClr val="0B2D55"/>
                </a:solidFill>
                <a:latin typeface="Aptos" pitchFamily="34" charset="0"/>
                <a:ea typeface="Aptos" pitchFamily="34" charset="-122"/>
                <a:cs typeface="Aptos" pitchFamily="34" charset="-120"/>
              </a:rPr>
              <a:t>Goal</a:t>
            </a:r>
            <a:endParaRPr lang="en-US" sz="1500" dirty="0"/>
          </a:p>
        </p:txBody>
      </p:sp>
      <p:sp>
        <p:nvSpPr>
          <p:cNvPr id="13" name="Text 11"/>
          <p:cNvSpPr/>
          <p:nvPr/>
        </p:nvSpPr>
        <p:spPr>
          <a:xfrm>
            <a:off x="6583680" y="2084832"/>
            <a:ext cx="4572000" cy="411480"/>
          </a:xfrm>
          <a:prstGeom prst="rect">
            <a:avLst/>
          </a:prstGeom>
          <a:noFill/>
          <a:ln/>
        </p:spPr>
        <p:txBody>
          <a:bodyPr wrap="square" lIns="0" tIns="0" rIns="0" bIns="0" rtlCol="0" anchor="ctr">
            <a:normAutofit/>
          </a:bodyPr>
          <a:lstStyle/>
          <a:p>
            <a:pPr marL="0" indent="0">
              <a:buNone/>
            </a:pPr>
            <a:r>
              <a:rPr lang="en-US" sz="1350" dirty="0">
                <a:solidFill>
                  <a:srgbClr val="132033"/>
                </a:solidFill>
                <a:latin typeface="Aptos" pitchFamily="34" charset="0"/>
                <a:ea typeface="Aptos" pitchFamily="34" charset="-122"/>
                <a:cs typeface="Aptos" pitchFamily="34" charset="-120"/>
              </a:rPr>
              <a:t>Can the system recognize success from the state?</a:t>
            </a:r>
            <a:endParaRPr lang="en-US" sz="1350" dirty="0"/>
          </a:p>
        </p:txBody>
      </p:sp>
      <p:sp>
        <p:nvSpPr>
          <p:cNvPr id="14" name="Shape 12"/>
          <p:cNvSpPr/>
          <p:nvPr/>
        </p:nvSpPr>
        <p:spPr>
          <a:xfrm>
            <a:off x="822960" y="3108960"/>
            <a:ext cx="4892040" cy="1005840"/>
          </a:xfrm>
          <a:prstGeom prst="roundRect">
            <a:avLst>
              <a:gd name="adj" fmla="val 7273"/>
            </a:avLst>
          </a:prstGeom>
          <a:solidFill>
            <a:srgbClr val="FFFFFF"/>
          </a:solidFill>
          <a:ln w="12700">
            <a:solidFill>
              <a:srgbClr val="B8C7D8"/>
            </a:solidFill>
            <a:prstDash val="solid"/>
          </a:ln>
          <a:effectLst>
            <a:outerShdw blurRad="12700" dist="50800" dir="2700000" algn="bl" rotWithShape="0">
              <a:srgbClr val="D4DEE8">
                <a:alpha val="25000"/>
              </a:srgbClr>
            </a:outerShdw>
          </a:effectLst>
        </p:spPr>
        <p:txBody>
          <a:bodyPr/>
          <a:lstStyle/>
          <a:p>
            <a:endParaRPr lang="en-US"/>
          </a:p>
        </p:txBody>
      </p:sp>
      <p:sp>
        <p:nvSpPr>
          <p:cNvPr id="15" name="Shape 13"/>
          <p:cNvSpPr/>
          <p:nvPr/>
        </p:nvSpPr>
        <p:spPr>
          <a:xfrm>
            <a:off x="822960" y="3108960"/>
            <a:ext cx="73152" cy="1005840"/>
          </a:xfrm>
          <a:prstGeom prst="rect">
            <a:avLst/>
          </a:prstGeom>
          <a:solidFill>
            <a:srgbClr val="1D5FA7"/>
          </a:solidFill>
          <a:ln w="12700">
            <a:solidFill>
              <a:srgbClr val="1D5FA7"/>
            </a:solidFill>
            <a:prstDash val="solid"/>
          </a:ln>
        </p:spPr>
        <p:txBody>
          <a:bodyPr/>
          <a:lstStyle/>
          <a:p>
            <a:endParaRPr lang="en-US"/>
          </a:p>
        </p:txBody>
      </p:sp>
      <p:sp>
        <p:nvSpPr>
          <p:cNvPr id="16" name="Text 14"/>
          <p:cNvSpPr/>
          <p:nvPr/>
        </p:nvSpPr>
        <p:spPr>
          <a:xfrm>
            <a:off x="1005840" y="3255264"/>
            <a:ext cx="4572000" cy="256032"/>
          </a:xfrm>
          <a:prstGeom prst="rect">
            <a:avLst/>
          </a:prstGeom>
          <a:noFill/>
          <a:ln/>
        </p:spPr>
        <p:txBody>
          <a:bodyPr wrap="square" lIns="0" tIns="0" rIns="0" bIns="0" rtlCol="0" anchor="ctr">
            <a:normAutofit/>
          </a:bodyPr>
          <a:lstStyle/>
          <a:p>
            <a:pPr marL="0" indent="0">
              <a:buNone/>
            </a:pPr>
            <a:r>
              <a:rPr lang="en-US" sz="1500" b="1" dirty="0">
                <a:solidFill>
                  <a:srgbClr val="0B2D55"/>
                </a:solidFill>
                <a:latin typeface="Aptos" pitchFamily="34" charset="0"/>
                <a:ea typeface="Aptos" pitchFamily="34" charset="-122"/>
                <a:cs typeface="Aptos" pitchFamily="34" charset="-120"/>
              </a:rPr>
              <a:t>Cost</a:t>
            </a:r>
            <a:endParaRPr lang="en-US" sz="1500" dirty="0"/>
          </a:p>
        </p:txBody>
      </p:sp>
      <p:sp>
        <p:nvSpPr>
          <p:cNvPr id="17" name="Text 15"/>
          <p:cNvSpPr/>
          <p:nvPr/>
        </p:nvSpPr>
        <p:spPr>
          <a:xfrm>
            <a:off x="1005840" y="3593592"/>
            <a:ext cx="4572000" cy="411480"/>
          </a:xfrm>
          <a:prstGeom prst="rect">
            <a:avLst/>
          </a:prstGeom>
          <a:noFill/>
          <a:ln/>
        </p:spPr>
        <p:txBody>
          <a:bodyPr wrap="square" lIns="0" tIns="0" rIns="0" bIns="0" rtlCol="0" anchor="ctr">
            <a:normAutofit/>
          </a:bodyPr>
          <a:lstStyle/>
          <a:p>
            <a:pPr marL="0" indent="0">
              <a:buNone/>
            </a:pPr>
            <a:r>
              <a:rPr lang="en-US" sz="1350" dirty="0">
                <a:solidFill>
                  <a:srgbClr val="132033"/>
                </a:solidFill>
                <a:latin typeface="Aptos" pitchFamily="34" charset="0"/>
                <a:ea typeface="Aptos" pitchFamily="34" charset="-122"/>
                <a:cs typeface="Aptos" pitchFamily="34" charset="-120"/>
              </a:rPr>
              <a:t>Can the path cost be accumulated over actions?</a:t>
            </a:r>
            <a:endParaRPr lang="en-US" sz="1350" dirty="0"/>
          </a:p>
        </p:txBody>
      </p:sp>
      <p:sp>
        <p:nvSpPr>
          <p:cNvPr id="18" name="Shape 16"/>
          <p:cNvSpPr/>
          <p:nvPr/>
        </p:nvSpPr>
        <p:spPr>
          <a:xfrm>
            <a:off x="6400800" y="3108960"/>
            <a:ext cx="4892040" cy="1005840"/>
          </a:xfrm>
          <a:prstGeom prst="roundRect">
            <a:avLst>
              <a:gd name="adj" fmla="val 7273"/>
            </a:avLst>
          </a:prstGeom>
          <a:solidFill>
            <a:srgbClr val="FFFFFF"/>
          </a:solidFill>
          <a:ln w="12700">
            <a:solidFill>
              <a:srgbClr val="B8C7D8"/>
            </a:solidFill>
            <a:prstDash val="solid"/>
          </a:ln>
          <a:effectLst>
            <a:outerShdw blurRad="12700" dist="50800" dir="2700000" algn="bl" rotWithShape="0">
              <a:srgbClr val="D4DEE8">
                <a:alpha val="25000"/>
              </a:srgbClr>
            </a:outerShdw>
          </a:effectLst>
        </p:spPr>
        <p:txBody>
          <a:bodyPr/>
          <a:lstStyle/>
          <a:p>
            <a:endParaRPr lang="en-US"/>
          </a:p>
        </p:txBody>
      </p:sp>
      <p:sp>
        <p:nvSpPr>
          <p:cNvPr id="19" name="Shape 17"/>
          <p:cNvSpPr/>
          <p:nvPr/>
        </p:nvSpPr>
        <p:spPr>
          <a:xfrm>
            <a:off x="6400800" y="3108960"/>
            <a:ext cx="73152" cy="1005840"/>
          </a:xfrm>
          <a:prstGeom prst="rect">
            <a:avLst/>
          </a:prstGeom>
          <a:solidFill>
            <a:srgbClr val="6D7C8F"/>
          </a:solidFill>
          <a:ln w="12700">
            <a:solidFill>
              <a:srgbClr val="6D7C8F"/>
            </a:solidFill>
            <a:prstDash val="solid"/>
          </a:ln>
        </p:spPr>
        <p:txBody>
          <a:bodyPr/>
          <a:lstStyle/>
          <a:p>
            <a:endParaRPr lang="en-US"/>
          </a:p>
        </p:txBody>
      </p:sp>
      <p:sp>
        <p:nvSpPr>
          <p:cNvPr id="20" name="Text 18"/>
          <p:cNvSpPr/>
          <p:nvPr/>
        </p:nvSpPr>
        <p:spPr>
          <a:xfrm>
            <a:off x="6583680" y="3255264"/>
            <a:ext cx="4572000" cy="256032"/>
          </a:xfrm>
          <a:prstGeom prst="rect">
            <a:avLst/>
          </a:prstGeom>
          <a:noFill/>
          <a:ln/>
        </p:spPr>
        <p:txBody>
          <a:bodyPr wrap="square" lIns="0" tIns="0" rIns="0" bIns="0" rtlCol="0" anchor="ctr">
            <a:normAutofit/>
          </a:bodyPr>
          <a:lstStyle/>
          <a:p>
            <a:pPr marL="0" indent="0">
              <a:buNone/>
            </a:pPr>
            <a:r>
              <a:rPr lang="en-US" sz="1500" b="1" dirty="0">
                <a:solidFill>
                  <a:srgbClr val="0B2D55"/>
                </a:solidFill>
                <a:latin typeface="Aptos" pitchFamily="34" charset="0"/>
                <a:ea typeface="Aptos" pitchFamily="34" charset="-122"/>
                <a:cs typeface="Aptos" pitchFamily="34" charset="-120"/>
              </a:rPr>
              <a:t>Complexity</a:t>
            </a:r>
            <a:endParaRPr lang="en-US" sz="1500" dirty="0"/>
          </a:p>
        </p:txBody>
      </p:sp>
      <p:sp>
        <p:nvSpPr>
          <p:cNvPr id="21" name="Text 19"/>
          <p:cNvSpPr/>
          <p:nvPr/>
        </p:nvSpPr>
        <p:spPr>
          <a:xfrm>
            <a:off x="6583680" y="3593592"/>
            <a:ext cx="4572000" cy="411480"/>
          </a:xfrm>
          <a:prstGeom prst="rect">
            <a:avLst/>
          </a:prstGeom>
          <a:noFill/>
          <a:ln/>
        </p:spPr>
        <p:txBody>
          <a:bodyPr wrap="square" lIns="0" tIns="0" rIns="0" bIns="0" rtlCol="0" anchor="ctr">
            <a:normAutofit/>
          </a:bodyPr>
          <a:lstStyle/>
          <a:p>
            <a:pPr marL="0" indent="0">
              <a:buNone/>
            </a:pPr>
            <a:r>
              <a:rPr lang="en-US" sz="1350" dirty="0">
                <a:solidFill>
                  <a:srgbClr val="132033"/>
                </a:solidFill>
                <a:latin typeface="Aptos" pitchFamily="34" charset="0"/>
                <a:ea typeface="Aptos" pitchFamily="34" charset="-122"/>
                <a:cs typeface="Aptos" pitchFamily="34" charset="-120"/>
              </a:rPr>
              <a:t>Did we include unnecessary details?</a:t>
            </a:r>
            <a:endParaRPr lang="en-US" sz="1350" dirty="0"/>
          </a:p>
        </p:txBody>
      </p:sp>
      <p:sp>
        <p:nvSpPr>
          <p:cNvPr id="22" name="Text 20"/>
          <p:cNvSpPr/>
          <p:nvPr/>
        </p:nvSpPr>
        <p:spPr>
          <a:xfrm>
            <a:off x="960120" y="5257800"/>
            <a:ext cx="10149840" cy="457200"/>
          </a:xfrm>
          <a:prstGeom prst="rect">
            <a:avLst/>
          </a:prstGeom>
          <a:noFill/>
          <a:ln/>
        </p:spPr>
        <p:txBody>
          <a:bodyPr wrap="square" lIns="0" tIns="0" rIns="0" bIns="0" rtlCol="0" anchor="ctr">
            <a:normAutofit fontScale="77500" lnSpcReduction="20000"/>
          </a:bodyPr>
          <a:lstStyle/>
          <a:p>
            <a:pPr marL="0" indent="0" algn="ctr">
              <a:buNone/>
            </a:pPr>
            <a:r>
              <a:rPr lang="en-US" sz="2300" b="1" dirty="0">
                <a:solidFill>
                  <a:srgbClr val="0B2D55"/>
                </a:solidFill>
                <a:latin typeface="Aptos" pitchFamily="34" charset="0"/>
                <a:ea typeface="Aptos" pitchFamily="34" charset="-122"/>
                <a:cs typeface="Aptos" pitchFamily="34" charset="-120"/>
              </a:rPr>
              <a:t>Revision rule: change one element and explain how the change improves the formulation.</a:t>
            </a:r>
            <a:endParaRPr lang="en-US" sz="2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576072" y="566928"/>
            <a:ext cx="8412480" cy="475488"/>
          </a:xfrm>
          <a:prstGeom prst="rect">
            <a:avLst/>
          </a:prstGeom>
          <a:noFill/>
          <a:ln/>
        </p:spPr>
        <p:txBody>
          <a:bodyPr wrap="square" lIns="0" tIns="0" rIns="0" bIns="0" rtlCol="0" anchor="ctr">
            <a:normAutofit lnSpcReduction="10000"/>
          </a:bodyPr>
          <a:lstStyle/>
          <a:p>
            <a:pPr marL="0" indent="0">
              <a:buNone/>
            </a:pPr>
            <a:r>
              <a:rPr lang="en-US" sz="3400" b="1" dirty="0">
                <a:solidFill>
                  <a:srgbClr val="0B2D55"/>
                </a:solidFill>
                <a:latin typeface="Aptos Display" pitchFamily="34" charset="0"/>
                <a:ea typeface="Aptos Display" pitchFamily="34" charset="-122"/>
                <a:cs typeface="Aptos Display" pitchFamily="34" charset="-120"/>
              </a:rPr>
              <a:t>Synthesis: problem formulation</a:t>
            </a:r>
            <a:endParaRPr lang="en-US" sz="3400" dirty="0"/>
          </a:p>
        </p:txBody>
      </p:sp>
      <p:sp>
        <p:nvSpPr>
          <p:cNvPr id="3" name="Text 1"/>
          <p:cNvSpPr/>
          <p:nvPr/>
        </p:nvSpPr>
        <p:spPr>
          <a:xfrm>
            <a:off x="594360" y="1051560"/>
            <a:ext cx="7315200" cy="292608"/>
          </a:xfrm>
          <a:prstGeom prst="rect">
            <a:avLst/>
          </a:prstGeom>
          <a:noFill/>
          <a:ln/>
        </p:spPr>
        <p:txBody>
          <a:bodyPr wrap="square" lIns="0" tIns="0" rIns="0" bIns="0" rtlCol="0" anchor="ctr">
            <a:normAutofit/>
          </a:bodyPr>
          <a:lstStyle/>
          <a:p>
            <a:pPr marL="0" indent="0">
              <a:buNone/>
            </a:pPr>
            <a:r>
              <a:rPr lang="en-US" sz="1500" dirty="0">
                <a:solidFill>
                  <a:srgbClr val="132033"/>
                </a:solidFill>
                <a:latin typeface="Aptos" pitchFamily="34" charset="0"/>
                <a:ea typeface="Aptos" pitchFamily="34" charset="-122"/>
                <a:cs typeface="Aptos" pitchFamily="34" charset="-120"/>
              </a:rPr>
              <a:t>Rebuild the search problem template from memory.</a:t>
            </a:r>
            <a:endParaRPr lang="en-US" sz="1500" dirty="0"/>
          </a:p>
        </p:txBody>
      </p:sp>
      <p:sp>
        <p:nvSpPr>
          <p:cNvPr id="4" name="Text 2"/>
          <p:cNvSpPr/>
          <p:nvPr/>
        </p:nvSpPr>
        <p:spPr>
          <a:xfrm>
            <a:off x="502920" y="6528816"/>
            <a:ext cx="4937760" cy="201168"/>
          </a:xfrm>
          <a:prstGeom prst="rect">
            <a:avLst/>
          </a:prstGeom>
          <a:noFill/>
          <a:ln/>
        </p:spPr>
        <p:txBody>
          <a:bodyPr wrap="square" lIns="0" tIns="0" rIns="0" bIns="0" rtlCol="0" anchor="ctr">
            <a:normAutofit/>
          </a:bodyPr>
          <a:lstStyle/>
          <a:p>
            <a:pPr marL="0" indent="0">
              <a:buNone/>
            </a:pPr>
            <a:r>
              <a:rPr lang="en-US" sz="850" dirty="0">
                <a:solidFill>
                  <a:srgbClr val="6D7C8F"/>
                </a:solidFill>
                <a:latin typeface="Aptos" pitchFamily="34" charset="0"/>
                <a:ea typeface="Aptos" pitchFamily="34" charset="-122"/>
                <a:cs typeface="Aptos" pitchFamily="34" charset="-120"/>
              </a:rPr>
              <a:t>CS 471  |  L04: Problem Formulation</a:t>
            </a:r>
            <a:endParaRPr lang="en-US" sz="850" dirty="0"/>
          </a:p>
        </p:txBody>
      </p:sp>
      <p:sp>
        <p:nvSpPr>
          <p:cNvPr id="5" name="Text 3"/>
          <p:cNvSpPr/>
          <p:nvPr/>
        </p:nvSpPr>
        <p:spPr>
          <a:xfrm>
            <a:off x="11402568" y="6528816"/>
            <a:ext cx="320040" cy="201168"/>
          </a:xfrm>
          <a:prstGeom prst="rect">
            <a:avLst/>
          </a:prstGeom>
          <a:noFill/>
          <a:ln/>
        </p:spPr>
        <p:txBody>
          <a:bodyPr wrap="square" lIns="0" tIns="0" rIns="0" bIns="0" rtlCol="0" anchor="ctr">
            <a:normAutofit/>
          </a:bodyPr>
          <a:lstStyle/>
          <a:p>
            <a:pPr marL="0" indent="0" algn="r">
              <a:buNone/>
            </a:pPr>
            <a:r>
              <a:rPr lang="en-US" sz="850" dirty="0">
                <a:solidFill>
                  <a:srgbClr val="6D7C8F"/>
                </a:solidFill>
                <a:latin typeface="Aptos" pitchFamily="34" charset="0"/>
                <a:ea typeface="Aptos" pitchFamily="34" charset="-122"/>
                <a:cs typeface="Aptos" pitchFamily="34" charset="-120"/>
              </a:rPr>
              <a:t>19</a:t>
            </a:r>
            <a:endParaRPr lang="en-US" sz="850" dirty="0"/>
          </a:p>
        </p:txBody>
      </p:sp>
      <p:sp>
        <p:nvSpPr>
          <p:cNvPr id="6" name="Shape 4"/>
          <p:cNvSpPr/>
          <p:nvPr/>
        </p:nvSpPr>
        <p:spPr>
          <a:xfrm>
            <a:off x="822960" y="1828800"/>
            <a:ext cx="2423160" cy="1828800"/>
          </a:xfrm>
          <a:prstGeom prst="roundRect">
            <a:avLst>
              <a:gd name="adj" fmla="val 4000"/>
            </a:avLst>
          </a:prstGeom>
          <a:solidFill>
            <a:srgbClr val="FFFFFF"/>
          </a:solidFill>
          <a:ln w="12700">
            <a:solidFill>
              <a:srgbClr val="B8C7D8"/>
            </a:solidFill>
            <a:prstDash val="solid"/>
          </a:ln>
          <a:effectLst>
            <a:outerShdw blurRad="12700" dist="50800" dir="2700000" algn="bl" rotWithShape="0">
              <a:srgbClr val="D4DEE8">
                <a:alpha val="25000"/>
              </a:srgbClr>
            </a:outerShdw>
          </a:effectLst>
        </p:spPr>
        <p:txBody>
          <a:bodyPr/>
          <a:lstStyle/>
          <a:p>
            <a:endParaRPr lang="en-US"/>
          </a:p>
        </p:txBody>
      </p:sp>
      <p:sp>
        <p:nvSpPr>
          <p:cNvPr id="7" name="Shape 5"/>
          <p:cNvSpPr/>
          <p:nvPr/>
        </p:nvSpPr>
        <p:spPr>
          <a:xfrm>
            <a:off x="822960" y="1828800"/>
            <a:ext cx="73152" cy="1828800"/>
          </a:xfrm>
          <a:prstGeom prst="rect">
            <a:avLst/>
          </a:prstGeom>
          <a:solidFill>
            <a:srgbClr val="1D5FA7"/>
          </a:solidFill>
          <a:ln w="12700">
            <a:solidFill>
              <a:srgbClr val="1D5FA7"/>
            </a:solidFill>
            <a:prstDash val="solid"/>
          </a:ln>
        </p:spPr>
        <p:txBody>
          <a:bodyPr/>
          <a:lstStyle/>
          <a:p>
            <a:endParaRPr lang="en-US"/>
          </a:p>
        </p:txBody>
      </p:sp>
      <p:sp>
        <p:nvSpPr>
          <p:cNvPr id="8" name="Text 6"/>
          <p:cNvSpPr/>
          <p:nvPr/>
        </p:nvSpPr>
        <p:spPr>
          <a:xfrm>
            <a:off x="1005840" y="1975104"/>
            <a:ext cx="2103120" cy="256032"/>
          </a:xfrm>
          <a:prstGeom prst="rect">
            <a:avLst/>
          </a:prstGeom>
          <a:noFill/>
          <a:ln/>
        </p:spPr>
        <p:txBody>
          <a:bodyPr wrap="square" lIns="0" tIns="0" rIns="0" bIns="0" rtlCol="0" anchor="ctr">
            <a:normAutofit/>
          </a:bodyPr>
          <a:lstStyle/>
          <a:p>
            <a:pPr marL="0" indent="0">
              <a:buNone/>
            </a:pPr>
            <a:r>
              <a:rPr lang="en-US" sz="1500" b="1" dirty="0">
                <a:solidFill>
                  <a:srgbClr val="0B2D55"/>
                </a:solidFill>
                <a:latin typeface="Aptos" pitchFamily="34" charset="0"/>
                <a:ea typeface="Aptos" pitchFamily="34" charset="-122"/>
                <a:cs typeface="Aptos" pitchFamily="34" charset="-120"/>
              </a:rPr>
              <a:t>State</a:t>
            </a:r>
            <a:endParaRPr lang="en-US" sz="1500" dirty="0"/>
          </a:p>
        </p:txBody>
      </p:sp>
      <p:sp>
        <p:nvSpPr>
          <p:cNvPr id="9" name="Text 7"/>
          <p:cNvSpPr/>
          <p:nvPr/>
        </p:nvSpPr>
        <p:spPr>
          <a:xfrm>
            <a:off x="1005840" y="2313432"/>
            <a:ext cx="2103120" cy="1234440"/>
          </a:xfrm>
          <a:prstGeom prst="rect">
            <a:avLst/>
          </a:prstGeom>
          <a:noFill/>
          <a:ln/>
        </p:spPr>
        <p:txBody>
          <a:bodyPr wrap="square" lIns="0" tIns="0" rIns="0" bIns="0" rtlCol="0" anchor="ctr">
            <a:normAutofit/>
          </a:bodyPr>
          <a:lstStyle/>
          <a:p>
            <a:pPr marL="0" indent="0">
              <a:buNone/>
            </a:pPr>
            <a:r>
              <a:rPr lang="en-US" sz="1350" dirty="0">
                <a:solidFill>
                  <a:srgbClr val="132033"/>
                </a:solidFill>
                <a:latin typeface="Aptos" pitchFamily="34" charset="0"/>
                <a:ea typeface="Aptos" pitchFamily="34" charset="-122"/>
                <a:cs typeface="Aptos" pitchFamily="34" charset="-120"/>
              </a:rPr>
              <a:t>What information distinguishes situations?</a:t>
            </a:r>
            <a:endParaRPr lang="en-US" sz="1350" dirty="0"/>
          </a:p>
        </p:txBody>
      </p:sp>
      <p:sp>
        <p:nvSpPr>
          <p:cNvPr id="10" name="Shape 8"/>
          <p:cNvSpPr/>
          <p:nvPr/>
        </p:nvSpPr>
        <p:spPr>
          <a:xfrm>
            <a:off x="3611880" y="1828800"/>
            <a:ext cx="2423160" cy="1828800"/>
          </a:xfrm>
          <a:prstGeom prst="roundRect">
            <a:avLst>
              <a:gd name="adj" fmla="val 4000"/>
            </a:avLst>
          </a:prstGeom>
          <a:solidFill>
            <a:srgbClr val="FFFFFF"/>
          </a:solidFill>
          <a:ln w="12700">
            <a:solidFill>
              <a:srgbClr val="B8C7D8"/>
            </a:solidFill>
            <a:prstDash val="solid"/>
          </a:ln>
          <a:effectLst>
            <a:outerShdw blurRad="12700" dist="50800" dir="2700000" algn="bl" rotWithShape="0">
              <a:srgbClr val="D4DEE8">
                <a:alpha val="25000"/>
              </a:srgbClr>
            </a:outerShdw>
          </a:effectLst>
        </p:spPr>
        <p:txBody>
          <a:bodyPr/>
          <a:lstStyle/>
          <a:p>
            <a:endParaRPr lang="en-US"/>
          </a:p>
        </p:txBody>
      </p:sp>
      <p:sp>
        <p:nvSpPr>
          <p:cNvPr id="11" name="Shape 9"/>
          <p:cNvSpPr/>
          <p:nvPr/>
        </p:nvSpPr>
        <p:spPr>
          <a:xfrm>
            <a:off x="3611880" y="1828800"/>
            <a:ext cx="73152" cy="1828800"/>
          </a:xfrm>
          <a:prstGeom prst="rect">
            <a:avLst/>
          </a:prstGeom>
          <a:solidFill>
            <a:srgbClr val="39A875"/>
          </a:solidFill>
          <a:ln w="12700">
            <a:solidFill>
              <a:srgbClr val="39A875"/>
            </a:solidFill>
            <a:prstDash val="solid"/>
          </a:ln>
        </p:spPr>
        <p:txBody>
          <a:bodyPr/>
          <a:lstStyle/>
          <a:p>
            <a:endParaRPr lang="en-US"/>
          </a:p>
        </p:txBody>
      </p:sp>
      <p:sp>
        <p:nvSpPr>
          <p:cNvPr id="12" name="Text 10"/>
          <p:cNvSpPr/>
          <p:nvPr/>
        </p:nvSpPr>
        <p:spPr>
          <a:xfrm>
            <a:off x="3794760" y="1975104"/>
            <a:ext cx="2103120" cy="256032"/>
          </a:xfrm>
          <a:prstGeom prst="rect">
            <a:avLst/>
          </a:prstGeom>
          <a:noFill/>
          <a:ln/>
        </p:spPr>
        <p:txBody>
          <a:bodyPr wrap="square" lIns="0" tIns="0" rIns="0" bIns="0" rtlCol="0" anchor="ctr">
            <a:normAutofit/>
          </a:bodyPr>
          <a:lstStyle/>
          <a:p>
            <a:pPr marL="0" indent="0">
              <a:buNone/>
            </a:pPr>
            <a:r>
              <a:rPr lang="en-US" sz="1500" b="1" dirty="0">
                <a:solidFill>
                  <a:srgbClr val="0B2D55"/>
                </a:solidFill>
                <a:latin typeface="Aptos" pitchFamily="34" charset="0"/>
                <a:ea typeface="Aptos" pitchFamily="34" charset="-122"/>
                <a:cs typeface="Aptos" pitchFamily="34" charset="-120"/>
              </a:rPr>
              <a:t>Actions</a:t>
            </a:r>
            <a:endParaRPr lang="en-US" sz="1500" dirty="0"/>
          </a:p>
        </p:txBody>
      </p:sp>
      <p:sp>
        <p:nvSpPr>
          <p:cNvPr id="13" name="Text 11"/>
          <p:cNvSpPr/>
          <p:nvPr/>
        </p:nvSpPr>
        <p:spPr>
          <a:xfrm>
            <a:off x="3794760" y="2313432"/>
            <a:ext cx="2103120" cy="1234440"/>
          </a:xfrm>
          <a:prstGeom prst="rect">
            <a:avLst/>
          </a:prstGeom>
          <a:noFill/>
          <a:ln/>
        </p:spPr>
        <p:txBody>
          <a:bodyPr wrap="square" lIns="0" tIns="0" rIns="0" bIns="0" rtlCol="0" anchor="ctr">
            <a:normAutofit/>
          </a:bodyPr>
          <a:lstStyle/>
          <a:p>
            <a:pPr marL="0" indent="0">
              <a:buNone/>
            </a:pPr>
            <a:r>
              <a:rPr lang="en-US" sz="1350" dirty="0">
                <a:solidFill>
                  <a:srgbClr val="132033"/>
                </a:solidFill>
                <a:latin typeface="Aptos" pitchFamily="34" charset="0"/>
                <a:ea typeface="Aptos" pitchFamily="34" charset="-122"/>
                <a:cs typeface="Aptos" pitchFamily="34" charset="-120"/>
              </a:rPr>
              <a:t>What can the agent do?</a:t>
            </a:r>
            <a:endParaRPr lang="en-US" sz="1350" dirty="0"/>
          </a:p>
        </p:txBody>
      </p:sp>
      <p:sp>
        <p:nvSpPr>
          <p:cNvPr id="14" name="Shape 12"/>
          <p:cNvSpPr/>
          <p:nvPr/>
        </p:nvSpPr>
        <p:spPr>
          <a:xfrm>
            <a:off x="6400800" y="1828800"/>
            <a:ext cx="2423160" cy="1828800"/>
          </a:xfrm>
          <a:prstGeom prst="roundRect">
            <a:avLst>
              <a:gd name="adj" fmla="val 4000"/>
            </a:avLst>
          </a:prstGeom>
          <a:solidFill>
            <a:srgbClr val="FFFFFF"/>
          </a:solidFill>
          <a:ln w="12700">
            <a:solidFill>
              <a:srgbClr val="B8C7D8"/>
            </a:solidFill>
            <a:prstDash val="solid"/>
          </a:ln>
          <a:effectLst>
            <a:outerShdw blurRad="12700" dist="50800" dir="2700000" algn="bl" rotWithShape="0">
              <a:srgbClr val="D4DEE8">
                <a:alpha val="25000"/>
              </a:srgbClr>
            </a:outerShdw>
          </a:effectLst>
        </p:spPr>
        <p:txBody>
          <a:bodyPr/>
          <a:lstStyle/>
          <a:p>
            <a:endParaRPr lang="en-US"/>
          </a:p>
        </p:txBody>
      </p:sp>
      <p:sp>
        <p:nvSpPr>
          <p:cNvPr id="15" name="Shape 13"/>
          <p:cNvSpPr/>
          <p:nvPr/>
        </p:nvSpPr>
        <p:spPr>
          <a:xfrm>
            <a:off x="6400800" y="1828800"/>
            <a:ext cx="73152" cy="1828800"/>
          </a:xfrm>
          <a:prstGeom prst="rect">
            <a:avLst/>
          </a:prstGeom>
          <a:solidFill>
            <a:srgbClr val="F2C14E"/>
          </a:solidFill>
          <a:ln w="12700">
            <a:solidFill>
              <a:srgbClr val="F2C14E"/>
            </a:solidFill>
            <a:prstDash val="solid"/>
          </a:ln>
        </p:spPr>
        <p:txBody>
          <a:bodyPr/>
          <a:lstStyle/>
          <a:p>
            <a:endParaRPr lang="en-US"/>
          </a:p>
        </p:txBody>
      </p:sp>
      <p:sp>
        <p:nvSpPr>
          <p:cNvPr id="16" name="Text 14"/>
          <p:cNvSpPr/>
          <p:nvPr/>
        </p:nvSpPr>
        <p:spPr>
          <a:xfrm>
            <a:off x="6583680" y="1975104"/>
            <a:ext cx="2103120" cy="256032"/>
          </a:xfrm>
          <a:prstGeom prst="rect">
            <a:avLst/>
          </a:prstGeom>
          <a:noFill/>
          <a:ln/>
        </p:spPr>
        <p:txBody>
          <a:bodyPr wrap="square" lIns="0" tIns="0" rIns="0" bIns="0" rtlCol="0" anchor="ctr">
            <a:normAutofit/>
          </a:bodyPr>
          <a:lstStyle/>
          <a:p>
            <a:pPr marL="0" indent="0">
              <a:buNone/>
            </a:pPr>
            <a:r>
              <a:rPr lang="en-US" sz="1500" b="1" dirty="0">
                <a:solidFill>
                  <a:srgbClr val="0B2D55"/>
                </a:solidFill>
                <a:latin typeface="Aptos" pitchFamily="34" charset="0"/>
                <a:ea typeface="Aptos" pitchFamily="34" charset="-122"/>
                <a:cs typeface="Aptos" pitchFamily="34" charset="-120"/>
              </a:rPr>
              <a:t>Goal test</a:t>
            </a:r>
            <a:endParaRPr lang="en-US" sz="1500" dirty="0"/>
          </a:p>
        </p:txBody>
      </p:sp>
      <p:sp>
        <p:nvSpPr>
          <p:cNvPr id="17" name="Text 15"/>
          <p:cNvSpPr/>
          <p:nvPr/>
        </p:nvSpPr>
        <p:spPr>
          <a:xfrm>
            <a:off x="6583680" y="2313432"/>
            <a:ext cx="2103120" cy="1234440"/>
          </a:xfrm>
          <a:prstGeom prst="rect">
            <a:avLst/>
          </a:prstGeom>
          <a:noFill/>
          <a:ln/>
        </p:spPr>
        <p:txBody>
          <a:bodyPr wrap="square" lIns="0" tIns="0" rIns="0" bIns="0" rtlCol="0" anchor="ctr">
            <a:normAutofit/>
          </a:bodyPr>
          <a:lstStyle/>
          <a:p>
            <a:pPr marL="0" indent="0">
              <a:buNone/>
            </a:pPr>
            <a:r>
              <a:rPr lang="en-US" sz="1350" dirty="0">
                <a:solidFill>
                  <a:srgbClr val="132033"/>
                </a:solidFill>
                <a:latin typeface="Aptos" pitchFamily="34" charset="0"/>
                <a:ea typeface="Aptos" pitchFamily="34" charset="-122"/>
                <a:cs typeface="Aptos" pitchFamily="34" charset="-120"/>
              </a:rPr>
              <a:t>How do we know we are done?</a:t>
            </a:r>
            <a:endParaRPr lang="en-US" sz="1350" dirty="0"/>
          </a:p>
        </p:txBody>
      </p:sp>
      <p:sp>
        <p:nvSpPr>
          <p:cNvPr id="18" name="Shape 16"/>
          <p:cNvSpPr/>
          <p:nvPr/>
        </p:nvSpPr>
        <p:spPr>
          <a:xfrm>
            <a:off x="9189720" y="1828800"/>
            <a:ext cx="2423160" cy="1828800"/>
          </a:xfrm>
          <a:prstGeom prst="roundRect">
            <a:avLst>
              <a:gd name="adj" fmla="val 4000"/>
            </a:avLst>
          </a:prstGeom>
          <a:solidFill>
            <a:srgbClr val="FFFFFF"/>
          </a:solidFill>
          <a:ln w="12700">
            <a:solidFill>
              <a:srgbClr val="B8C7D8"/>
            </a:solidFill>
            <a:prstDash val="solid"/>
          </a:ln>
          <a:effectLst>
            <a:outerShdw blurRad="12700" dist="50800" dir="2700000" algn="bl" rotWithShape="0">
              <a:srgbClr val="D4DEE8">
                <a:alpha val="25000"/>
              </a:srgbClr>
            </a:outerShdw>
          </a:effectLst>
        </p:spPr>
        <p:txBody>
          <a:bodyPr/>
          <a:lstStyle/>
          <a:p>
            <a:endParaRPr lang="en-US"/>
          </a:p>
        </p:txBody>
      </p:sp>
      <p:sp>
        <p:nvSpPr>
          <p:cNvPr id="19" name="Shape 17"/>
          <p:cNvSpPr/>
          <p:nvPr/>
        </p:nvSpPr>
        <p:spPr>
          <a:xfrm>
            <a:off x="9189720" y="1828800"/>
            <a:ext cx="73152" cy="1828800"/>
          </a:xfrm>
          <a:prstGeom prst="rect">
            <a:avLst/>
          </a:prstGeom>
          <a:solidFill>
            <a:srgbClr val="D94E4E"/>
          </a:solidFill>
          <a:ln w="12700">
            <a:solidFill>
              <a:srgbClr val="D94E4E"/>
            </a:solidFill>
            <a:prstDash val="solid"/>
          </a:ln>
        </p:spPr>
        <p:txBody>
          <a:bodyPr/>
          <a:lstStyle/>
          <a:p>
            <a:endParaRPr lang="en-US"/>
          </a:p>
        </p:txBody>
      </p:sp>
      <p:sp>
        <p:nvSpPr>
          <p:cNvPr id="20" name="Text 18"/>
          <p:cNvSpPr/>
          <p:nvPr/>
        </p:nvSpPr>
        <p:spPr>
          <a:xfrm>
            <a:off x="9372600" y="1975104"/>
            <a:ext cx="2103120" cy="256032"/>
          </a:xfrm>
          <a:prstGeom prst="rect">
            <a:avLst/>
          </a:prstGeom>
          <a:noFill/>
          <a:ln/>
        </p:spPr>
        <p:txBody>
          <a:bodyPr wrap="square" lIns="0" tIns="0" rIns="0" bIns="0" rtlCol="0" anchor="ctr">
            <a:normAutofit/>
          </a:bodyPr>
          <a:lstStyle/>
          <a:p>
            <a:pPr marL="0" indent="0">
              <a:buNone/>
            </a:pPr>
            <a:r>
              <a:rPr lang="en-US" sz="1500" b="1" dirty="0">
                <a:solidFill>
                  <a:srgbClr val="0B2D55"/>
                </a:solidFill>
                <a:latin typeface="Aptos" pitchFamily="34" charset="0"/>
                <a:ea typeface="Aptos" pitchFamily="34" charset="-122"/>
                <a:cs typeface="Aptos" pitchFamily="34" charset="-120"/>
              </a:rPr>
              <a:t>Path cost</a:t>
            </a:r>
            <a:endParaRPr lang="en-US" sz="1500" dirty="0"/>
          </a:p>
        </p:txBody>
      </p:sp>
      <p:sp>
        <p:nvSpPr>
          <p:cNvPr id="21" name="Text 19"/>
          <p:cNvSpPr/>
          <p:nvPr/>
        </p:nvSpPr>
        <p:spPr>
          <a:xfrm>
            <a:off x="9372600" y="2313432"/>
            <a:ext cx="2103120" cy="1234440"/>
          </a:xfrm>
          <a:prstGeom prst="rect">
            <a:avLst/>
          </a:prstGeom>
          <a:noFill/>
          <a:ln/>
        </p:spPr>
        <p:txBody>
          <a:bodyPr wrap="square" lIns="0" tIns="0" rIns="0" bIns="0" rtlCol="0" anchor="ctr">
            <a:normAutofit/>
          </a:bodyPr>
          <a:lstStyle/>
          <a:p>
            <a:pPr marL="0" indent="0">
              <a:buNone/>
            </a:pPr>
            <a:r>
              <a:rPr lang="en-US" sz="1350" dirty="0">
                <a:solidFill>
                  <a:srgbClr val="132033"/>
                </a:solidFill>
                <a:latin typeface="Aptos" pitchFamily="34" charset="0"/>
                <a:ea typeface="Aptos" pitchFamily="34" charset="-122"/>
                <a:cs typeface="Aptos" pitchFamily="34" charset="-120"/>
              </a:rPr>
              <a:t>What makes one solution better?</a:t>
            </a:r>
            <a:endParaRPr lang="en-US" sz="1350" dirty="0"/>
          </a:p>
        </p:txBody>
      </p:sp>
      <p:sp>
        <p:nvSpPr>
          <p:cNvPr id="22" name="Text 20"/>
          <p:cNvSpPr/>
          <p:nvPr/>
        </p:nvSpPr>
        <p:spPr>
          <a:xfrm>
            <a:off x="960120" y="5074920"/>
            <a:ext cx="10149840" cy="502920"/>
          </a:xfrm>
          <a:prstGeom prst="rect">
            <a:avLst/>
          </a:prstGeom>
          <a:noFill/>
          <a:ln/>
        </p:spPr>
        <p:txBody>
          <a:bodyPr wrap="square" lIns="0" tIns="0" rIns="0" bIns="0" rtlCol="0" anchor="ctr">
            <a:normAutofit/>
          </a:bodyPr>
          <a:lstStyle/>
          <a:p>
            <a:pPr marL="0" indent="0" algn="ctr">
              <a:buNone/>
            </a:pPr>
            <a:r>
              <a:rPr lang="en-US" sz="2600" b="1" dirty="0">
                <a:solidFill>
                  <a:srgbClr val="0B2D55"/>
                </a:solidFill>
                <a:latin typeface="Aptos" pitchFamily="34" charset="0"/>
                <a:ea typeface="Aptos" pitchFamily="34" charset="-122"/>
                <a:cs typeface="Aptos" pitchFamily="34" charset="-120"/>
              </a:rPr>
              <a:t>Good search begins before the search algorithm runs.</a:t>
            </a:r>
            <a:endParaRPr lang="en-US" sz="2600" dirty="0"/>
          </a:p>
        </p:txBody>
      </p:sp>
      <p:sp>
        <p:nvSpPr>
          <p:cNvPr id="23" name="Text 21"/>
          <p:cNvSpPr/>
          <p:nvPr/>
        </p:nvSpPr>
        <p:spPr>
          <a:xfrm>
            <a:off x="960120" y="5687568"/>
            <a:ext cx="10149840" cy="320040"/>
          </a:xfrm>
          <a:prstGeom prst="rect">
            <a:avLst/>
          </a:prstGeom>
          <a:noFill/>
          <a:ln/>
        </p:spPr>
        <p:txBody>
          <a:bodyPr wrap="square" lIns="0" tIns="0" rIns="0" bIns="0" rtlCol="0" anchor="ctr">
            <a:normAutofit/>
          </a:bodyPr>
          <a:lstStyle/>
          <a:p>
            <a:pPr marL="0" indent="0" algn="ctr">
              <a:buNone/>
            </a:pPr>
            <a:r>
              <a:rPr lang="en-US" sz="1800" dirty="0">
                <a:solidFill>
                  <a:srgbClr val="132033"/>
                </a:solidFill>
                <a:latin typeface="Aptos" pitchFamily="34" charset="0"/>
                <a:ea typeface="Aptos" pitchFamily="34" charset="-122"/>
                <a:cs typeface="Aptos" pitchFamily="34" charset="-120"/>
              </a:rPr>
              <a:t>Representation shapes what the system can even consider.</a:t>
            </a:r>
            <a:endParaRPr lang="en-US" sz="1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6"/>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7"/>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8"/>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9"/>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0"/>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1"/>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22"/>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576072" y="566928"/>
            <a:ext cx="8412480" cy="475488"/>
          </a:xfrm>
          <a:prstGeom prst="rect">
            <a:avLst/>
          </a:prstGeom>
          <a:noFill/>
          <a:ln/>
        </p:spPr>
        <p:txBody>
          <a:bodyPr wrap="square" lIns="0" tIns="0" rIns="0" bIns="0" rtlCol="0" anchor="ctr">
            <a:normAutofit lnSpcReduction="10000"/>
          </a:bodyPr>
          <a:lstStyle/>
          <a:p>
            <a:pPr marL="0" indent="0">
              <a:buNone/>
            </a:pPr>
            <a:r>
              <a:rPr lang="en-US" sz="3400" b="1" dirty="0">
                <a:solidFill>
                  <a:srgbClr val="0B2D55"/>
                </a:solidFill>
                <a:latin typeface="Aptos Display" pitchFamily="34" charset="0"/>
                <a:ea typeface="Aptos Display" pitchFamily="34" charset="-122"/>
                <a:cs typeface="Aptos Display" pitchFamily="34" charset="-120"/>
              </a:rPr>
              <a:t>Exit Ticket</a:t>
            </a:r>
            <a:endParaRPr lang="en-US" sz="3400" dirty="0"/>
          </a:p>
        </p:txBody>
      </p:sp>
      <p:sp>
        <p:nvSpPr>
          <p:cNvPr id="3" name="Text 1"/>
          <p:cNvSpPr/>
          <p:nvPr/>
        </p:nvSpPr>
        <p:spPr>
          <a:xfrm>
            <a:off x="594360" y="1051560"/>
            <a:ext cx="7315200" cy="292608"/>
          </a:xfrm>
          <a:prstGeom prst="rect">
            <a:avLst/>
          </a:prstGeom>
          <a:noFill/>
          <a:ln/>
        </p:spPr>
        <p:txBody>
          <a:bodyPr wrap="square" lIns="0" tIns="0" rIns="0" bIns="0" rtlCol="0" anchor="ctr">
            <a:normAutofit/>
          </a:bodyPr>
          <a:lstStyle/>
          <a:p>
            <a:pPr marL="0" indent="0">
              <a:buNone/>
            </a:pPr>
            <a:r>
              <a:rPr lang="en-US" sz="1500" dirty="0">
                <a:solidFill>
                  <a:srgbClr val="132033"/>
                </a:solidFill>
                <a:latin typeface="Aptos" pitchFamily="34" charset="0"/>
                <a:ea typeface="Aptos" pitchFamily="34" charset="-122"/>
                <a:cs typeface="Aptos" pitchFamily="34" charset="-120"/>
              </a:rPr>
              <a:t>Apply the formulation template to a compact scenario.</a:t>
            </a:r>
            <a:endParaRPr lang="en-US" sz="1500" dirty="0"/>
          </a:p>
        </p:txBody>
      </p:sp>
      <p:sp>
        <p:nvSpPr>
          <p:cNvPr id="4" name="Text 2"/>
          <p:cNvSpPr/>
          <p:nvPr/>
        </p:nvSpPr>
        <p:spPr>
          <a:xfrm>
            <a:off x="502920" y="6528816"/>
            <a:ext cx="4937760" cy="201168"/>
          </a:xfrm>
          <a:prstGeom prst="rect">
            <a:avLst/>
          </a:prstGeom>
          <a:noFill/>
          <a:ln/>
        </p:spPr>
        <p:txBody>
          <a:bodyPr wrap="square" lIns="0" tIns="0" rIns="0" bIns="0" rtlCol="0" anchor="ctr">
            <a:normAutofit/>
          </a:bodyPr>
          <a:lstStyle/>
          <a:p>
            <a:pPr marL="0" indent="0">
              <a:buNone/>
            </a:pPr>
            <a:r>
              <a:rPr lang="en-US" sz="850" dirty="0">
                <a:solidFill>
                  <a:srgbClr val="6D7C8F"/>
                </a:solidFill>
                <a:latin typeface="Aptos" pitchFamily="34" charset="0"/>
                <a:ea typeface="Aptos" pitchFamily="34" charset="-122"/>
                <a:cs typeface="Aptos" pitchFamily="34" charset="-120"/>
              </a:rPr>
              <a:t>CS 471  |  L04: Problem Formulation</a:t>
            </a:r>
            <a:endParaRPr lang="en-US" sz="850" dirty="0"/>
          </a:p>
        </p:txBody>
      </p:sp>
      <p:sp>
        <p:nvSpPr>
          <p:cNvPr id="5" name="Text 3"/>
          <p:cNvSpPr/>
          <p:nvPr/>
        </p:nvSpPr>
        <p:spPr>
          <a:xfrm>
            <a:off x="11402568" y="6528816"/>
            <a:ext cx="320040" cy="201168"/>
          </a:xfrm>
          <a:prstGeom prst="rect">
            <a:avLst/>
          </a:prstGeom>
          <a:noFill/>
          <a:ln/>
        </p:spPr>
        <p:txBody>
          <a:bodyPr wrap="square" lIns="0" tIns="0" rIns="0" bIns="0" rtlCol="0" anchor="ctr">
            <a:normAutofit/>
          </a:bodyPr>
          <a:lstStyle/>
          <a:p>
            <a:pPr marL="0" indent="0" algn="r">
              <a:buNone/>
            </a:pPr>
            <a:r>
              <a:rPr lang="en-US" sz="850" dirty="0">
                <a:solidFill>
                  <a:srgbClr val="6D7C8F"/>
                </a:solidFill>
                <a:latin typeface="Aptos" pitchFamily="34" charset="0"/>
                <a:ea typeface="Aptos" pitchFamily="34" charset="-122"/>
                <a:cs typeface="Aptos" pitchFamily="34" charset="-120"/>
              </a:rPr>
              <a:t>20</a:t>
            </a:r>
            <a:endParaRPr lang="en-US" sz="850" dirty="0"/>
          </a:p>
        </p:txBody>
      </p:sp>
      <p:sp>
        <p:nvSpPr>
          <p:cNvPr id="6" name="Shape 4"/>
          <p:cNvSpPr/>
          <p:nvPr/>
        </p:nvSpPr>
        <p:spPr>
          <a:xfrm>
            <a:off x="868680" y="1508760"/>
            <a:ext cx="5120640" cy="3886200"/>
          </a:xfrm>
          <a:prstGeom prst="roundRect">
            <a:avLst>
              <a:gd name="adj" fmla="val 1882"/>
            </a:avLst>
          </a:prstGeom>
          <a:solidFill>
            <a:srgbClr val="F4F8FC"/>
          </a:solidFill>
          <a:ln w="12700">
            <a:solidFill>
              <a:srgbClr val="B8C7D8"/>
            </a:solidFill>
            <a:prstDash val="solid"/>
          </a:ln>
          <a:effectLst>
            <a:outerShdw blurRad="12700" dist="50800" dir="2700000" algn="bl" rotWithShape="0">
              <a:srgbClr val="D4DEE8">
                <a:alpha val="25000"/>
              </a:srgbClr>
            </a:outerShdw>
          </a:effectLst>
        </p:spPr>
        <p:txBody>
          <a:bodyPr/>
          <a:lstStyle/>
          <a:p>
            <a:endParaRPr lang="en-US"/>
          </a:p>
        </p:txBody>
      </p:sp>
      <p:sp>
        <p:nvSpPr>
          <p:cNvPr id="7" name="Text 5"/>
          <p:cNvSpPr/>
          <p:nvPr/>
        </p:nvSpPr>
        <p:spPr>
          <a:xfrm>
            <a:off x="1143000" y="1783080"/>
            <a:ext cx="4526280" cy="310896"/>
          </a:xfrm>
          <a:prstGeom prst="rect">
            <a:avLst/>
          </a:prstGeom>
          <a:noFill/>
          <a:ln/>
        </p:spPr>
        <p:txBody>
          <a:bodyPr wrap="square" lIns="0" tIns="0" rIns="0" bIns="0" rtlCol="0" anchor="ctr">
            <a:normAutofit fontScale="92500" lnSpcReduction="10000"/>
          </a:bodyPr>
          <a:lstStyle/>
          <a:p>
            <a:pPr marL="0" indent="0">
              <a:buNone/>
            </a:pPr>
            <a:r>
              <a:rPr lang="en-US" sz="2300" b="1" dirty="0">
                <a:solidFill>
                  <a:srgbClr val="0B2D55"/>
                </a:solidFill>
                <a:latin typeface="Aptos" pitchFamily="34" charset="0"/>
                <a:ea typeface="Aptos" pitchFamily="34" charset="-122"/>
                <a:cs typeface="Aptos" pitchFamily="34" charset="-120"/>
              </a:rPr>
              <a:t>Scenario</a:t>
            </a:r>
            <a:endParaRPr lang="en-US" sz="2300" dirty="0"/>
          </a:p>
        </p:txBody>
      </p:sp>
      <p:sp>
        <p:nvSpPr>
          <p:cNvPr id="8" name="Text 6"/>
          <p:cNvSpPr/>
          <p:nvPr/>
        </p:nvSpPr>
        <p:spPr>
          <a:xfrm>
            <a:off x="1143000" y="2331720"/>
            <a:ext cx="4434840" cy="1097280"/>
          </a:xfrm>
          <a:prstGeom prst="rect">
            <a:avLst/>
          </a:prstGeom>
          <a:noFill/>
          <a:ln/>
        </p:spPr>
        <p:txBody>
          <a:bodyPr wrap="square" lIns="0" tIns="0" rIns="0" bIns="0" rtlCol="0" anchor="ctr">
            <a:normAutofit fontScale="92500" lnSpcReduction="10000"/>
          </a:bodyPr>
          <a:lstStyle/>
          <a:p>
            <a:pPr marL="0" indent="0">
              <a:buNone/>
            </a:pPr>
            <a:r>
              <a:rPr lang="en-US" sz="2100" dirty="0">
                <a:solidFill>
                  <a:srgbClr val="132033"/>
                </a:solidFill>
                <a:latin typeface="Aptos" pitchFamily="34" charset="0"/>
                <a:ea typeface="Aptos" pitchFamily="34" charset="-122"/>
                <a:cs typeface="Aptos" pitchFamily="34" charset="-120"/>
              </a:rPr>
              <a:t>A cyber-defense agent must investigate hosts in a network, identify a compromised machine, and minimize disruption to mission-critical services.</a:t>
            </a:r>
            <a:endParaRPr lang="en-US" sz="2100" dirty="0"/>
          </a:p>
        </p:txBody>
      </p:sp>
      <p:sp>
        <p:nvSpPr>
          <p:cNvPr id="9" name="Shape 7"/>
          <p:cNvSpPr/>
          <p:nvPr/>
        </p:nvSpPr>
        <p:spPr>
          <a:xfrm>
            <a:off x="6400800" y="1508760"/>
            <a:ext cx="4800600" cy="3886200"/>
          </a:xfrm>
          <a:prstGeom prst="roundRect">
            <a:avLst>
              <a:gd name="adj" fmla="val 1882"/>
            </a:avLst>
          </a:prstGeom>
          <a:solidFill>
            <a:srgbClr val="FFFFFF"/>
          </a:solidFill>
          <a:ln w="12700">
            <a:solidFill>
              <a:srgbClr val="B8C7D8"/>
            </a:solidFill>
            <a:prstDash val="solid"/>
          </a:ln>
          <a:effectLst>
            <a:outerShdw blurRad="12700" dist="50800" dir="2700000" algn="bl" rotWithShape="0">
              <a:srgbClr val="D4DEE8">
                <a:alpha val="25000"/>
              </a:srgbClr>
            </a:outerShdw>
          </a:effectLst>
        </p:spPr>
        <p:txBody>
          <a:bodyPr/>
          <a:lstStyle/>
          <a:p>
            <a:endParaRPr lang="en-US"/>
          </a:p>
        </p:txBody>
      </p:sp>
      <p:sp>
        <p:nvSpPr>
          <p:cNvPr id="10" name="Text 8"/>
          <p:cNvSpPr/>
          <p:nvPr/>
        </p:nvSpPr>
        <p:spPr>
          <a:xfrm>
            <a:off x="6675120" y="1783080"/>
            <a:ext cx="4251960" cy="310896"/>
          </a:xfrm>
          <a:prstGeom prst="rect">
            <a:avLst/>
          </a:prstGeom>
          <a:noFill/>
          <a:ln/>
        </p:spPr>
        <p:txBody>
          <a:bodyPr wrap="square" lIns="0" tIns="0" rIns="0" bIns="0" rtlCol="0" anchor="ctr">
            <a:normAutofit fontScale="92500" lnSpcReduction="10000"/>
          </a:bodyPr>
          <a:lstStyle/>
          <a:p>
            <a:pPr marL="0" indent="0">
              <a:buNone/>
            </a:pPr>
            <a:r>
              <a:rPr lang="en-US" sz="2300" b="1" dirty="0">
                <a:solidFill>
                  <a:srgbClr val="0B2D55"/>
                </a:solidFill>
                <a:latin typeface="Aptos" pitchFamily="34" charset="0"/>
                <a:ea typeface="Aptos" pitchFamily="34" charset="-122"/>
                <a:cs typeface="Aptos" pitchFamily="34" charset="-120"/>
              </a:rPr>
              <a:t>Write</a:t>
            </a:r>
            <a:endParaRPr lang="en-US" sz="2300" dirty="0"/>
          </a:p>
        </p:txBody>
      </p:sp>
      <p:sp>
        <p:nvSpPr>
          <p:cNvPr id="11" name="Shape 9"/>
          <p:cNvSpPr/>
          <p:nvPr/>
        </p:nvSpPr>
        <p:spPr>
          <a:xfrm>
            <a:off x="6720840" y="2395728"/>
            <a:ext cx="201168" cy="201168"/>
          </a:xfrm>
          <a:prstGeom prst="ellipse">
            <a:avLst/>
          </a:prstGeom>
          <a:solidFill>
            <a:srgbClr val="F2C14E"/>
          </a:solidFill>
          <a:ln w="12700">
            <a:solidFill>
              <a:srgbClr val="F2C14E"/>
            </a:solidFill>
            <a:prstDash val="solid"/>
          </a:ln>
        </p:spPr>
        <p:txBody>
          <a:bodyPr/>
          <a:lstStyle/>
          <a:p>
            <a:endParaRPr lang="en-US"/>
          </a:p>
        </p:txBody>
      </p:sp>
      <p:sp>
        <p:nvSpPr>
          <p:cNvPr id="12" name="Text 10"/>
          <p:cNvSpPr/>
          <p:nvPr/>
        </p:nvSpPr>
        <p:spPr>
          <a:xfrm>
            <a:off x="6720840" y="2441448"/>
            <a:ext cx="201168" cy="155448"/>
          </a:xfrm>
          <a:prstGeom prst="rect">
            <a:avLst/>
          </a:prstGeom>
          <a:noFill/>
          <a:ln/>
        </p:spPr>
        <p:txBody>
          <a:bodyPr wrap="square" lIns="0" tIns="0" rIns="0" bIns="0" rtlCol="0" anchor="ctr">
            <a:normAutofit fontScale="62500" lnSpcReduction="20000"/>
          </a:bodyPr>
          <a:lstStyle/>
          <a:p>
            <a:pPr marL="0" indent="0" algn="ctr">
              <a:buNone/>
            </a:pPr>
            <a:endParaRPr lang="en-US" sz="1800" dirty="0"/>
          </a:p>
        </p:txBody>
      </p:sp>
      <p:sp>
        <p:nvSpPr>
          <p:cNvPr id="13" name="Text 11"/>
          <p:cNvSpPr/>
          <p:nvPr/>
        </p:nvSpPr>
        <p:spPr>
          <a:xfrm>
            <a:off x="7040880" y="2340864"/>
            <a:ext cx="3749040" cy="256032"/>
          </a:xfrm>
          <a:prstGeom prst="rect">
            <a:avLst/>
          </a:prstGeom>
          <a:noFill/>
          <a:ln/>
        </p:spPr>
        <p:txBody>
          <a:bodyPr wrap="square" lIns="0" tIns="0" rIns="0" bIns="0" rtlCol="0" anchor="ctr">
            <a:normAutofit lnSpcReduction="10000"/>
          </a:bodyPr>
          <a:lstStyle/>
          <a:p>
            <a:pPr marL="0" indent="0">
              <a:buNone/>
            </a:pPr>
            <a:r>
              <a:rPr lang="en-US" sz="1700" dirty="0">
                <a:solidFill>
                  <a:srgbClr val="132033"/>
                </a:solidFill>
                <a:latin typeface="Aptos" pitchFamily="34" charset="0"/>
                <a:ea typeface="Aptos" pitchFamily="34" charset="-122"/>
                <a:cs typeface="Aptos" pitchFamily="34" charset="-120"/>
              </a:rPr>
              <a:t>State</a:t>
            </a:r>
            <a:endParaRPr lang="en-US" sz="1700" dirty="0"/>
          </a:p>
        </p:txBody>
      </p:sp>
      <p:sp>
        <p:nvSpPr>
          <p:cNvPr id="14" name="Shape 12"/>
          <p:cNvSpPr/>
          <p:nvPr/>
        </p:nvSpPr>
        <p:spPr>
          <a:xfrm>
            <a:off x="6720840" y="2852928"/>
            <a:ext cx="201168" cy="201168"/>
          </a:xfrm>
          <a:prstGeom prst="ellipse">
            <a:avLst/>
          </a:prstGeom>
          <a:solidFill>
            <a:srgbClr val="F2C14E"/>
          </a:solidFill>
          <a:ln w="12700">
            <a:solidFill>
              <a:srgbClr val="F2C14E"/>
            </a:solidFill>
            <a:prstDash val="solid"/>
          </a:ln>
        </p:spPr>
        <p:txBody>
          <a:bodyPr/>
          <a:lstStyle/>
          <a:p>
            <a:endParaRPr lang="en-US"/>
          </a:p>
        </p:txBody>
      </p:sp>
      <p:sp>
        <p:nvSpPr>
          <p:cNvPr id="15" name="Text 13"/>
          <p:cNvSpPr/>
          <p:nvPr/>
        </p:nvSpPr>
        <p:spPr>
          <a:xfrm>
            <a:off x="6720840" y="2898648"/>
            <a:ext cx="201168" cy="155448"/>
          </a:xfrm>
          <a:prstGeom prst="rect">
            <a:avLst/>
          </a:prstGeom>
          <a:noFill/>
          <a:ln/>
        </p:spPr>
        <p:txBody>
          <a:bodyPr wrap="square" lIns="0" tIns="0" rIns="0" bIns="0" rtlCol="0" anchor="ctr">
            <a:normAutofit fontScale="62500" lnSpcReduction="20000"/>
          </a:bodyPr>
          <a:lstStyle/>
          <a:p>
            <a:pPr marL="0" indent="0" algn="ctr">
              <a:buNone/>
            </a:pPr>
            <a:endParaRPr lang="en-US" sz="1800" dirty="0"/>
          </a:p>
        </p:txBody>
      </p:sp>
      <p:sp>
        <p:nvSpPr>
          <p:cNvPr id="16" name="Text 14"/>
          <p:cNvSpPr/>
          <p:nvPr/>
        </p:nvSpPr>
        <p:spPr>
          <a:xfrm>
            <a:off x="7040880" y="2798064"/>
            <a:ext cx="3749040" cy="256032"/>
          </a:xfrm>
          <a:prstGeom prst="rect">
            <a:avLst/>
          </a:prstGeom>
          <a:noFill/>
          <a:ln/>
        </p:spPr>
        <p:txBody>
          <a:bodyPr wrap="square" lIns="0" tIns="0" rIns="0" bIns="0" rtlCol="0" anchor="ctr">
            <a:normAutofit lnSpcReduction="10000"/>
          </a:bodyPr>
          <a:lstStyle/>
          <a:p>
            <a:pPr marL="0" indent="0">
              <a:buNone/>
            </a:pPr>
            <a:r>
              <a:rPr lang="en-US" sz="1700" dirty="0">
                <a:solidFill>
                  <a:srgbClr val="132033"/>
                </a:solidFill>
                <a:latin typeface="Aptos" pitchFamily="34" charset="0"/>
                <a:ea typeface="Aptos" pitchFamily="34" charset="-122"/>
                <a:cs typeface="Aptos" pitchFamily="34" charset="-120"/>
              </a:rPr>
              <a:t>Actions</a:t>
            </a:r>
            <a:endParaRPr lang="en-US" sz="1700" dirty="0"/>
          </a:p>
        </p:txBody>
      </p:sp>
      <p:sp>
        <p:nvSpPr>
          <p:cNvPr id="17" name="Shape 15"/>
          <p:cNvSpPr/>
          <p:nvPr/>
        </p:nvSpPr>
        <p:spPr>
          <a:xfrm>
            <a:off x="6720840" y="3310128"/>
            <a:ext cx="201168" cy="201168"/>
          </a:xfrm>
          <a:prstGeom prst="ellipse">
            <a:avLst/>
          </a:prstGeom>
          <a:solidFill>
            <a:srgbClr val="F2C14E"/>
          </a:solidFill>
          <a:ln w="12700">
            <a:solidFill>
              <a:srgbClr val="F2C14E"/>
            </a:solidFill>
            <a:prstDash val="solid"/>
          </a:ln>
        </p:spPr>
        <p:txBody>
          <a:bodyPr/>
          <a:lstStyle/>
          <a:p>
            <a:endParaRPr lang="en-US"/>
          </a:p>
        </p:txBody>
      </p:sp>
      <p:sp>
        <p:nvSpPr>
          <p:cNvPr id="18" name="Text 16"/>
          <p:cNvSpPr/>
          <p:nvPr/>
        </p:nvSpPr>
        <p:spPr>
          <a:xfrm>
            <a:off x="6720840" y="3355848"/>
            <a:ext cx="201168" cy="155448"/>
          </a:xfrm>
          <a:prstGeom prst="rect">
            <a:avLst/>
          </a:prstGeom>
          <a:noFill/>
          <a:ln/>
        </p:spPr>
        <p:txBody>
          <a:bodyPr wrap="square" lIns="0" tIns="0" rIns="0" bIns="0" rtlCol="0" anchor="ctr">
            <a:normAutofit fontScale="62500" lnSpcReduction="20000"/>
          </a:bodyPr>
          <a:lstStyle/>
          <a:p>
            <a:pPr marL="0" indent="0" algn="ctr">
              <a:buNone/>
            </a:pPr>
            <a:endParaRPr lang="en-US" sz="1800" dirty="0"/>
          </a:p>
        </p:txBody>
      </p:sp>
      <p:sp>
        <p:nvSpPr>
          <p:cNvPr id="19" name="Text 17"/>
          <p:cNvSpPr/>
          <p:nvPr/>
        </p:nvSpPr>
        <p:spPr>
          <a:xfrm>
            <a:off x="7040880" y="3255264"/>
            <a:ext cx="3749040" cy="256032"/>
          </a:xfrm>
          <a:prstGeom prst="rect">
            <a:avLst/>
          </a:prstGeom>
          <a:noFill/>
          <a:ln/>
        </p:spPr>
        <p:txBody>
          <a:bodyPr wrap="square" lIns="0" tIns="0" rIns="0" bIns="0" rtlCol="0" anchor="ctr">
            <a:normAutofit lnSpcReduction="10000"/>
          </a:bodyPr>
          <a:lstStyle/>
          <a:p>
            <a:pPr marL="0" indent="0">
              <a:buNone/>
            </a:pPr>
            <a:r>
              <a:rPr lang="en-US" sz="1700" dirty="0">
                <a:solidFill>
                  <a:srgbClr val="132033"/>
                </a:solidFill>
                <a:latin typeface="Aptos" pitchFamily="34" charset="0"/>
                <a:ea typeface="Aptos" pitchFamily="34" charset="-122"/>
                <a:cs typeface="Aptos" pitchFamily="34" charset="-120"/>
              </a:rPr>
              <a:t>Goal test</a:t>
            </a:r>
            <a:endParaRPr lang="en-US" sz="1700" dirty="0"/>
          </a:p>
        </p:txBody>
      </p:sp>
      <p:sp>
        <p:nvSpPr>
          <p:cNvPr id="20" name="Shape 18"/>
          <p:cNvSpPr/>
          <p:nvPr/>
        </p:nvSpPr>
        <p:spPr>
          <a:xfrm>
            <a:off x="6720840" y="3767328"/>
            <a:ext cx="201168" cy="201168"/>
          </a:xfrm>
          <a:prstGeom prst="ellipse">
            <a:avLst/>
          </a:prstGeom>
          <a:solidFill>
            <a:srgbClr val="F2C14E"/>
          </a:solidFill>
          <a:ln w="12700">
            <a:solidFill>
              <a:srgbClr val="F2C14E"/>
            </a:solidFill>
            <a:prstDash val="solid"/>
          </a:ln>
        </p:spPr>
        <p:txBody>
          <a:bodyPr/>
          <a:lstStyle/>
          <a:p>
            <a:endParaRPr lang="en-US"/>
          </a:p>
        </p:txBody>
      </p:sp>
      <p:sp>
        <p:nvSpPr>
          <p:cNvPr id="21" name="Text 19"/>
          <p:cNvSpPr/>
          <p:nvPr/>
        </p:nvSpPr>
        <p:spPr>
          <a:xfrm>
            <a:off x="6720840" y="3813048"/>
            <a:ext cx="201168" cy="155448"/>
          </a:xfrm>
          <a:prstGeom prst="rect">
            <a:avLst/>
          </a:prstGeom>
          <a:noFill/>
          <a:ln/>
        </p:spPr>
        <p:txBody>
          <a:bodyPr wrap="square" lIns="0" tIns="0" rIns="0" bIns="0" rtlCol="0" anchor="ctr">
            <a:normAutofit fontScale="62500" lnSpcReduction="20000"/>
          </a:bodyPr>
          <a:lstStyle/>
          <a:p>
            <a:pPr marL="0" indent="0" algn="ctr">
              <a:buNone/>
            </a:pPr>
            <a:endParaRPr lang="en-US" sz="1800" dirty="0"/>
          </a:p>
        </p:txBody>
      </p:sp>
      <p:sp>
        <p:nvSpPr>
          <p:cNvPr id="22" name="Text 20"/>
          <p:cNvSpPr/>
          <p:nvPr/>
        </p:nvSpPr>
        <p:spPr>
          <a:xfrm>
            <a:off x="7040880" y="3712464"/>
            <a:ext cx="3749040" cy="256032"/>
          </a:xfrm>
          <a:prstGeom prst="rect">
            <a:avLst/>
          </a:prstGeom>
          <a:noFill/>
          <a:ln/>
        </p:spPr>
        <p:txBody>
          <a:bodyPr wrap="square" lIns="0" tIns="0" rIns="0" bIns="0" rtlCol="0" anchor="ctr">
            <a:normAutofit lnSpcReduction="10000"/>
          </a:bodyPr>
          <a:lstStyle/>
          <a:p>
            <a:pPr marL="0" indent="0">
              <a:buNone/>
            </a:pPr>
            <a:r>
              <a:rPr lang="en-US" sz="1700" dirty="0">
                <a:solidFill>
                  <a:srgbClr val="132033"/>
                </a:solidFill>
                <a:latin typeface="Aptos" pitchFamily="34" charset="0"/>
                <a:ea typeface="Aptos" pitchFamily="34" charset="-122"/>
                <a:cs typeface="Aptos" pitchFamily="34" charset="-120"/>
              </a:rPr>
              <a:t>Path cost</a:t>
            </a:r>
            <a:endParaRPr lang="en-US" sz="1700" dirty="0"/>
          </a:p>
        </p:txBody>
      </p:sp>
      <p:sp>
        <p:nvSpPr>
          <p:cNvPr id="23" name="Shape 21"/>
          <p:cNvSpPr/>
          <p:nvPr/>
        </p:nvSpPr>
        <p:spPr>
          <a:xfrm>
            <a:off x="6720840" y="4224528"/>
            <a:ext cx="201168" cy="201168"/>
          </a:xfrm>
          <a:prstGeom prst="ellipse">
            <a:avLst/>
          </a:prstGeom>
          <a:solidFill>
            <a:srgbClr val="F2C14E"/>
          </a:solidFill>
          <a:ln w="12700">
            <a:solidFill>
              <a:srgbClr val="F2C14E"/>
            </a:solidFill>
            <a:prstDash val="solid"/>
          </a:ln>
        </p:spPr>
        <p:txBody>
          <a:bodyPr/>
          <a:lstStyle/>
          <a:p>
            <a:endParaRPr lang="en-US"/>
          </a:p>
        </p:txBody>
      </p:sp>
      <p:sp>
        <p:nvSpPr>
          <p:cNvPr id="24" name="Text 22"/>
          <p:cNvSpPr/>
          <p:nvPr/>
        </p:nvSpPr>
        <p:spPr>
          <a:xfrm>
            <a:off x="6720840" y="4270248"/>
            <a:ext cx="201168" cy="155448"/>
          </a:xfrm>
          <a:prstGeom prst="rect">
            <a:avLst/>
          </a:prstGeom>
          <a:noFill/>
          <a:ln/>
        </p:spPr>
        <p:txBody>
          <a:bodyPr wrap="square" lIns="0" tIns="0" rIns="0" bIns="0" rtlCol="0" anchor="ctr">
            <a:normAutofit fontScale="62500" lnSpcReduction="20000"/>
          </a:bodyPr>
          <a:lstStyle/>
          <a:p>
            <a:pPr marL="0" indent="0" algn="ctr">
              <a:buNone/>
            </a:pPr>
            <a:endParaRPr lang="en-US" sz="1800" dirty="0"/>
          </a:p>
        </p:txBody>
      </p:sp>
      <p:sp>
        <p:nvSpPr>
          <p:cNvPr id="25" name="Text 23"/>
          <p:cNvSpPr/>
          <p:nvPr/>
        </p:nvSpPr>
        <p:spPr>
          <a:xfrm>
            <a:off x="7040880" y="4169664"/>
            <a:ext cx="3749040" cy="256032"/>
          </a:xfrm>
          <a:prstGeom prst="rect">
            <a:avLst/>
          </a:prstGeom>
          <a:noFill/>
          <a:ln/>
        </p:spPr>
        <p:txBody>
          <a:bodyPr wrap="square" lIns="0" tIns="0" rIns="0" bIns="0" rtlCol="0" anchor="ctr">
            <a:normAutofit lnSpcReduction="10000"/>
          </a:bodyPr>
          <a:lstStyle/>
          <a:p>
            <a:pPr marL="0" indent="0">
              <a:buNone/>
            </a:pPr>
            <a:r>
              <a:rPr lang="en-US" sz="1700" dirty="0">
                <a:solidFill>
                  <a:srgbClr val="132033"/>
                </a:solidFill>
                <a:latin typeface="Aptos" pitchFamily="34" charset="0"/>
                <a:ea typeface="Aptos" pitchFamily="34" charset="-122"/>
                <a:cs typeface="Aptos" pitchFamily="34" charset="-120"/>
              </a:rPr>
              <a:t>One representation tradeoff</a:t>
            </a:r>
            <a:endParaRPr lang="en-US" sz="1700" dirty="0"/>
          </a:p>
        </p:txBody>
      </p:sp>
      <p:sp>
        <p:nvSpPr>
          <p:cNvPr id="26" name="Text 24"/>
          <p:cNvSpPr/>
          <p:nvPr/>
        </p:nvSpPr>
        <p:spPr>
          <a:xfrm>
            <a:off x="914400" y="5989320"/>
            <a:ext cx="10149840" cy="320040"/>
          </a:xfrm>
          <a:prstGeom prst="rect">
            <a:avLst/>
          </a:prstGeom>
          <a:noFill/>
          <a:ln/>
        </p:spPr>
        <p:txBody>
          <a:bodyPr wrap="square" lIns="0" tIns="0" rIns="0" bIns="0" rtlCol="0" anchor="ctr">
            <a:normAutofit/>
          </a:bodyPr>
          <a:lstStyle/>
          <a:p>
            <a:pPr marL="0" indent="0" algn="ctr">
              <a:buNone/>
            </a:pPr>
            <a:r>
              <a:rPr lang="en-US" sz="1700" b="1" dirty="0">
                <a:solidFill>
                  <a:srgbClr val="1D5FA7"/>
                </a:solidFill>
                <a:latin typeface="Aptos" pitchFamily="34" charset="0"/>
                <a:ea typeface="Aptos" pitchFamily="34" charset="-122"/>
                <a:cs typeface="Aptos" pitchFamily="34" charset="-120"/>
              </a:rPr>
              <a:t>Next class: Uninformed Search — once the problem is defined, how should the algorithm explore it?</a:t>
            </a:r>
            <a:endParaRPr lang="en-US" sz="1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7ab80a06-f029-45c0-84d1-7dad19ce3c61}" enabled="0" method="" siteId="{7ab80a06-f029-45c0-84d1-7dad19ce3c61}" removed="1"/>
</clbl:labelList>
</file>

<file path=docProps/app.xml><?xml version="1.0" encoding="utf-8"?>
<Properties xmlns="http://schemas.openxmlformats.org/officeDocument/2006/extended-properties" xmlns:vt="http://schemas.openxmlformats.org/officeDocument/2006/docPropsVTypes">
  <TotalTime>39</TotalTime>
  <Words>1884</Words>
  <Application>Microsoft Office PowerPoint</Application>
  <PresentationFormat>Widescreen</PresentationFormat>
  <Paragraphs>328</Paragraphs>
  <Slides>19</Slides>
  <Notes>19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United States Air Force Academy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CS471 Lesson 4 Problem Formulation</dc:title>
  <dc:subject>Lesson 4: Problem Formulation</dc:subject>
  <dc:creator>CS 471</dc:creator>
  <cp:lastModifiedBy>Phan, Tiffany M Capt USAF USAFA AW/DFCS</cp:lastModifiedBy>
  <cp:revision>1</cp:revision>
  <dcterms:created xsi:type="dcterms:W3CDTF">2026-08-04T22:40:23Z</dcterms:created>
  <dcterms:modified xsi:type="dcterms:W3CDTF">2026-08-14T15:18:49Z</dcterms:modified>
</cp:coreProperties>
</file>