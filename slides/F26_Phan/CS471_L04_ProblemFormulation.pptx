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90" d="100"/>
          <a:sy n="90" d="100"/>
        </p:scale>
        <p:origin x="84" y="12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an, Tiffany M Capt USAF USAFA DF/DFCS" userId="a0ed988f-3bd3-448a-ab68-f6eca8eadb00" providerId="ADAL" clId="{D74FDB2A-C6F9-423C-9DA7-5C8A44CC196C}"/>
    <pc:docChg chg="undo custSel modSld modMainMaster">
      <pc:chgData name="Phan, Tiffany M Capt USAF USAFA DF/DFCS" userId="a0ed988f-3bd3-448a-ab68-f6eca8eadb00" providerId="ADAL" clId="{D74FDB2A-C6F9-423C-9DA7-5C8A44CC196C}" dt="2026-08-04T22:50:37.829" v="27" actId="478"/>
      <pc:docMkLst>
        <pc:docMk/>
      </pc:docMkLst>
      <pc:sldChg chg="addSp delSp modSp mod">
        <pc:chgData name="Phan, Tiffany M Capt USAF USAFA DF/DFCS" userId="a0ed988f-3bd3-448a-ab68-f6eca8eadb00" providerId="ADAL" clId="{D74FDB2A-C6F9-423C-9DA7-5C8A44CC196C}" dt="2026-08-04T22:49:27.582" v="26" actId="20577"/>
        <pc:sldMkLst>
          <pc:docMk/>
          <pc:sldMk cId="0" sldId="256"/>
        </pc:sldMkLst>
        <pc:spChg chg="mod">
          <ac:chgData name="Phan, Tiffany M Capt USAF USAFA DF/DFCS" userId="a0ed988f-3bd3-448a-ab68-f6eca8eadb00" providerId="ADAL" clId="{D74FDB2A-C6F9-423C-9DA7-5C8A44CC196C}" dt="2026-08-04T22:46:39.601" v="21" actId="14100"/>
          <ac:spMkLst>
            <pc:docMk/>
            <pc:sldMk cId="0" sldId="256"/>
            <ac:spMk id="2" creationId="{00000000-0000-0000-0000-000000000000}"/>
          </ac:spMkLst>
        </pc:spChg>
        <pc:spChg chg="mod">
          <ac:chgData name="Phan, Tiffany M Capt USAF USAFA DF/DFCS" userId="a0ed988f-3bd3-448a-ab68-f6eca8eadb00" providerId="ADAL" clId="{D74FDB2A-C6F9-423C-9DA7-5C8A44CC196C}" dt="2026-08-04T22:46:53.300" v="22" actId="207"/>
          <ac:spMkLst>
            <pc:docMk/>
            <pc:sldMk cId="0" sldId="256"/>
            <ac:spMk id="3" creationId="{00000000-0000-0000-0000-000000000000}"/>
          </ac:spMkLst>
        </pc:spChg>
        <pc:spChg chg="mod">
          <ac:chgData name="Phan, Tiffany M Capt USAF USAFA DF/DFCS" userId="a0ed988f-3bd3-448a-ab68-f6eca8eadb00" providerId="ADAL" clId="{D74FDB2A-C6F9-423C-9DA7-5C8A44CC196C}" dt="2026-08-04T22:49:27.582" v="26" actId="20577"/>
          <ac:spMkLst>
            <pc:docMk/>
            <pc:sldMk cId="0" sldId="256"/>
            <ac:spMk id="6" creationId="{00000000-0000-0000-0000-000000000000}"/>
          </ac:spMkLst>
        </pc:spChg>
        <pc:spChg chg="mod">
          <ac:chgData name="Phan, Tiffany M Capt USAF USAFA DF/DFCS" userId="a0ed988f-3bd3-448a-ab68-f6eca8eadb00" providerId="ADAL" clId="{D74FDB2A-C6F9-423C-9DA7-5C8A44CC196C}" dt="2026-08-04T22:49:17.724" v="24" actId="27636"/>
          <ac:spMkLst>
            <pc:docMk/>
            <pc:sldMk cId="0" sldId="256"/>
            <ac:spMk id="19" creationId="{00000000-0000-0000-0000-000000000000}"/>
          </ac:spMkLst>
        </pc:spChg>
        <pc:spChg chg="add del">
          <ac:chgData name="Phan, Tiffany M Capt USAF USAFA DF/DFCS" userId="a0ed988f-3bd3-448a-ab68-f6eca8eadb00" providerId="ADAL" clId="{D74FDB2A-C6F9-423C-9DA7-5C8A44CC196C}" dt="2026-08-04T22:46:13.804" v="18" actId="22"/>
          <ac:spMkLst>
            <pc:docMk/>
            <pc:sldMk cId="0" sldId="256"/>
            <ac:spMk id="24" creationId="{54CA6AAE-1045-8BE7-96A3-2F0B2FB215AF}"/>
          </ac:spMkLst>
        </pc:spChg>
        <pc:spChg chg="add del">
          <ac:chgData name="Phan, Tiffany M Capt USAF USAFA DF/DFCS" userId="a0ed988f-3bd3-448a-ab68-f6eca8eadb00" providerId="ADAL" clId="{D74FDB2A-C6F9-423C-9DA7-5C8A44CC196C}" dt="2026-08-04T22:46:13.804" v="18" actId="22"/>
          <ac:spMkLst>
            <pc:docMk/>
            <pc:sldMk cId="0" sldId="256"/>
            <ac:spMk id="26" creationId="{1B25E413-7570-CAD5-58F7-B7890BBDBBC0}"/>
          </ac:spMkLst>
        </pc:spChg>
        <pc:picChg chg="add">
          <ac:chgData name="Phan, Tiffany M Capt USAF USAFA DF/DFCS" userId="a0ed988f-3bd3-448a-ab68-f6eca8eadb00" providerId="ADAL" clId="{D74FDB2A-C6F9-423C-9DA7-5C8A44CC196C}" dt="2026-08-04T22:45:32.951" v="0" actId="22"/>
          <ac:picMkLst>
            <pc:docMk/>
            <pc:sldMk cId="0" sldId="256"/>
            <ac:picMk id="22" creationId="{1E96D11D-0C2B-8485-0479-FA4145A37A73}"/>
          </ac:picMkLst>
        </pc:picChg>
      </pc:sldChg>
      <pc:sldChg chg="addSp delSp modSp mod">
        <pc:chgData name="Phan, Tiffany M Capt USAF USAFA DF/DFCS" userId="a0ed988f-3bd3-448a-ab68-f6eca8eadb00" providerId="ADAL" clId="{D74FDB2A-C6F9-423C-9DA7-5C8A44CC196C}" dt="2026-08-04T22:46:11.441" v="17" actId="22"/>
        <pc:sldMkLst>
          <pc:docMk/>
          <pc:sldMk cId="0" sldId="257"/>
        </pc:sldMkLst>
        <pc:spChg chg="add del mod">
          <ac:chgData name="Phan, Tiffany M Capt USAF USAFA DF/DFCS" userId="a0ed988f-3bd3-448a-ab68-f6eca8eadb00" providerId="ADAL" clId="{D74FDB2A-C6F9-423C-9DA7-5C8A44CC196C}" dt="2026-08-04T22:46:11.441" v="17" actId="22"/>
          <ac:spMkLst>
            <pc:docMk/>
            <pc:sldMk cId="0" sldId="257"/>
            <ac:spMk id="27" creationId="{B0728781-6F02-EDC7-80D5-6DBB0B9A70E3}"/>
          </ac:spMkLst>
        </pc:spChg>
        <pc:spChg chg="add del mod">
          <ac:chgData name="Phan, Tiffany M Capt USAF USAFA DF/DFCS" userId="a0ed988f-3bd3-448a-ab68-f6eca8eadb00" providerId="ADAL" clId="{D74FDB2A-C6F9-423C-9DA7-5C8A44CC196C}" dt="2026-08-04T22:46:11.441" v="17" actId="22"/>
          <ac:spMkLst>
            <pc:docMk/>
            <pc:sldMk cId="0" sldId="257"/>
            <ac:spMk id="29" creationId="{8E732A3E-F282-2E48-7C2B-F2193508C3F6}"/>
          </ac:spMkLst>
        </pc:spChg>
        <pc:spChg chg="add del">
          <ac:chgData name="Phan, Tiffany M Capt USAF USAFA DF/DFCS" userId="a0ed988f-3bd3-448a-ab68-f6eca8eadb00" providerId="ADAL" clId="{D74FDB2A-C6F9-423C-9DA7-5C8A44CC196C}" dt="2026-08-04T22:45:53.458" v="5" actId="22"/>
          <ac:spMkLst>
            <pc:docMk/>
            <pc:sldMk cId="0" sldId="257"/>
            <ac:spMk id="31" creationId="{D32F88F0-3AB4-D1D2-77C7-7DA3192916DA}"/>
          </ac:spMkLst>
        </pc:spChg>
        <pc:spChg chg="add del">
          <ac:chgData name="Phan, Tiffany M Capt USAF USAFA DF/DFCS" userId="a0ed988f-3bd3-448a-ab68-f6eca8eadb00" providerId="ADAL" clId="{D74FDB2A-C6F9-423C-9DA7-5C8A44CC196C}" dt="2026-08-04T22:45:53.458" v="5" actId="22"/>
          <ac:spMkLst>
            <pc:docMk/>
            <pc:sldMk cId="0" sldId="257"/>
            <ac:spMk id="33" creationId="{D21D2CF8-F5D5-9955-387E-6EE1ED80A656}"/>
          </ac:spMkLst>
        </pc:spChg>
        <pc:spChg chg="add del">
          <ac:chgData name="Phan, Tiffany M Capt USAF USAFA DF/DFCS" userId="a0ed988f-3bd3-448a-ab68-f6eca8eadb00" providerId="ADAL" clId="{D74FDB2A-C6F9-423C-9DA7-5C8A44CC196C}" dt="2026-08-04T22:46:08.830" v="11" actId="22"/>
          <ac:spMkLst>
            <pc:docMk/>
            <pc:sldMk cId="0" sldId="257"/>
            <ac:spMk id="35" creationId="{BDE9D896-4213-7623-DA43-F916F66BA532}"/>
          </ac:spMkLst>
        </pc:spChg>
        <pc:spChg chg="add del">
          <ac:chgData name="Phan, Tiffany M Capt USAF USAFA DF/DFCS" userId="a0ed988f-3bd3-448a-ab68-f6eca8eadb00" providerId="ADAL" clId="{D74FDB2A-C6F9-423C-9DA7-5C8A44CC196C}" dt="2026-08-04T22:46:08.830" v="11" actId="22"/>
          <ac:spMkLst>
            <pc:docMk/>
            <pc:sldMk cId="0" sldId="257"/>
            <ac:spMk id="37" creationId="{F3E00A16-4B80-740D-E74E-1C809CE68CC2}"/>
          </ac:spMkLst>
        </pc:spChg>
      </pc:sldChg>
      <pc:sldChg chg="addSp delSp mod">
        <pc:chgData name="Phan, Tiffany M Capt USAF USAFA DF/DFCS" userId="a0ed988f-3bd3-448a-ab68-f6eca8eadb00" providerId="ADAL" clId="{D74FDB2A-C6F9-423C-9DA7-5C8A44CC196C}" dt="2026-08-04T22:50:37.829" v="27" actId="478"/>
        <pc:sldMkLst>
          <pc:docMk/>
          <pc:sldMk cId="0" sldId="258"/>
        </pc:sldMkLst>
        <pc:spChg chg="del">
          <ac:chgData name="Phan, Tiffany M Capt USAF USAFA DF/DFCS" userId="a0ed988f-3bd3-448a-ab68-f6eca8eadb00" providerId="ADAL" clId="{D74FDB2A-C6F9-423C-9DA7-5C8A44CC196C}" dt="2026-08-04T22:50:37.829" v="27" actId="478"/>
          <ac:spMkLst>
            <pc:docMk/>
            <pc:sldMk cId="0" sldId="258"/>
            <ac:spMk id="15" creationId="{00000000-0000-0000-0000-000000000000}"/>
          </ac:spMkLst>
        </pc:spChg>
        <pc:spChg chg="add del">
          <ac:chgData name="Phan, Tiffany M Capt USAF USAFA DF/DFCS" userId="a0ed988f-3bd3-448a-ab68-f6eca8eadb00" providerId="ADAL" clId="{D74FDB2A-C6F9-423C-9DA7-5C8A44CC196C}" dt="2026-08-04T22:46:09.690" v="15" actId="22"/>
          <ac:spMkLst>
            <pc:docMk/>
            <pc:sldMk cId="0" sldId="258"/>
            <ac:spMk id="17" creationId="{67866E57-E517-0113-435A-6E86DFE3B005}"/>
          </ac:spMkLst>
        </pc:spChg>
        <pc:spChg chg="add del">
          <ac:chgData name="Phan, Tiffany M Capt USAF USAFA DF/DFCS" userId="a0ed988f-3bd3-448a-ab68-f6eca8eadb00" providerId="ADAL" clId="{D74FDB2A-C6F9-423C-9DA7-5C8A44CC196C}" dt="2026-08-04T22:46:09.690" v="15" actId="22"/>
          <ac:spMkLst>
            <pc:docMk/>
            <pc:sldMk cId="0" sldId="258"/>
            <ac:spMk id="19" creationId="{A2302315-BA91-95B6-A337-540FBA3D8795}"/>
          </ac:spMkLst>
        </pc:spChg>
      </pc:sldChg>
      <pc:sldChg chg="addSp delSp mod">
        <pc:chgData name="Phan, Tiffany M Capt USAF USAFA DF/DFCS" userId="a0ed988f-3bd3-448a-ab68-f6eca8eadb00" providerId="ADAL" clId="{D74FDB2A-C6F9-423C-9DA7-5C8A44CC196C}" dt="2026-08-04T22:46:09.512" v="14" actId="22"/>
        <pc:sldMkLst>
          <pc:docMk/>
          <pc:sldMk cId="0" sldId="259"/>
        </pc:sldMkLst>
        <pc:spChg chg="add del">
          <ac:chgData name="Phan, Tiffany M Capt USAF USAFA DF/DFCS" userId="a0ed988f-3bd3-448a-ab68-f6eca8eadb00" providerId="ADAL" clId="{D74FDB2A-C6F9-423C-9DA7-5C8A44CC196C}" dt="2026-08-04T22:46:09.512" v="14" actId="22"/>
          <ac:spMkLst>
            <pc:docMk/>
            <pc:sldMk cId="0" sldId="259"/>
            <ac:spMk id="26" creationId="{21398C0B-AC83-F4EE-0597-F87D9706F68D}"/>
          </ac:spMkLst>
        </pc:spChg>
        <pc:spChg chg="add del">
          <ac:chgData name="Phan, Tiffany M Capt USAF USAFA DF/DFCS" userId="a0ed988f-3bd3-448a-ab68-f6eca8eadb00" providerId="ADAL" clId="{D74FDB2A-C6F9-423C-9DA7-5C8A44CC196C}" dt="2026-08-04T22:46:09.512" v="14" actId="22"/>
          <ac:spMkLst>
            <pc:docMk/>
            <pc:sldMk cId="0" sldId="259"/>
            <ac:spMk id="28" creationId="{EBD1DC0A-1270-E37A-805F-77161E2D163D}"/>
          </ac:spMkLst>
        </pc:spChg>
      </pc:sldChg>
      <pc:sldChg chg="addSp delSp mod">
        <pc:chgData name="Phan, Tiffany M Capt USAF USAFA DF/DFCS" userId="a0ed988f-3bd3-448a-ab68-f6eca8eadb00" providerId="ADAL" clId="{D74FDB2A-C6F9-423C-9DA7-5C8A44CC196C}" dt="2026-08-04T22:46:09.351" v="13" actId="22"/>
        <pc:sldMkLst>
          <pc:docMk/>
          <pc:sldMk cId="0" sldId="260"/>
        </pc:sldMkLst>
        <pc:spChg chg="add del">
          <ac:chgData name="Phan, Tiffany M Capt USAF USAFA DF/DFCS" userId="a0ed988f-3bd3-448a-ab68-f6eca8eadb00" providerId="ADAL" clId="{D74FDB2A-C6F9-423C-9DA7-5C8A44CC196C}" dt="2026-08-04T22:46:09.351" v="13" actId="22"/>
          <ac:spMkLst>
            <pc:docMk/>
            <pc:sldMk cId="0" sldId="260"/>
            <ac:spMk id="28" creationId="{A3DA32B9-9C3C-5844-625F-2A7053CD0B56}"/>
          </ac:spMkLst>
        </pc:spChg>
        <pc:spChg chg="add del">
          <ac:chgData name="Phan, Tiffany M Capt USAF USAFA DF/DFCS" userId="a0ed988f-3bd3-448a-ab68-f6eca8eadb00" providerId="ADAL" clId="{D74FDB2A-C6F9-423C-9DA7-5C8A44CC196C}" dt="2026-08-04T22:46:09.351" v="13" actId="22"/>
          <ac:spMkLst>
            <pc:docMk/>
            <pc:sldMk cId="0" sldId="260"/>
            <ac:spMk id="30" creationId="{B7356F6E-35BB-01B2-2026-8B17E396E9E0}"/>
          </ac:spMkLst>
        </pc:spChg>
      </pc:sldChg>
      <pc:sldChg chg="addSp delSp mod">
        <pc:chgData name="Phan, Tiffany M Capt USAF USAFA DF/DFCS" userId="a0ed988f-3bd3-448a-ab68-f6eca8eadb00" providerId="ADAL" clId="{D74FDB2A-C6F9-423C-9DA7-5C8A44CC196C}" dt="2026-08-04T22:46:09.034" v="12" actId="22"/>
        <pc:sldMkLst>
          <pc:docMk/>
          <pc:sldMk cId="0" sldId="261"/>
        </pc:sldMkLst>
        <pc:spChg chg="add del">
          <ac:chgData name="Phan, Tiffany M Capt USAF USAFA DF/DFCS" userId="a0ed988f-3bd3-448a-ab68-f6eca8eadb00" providerId="ADAL" clId="{D74FDB2A-C6F9-423C-9DA7-5C8A44CC196C}" dt="2026-08-04T22:46:09.034" v="12" actId="22"/>
          <ac:spMkLst>
            <pc:docMk/>
            <pc:sldMk cId="0" sldId="261"/>
            <ac:spMk id="24" creationId="{B91F4127-A79D-237B-5A13-25C320774E4F}"/>
          </ac:spMkLst>
        </pc:spChg>
        <pc:spChg chg="add del">
          <ac:chgData name="Phan, Tiffany M Capt USAF USAFA DF/DFCS" userId="a0ed988f-3bd3-448a-ab68-f6eca8eadb00" providerId="ADAL" clId="{D74FDB2A-C6F9-423C-9DA7-5C8A44CC196C}" dt="2026-08-04T22:46:09.034" v="12" actId="22"/>
          <ac:spMkLst>
            <pc:docMk/>
            <pc:sldMk cId="0" sldId="261"/>
            <ac:spMk id="26" creationId="{A1969D8B-F8F9-B479-190A-5667EE4973C0}"/>
          </ac:spMkLst>
        </pc:spChg>
      </pc:sldChg>
      <pc:sldMasterChg chg="addSp mod">
        <pc:chgData name="Phan, Tiffany M Capt USAF USAFA DF/DFCS" userId="a0ed988f-3bd3-448a-ab68-f6eca8eadb00" providerId="ADAL" clId="{D74FDB2A-C6F9-423C-9DA7-5C8A44CC196C}" dt="2026-08-04T22:46:26.192" v="19" actId="22"/>
        <pc:sldMasterMkLst>
          <pc:docMk/>
          <pc:sldMasterMk cId="0" sldId="2147483648"/>
        </pc:sldMasterMkLst>
        <pc:spChg chg="add">
          <ac:chgData name="Phan, Tiffany M Capt USAF USAFA DF/DFCS" userId="a0ed988f-3bd3-448a-ab68-f6eca8eadb00" providerId="ADAL" clId="{D74FDB2A-C6F9-423C-9DA7-5C8A44CC196C}" dt="2026-08-04T22:46:26.192" v="19" actId="22"/>
          <ac:spMkLst>
            <pc:docMk/>
            <pc:sldMasterMk cId="0" sldId="2147483648"/>
            <ac:spMk id="3" creationId="{45B5700A-8796-2161-80E6-4D2DA4DAB85C}"/>
          </ac:spMkLst>
        </pc:spChg>
        <pc:spChg chg="add">
          <ac:chgData name="Phan, Tiffany M Capt USAF USAFA DF/DFCS" userId="a0ed988f-3bd3-448a-ab68-f6eca8eadb00" providerId="ADAL" clId="{D74FDB2A-C6F9-423C-9DA7-5C8A44CC196C}" dt="2026-08-04T22:46:26.192" v="19" actId="22"/>
          <ac:spMkLst>
            <pc:docMk/>
            <pc:sldMasterMk cId="0" sldId="2147483648"/>
            <ac:spMk id="5" creationId="{D4EAE993-5CED-0F7D-8762-FABA9ECE3793}"/>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3274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connecting Lessons 1–3 to search. Emphasize that we are moving from evaluating AI outputs to building classical AI problem representations. The key message is that formulation precedes algorithm choice.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recall the Lesson 2 pipeline and Lesson 3 input-sensitivity workshop. Guide answers toward missing constraints, wrong goals, irrelevant features, and ambiguous objective definitions.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directly to syllabus objectives. Explain that this lesson supports HW1, Quiz 1, and GR1, but the examples today are intentionally different from assessment scenarios.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running scenario. Ask students to list decision-relevant information before formalizing states. Avoid immediately giving the full answer; let them name location, samples, battery, hazards, and return status.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conceptual bridge into the rest of Module 1. Later lessons teach search execution; today is about what the search algorithm receives.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four core components and mention initial state as the starting instance. Keep the language reusable so students can apply it to any domain.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states are not arbitrary data dumps. They should include enough information to decide what actions are legal and whether the mission is complete, but not irrelevant detail.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assume more information is always better. Use this slide to establish the search cost of irrelevant dimensions.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actions and state transitions without executing a full search algorithm yet. Students should see that actions depend on the current state.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three examples to help students recognize incomplete or misleading goals. The correct goal usually combines multiple state features.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prepares students for later search algorithms, especially UCS and A*. Tie path cost to g(n) later but do not teach g/h/f in detail yet.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be able to copy this structure for new problems. Emphasize that answers may vary as long as they support legal action selection, goal recognition, and cost calculation.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small numbers so the combinatorics are visible. This prepares students for Quiz 1-style representation comparison and HW1-style tradeoff discussion.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big conceptual takeaway. Use the test sentence repeatedly during student practice.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as a quick group task. Expected issues: no inspected-support status, no battery, no restricted-zone information, incomplete goal, cost not aligned with energy/risk.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about five minutes. This mirrors the open-response skill needed for GR1 without reusing the assessment context. Ask them to write compact, defensible answers.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one or two pairs share. Use these questions to guide class critique. Emphasize that formulation is iterative and evidence-based.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makes assessment alignment visible. Avoid disclosing specific assessment items. Say that students should expect new scenarios requiring the same reasoning.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reconstruct the four components aloud. Reinforce the central lesson claim.</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as an exit ticket or use as next-class retrieval. This checks construction and representation tradeoff skills.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45B5700A-8796-2161-80E6-4D2DA4DAB85C}"/>
              </a:ext>
            </a:extLst>
          </p:cNvPr>
          <p:cNvSpPr/>
          <p:nvPr userDrawn="1"/>
        </p:nvSpPr>
        <p:spPr>
          <a:xfrm>
            <a:off x="0" y="0"/>
            <a:ext cx="12191695" cy="164592"/>
          </a:xfrm>
          <a:prstGeom prst="rect">
            <a:avLst/>
          </a:prstGeom>
          <a:solidFill>
            <a:srgbClr val="062B49"/>
          </a:solidFill>
          <a:ln w="12700">
            <a:solidFill>
              <a:srgbClr val="062B49">
                <a:alpha val="0"/>
              </a:srgbClr>
            </a:solidFill>
            <a:prstDash val="solid"/>
          </a:ln>
        </p:spPr>
        <p:txBody>
          <a:bodyPr/>
          <a:lstStyle/>
          <a:p>
            <a:endParaRPr lang="en-US"/>
          </a:p>
        </p:txBody>
      </p:sp>
      <p:sp>
        <p:nvSpPr>
          <p:cNvPr id="5" name="Shape 2">
            <a:extLst>
              <a:ext uri="{FF2B5EF4-FFF2-40B4-BE49-F238E27FC236}">
                <a16:creationId xmlns:a16="http://schemas.microsoft.com/office/drawing/2014/main" id="{D4EAE993-5CED-0F7D-8762-FABA9ECE3793}"/>
              </a:ext>
            </a:extLst>
          </p:cNvPr>
          <p:cNvSpPr/>
          <p:nvPr userDrawn="1"/>
        </p:nvSpPr>
        <p:spPr>
          <a:xfrm>
            <a:off x="0" y="164592"/>
            <a:ext cx="12191695" cy="32004"/>
          </a:xfrm>
          <a:prstGeom prst="rect">
            <a:avLst/>
          </a:prstGeom>
          <a:solidFill>
            <a:srgbClr val="FDB515"/>
          </a:solidFill>
          <a:ln w="12700">
            <a:solidFill>
              <a:srgbClr val="FDB515">
                <a:alpha val="0"/>
              </a:srgbClr>
            </a:solidFill>
            <a:prstDash val="solid"/>
          </a:ln>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202020"/>
            <a:ext cx="12191695" cy="6655980"/>
          </a:xfrm>
          <a:prstGeom prst="rect">
            <a:avLst/>
          </a:prstGeom>
          <a:solidFill>
            <a:srgbClr val="F4F8FC"/>
          </a:solidFill>
          <a:ln w="12700">
            <a:solidFill>
              <a:srgbClr val="333333">
                <a:alpha val="0"/>
              </a:srgbClr>
            </a:solidFill>
            <a:prstDash val="solid"/>
          </a:ln>
        </p:spPr>
        <p:txBody>
          <a:bodyPr/>
          <a:lstStyle/>
          <a:p>
            <a:endParaRPr lang="en-US"/>
          </a:p>
        </p:txBody>
      </p:sp>
      <p:sp>
        <p:nvSpPr>
          <p:cNvPr id="3" name="Text 1"/>
          <p:cNvSpPr/>
          <p:nvPr/>
        </p:nvSpPr>
        <p:spPr>
          <a:xfrm>
            <a:off x="731520" y="685800"/>
            <a:ext cx="2926080" cy="320040"/>
          </a:xfrm>
          <a:prstGeom prst="rect">
            <a:avLst/>
          </a:prstGeom>
          <a:noFill/>
          <a:ln/>
        </p:spPr>
        <p:txBody>
          <a:bodyPr wrap="square" lIns="0" tIns="0" rIns="0" bIns="0" rtlCol="0" anchor="ctr">
            <a:normAutofit/>
          </a:bodyPr>
          <a:lstStyle/>
          <a:p>
            <a:pPr marL="0" indent="0">
              <a:buNone/>
            </a:pPr>
            <a:r>
              <a:rPr lang="en-US" sz="1800" b="1" dirty="0">
                <a:solidFill>
                  <a:schemeClr val="accent4"/>
                </a:solidFill>
                <a:latin typeface="Aptos Display" pitchFamily="34" charset="0"/>
                <a:ea typeface="Aptos Display" pitchFamily="34" charset="-122"/>
                <a:cs typeface="Aptos Display" pitchFamily="34" charset="-120"/>
              </a:rPr>
              <a:t>CompSci 471</a:t>
            </a:r>
            <a:endParaRPr lang="en-US" sz="1800" dirty="0">
              <a:solidFill>
                <a:schemeClr val="accent4"/>
              </a:solidFill>
            </a:endParaRPr>
          </a:p>
        </p:txBody>
      </p:sp>
      <p:sp>
        <p:nvSpPr>
          <p:cNvPr id="4" name="Text 2"/>
          <p:cNvSpPr/>
          <p:nvPr/>
        </p:nvSpPr>
        <p:spPr>
          <a:xfrm>
            <a:off x="713232" y="1124712"/>
            <a:ext cx="6217920" cy="685800"/>
          </a:xfrm>
          <a:prstGeom prst="rect">
            <a:avLst/>
          </a:prstGeom>
          <a:noFill/>
          <a:ln/>
        </p:spPr>
        <p:txBody>
          <a:bodyPr wrap="square" lIns="0" tIns="0" rIns="0" bIns="0" rtlCol="0" anchor="ctr">
            <a:normAutofit/>
          </a:bodyPr>
          <a:lstStyle/>
          <a:p>
            <a:pPr marL="0" indent="0">
              <a:buNone/>
            </a:pPr>
            <a:r>
              <a:rPr lang="en-US" sz="4600" b="1" dirty="0">
                <a:solidFill>
                  <a:srgbClr val="0B2D55"/>
                </a:solidFill>
                <a:latin typeface="Aptos Display" pitchFamily="34" charset="0"/>
                <a:ea typeface="Aptos Display" pitchFamily="34" charset="-122"/>
                <a:cs typeface="Aptos Display" pitchFamily="34" charset="-120"/>
              </a:rPr>
              <a:t>Artificial Intelligence</a:t>
            </a:r>
            <a:endParaRPr lang="en-US" sz="4600" dirty="0"/>
          </a:p>
        </p:txBody>
      </p:sp>
      <p:sp>
        <p:nvSpPr>
          <p:cNvPr id="5" name="Text 3"/>
          <p:cNvSpPr/>
          <p:nvPr/>
        </p:nvSpPr>
        <p:spPr>
          <a:xfrm>
            <a:off x="749808" y="1874520"/>
            <a:ext cx="5943600" cy="384048"/>
          </a:xfrm>
          <a:prstGeom prst="rect">
            <a:avLst/>
          </a:prstGeom>
          <a:noFill/>
          <a:ln/>
        </p:spPr>
        <p:txBody>
          <a:bodyPr wrap="square" lIns="0" tIns="0" rIns="0" bIns="0" rtlCol="0" anchor="ctr">
            <a:normAutofit/>
          </a:bodyPr>
          <a:lstStyle/>
          <a:p>
            <a:pPr marL="0" indent="0">
              <a:buNone/>
            </a:pPr>
            <a:r>
              <a:rPr lang="en-US" sz="2100" b="1" dirty="0">
                <a:solidFill>
                  <a:srgbClr val="1D5FA7"/>
                </a:solidFill>
                <a:latin typeface="Aptos" pitchFamily="34" charset="0"/>
                <a:ea typeface="Aptos" pitchFamily="34" charset="-122"/>
                <a:cs typeface="Aptos" pitchFamily="34" charset="-120"/>
              </a:rPr>
              <a:t>Lesson 4: Problem Formulation</a:t>
            </a:r>
            <a:endParaRPr lang="en-US" sz="2100" dirty="0"/>
          </a:p>
        </p:txBody>
      </p:sp>
      <p:sp>
        <p:nvSpPr>
          <p:cNvPr id="6" name="Text 4"/>
          <p:cNvSpPr/>
          <p:nvPr/>
        </p:nvSpPr>
        <p:spPr>
          <a:xfrm>
            <a:off x="749808" y="2505456"/>
            <a:ext cx="5440680" cy="987552"/>
          </a:xfrm>
          <a:prstGeom prst="rect">
            <a:avLst/>
          </a:prstGeom>
          <a:noFill/>
          <a:ln/>
        </p:spPr>
        <p:txBody>
          <a:bodyPr wrap="square" lIns="0" tIns="0" rIns="0" bIns="0" rtlCol="0" anchor="ctr">
            <a:normAutofit/>
          </a:bodyPr>
          <a:lstStyle/>
          <a:p>
            <a:pPr marL="0" indent="0">
              <a:buNone/>
            </a:pPr>
            <a:r>
              <a:rPr lang="en-US" sz="2000" b="1" dirty="0">
                <a:solidFill>
                  <a:srgbClr val="132033"/>
                </a:solidFill>
                <a:latin typeface="Aptos" pitchFamily="34" charset="0"/>
                <a:ea typeface="Aptos" pitchFamily="34" charset="-122"/>
                <a:cs typeface="Aptos" pitchFamily="34" charset="-120"/>
              </a:rPr>
              <a:t>Turning real missions</a:t>
            </a:r>
            <a:r>
              <a:rPr lang="en-US" sz="2000" dirty="0"/>
              <a:t> </a:t>
            </a:r>
            <a:r>
              <a:rPr lang="en-US" sz="2000" b="1" dirty="0">
                <a:solidFill>
                  <a:srgbClr val="132033"/>
                </a:solidFill>
                <a:latin typeface="Aptos" pitchFamily="34" charset="0"/>
                <a:ea typeface="Aptos" pitchFamily="34" charset="-122"/>
                <a:cs typeface="Aptos" pitchFamily="34" charset="-120"/>
              </a:rPr>
              <a:t>→ searchable models</a:t>
            </a:r>
            <a:endParaRPr lang="en-US" sz="2000" dirty="0"/>
          </a:p>
        </p:txBody>
      </p:sp>
      <p:sp>
        <p:nvSpPr>
          <p:cNvPr id="7" name="Shape 5"/>
          <p:cNvSpPr/>
          <p:nvPr/>
        </p:nvSpPr>
        <p:spPr>
          <a:xfrm>
            <a:off x="1042416" y="4041648"/>
            <a:ext cx="1143000" cy="0"/>
          </a:xfrm>
          <a:prstGeom prst="line">
            <a:avLst/>
          </a:prstGeom>
          <a:noFill/>
          <a:ln w="38100">
            <a:solidFill>
              <a:srgbClr val="F2C14E"/>
            </a:solidFill>
            <a:prstDash val="solid"/>
          </a:ln>
        </p:spPr>
        <p:txBody>
          <a:bodyPr/>
          <a:lstStyle/>
          <a:p>
            <a:endParaRPr lang="en-US"/>
          </a:p>
        </p:txBody>
      </p:sp>
      <p:sp>
        <p:nvSpPr>
          <p:cNvPr id="8" name="Text 6"/>
          <p:cNvSpPr/>
          <p:nvPr/>
        </p:nvSpPr>
        <p:spPr>
          <a:xfrm>
            <a:off x="768096" y="4270248"/>
            <a:ext cx="1371600" cy="201168"/>
          </a:xfrm>
          <a:prstGeom prst="rect">
            <a:avLst/>
          </a:prstGeom>
          <a:noFill/>
          <a:ln/>
        </p:spPr>
        <p:txBody>
          <a:bodyPr wrap="square" lIns="0" tIns="0" rIns="0" bIns="0" rtlCol="0" anchor="ctr">
            <a:normAutofit/>
          </a:bodyPr>
          <a:lstStyle/>
          <a:p>
            <a:pPr marL="0" indent="0" algn="ctr">
              <a:buNone/>
            </a:pPr>
            <a:r>
              <a:rPr lang="en-US" sz="1450" b="1" dirty="0">
                <a:solidFill>
                  <a:srgbClr val="0B2D55"/>
                </a:solidFill>
                <a:latin typeface="Aptos" pitchFamily="34" charset="0"/>
                <a:ea typeface="Aptos" pitchFamily="34" charset="-122"/>
                <a:cs typeface="Aptos" pitchFamily="34" charset="-120"/>
              </a:rPr>
              <a:t>World</a:t>
            </a:r>
            <a:endParaRPr lang="en-US" sz="1450" dirty="0"/>
          </a:p>
        </p:txBody>
      </p:sp>
      <p:sp>
        <p:nvSpPr>
          <p:cNvPr id="9" name="Shape 7"/>
          <p:cNvSpPr/>
          <p:nvPr/>
        </p:nvSpPr>
        <p:spPr>
          <a:xfrm>
            <a:off x="2871216" y="4041648"/>
            <a:ext cx="1143000" cy="0"/>
          </a:xfrm>
          <a:prstGeom prst="line">
            <a:avLst/>
          </a:prstGeom>
          <a:noFill/>
          <a:ln w="38100">
            <a:solidFill>
              <a:srgbClr val="F2C14E"/>
            </a:solidFill>
            <a:prstDash val="solid"/>
          </a:ln>
        </p:spPr>
        <p:txBody>
          <a:bodyPr/>
          <a:lstStyle/>
          <a:p>
            <a:endParaRPr lang="en-US"/>
          </a:p>
        </p:txBody>
      </p:sp>
      <p:sp>
        <p:nvSpPr>
          <p:cNvPr id="10" name="Text 8"/>
          <p:cNvSpPr/>
          <p:nvPr/>
        </p:nvSpPr>
        <p:spPr>
          <a:xfrm>
            <a:off x="2596896" y="4270248"/>
            <a:ext cx="1371600" cy="201168"/>
          </a:xfrm>
          <a:prstGeom prst="rect">
            <a:avLst/>
          </a:prstGeom>
          <a:noFill/>
          <a:ln/>
        </p:spPr>
        <p:txBody>
          <a:bodyPr wrap="square" lIns="0" tIns="0" rIns="0" bIns="0" rtlCol="0" anchor="ctr">
            <a:normAutofit/>
          </a:bodyPr>
          <a:lstStyle/>
          <a:p>
            <a:pPr marL="0" indent="0" algn="ctr">
              <a:buNone/>
            </a:pPr>
            <a:r>
              <a:rPr lang="en-US" sz="1450" b="1" dirty="0">
                <a:solidFill>
                  <a:srgbClr val="0B2D55"/>
                </a:solidFill>
                <a:latin typeface="Aptos" pitchFamily="34" charset="0"/>
                <a:ea typeface="Aptos" pitchFamily="34" charset="-122"/>
                <a:cs typeface="Aptos" pitchFamily="34" charset="-120"/>
              </a:rPr>
              <a:t>State</a:t>
            </a:r>
            <a:endParaRPr lang="en-US" sz="1450" dirty="0"/>
          </a:p>
        </p:txBody>
      </p:sp>
      <p:sp>
        <p:nvSpPr>
          <p:cNvPr id="11" name="Shape 9"/>
          <p:cNvSpPr/>
          <p:nvPr/>
        </p:nvSpPr>
        <p:spPr>
          <a:xfrm>
            <a:off x="4700016" y="4041648"/>
            <a:ext cx="1143000" cy="0"/>
          </a:xfrm>
          <a:prstGeom prst="line">
            <a:avLst/>
          </a:prstGeom>
          <a:noFill/>
          <a:ln w="38100">
            <a:solidFill>
              <a:srgbClr val="F2C14E"/>
            </a:solidFill>
            <a:prstDash val="solid"/>
          </a:ln>
        </p:spPr>
        <p:txBody>
          <a:bodyPr/>
          <a:lstStyle/>
          <a:p>
            <a:endParaRPr lang="en-US"/>
          </a:p>
        </p:txBody>
      </p:sp>
      <p:sp>
        <p:nvSpPr>
          <p:cNvPr id="12" name="Text 10"/>
          <p:cNvSpPr/>
          <p:nvPr/>
        </p:nvSpPr>
        <p:spPr>
          <a:xfrm>
            <a:off x="4425696" y="4270248"/>
            <a:ext cx="1371600" cy="201168"/>
          </a:xfrm>
          <a:prstGeom prst="rect">
            <a:avLst/>
          </a:prstGeom>
          <a:noFill/>
          <a:ln/>
        </p:spPr>
        <p:txBody>
          <a:bodyPr wrap="square" lIns="0" tIns="0" rIns="0" bIns="0" rtlCol="0" anchor="ctr">
            <a:normAutofit/>
          </a:bodyPr>
          <a:lstStyle/>
          <a:p>
            <a:pPr marL="0" indent="0" algn="ctr">
              <a:buNone/>
            </a:pPr>
            <a:r>
              <a:rPr lang="en-US" sz="1450" b="1" dirty="0">
                <a:solidFill>
                  <a:srgbClr val="0B2D55"/>
                </a:solidFill>
                <a:latin typeface="Aptos" pitchFamily="34" charset="0"/>
                <a:ea typeface="Aptos" pitchFamily="34" charset="-122"/>
                <a:cs typeface="Aptos" pitchFamily="34" charset="-120"/>
              </a:rPr>
              <a:t>Actions</a:t>
            </a:r>
            <a:endParaRPr lang="en-US" sz="1450" dirty="0"/>
          </a:p>
        </p:txBody>
      </p:sp>
      <p:sp>
        <p:nvSpPr>
          <p:cNvPr id="13" name="Shape 11"/>
          <p:cNvSpPr/>
          <p:nvPr/>
        </p:nvSpPr>
        <p:spPr>
          <a:xfrm>
            <a:off x="6528816" y="4041648"/>
            <a:ext cx="1143000" cy="0"/>
          </a:xfrm>
          <a:prstGeom prst="line">
            <a:avLst/>
          </a:prstGeom>
          <a:noFill/>
          <a:ln w="38100">
            <a:solidFill>
              <a:srgbClr val="F2C14E"/>
            </a:solidFill>
            <a:prstDash val="solid"/>
          </a:ln>
        </p:spPr>
        <p:txBody>
          <a:bodyPr/>
          <a:lstStyle/>
          <a:p>
            <a:endParaRPr lang="en-US"/>
          </a:p>
        </p:txBody>
      </p:sp>
      <p:sp>
        <p:nvSpPr>
          <p:cNvPr id="14" name="Text 12"/>
          <p:cNvSpPr/>
          <p:nvPr/>
        </p:nvSpPr>
        <p:spPr>
          <a:xfrm>
            <a:off x="6254496" y="4270248"/>
            <a:ext cx="1371600" cy="201168"/>
          </a:xfrm>
          <a:prstGeom prst="rect">
            <a:avLst/>
          </a:prstGeom>
          <a:noFill/>
          <a:ln/>
        </p:spPr>
        <p:txBody>
          <a:bodyPr wrap="square" lIns="0" tIns="0" rIns="0" bIns="0" rtlCol="0" anchor="ctr">
            <a:normAutofit/>
          </a:bodyPr>
          <a:lstStyle/>
          <a:p>
            <a:pPr marL="0" indent="0" algn="ctr">
              <a:buNone/>
            </a:pPr>
            <a:r>
              <a:rPr lang="en-US" sz="1450" b="1" dirty="0">
                <a:solidFill>
                  <a:srgbClr val="0B2D55"/>
                </a:solidFill>
                <a:latin typeface="Aptos" pitchFamily="34" charset="0"/>
                <a:ea typeface="Aptos" pitchFamily="34" charset="-122"/>
                <a:cs typeface="Aptos" pitchFamily="34" charset="-120"/>
              </a:rPr>
              <a:t>Goal</a:t>
            </a:r>
            <a:endParaRPr lang="en-US" sz="1450" dirty="0"/>
          </a:p>
        </p:txBody>
      </p:sp>
      <p:sp>
        <p:nvSpPr>
          <p:cNvPr id="15" name="Shape 13"/>
          <p:cNvSpPr/>
          <p:nvPr/>
        </p:nvSpPr>
        <p:spPr>
          <a:xfrm>
            <a:off x="8357616" y="4041648"/>
            <a:ext cx="1143000" cy="0"/>
          </a:xfrm>
          <a:prstGeom prst="line">
            <a:avLst/>
          </a:prstGeom>
          <a:noFill/>
          <a:ln w="38100">
            <a:solidFill>
              <a:srgbClr val="F2C14E"/>
            </a:solidFill>
            <a:prstDash val="solid"/>
          </a:ln>
        </p:spPr>
        <p:txBody>
          <a:bodyPr/>
          <a:lstStyle/>
          <a:p>
            <a:endParaRPr lang="en-US"/>
          </a:p>
        </p:txBody>
      </p:sp>
      <p:sp>
        <p:nvSpPr>
          <p:cNvPr id="16" name="Text 14"/>
          <p:cNvSpPr/>
          <p:nvPr/>
        </p:nvSpPr>
        <p:spPr>
          <a:xfrm>
            <a:off x="8083296" y="4270248"/>
            <a:ext cx="1371600" cy="201168"/>
          </a:xfrm>
          <a:prstGeom prst="rect">
            <a:avLst/>
          </a:prstGeom>
          <a:noFill/>
          <a:ln/>
        </p:spPr>
        <p:txBody>
          <a:bodyPr wrap="square" lIns="0" tIns="0" rIns="0" bIns="0" rtlCol="0" anchor="ctr">
            <a:normAutofit/>
          </a:bodyPr>
          <a:lstStyle/>
          <a:p>
            <a:pPr marL="0" indent="0" algn="ctr">
              <a:buNone/>
            </a:pPr>
            <a:r>
              <a:rPr lang="en-US" sz="1450" b="1" dirty="0">
                <a:solidFill>
                  <a:srgbClr val="0B2D55"/>
                </a:solidFill>
                <a:latin typeface="Aptos" pitchFamily="34" charset="0"/>
                <a:ea typeface="Aptos" pitchFamily="34" charset="-122"/>
                <a:cs typeface="Aptos" pitchFamily="34" charset="-120"/>
              </a:rPr>
              <a:t>Cost</a:t>
            </a:r>
            <a:endParaRPr lang="en-US" sz="1450" dirty="0"/>
          </a:p>
        </p:txBody>
      </p:sp>
      <p:sp>
        <p:nvSpPr>
          <p:cNvPr id="17" name="Shape 15"/>
          <p:cNvSpPr/>
          <p:nvPr/>
        </p:nvSpPr>
        <p:spPr>
          <a:xfrm>
            <a:off x="10186416" y="4041648"/>
            <a:ext cx="1143000" cy="0"/>
          </a:xfrm>
          <a:prstGeom prst="line">
            <a:avLst/>
          </a:prstGeom>
          <a:noFill/>
          <a:ln w="38100">
            <a:solidFill>
              <a:srgbClr val="F2C14E"/>
            </a:solidFill>
            <a:prstDash val="solid"/>
          </a:ln>
        </p:spPr>
        <p:txBody>
          <a:bodyPr/>
          <a:lstStyle/>
          <a:p>
            <a:endParaRPr lang="en-US"/>
          </a:p>
        </p:txBody>
      </p:sp>
      <p:sp>
        <p:nvSpPr>
          <p:cNvPr id="18" name="Text 16"/>
          <p:cNvSpPr/>
          <p:nvPr/>
        </p:nvSpPr>
        <p:spPr>
          <a:xfrm>
            <a:off x="9912096" y="4270248"/>
            <a:ext cx="1371600" cy="201168"/>
          </a:xfrm>
          <a:prstGeom prst="rect">
            <a:avLst/>
          </a:prstGeom>
          <a:noFill/>
          <a:ln/>
        </p:spPr>
        <p:txBody>
          <a:bodyPr wrap="square" lIns="0" tIns="0" rIns="0" bIns="0" rtlCol="0" anchor="ctr">
            <a:normAutofit/>
          </a:bodyPr>
          <a:lstStyle/>
          <a:p>
            <a:pPr marL="0" indent="0" algn="ctr">
              <a:buNone/>
            </a:pPr>
            <a:r>
              <a:rPr lang="en-US" sz="1450" b="1" dirty="0">
                <a:solidFill>
                  <a:srgbClr val="0B2D55"/>
                </a:solidFill>
                <a:latin typeface="Aptos" pitchFamily="34" charset="0"/>
                <a:ea typeface="Aptos" pitchFamily="34" charset="-122"/>
                <a:cs typeface="Aptos" pitchFamily="34" charset="-120"/>
              </a:rPr>
              <a:t>Search</a:t>
            </a:r>
            <a:endParaRPr lang="en-US" sz="1450" dirty="0"/>
          </a:p>
        </p:txBody>
      </p:sp>
      <p:sp>
        <p:nvSpPr>
          <p:cNvPr id="19" name="Text 17"/>
          <p:cNvSpPr/>
          <p:nvPr/>
        </p:nvSpPr>
        <p:spPr>
          <a:xfrm>
            <a:off x="7360920" y="1508760"/>
            <a:ext cx="3931920" cy="1417320"/>
          </a:xfrm>
          <a:prstGeom prst="rect">
            <a:avLst/>
          </a:prstGeom>
          <a:noFill/>
          <a:ln/>
        </p:spPr>
        <p:txBody>
          <a:bodyPr wrap="square" lIns="0" tIns="0" rIns="0" bIns="0" rtlCol="0" anchor="ctr">
            <a:normAutofit fontScale="77500" lnSpcReduction="20000"/>
          </a:bodyPr>
          <a:lstStyle/>
          <a:p>
            <a:pPr marL="0" indent="0">
              <a:buNone/>
            </a:pPr>
            <a:r>
              <a:rPr lang="en-US" sz="3000" b="1" dirty="0">
                <a:solidFill>
                  <a:srgbClr val="0B2D55"/>
                </a:solidFill>
                <a:latin typeface="Aptos" pitchFamily="34" charset="0"/>
                <a:ea typeface="Aptos" pitchFamily="34" charset="-122"/>
                <a:cs typeface="Aptos" pitchFamily="34" charset="-120"/>
              </a:rPr>
              <a:t>A search algorithm solves the problem you represented</a:t>
            </a:r>
            <a:br>
              <a:rPr lang="en-US" sz="3000" b="1" dirty="0">
                <a:solidFill>
                  <a:srgbClr val="0B2D55"/>
                </a:solidFill>
                <a:latin typeface="Aptos" pitchFamily="34" charset="0"/>
                <a:ea typeface="Aptos" pitchFamily="34" charset="-122"/>
                <a:cs typeface="Aptos" pitchFamily="34" charset="-120"/>
              </a:rPr>
            </a:br>
            <a:r>
              <a:rPr lang="en-US" sz="3000" b="1" dirty="0">
                <a:solidFill>
                  <a:srgbClr val="0B2D55"/>
                </a:solidFill>
                <a:latin typeface="Aptos" pitchFamily="34" charset="0"/>
                <a:ea typeface="Aptos" pitchFamily="34" charset="-122"/>
                <a:cs typeface="Aptos" pitchFamily="34" charset="-120"/>
              </a:rPr>
              <a:t>—not necessarily the problem you intended.</a:t>
            </a:r>
            <a:endParaRPr lang="en-US" sz="3000" dirty="0"/>
          </a:p>
        </p:txBody>
      </p:sp>
      <p:sp>
        <p:nvSpPr>
          <p:cNvPr id="20" name="Text 18"/>
          <p:cNvSpPr/>
          <p:nvPr/>
        </p:nvSpPr>
        <p:spPr>
          <a:xfrm>
            <a:off x="749808" y="6236208"/>
            <a:ext cx="1645920" cy="228600"/>
          </a:xfrm>
          <a:prstGeom prst="rect">
            <a:avLst/>
          </a:prstGeom>
          <a:noFill/>
          <a:ln/>
        </p:spPr>
        <p:txBody>
          <a:bodyPr wrap="square" lIns="0" tIns="0" rIns="0" bIns="0" rtlCol="0" anchor="ctr">
            <a:normAutofit/>
          </a:bodyPr>
          <a:lstStyle/>
          <a:p>
            <a:pPr marL="0" indent="0">
              <a:buNone/>
            </a:pPr>
            <a:r>
              <a:rPr lang="en-US" sz="1100" dirty="0">
                <a:solidFill>
                  <a:srgbClr val="6D7C8F"/>
                </a:solidFill>
                <a:latin typeface="Aptos" pitchFamily="34" charset="0"/>
                <a:ea typeface="Aptos" pitchFamily="34" charset="-122"/>
                <a:cs typeface="Aptos" pitchFamily="34" charset="-120"/>
              </a:rPr>
              <a:t>Fall 2026</a:t>
            </a:r>
            <a:endParaRPr lang="en-US" sz="1100" dirty="0"/>
          </a:p>
        </p:txBody>
      </p:sp>
      <p:pic>
        <p:nvPicPr>
          <p:cNvPr id="22" name="Picture 21">
            <a:extLst>
              <a:ext uri="{FF2B5EF4-FFF2-40B4-BE49-F238E27FC236}">
                <a16:creationId xmlns:a16="http://schemas.microsoft.com/office/drawing/2014/main" id="{1E96D11D-0C2B-8485-0479-FA4145A37A73}"/>
              </a:ext>
            </a:extLst>
          </p:cNvPr>
          <p:cNvPicPr/>
          <p:nvPr/>
        </p:nvPicPr>
        <p:blipFill>
          <a:blip r:embed="rId3"/>
          <a:srcRect/>
          <a:stretch/>
        </p:blipFill>
        <p:spPr bwMode="auto">
          <a:xfrm>
            <a:off x="530565" y="5148923"/>
            <a:ext cx="980535" cy="981332"/>
          </a:xfrm>
          <a:prstGeom prst="rect">
            <a:avLst/>
          </a:prstGeom>
          <a:noFill/>
          <a:ln w="9525">
            <a:noFill/>
            <a:miter lim="800000"/>
            <a:headEnd/>
            <a:tailE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Retrieval warm-up</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Lessons 1–3 focused on trust, systems, and inputs.</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2</a:t>
            </a:r>
            <a:endParaRPr lang="en-US" sz="850" dirty="0"/>
          </a:p>
        </p:txBody>
      </p:sp>
      <p:sp>
        <p:nvSpPr>
          <p:cNvPr id="6" name="Text 4"/>
          <p:cNvSpPr/>
          <p:nvPr/>
        </p:nvSpPr>
        <p:spPr>
          <a:xfrm>
            <a:off x="822960" y="1783080"/>
            <a:ext cx="3840480" cy="777240"/>
          </a:xfrm>
          <a:prstGeom prst="rect">
            <a:avLst/>
          </a:prstGeom>
          <a:noFill/>
          <a:ln/>
        </p:spPr>
        <p:txBody>
          <a:bodyPr wrap="square" lIns="0" tIns="0" rIns="0" bIns="0" rtlCol="0" anchor="ctr">
            <a:normAutofit/>
          </a:bodyPr>
          <a:lstStyle/>
          <a:p>
            <a:pPr marL="0" indent="0">
              <a:buNone/>
            </a:pPr>
            <a:r>
              <a:rPr lang="en-US" sz="2700" b="1" dirty="0">
                <a:solidFill>
                  <a:srgbClr val="0B2D55"/>
                </a:solidFill>
                <a:latin typeface="Aptos" pitchFamily="34" charset="0"/>
                <a:ea typeface="Aptos" pitchFamily="34" charset="-122"/>
                <a:cs typeface="Aptos" pitchFamily="34" charset="-120"/>
              </a:rPr>
              <a:t>A system gives a convincing output.</a:t>
            </a:r>
            <a:endParaRPr lang="en-US" sz="2700" dirty="0"/>
          </a:p>
        </p:txBody>
      </p:sp>
      <p:sp>
        <p:nvSpPr>
          <p:cNvPr id="7" name="Text 5"/>
          <p:cNvSpPr/>
          <p:nvPr/>
        </p:nvSpPr>
        <p:spPr>
          <a:xfrm>
            <a:off x="5623560" y="1719072"/>
            <a:ext cx="5440680" cy="914400"/>
          </a:xfrm>
          <a:prstGeom prst="rect">
            <a:avLst/>
          </a:prstGeom>
          <a:noFill/>
          <a:ln/>
        </p:spPr>
        <p:txBody>
          <a:bodyPr wrap="square" lIns="0" tIns="0" rIns="0" bIns="0" rtlCol="0" anchor="ctr">
            <a:normAutofit/>
          </a:bodyPr>
          <a:lstStyle/>
          <a:p>
            <a:pPr marL="0" indent="0">
              <a:buNone/>
            </a:pPr>
            <a:r>
              <a:rPr lang="en-US" sz="2400" b="1" dirty="0">
                <a:solidFill>
                  <a:srgbClr val="132033"/>
                </a:solidFill>
                <a:latin typeface="Aptos" pitchFamily="34" charset="0"/>
                <a:ea typeface="Aptos" pitchFamily="34" charset="-122"/>
                <a:cs typeface="Aptos" pitchFamily="34" charset="-120"/>
              </a:rPr>
              <a:t>What version of the problem did the system actually receive?</a:t>
            </a:r>
            <a:endParaRPr lang="en-US" sz="2400" dirty="0"/>
          </a:p>
        </p:txBody>
      </p:sp>
      <p:sp>
        <p:nvSpPr>
          <p:cNvPr id="8" name="Shape 6"/>
          <p:cNvSpPr/>
          <p:nvPr/>
        </p:nvSpPr>
        <p:spPr>
          <a:xfrm>
            <a:off x="4434840" y="2212848"/>
            <a:ext cx="1005840" cy="0"/>
          </a:xfrm>
          <a:prstGeom prst="line">
            <a:avLst/>
          </a:prstGeom>
          <a:noFill/>
          <a:ln w="25400">
            <a:solidFill>
              <a:srgbClr val="F2C14E"/>
            </a:solidFill>
            <a:prstDash val="solid"/>
            <a:headEnd type="none"/>
            <a:tailEnd type="triangle"/>
          </a:ln>
        </p:spPr>
        <p:txBody>
          <a:bodyPr/>
          <a:lstStyle/>
          <a:p>
            <a:endParaRPr lang="en-US"/>
          </a:p>
        </p:txBody>
      </p:sp>
      <p:sp>
        <p:nvSpPr>
          <p:cNvPr id="9" name="Shape 7"/>
          <p:cNvSpPr/>
          <p:nvPr/>
        </p:nvSpPr>
        <p:spPr>
          <a:xfrm>
            <a:off x="822960" y="3703320"/>
            <a:ext cx="2423160" cy="896112"/>
          </a:xfrm>
          <a:prstGeom prst="roundRect">
            <a:avLst>
              <a:gd name="adj" fmla="val 8163"/>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0" name="Shape 8"/>
          <p:cNvSpPr/>
          <p:nvPr/>
        </p:nvSpPr>
        <p:spPr>
          <a:xfrm>
            <a:off x="822960" y="3703320"/>
            <a:ext cx="73152" cy="896112"/>
          </a:xfrm>
          <a:prstGeom prst="rect">
            <a:avLst/>
          </a:prstGeom>
          <a:solidFill>
            <a:srgbClr val="1D5FA7"/>
          </a:solidFill>
          <a:ln w="12700">
            <a:solidFill>
              <a:srgbClr val="1D5FA7"/>
            </a:solidFill>
            <a:prstDash val="solid"/>
          </a:ln>
        </p:spPr>
        <p:txBody>
          <a:bodyPr/>
          <a:lstStyle/>
          <a:p>
            <a:endParaRPr lang="en-US"/>
          </a:p>
        </p:txBody>
      </p:sp>
      <p:sp>
        <p:nvSpPr>
          <p:cNvPr id="11" name="Text 9"/>
          <p:cNvSpPr/>
          <p:nvPr/>
        </p:nvSpPr>
        <p:spPr>
          <a:xfrm>
            <a:off x="1005840" y="3849624"/>
            <a:ext cx="210312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Included</a:t>
            </a:r>
            <a:endParaRPr lang="en-US" sz="1500" dirty="0"/>
          </a:p>
        </p:txBody>
      </p:sp>
      <p:sp>
        <p:nvSpPr>
          <p:cNvPr id="12" name="Text 10"/>
          <p:cNvSpPr/>
          <p:nvPr/>
        </p:nvSpPr>
        <p:spPr>
          <a:xfrm>
            <a:off x="1005840" y="4187952"/>
            <a:ext cx="2103120" cy="301752"/>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What information is included?</a:t>
            </a:r>
            <a:endParaRPr lang="en-US" sz="1350" dirty="0"/>
          </a:p>
        </p:txBody>
      </p:sp>
      <p:sp>
        <p:nvSpPr>
          <p:cNvPr id="13" name="Shape 11"/>
          <p:cNvSpPr/>
          <p:nvPr/>
        </p:nvSpPr>
        <p:spPr>
          <a:xfrm>
            <a:off x="3611880" y="3703320"/>
            <a:ext cx="2423160" cy="896112"/>
          </a:xfrm>
          <a:prstGeom prst="roundRect">
            <a:avLst>
              <a:gd name="adj" fmla="val 8163"/>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4" name="Shape 12"/>
          <p:cNvSpPr/>
          <p:nvPr/>
        </p:nvSpPr>
        <p:spPr>
          <a:xfrm>
            <a:off x="3611880" y="3703320"/>
            <a:ext cx="73152" cy="896112"/>
          </a:xfrm>
          <a:prstGeom prst="rect">
            <a:avLst/>
          </a:prstGeom>
          <a:solidFill>
            <a:srgbClr val="F2C14E"/>
          </a:solidFill>
          <a:ln w="12700">
            <a:solidFill>
              <a:srgbClr val="F2C14E"/>
            </a:solidFill>
            <a:prstDash val="solid"/>
          </a:ln>
        </p:spPr>
        <p:txBody>
          <a:bodyPr/>
          <a:lstStyle/>
          <a:p>
            <a:endParaRPr lang="en-US"/>
          </a:p>
        </p:txBody>
      </p:sp>
      <p:sp>
        <p:nvSpPr>
          <p:cNvPr id="15" name="Text 13"/>
          <p:cNvSpPr/>
          <p:nvPr/>
        </p:nvSpPr>
        <p:spPr>
          <a:xfrm>
            <a:off x="3794760" y="3849624"/>
            <a:ext cx="210312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Missing</a:t>
            </a:r>
            <a:endParaRPr lang="en-US" sz="1500" dirty="0"/>
          </a:p>
        </p:txBody>
      </p:sp>
      <p:sp>
        <p:nvSpPr>
          <p:cNvPr id="16" name="Text 14"/>
          <p:cNvSpPr/>
          <p:nvPr/>
        </p:nvSpPr>
        <p:spPr>
          <a:xfrm>
            <a:off x="3794760" y="4187952"/>
            <a:ext cx="2103120" cy="301752"/>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What information is missing?</a:t>
            </a:r>
            <a:endParaRPr lang="en-US" sz="1350" dirty="0"/>
          </a:p>
        </p:txBody>
      </p:sp>
      <p:sp>
        <p:nvSpPr>
          <p:cNvPr id="17" name="Shape 15"/>
          <p:cNvSpPr/>
          <p:nvPr/>
        </p:nvSpPr>
        <p:spPr>
          <a:xfrm>
            <a:off x="6400800" y="3703320"/>
            <a:ext cx="2423160" cy="896112"/>
          </a:xfrm>
          <a:prstGeom prst="roundRect">
            <a:avLst>
              <a:gd name="adj" fmla="val 8163"/>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8" name="Shape 16"/>
          <p:cNvSpPr/>
          <p:nvPr/>
        </p:nvSpPr>
        <p:spPr>
          <a:xfrm>
            <a:off x="6400800" y="3703320"/>
            <a:ext cx="73152" cy="896112"/>
          </a:xfrm>
          <a:prstGeom prst="rect">
            <a:avLst/>
          </a:prstGeom>
          <a:solidFill>
            <a:srgbClr val="D94E4E"/>
          </a:solidFill>
          <a:ln w="12700">
            <a:solidFill>
              <a:srgbClr val="D94E4E"/>
            </a:solidFill>
            <a:prstDash val="solid"/>
          </a:ln>
        </p:spPr>
        <p:txBody>
          <a:bodyPr/>
          <a:lstStyle/>
          <a:p>
            <a:endParaRPr lang="en-US"/>
          </a:p>
        </p:txBody>
      </p:sp>
      <p:sp>
        <p:nvSpPr>
          <p:cNvPr id="19" name="Text 17"/>
          <p:cNvSpPr/>
          <p:nvPr/>
        </p:nvSpPr>
        <p:spPr>
          <a:xfrm>
            <a:off x="6583680" y="3849624"/>
            <a:ext cx="210312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Irrelevant</a:t>
            </a:r>
            <a:endParaRPr lang="en-US" sz="1500" dirty="0"/>
          </a:p>
        </p:txBody>
      </p:sp>
      <p:sp>
        <p:nvSpPr>
          <p:cNvPr id="20" name="Text 18"/>
          <p:cNvSpPr/>
          <p:nvPr/>
        </p:nvSpPr>
        <p:spPr>
          <a:xfrm>
            <a:off x="6583680" y="4187952"/>
            <a:ext cx="2103120" cy="301752"/>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What details are irrelevant?</a:t>
            </a:r>
            <a:endParaRPr lang="en-US" sz="1350" dirty="0"/>
          </a:p>
        </p:txBody>
      </p:sp>
      <p:sp>
        <p:nvSpPr>
          <p:cNvPr id="21" name="Shape 19"/>
          <p:cNvSpPr/>
          <p:nvPr/>
        </p:nvSpPr>
        <p:spPr>
          <a:xfrm>
            <a:off x="9189720" y="3703320"/>
            <a:ext cx="2423160" cy="896112"/>
          </a:xfrm>
          <a:prstGeom prst="roundRect">
            <a:avLst>
              <a:gd name="adj" fmla="val 8163"/>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22" name="Shape 20"/>
          <p:cNvSpPr/>
          <p:nvPr/>
        </p:nvSpPr>
        <p:spPr>
          <a:xfrm>
            <a:off x="9189720" y="3703320"/>
            <a:ext cx="73152" cy="896112"/>
          </a:xfrm>
          <a:prstGeom prst="rect">
            <a:avLst/>
          </a:prstGeom>
          <a:solidFill>
            <a:srgbClr val="39A875"/>
          </a:solidFill>
          <a:ln w="12700">
            <a:solidFill>
              <a:srgbClr val="39A875"/>
            </a:solidFill>
            <a:prstDash val="solid"/>
          </a:ln>
        </p:spPr>
        <p:txBody>
          <a:bodyPr/>
          <a:lstStyle/>
          <a:p>
            <a:endParaRPr lang="en-US"/>
          </a:p>
        </p:txBody>
      </p:sp>
      <p:sp>
        <p:nvSpPr>
          <p:cNvPr id="23" name="Text 21"/>
          <p:cNvSpPr/>
          <p:nvPr/>
        </p:nvSpPr>
        <p:spPr>
          <a:xfrm>
            <a:off x="9372600" y="3849624"/>
            <a:ext cx="210312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Best</a:t>
            </a:r>
            <a:endParaRPr lang="en-US" sz="1500" dirty="0"/>
          </a:p>
        </p:txBody>
      </p:sp>
      <p:sp>
        <p:nvSpPr>
          <p:cNvPr id="24" name="Text 22"/>
          <p:cNvSpPr/>
          <p:nvPr/>
        </p:nvSpPr>
        <p:spPr>
          <a:xfrm>
            <a:off x="9372600" y="4187952"/>
            <a:ext cx="2103120" cy="301752"/>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What does “best” mean?</a:t>
            </a:r>
            <a:endParaRPr lang="en-US" sz="1350" dirty="0"/>
          </a:p>
        </p:txBody>
      </p:sp>
      <p:sp>
        <p:nvSpPr>
          <p:cNvPr id="25" name="Text 23"/>
          <p:cNvSpPr/>
          <p:nvPr/>
        </p:nvSpPr>
        <p:spPr>
          <a:xfrm>
            <a:off x="960120" y="5376672"/>
            <a:ext cx="10149840" cy="658368"/>
          </a:xfrm>
          <a:prstGeom prst="rect">
            <a:avLst/>
          </a:prstGeom>
          <a:noFill/>
          <a:ln/>
        </p:spPr>
        <p:txBody>
          <a:bodyPr wrap="square" lIns="0" tIns="0" rIns="0" bIns="0" rtlCol="0" anchor="ctr">
            <a:normAutofit/>
          </a:bodyPr>
          <a:lstStyle/>
          <a:p>
            <a:pPr marL="0" indent="0" algn="ctr">
              <a:buNone/>
            </a:pPr>
            <a:r>
              <a:rPr lang="en-US" sz="2200" b="1" dirty="0">
                <a:solidFill>
                  <a:srgbClr val="0B2D55"/>
                </a:solidFill>
                <a:latin typeface="Aptos" pitchFamily="34" charset="0"/>
                <a:ea typeface="Aptos" pitchFamily="34" charset="-122"/>
                <a:cs typeface="Aptos" pitchFamily="34" charset="-120"/>
              </a:rPr>
              <a:t>Think-pair-share: name one way a poor representation could make an AI system fail.</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Today’s mission</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By the end of Lesson 4, students should be able to…</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3</a:t>
            </a:r>
            <a:endParaRPr lang="en-US" sz="850" dirty="0"/>
          </a:p>
        </p:txBody>
      </p:sp>
      <p:sp>
        <p:nvSpPr>
          <p:cNvPr id="6" name="Shape 4"/>
          <p:cNvSpPr/>
          <p:nvPr/>
        </p:nvSpPr>
        <p:spPr>
          <a:xfrm>
            <a:off x="868680" y="1874520"/>
            <a:ext cx="502920" cy="502920"/>
          </a:xfrm>
          <a:prstGeom prst="ellipse">
            <a:avLst/>
          </a:prstGeom>
          <a:solidFill>
            <a:srgbClr val="1D5FA7"/>
          </a:solidFill>
          <a:ln w="12700">
            <a:solidFill>
              <a:srgbClr val="1D5FA7"/>
            </a:solidFill>
            <a:prstDash val="solid"/>
          </a:ln>
        </p:spPr>
        <p:txBody>
          <a:bodyPr/>
          <a:lstStyle/>
          <a:p>
            <a:endParaRPr lang="en-US"/>
          </a:p>
        </p:txBody>
      </p:sp>
      <p:sp>
        <p:nvSpPr>
          <p:cNvPr id="7" name="Text 5"/>
          <p:cNvSpPr/>
          <p:nvPr/>
        </p:nvSpPr>
        <p:spPr>
          <a:xfrm>
            <a:off x="868680" y="1920240"/>
            <a:ext cx="502920" cy="457200"/>
          </a:xfrm>
          <a:prstGeom prst="rect">
            <a:avLst/>
          </a:prstGeom>
          <a:noFill/>
          <a:ln/>
        </p:spPr>
        <p:txBody>
          <a:bodyPr wrap="square" lIns="0" tIns="0" rIns="0" bIns="0" rtlCol="0" anchor="ctr">
            <a:normAutofit/>
          </a:bodyPr>
          <a:lstStyle/>
          <a:p>
            <a:pPr marL="0" indent="0" algn="ctr">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8" name="Text 6"/>
          <p:cNvSpPr/>
          <p:nvPr/>
        </p:nvSpPr>
        <p:spPr>
          <a:xfrm>
            <a:off x="1572768" y="1901952"/>
            <a:ext cx="9052560" cy="384048"/>
          </a:xfrm>
          <a:prstGeom prst="rect">
            <a:avLst/>
          </a:prstGeom>
          <a:noFill/>
          <a:ln/>
        </p:spPr>
        <p:txBody>
          <a:bodyPr wrap="square" lIns="0" tIns="0" rIns="0" bIns="0" rtlCol="0" anchor="ctr">
            <a:normAutofit/>
          </a:bodyPr>
          <a:lstStyle/>
          <a:p>
            <a:pPr marL="0" indent="0">
              <a:buNone/>
            </a:pPr>
            <a:r>
              <a:rPr lang="en-US" sz="2400" b="1" dirty="0">
                <a:solidFill>
                  <a:srgbClr val="132033"/>
                </a:solidFill>
                <a:latin typeface="Aptos" pitchFamily="34" charset="0"/>
                <a:ea typeface="Aptos" pitchFamily="34" charset="-122"/>
                <a:cs typeface="Aptos" pitchFamily="34" charset="-120"/>
              </a:rPr>
              <a:t>Define states, actions, goal tests, and path costs</a:t>
            </a:r>
            <a:endParaRPr lang="en-US" sz="2400" dirty="0"/>
          </a:p>
        </p:txBody>
      </p:sp>
      <p:sp>
        <p:nvSpPr>
          <p:cNvPr id="9" name="Shape 7"/>
          <p:cNvSpPr/>
          <p:nvPr/>
        </p:nvSpPr>
        <p:spPr>
          <a:xfrm>
            <a:off x="868680" y="3017520"/>
            <a:ext cx="502920" cy="502920"/>
          </a:xfrm>
          <a:prstGeom prst="ellipse">
            <a:avLst/>
          </a:prstGeom>
          <a:solidFill>
            <a:srgbClr val="1D5FA7"/>
          </a:solidFill>
          <a:ln w="12700">
            <a:solidFill>
              <a:srgbClr val="1D5FA7"/>
            </a:solidFill>
            <a:prstDash val="solid"/>
          </a:ln>
        </p:spPr>
        <p:txBody>
          <a:bodyPr/>
          <a:lstStyle/>
          <a:p>
            <a:endParaRPr lang="en-US"/>
          </a:p>
        </p:txBody>
      </p:sp>
      <p:sp>
        <p:nvSpPr>
          <p:cNvPr id="10" name="Text 8"/>
          <p:cNvSpPr/>
          <p:nvPr/>
        </p:nvSpPr>
        <p:spPr>
          <a:xfrm>
            <a:off x="868680" y="3063240"/>
            <a:ext cx="502920" cy="457200"/>
          </a:xfrm>
          <a:prstGeom prst="rect">
            <a:avLst/>
          </a:prstGeom>
          <a:noFill/>
          <a:ln/>
        </p:spPr>
        <p:txBody>
          <a:bodyPr wrap="square" lIns="0" tIns="0" rIns="0" bIns="0" rtlCol="0" anchor="ctr">
            <a:normAutofit/>
          </a:bodyPr>
          <a:lstStyle/>
          <a:p>
            <a:pPr marL="0" indent="0" algn="ctr">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1" name="Text 9"/>
          <p:cNvSpPr/>
          <p:nvPr/>
        </p:nvSpPr>
        <p:spPr>
          <a:xfrm>
            <a:off x="1572768" y="3044952"/>
            <a:ext cx="9052560" cy="384048"/>
          </a:xfrm>
          <a:prstGeom prst="rect">
            <a:avLst/>
          </a:prstGeom>
          <a:noFill/>
          <a:ln/>
        </p:spPr>
        <p:txBody>
          <a:bodyPr wrap="square" lIns="0" tIns="0" rIns="0" bIns="0" rtlCol="0" anchor="ctr">
            <a:normAutofit/>
          </a:bodyPr>
          <a:lstStyle/>
          <a:p>
            <a:pPr marL="0" indent="0">
              <a:buNone/>
            </a:pPr>
            <a:r>
              <a:rPr lang="en-US" sz="2400" b="1" dirty="0">
                <a:solidFill>
                  <a:srgbClr val="132033"/>
                </a:solidFill>
                <a:latin typeface="Aptos" pitchFamily="34" charset="0"/>
                <a:ea typeface="Aptos" pitchFamily="34" charset="-122"/>
                <a:cs typeface="Aptos" pitchFamily="34" charset="-120"/>
              </a:rPr>
              <a:t>Formulate real-world problems as search problems</a:t>
            </a:r>
            <a:endParaRPr lang="en-US" sz="2400" dirty="0"/>
          </a:p>
        </p:txBody>
      </p:sp>
      <p:sp>
        <p:nvSpPr>
          <p:cNvPr id="12" name="Shape 10"/>
          <p:cNvSpPr/>
          <p:nvPr/>
        </p:nvSpPr>
        <p:spPr>
          <a:xfrm>
            <a:off x="868680" y="4160520"/>
            <a:ext cx="502920" cy="502920"/>
          </a:xfrm>
          <a:prstGeom prst="ellipse">
            <a:avLst/>
          </a:prstGeom>
          <a:solidFill>
            <a:srgbClr val="1D5FA7"/>
          </a:solidFill>
          <a:ln w="12700">
            <a:solidFill>
              <a:srgbClr val="1D5FA7"/>
            </a:solidFill>
            <a:prstDash val="solid"/>
          </a:ln>
        </p:spPr>
        <p:txBody>
          <a:bodyPr/>
          <a:lstStyle/>
          <a:p>
            <a:endParaRPr lang="en-US"/>
          </a:p>
        </p:txBody>
      </p:sp>
      <p:sp>
        <p:nvSpPr>
          <p:cNvPr id="13" name="Text 11"/>
          <p:cNvSpPr/>
          <p:nvPr/>
        </p:nvSpPr>
        <p:spPr>
          <a:xfrm>
            <a:off x="868680" y="4206240"/>
            <a:ext cx="502920" cy="457200"/>
          </a:xfrm>
          <a:prstGeom prst="rect">
            <a:avLst/>
          </a:prstGeom>
          <a:noFill/>
          <a:ln/>
        </p:spPr>
        <p:txBody>
          <a:bodyPr wrap="square" lIns="0" tIns="0" rIns="0" bIns="0" rtlCol="0" anchor="ctr">
            <a:normAutofit/>
          </a:bodyPr>
          <a:lstStyle/>
          <a:p>
            <a:pPr marL="0" indent="0" algn="ctr">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14" name="Text 12"/>
          <p:cNvSpPr/>
          <p:nvPr/>
        </p:nvSpPr>
        <p:spPr>
          <a:xfrm>
            <a:off x="1572768" y="4187952"/>
            <a:ext cx="9052560" cy="384048"/>
          </a:xfrm>
          <a:prstGeom prst="rect">
            <a:avLst/>
          </a:prstGeom>
          <a:noFill/>
          <a:ln/>
        </p:spPr>
        <p:txBody>
          <a:bodyPr wrap="square" lIns="0" tIns="0" rIns="0" bIns="0" rtlCol="0" anchor="ctr">
            <a:normAutofit/>
          </a:bodyPr>
          <a:lstStyle/>
          <a:p>
            <a:pPr marL="0" indent="0">
              <a:buNone/>
            </a:pPr>
            <a:r>
              <a:rPr lang="en-US" sz="2400" b="1" dirty="0">
                <a:solidFill>
                  <a:srgbClr val="132033"/>
                </a:solidFill>
                <a:latin typeface="Aptos" pitchFamily="34" charset="0"/>
                <a:ea typeface="Aptos" pitchFamily="34" charset="-122"/>
                <a:cs typeface="Aptos" pitchFamily="34" charset="-120"/>
              </a:rPr>
              <a:t>Explain how problem representation affects solution difficulty</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Running scenario: lunar rover mission</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How does a messy mission become a searchable problem?</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4</a:t>
            </a:r>
            <a:endParaRPr lang="en-US" sz="850" dirty="0"/>
          </a:p>
        </p:txBody>
      </p:sp>
      <p:pic>
        <p:nvPicPr>
          <p:cNvPr id="6" name="Image 0" descr="/mnt/data/a_high_detail_sci_fi_infographic_concept_art_sce.png"/>
          <p:cNvPicPr>
            <a:picLocks noChangeAspect="1"/>
          </p:cNvPicPr>
          <p:nvPr/>
        </p:nvPicPr>
        <p:blipFill>
          <a:blip r:embed="rId3"/>
          <a:srcRect l="15465" r="15465"/>
          <a:stretch/>
        </p:blipFill>
        <p:spPr>
          <a:xfrm>
            <a:off x="685800" y="1508760"/>
            <a:ext cx="4937760" cy="4023360"/>
          </a:xfrm>
          <a:prstGeom prst="rect">
            <a:avLst/>
          </a:prstGeom>
        </p:spPr>
      </p:pic>
      <p:sp>
        <p:nvSpPr>
          <p:cNvPr id="7" name="Shape 4"/>
          <p:cNvSpPr/>
          <p:nvPr/>
        </p:nvSpPr>
        <p:spPr>
          <a:xfrm>
            <a:off x="5989320" y="1417320"/>
            <a:ext cx="5394960" cy="4251960"/>
          </a:xfrm>
          <a:prstGeom prst="roundRect">
            <a:avLst>
              <a:gd name="adj" fmla="val 1720"/>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8" name="Text 5"/>
          <p:cNvSpPr/>
          <p:nvPr/>
        </p:nvSpPr>
        <p:spPr>
          <a:xfrm>
            <a:off x="6263640" y="1719072"/>
            <a:ext cx="2194560" cy="320040"/>
          </a:xfrm>
          <a:prstGeom prst="rect">
            <a:avLst/>
          </a:prstGeom>
          <a:noFill/>
          <a:ln/>
        </p:spPr>
        <p:txBody>
          <a:bodyPr wrap="square" lIns="0" tIns="0" rIns="0" bIns="0" rtlCol="0" anchor="ctr">
            <a:normAutofit/>
          </a:bodyPr>
          <a:lstStyle/>
          <a:p>
            <a:pPr marL="0" indent="0">
              <a:buNone/>
            </a:pPr>
            <a:r>
              <a:rPr lang="en-US" sz="2200" b="1" dirty="0">
                <a:solidFill>
                  <a:srgbClr val="0B2D55"/>
                </a:solidFill>
                <a:latin typeface="Aptos" pitchFamily="34" charset="0"/>
                <a:ea typeface="Aptos" pitchFamily="34" charset="-122"/>
                <a:cs typeface="Aptos" pitchFamily="34" charset="-120"/>
              </a:rPr>
              <a:t>Mission brief</a:t>
            </a:r>
            <a:endParaRPr lang="en-US" sz="2200" dirty="0"/>
          </a:p>
        </p:txBody>
      </p:sp>
      <p:sp>
        <p:nvSpPr>
          <p:cNvPr id="9" name="Shape 6"/>
          <p:cNvSpPr/>
          <p:nvPr/>
        </p:nvSpPr>
        <p:spPr>
          <a:xfrm>
            <a:off x="6309360" y="2258568"/>
            <a:ext cx="210312" cy="210312"/>
          </a:xfrm>
          <a:prstGeom prst="ellipse">
            <a:avLst/>
          </a:prstGeom>
          <a:solidFill>
            <a:srgbClr val="F2C14E"/>
          </a:solidFill>
          <a:ln w="12700">
            <a:solidFill>
              <a:srgbClr val="F2C14E"/>
            </a:solidFill>
            <a:prstDash val="solid"/>
          </a:ln>
        </p:spPr>
        <p:txBody>
          <a:bodyPr/>
          <a:lstStyle/>
          <a:p>
            <a:endParaRPr lang="en-US"/>
          </a:p>
        </p:txBody>
      </p:sp>
      <p:sp>
        <p:nvSpPr>
          <p:cNvPr id="10" name="Text 7"/>
          <p:cNvSpPr/>
          <p:nvPr/>
        </p:nvSpPr>
        <p:spPr>
          <a:xfrm>
            <a:off x="6309360" y="2304288"/>
            <a:ext cx="210312" cy="164592"/>
          </a:xfrm>
          <a:prstGeom prst="rect">
            <a:avLst/>
          </a:prstGeom>
          <a:noFill/>
          <a:ln/>
        </p:spPr>
        <p:txBody>
          <a:bodyPr wrap="square" lIns="0" tIns="0" rIns="0" bIns="0" rtlCol="0" anchor="ctr">
            <a:normAutofit/>
          </a:bodyPr>
          <a:lstStyle/>
          <a:p>
            <a:pPr marL="0" indent="0" algn="ctr">
              <a:buNone/>
            </a:pPr>
            <a:endParaRPr lang="en-US" sz="1800" dirty="0"/>
          </a:p>
        </p:txBody>
      </p:sp>
      <p:sp>
        <p:nvSpPr>
          <p:cNvPr id="11" name="Text 8"/>
          <p:cNvSpPr/>
          <p:nvPr/>
        </p:nvSpPr>
        <p:spPr>
          <a:xfrm>
            <a:off x="6629400" y="2212848"/>
            <a:ext cx="4297680" cy="256032"/>
          </a:xfrm>
          <a:prstGeom prst="rect">
            <a:avLst/>
          </a:prstGeom>
          <a:noFill/>
          <a:ln/>
        </p:spPr>
        <p:txBody>
          <a:bodyPr wrap="square" lIns="0" tIns="0" rIns="0" bIns="0" rtlCol="0" anchor="ctr">
            <a:normAutofit/>
          </a:bodyPr>
          <a:lstStyle/>
          <a:p>
            <a:pPr marL="0" indent="0">
              <a:buNone/>
            </a:pPr>
            <a:r>
              <a:rPr lang="en-US" sz="1700" dirty="0">
                <a:solidFill>
                  <a:srgbClr val="132033"/>
                </a:solidFill>
                <a:latin typeface="Aptos" pitchFamily="34" charset="0"/>
                <a:ea typeface="Aptos" pitchFamily="34" charset="-122"/>
                <a:cs typeface="Aptos" pitchFamily="34" charset="-120"/>
              </a:rPr>
              <a:t>Leave the lander</a:t>
            </a:r>
            <a:endParaRPr lang="en-US" sz="1700" dirty="0"/>
          </a:p>
        </p:txBody>
      </p:sp>
      <p:sp>
        <p:nvSpPr>
          <p:cNvPr id="12" name="Shape 9"/>
          <p:cNvSpPr/>
          <p:nvPr/>
        </p:nvSpPr>
        <p:spPr>
          <a:xfrm>
            <a:off x="6309360" y="2761488"/>
            <a:ext cx="210312" cy="210312"/>
          </a:xfrm>
          <a:prstGeom prst="ellipse">
            <a:avLst/>
          </a:prstGeom>
          <a:solidFill>
            <a:srgbClr val="F2C14E"/>
          </a:solidFill>
          <a:ln w="12700">
            <a:solidFill>
              <a:srgbClr val="F2C14E"/>
            </a:solidFill>
            <a:prstDash val="solid"/>
          </a:ln>
        </p:spPr>
        <p:txBody>
          <a:bodyPr/>
          <a:lstStyle/>
          <a:p>
            <a:endParaRPr lang="en-US"/>
          </a:p>
        </p:txBody>
      </p:sp>
      <p:sp>
        <p:nvSpPr>
          <p:cNvPr id="13" name="Text 10"/>
          <p:cNvSpPr/>
          <p:nvPr/>
        </p:nvSpPr>
        <p:spPr>
          <a:xfrm>
            <a:off x="6309360" y="2807208"/>
            <a:ext cx="210312" cy="164592"/>
          </a:xfrm>
          <a:prstGeom prst="rect">
            <a:avLst/>
          </a:prstGeom>
          <a:noFill/>
          <a:ln/>
        </p:spPr>
        <p:txBody>
          <a:bodyPr wrap="square" lIns="0" tIns="0" rIns="0" bIns="0" rtlCol="0" anchor="ctr">
            <a:normAutofit/>
          </a:bodyPr>
          <a:lstStyle/>
          <a:p>
            <a:pPr marL="0" indent="0" algn="ctr">
              <a:buNone/>
            </a:pPr>
            <a:endParaRPr lang="en-US" sz="1800" dirty="0"/>
          </a:p>
        </p:txBody>
      </p:sp>
      <p:sp>
        <p:nvSpPr>
          <p:cNvPr id="14" name="Text 11"/>
          <p:cNvSpPr/>
          <p:nvPr/>
        </p:nvSpPr>
        <p:spPr>
          <a:xfrm>
            <a:off x="6629400" y="2715768"/>
            <a:ext cx="4297680" cy="256032"/>
          </a:xfrm>
          <a:prstGeom prst="rect">
            <a:avLst/>
          </a:prstGeom>
          <a:noFill/>
          <a:ln/>
        </p:spPr>
        <p:txBody>
          <a:bodyPr wrap="square" lIns="0" tIns="0" rIns="0" bIns="0" rtlCol="0" anchor="ctr">
            <a:normAutofit/>
          </a:bodyPr>
          <a:lstStyle/>
          <a:p>
            <a:pPr marL="0" indent="0">
              <a:buNone/>
            </a:pPr>
            <a:r>
              <a:rPr lang="en-US" sz="1700" dirty="0">
                <a:solidFill>
                  <a:srgbClr val="132033"/>
                </a:solidFill>
                <a:latin typeface="Aptos" pitchFamily="34" charset="0"/>
                <a:ea typeface="Aptos" pitchFamily="34" charset="-122"/>
                <a:cs typeface="Aptos" pitchFamily="34" charset="-120"/>
              </a:rPr>
              <a:t>Collect samples from two sites</a:t>
            </a:r>
            <a:endParaRPr lang="en-US" sz="1700" dirty="0"/>
          </a:p>
        </p:txBody>
      </p:sp>
      <p:sp>
        <p:nvSpPr>
          <p:cNvPr id="15" name="Shape 12"/>
          <p:cNvSpPr/>
          <p:nvPr/>
        </p:nvSpPr>
        <p:spPr>
          <a:xfrm>
            <a:off x="6309360" y="3264408"/>
            <a:ext cx="210312" cy="210312"/>
          </a:xfrm>
          <a:prstGeom prst="ellipse">
            <a:avLst/>
          </a:prstGeom>
          <a:solidFill>
            <a:srgbClr val="F2C14E"/>
          </a:solidFill>
          <a:ln w="12700">
            <a:solidFill>
              <a:srgbClr val="F2C14E"/>
            </a:solidFill>
            <a:prstDash val="solid"/>
          </a:ln>
        </p:spPr>
        <p:txBody>
          <a:bodyPr/>
          <a:lstStyle/>
          <a:p>
            <a:endParaRPr lang="en-US"/>
          </a:p>
        </p:txBody>
      </p:sp>
      <p:sp>
        <p:nvSpPr>
          <p:cNvPr id="16" name="Text 13"/>
          <p:cNvSpPr/>
          <p:nvPr/>
        </p:nvSpPr>
        <p:spPr>
          <a:xfrm>
            <a:off x="6309360" y="3310128"/>
            <a:ext cx="210312" cy="164592"/>
          </a:xfrm>
          <a:prstGeom prst="rect">
            <a:avLst/>
          </a:prstGeom>
          <a:noFill/>
          <a:ln/>
        </p:spPr>
        <p:txBody>
          <a:bodyPr wrap="square" lIns="0" tIns="0" rIns="0" bIns="0" rtlCol="0" anchor="ctr">
            <a:normAutofit/>
          </a:bodyPr>
          <a:lstStyle/>
          <a:p>
            <a:pPr marL="0" indent="0" algn="ctr">
              <a:buNone/>
            </a:pPr>
            <a:endParaRPr lang="en-US" sz="1800" dirty="0"/>
          </a:p>
        </p:txBody>
      </p:sp>
      <p:sp>
        <p:nvSpPr>
          <p:cNvPr id="17" name="Text 14"/>
          <p:cNvSpPr/>
          <p:nvPr/>
        </p:nvSpPr>
        <p:spPr>
          <a:xfrm>
            <a:off x="6629400" y="3218688"/>
            <a:ext cx="4297680" cy="256032"/>
          </a:xfrm>
          <a:prstGeom prst="rect">
            <a:avLst/>
          </a:prstGeom>
          <a:noFill/>
          <a:ln/>
        </p:spPr>
        <p:txBody>
          <a:bodyPr wrap="square" lIns="0" tIns="0" rIns="0" bIns="0" rtlCol="0" anchor="ctr">
            <a:normAutofit/>
          </a:bodyPr>
          <a:lstStyle/>
          <a:p>
            <a:pPr marL="0" indent="0">
              <a:buNone/>
            </a:pPr>
            <a:r>
              <a:rPr lang="en-US" sz="1700" dirty="0">
                <a:solidFill>
                  <a:srgbClr val="132033"/>
                </a:solidFill>
                <a:latin typeface="Aptos" pitchFamily="34" charset="0"/>
                <a:ea typeface="Aptos" pitchFamily="34" charset="-122"/>
                <a:cs typeface="Aptos" pitchFamily="34" charset="-120"/>
              </a:rPr>
              <a:t>Manage limited battery</a:t>
            </a:r>
            <a:endParaRPr lang="en-US" sz="1700" dirty="0"/>
          </a:p>
        </p:txBody>
      </p:sp>
      <p:sp>
        <p:nvSpPr>
          <p:cNvPr id="18" name="Shape 15"/>
          <p:cNvSpPr/>
          <p:nvPr/>
        </p:nvSpPr>
        <p:spPr>
          <a:xfrm>
            <a:off x="6309360" y="3767328"/>
            <a:ext cx="210312" cy="210312"/>
          </a:xfrm>
          <a:prstGeom prst="ellipse">
            <a:avLst/>
          </a:prstGeom>
          <a:solidFill>
            <a:srgbClr val="D94E4E"/>
          </a:solidFill>
          <a:ln w="12700">
            <a:solidFill>
              <a:srgbClr val="D94E4E"/>
            </a:solidFill>
            <a:prstDash val="solid"/>
          </a:ln>
        </p:spPr>
        <p:txBody>
          <a:bodyPr/>
          <a:lstStyle/>
          <a:p>
            <a:endParaRPr lang="en-US"/>
          </a:p>
        </p:txBody>
      </p:sp>
      <p:sp>
        <p:nvSpPr>
          <p:cNvPr id="19" name="Text 16"/>
          <p:cNvSpPr/>
          <p:nvPr/>
        </p:nvSpPr>
        <p:spPr>
          <a:xfrm>
            <a:off x="6309360" y="3813048"/>
            <a:ext cx="210312" cy="164592"/>
          </a:xfrm>
          <a:prstGeom prst="rect">
            <a:avLst/>
          </a:prstGeom>
          <a:noFill/>
          <a:ln/>
        </p:spPr>
        <p:txBody>
          <a:bodyPr wrap="square" lIns="0" tIns="0" rIns="0" bIns="0" rtlCol="0" anchor="ctr">
            <a:normAutofit/>
          </a:bodyPr>
          <a:lstStyle/>
          <a:p>
            <a:pPr marL="0" indent="0" algn="ctr">
              <a:buNone/>
            </a:pPr>
            <a:endParaRPr lang="en-US" sz="1800" dirty="0"/>
          </a:p>
        </p:txBody>
      </p:sp>
      <p:sp>
        <p:nvSpPr>
          <p:cNvPr id="20" name="Text 17"/>
          <p:cNvSpPr/>
          <p:nvPr/>
        </p:nvSpPr>
        <p:spPr>
          <a:xfrm>
            <a:off x="6629400" y="3721608"/>
            <a:ext cx="4297680" cy="256032"/>
          </a:xfrm>
          <a:prstGeom prst="rect">
            <a:avLst/>
          </a:prstGeom>
          <a:noFill/>
          <a:ln/>
        </p:spPr>
        <p:txBody>
          <a:bodyPr wrap="square" lIns="0" tIns="0" rIns="0" bIns="0" rtlCol="0" anchor="ctr">
            <a:normAutofit/>
          </a:bodyPr>
          <a:lstStyle/>
          <a:p>
            <a:pPr marL="0" indent="0">
              <a:buNone/>
            </a:pPr>
            <a:r>
              <a:rPr lang="en-US" sz="1700" dirty="0">
                <a:solidFill>
                  <a:srgbClr val="132033"/>
                </a:solidFill>
                <a:latin typeface="Aptos" pitchFamily="34" charset="0"/>
                <a:ea typeface="Aptos" pitchFamily="34" charset="-122"/>
                <a:cs typeface="Aptos" pitchFamily="34" charset="-120"/>
              </a:rPr>
              <a:t>Avoid unstable terrain</a:t>
            </a:r>
            <a:endParaRPr lang="en-US" sz="1700" dirty="0"/>
          </a:p>
        </p:txBody>
      </p:sp>
      <p:sp>
        <p:nvSpPr>
          <p:cNvPr id="21" name="Shape 18"/>
          <p:cNvSpPr/>
          <p:nvPr/>
        </p:nvSpPr>
        <p:spPr>
          <a:xfrm>
            <a:off x="6309360" y="4270248"/>
            <a:ext cx="210312" cy="210312"/>
          </a:xfrm>
          <a:prstGeom prst="ellipse">
            <a:avLst/>
          </a:prstGeom>
          <a:solidFill>
            <a:srgbClr val="F2C14E"/>
          </a:solidFill>
          <a:ln w="12700">
            <a:solidFill>
              <a:srgbClr val="F2C14E"/>
            </a:solidFill>
            <a:prstDash val="solid"/>
          </a:ln>
        </p:spPr>
        <p:txBody>
          <a:bodyPr/>
          <a:lstStyle/>
          <a:p>
            <a:endParaRPr lang="en-US"/>
          </a:p>
        </p:txBody>
      </p:sp>
      <p:sp>
        <p:nvSpPr>
          <p:cNvPr id="22" name="Text 19"/>
          <p:cNvSpPr/>
          <p:nvPr/>
        </p:nvSpPr>
        <p:spPr>
          <a:xfrm>
            <a:off x="6309360" y="4315968"/>
            <a:ext cx="210312" cy="164592"/>
          </a:xfrm>
          <a:prstGeom prst="rect">
            <a:avLst/>
          </a:prstGeom>
          <a:noFill/>
          <a:ln/>
        </p:spPr>
        <p:txBody>
          <a:bodyPr wrap="square" lIns="0" tIns="0" rIns="0" bIns="0" rtlCol="0" anchor="ctr">
            <a:normAutofit/>
          </a:bodyPr>
          <a:lstStyle/>
          <a:p>
            <a:pPr marL="0" indent="0" algn="ctr">
              <a:buNone/>
            </a:pPr>
            <a:endParaRPr lang="en-US" sz="1800" dirty="0"/>
          </a:p>
        </p:txBody>
      </p:sp>
      <p:sp>
        <p:nvSpPr>
          <p:cNvPr id="23" name="Text 20"/>
          <p:cNvSpPr/>
          <p:nvPr/>
        </p:nvSpPr>
        <p:spPr>
          <a:xfrm>
            <a:off x="6629400" y="4224528"/>
            <a:ext cx="4297680" cy="256032"/>
          </a:xfrm>
          <a:prstGeom prst="rect">
            <a:avLst/>
          </a:prstGeom>
          <a:noFill/>
          <a:ln/>
        </p:spPr>
        <p:txBody>
          <a:bodyPr wrap="square" lIns="0" tIns="0" rIns="0" bIns="0" rtlCol="0" anchor="ctr">
            <a:normAutofit/>
          </a:bodyPr>
          <a:lstStyle/>
          <a:p>
            <a:pPr marL="0" indent="0">
              <a:buNone/>
            </a:pPr>
            <a:r>
              <a:rPr lang="en-US" sz="1700" dirty="0">
                <a:solidFill>
                  <a:srgbClr val="132033"/>
                </a:solidFill>
                <a:latin typeface="Aptos" pitchFamily="34" charset="0"/>
                <a:ea typeface="Aptos" pitchFamily="34" charset="-122"/>
                <a:cs typeface="Aptos" pitchFamily="34" charset="-120"/>
              </a:rPr>
              <a:t>Return to the lander</a:t>
            </a:r>
            <a:endParaRPr lang="en-US" sz="1700" dirty="0"/>
          </a:p>
        </p:txBody>
      </p:sp>
      <p:sp>
        <p:nvSpPr>
          <p:cNvPr id="24" name="Text 21"/>
          <p:cNvSpPr/>
          <p:nvPr/>
        </p:nvSpPr>
        <p:spPr>
          <a:xfrm>
            <a:off x="6309360" y="5074920"/>
            <a:ext cx="4526280" cy="411480"/>
          </a:xfrm>
          <a:prstGeom prst="rect">
            <a:avLst/>
          </a:prstGeom>
          <a:noFill/>
          <a:ln/>
        </p:spPr>
        <p:txBody>
          <a:bodyPr wrap="square" lIns="0" tIns="0" rIns="0" bIns="0" rtlCol="0" anchor="ctr">
            <a:normAutofit/>
          </a:bodyPr>
          <a:lstStyle/>
          <a:p>
            <a:pPr marL="0" indent="0">
              <a:buNone/>
            </a:pPr>
            <a:r>
              <a:rPr lang="en-US" sz="1800" b="1" dirty="0">
                <a:solidFill>
                  <a:srgbClr val="1D5FA7"/>
                </a:solidFill>
                <a:latin typeface="Aptos" pitchFamily="34" charset="0"/>
                <a:ea typeface="Aptos" pitchFamily="34" charset="-122"/>
                <a:cs typeface="Aptos" pitchFamily="34" charset="-120"/>
              </a:rPr>
              <a:t>Question: what must the rover remember to make correct decisions?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From mission to model</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Formulation translates a real task into something an algorithm can search.</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5</a:t>
            </a:r>
            <a:endParaRPr lang="en-US" sz="850" dirty="0"/>
          </a:p>
        </p:txBody>
      </p:sp>
      <p:sp>
        <p:nvSpPr>
          <p:cNvPr id="6" name="Shape 4"/>
          <p:cNvSpPr/>
          <p:nvPr/>
        </p:nvSpPr>
        <p:spPr>
          <a:xfrm>
            <a:off x="685800" y="1874520"/>
            <a:ext cx="1783080" cy="1188720"/>
          </a:xfrm>
          <a:prstGeom prst="roundRect">
            <a:avLst>
              <a:gd name="adj" fmla="val 6154"/>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7" name="Text 5"/>
          <p:cNvSpPr/>
          <p:nvPr/>
        </p:nvSpPr>
        <p:spPr>
          <a:xfrm>
            <a:off x="822960" y="2057400"/>
            <a:ext cx="1508760" cy="274320"/>
          </a:xfrm>
          <a:prstGeom prst="rect">
            <a:avLst/>
          </a:prstGeom>
          <a:noFill/>
          <a:ln/>
        </p:spPr>
        <p:txBody>
          <a:bodyPr wrap="square" lIns="0" tIns="0" rIns="0" bIns="0" rtlCol="0" anchor="ctr">
            <a:normAutofit/>
          </a:bodyPr>
          <a:lstStyle/>
          <a:p>
            <a:pPr marL="0" indent="0" algn="ctr">
              <a:buNone/>
            </a:pPr>
            <a:r>
              <a:rPr lang="en-US" sz="1500" b="1" dirty="0">
                <a:solidFill>
                  <a:srgbClr val="0B2D55"/>
                </a:solidFill>
                <a:latin typeface="Aptos" pitchFamily="34" charset="0"/>
                <a:ea typeface="Aptos" pitchFamily="34" charset="-122"/>
                <a:cs typeface="Aptos" pitchFamily="34" charset="-120"/>
              </a:rPr>
              <a:t>Mission narrative</a:t>
            </a:r>
            <a:endParaRPr lang="en-US" sz="1500" dirty="0"/>
          </a:p>
        </p:txBody>
      </p:sp>
      <p:sp>
        <p:nvSpPr>
          <p:cNvPr id="8" name="Text 6"/>
          <p:cNvSpPr/>
          <p:nvPr/>
        </p:nvSpPr>
        <p:spPr>
          <a:xfrm>
            <a:off x="795528" y="2496312"/>
            <a:ext cx="1554480" cy="365760"/>
          </a:xfrm>
          <a:prstGeom prst="rect">
            <a:avLst/>
          </a:prstGeom>
          <a:noFill/>
          <a:ln/>
        </p:spPr>
        <p:txBody>
          <a:bodyPr wrap="square" lIns="0" tIns="0" rIns="0" bIns="0" rtlCol="0" anchor="ctr">
            <a:normAutofit/>
          </a:bodyPr>
          <a:lstStyle/>
          <a:p>
            <a:pPr marL="0" indent="0" algn="ctr">
              <a:buNone/>
            </a:pPr>
            <a:r>
              <a:rPr lang="en-US" sz="1150" dirty="0">
                <a:solidFill>
                  <a:srgbClr val="6D7C8F"/>
                </a:solidFill>
                <a:latin typeface="Aptos" pitchFamily="34" charset="0"/>
                <a:ea typeface="Aptos" pitchFamily="34" charset="-122"/>
                <a:cs typeface="Aptos" pitchFamily="34" charset="-120"/>
              </a:rPr>
              <a:t>natural language task</a:t>
            </a:r>
            <a:endParaRPr lang="en-US" sz="1150" dirty="0"/>
          </a:p>
        </p:txBody>
      </p:sp>
      <p:sp>
        <p:nvSpPr>
          <p:cNvPr id="9" name="Shape 7"/>
          <p:cNvSpPr/>
          <p:nvPr/>
        </p:nvSpPr>
        <p:spPr>
          <a:xfrm>
            <a:off x="2496312" y="2468880"/>
            <a:ext cx="320040" cy="0"/>
          </a:xfrm>
          <a:prstGeom prst="line">
            <a:avLst/>
          </a:prstGeom>
          <a:noFill/>
          <a:ln w="25400">
            <a:solidFill>
              <a:srgbClr val="F2C14E"/>
            </a:solidFill>
            <a:prstDash val="solid"/>
            <a:headEnd type="none"/>
            <a:tailEnd type="triangle"/>
          </a:ln>
        </p:spPr>
        <p:txBody>
          <a:bodyPr/>
          <a:lstStyle/>
          <a:p>
            <a:endParaRPr lang="en-US"/>
          </a:p>
        </p:txBody>
      </p:sp>
      <p:sp>
        <p:nvSpPr>
          <p:cNvPr id="10" name="Shape 8"/>
          <p:cNvSpPr/>
          <p:nvPr/>
        </p:nvSpPr>
        <p:spPr>
          <a:xfrm>
            <a:off x="2926080" y="1874520"/>
            <a:ext cx="1783080" cy="1188720"/>
          </a:xfrm>
          <a:prstGeom prst="roundRect">
            <a:avLst>
              <a:gd name="adj" fmla="val 6154"/>
            </a:avLst>
          </a:prstGeom>
          <a:solidFill>
            <a:srgbClr val="DCEEFF"/>
          </a:solidFill>
          <a:ln w="12700">
            <a:solidFill>
              <a:srgbClr val="1D5FA7"/>
            </a:solidFill>
            <a:prstDash val="solid"/>
          </a:ln>
          <a:effectLst>
            <a:outerShdw blurRad="12700" dist="50800" dir="2700000" algn="bl" rotWithShape="0">
              <a:srgbClr val="D4DEE8">
                <a:alpha val="25000"/>
              </a:srgbClr>
            </a:outerShdw>
          </a:effectLst>
        </p:spPr>
        <p:txBody>
          <a:bodyPr/>
          <a:lstStyle/>
          <a:p>
            <a:endParaRPr lang="en-US"/>
          </a:p>
        </p:txBody>
      </p:sp>
      <p:sp>
        <p:nvSpPr>
          <p:cNvPr id="11" name="Text 9"/>
          <p:cNvSpPr/>
          <p:nvPr/>
        </p:nvSpPr>
        <p:spPr>
          <a:xfrm>
            <a:off x="3063240" y="2057400"/>
            <a:ext cx="1508760" cy="274320"/>
          </a:xfrm>
          <a:prstGeom prst="rect">
            <a:avLst/>
          </a:prstGeom>
          <a:noFill/>
          <a:ln/>
        </p:spPr>
        <p:txBody>
          <a:bodyPr wrap="square" lIns="0" tIns="0" rIns="0" bIns="0" rtlCol="0" anchor="ctr">
            <a:normAutofit/>
          </a:bodyPr>
          <a:lstStyle/>
          <a:p>
            <a:pPr marL="0" indent="0" algn="ctr">
              <a:buNone/>
            </a:pPr>
            <a:r>
              <a:rPr lang="en-US" sz="1500" b="1" dirty="0">
                <a:solidFill>
                  <a:srgbClr val="0B2D55"/>
                </a:solidFill>
                <a:latin typeface="Aptos" pitchFamily="34" charset="0"/>
                <a:ea typeface="Aptos" pitchFamily="34" charset="-122"/>
                <a:cs typeface="Aptos" pitchFamily="34" charset="-120"/>
              </a:rPr>
              <a:t>Computational representation</a:t>
            </a:r>
            <a:endParaRPr lang="en-US" sz="1500" dirty="0"/>
          </a:p>
        </p:txBody>
      </p:sp>
      <p:sp>
        <p:nvSpPr>
          <p:cNvPr id="12" name="Text 10"/>
          <p:cNvSpPr/>
          <p:nvPr/>
        </p:nvSpPr>
        <p:spPr>
          <a:xfrm>
            <a:off x="3035808" y="2496312"/>
            <a:ext cx="1554480" cy="365760"/>
          </a:xfrm>
          <a:prstGeom prst="rect">
            <a:avLst/>
          </a:prstGeom>
          <a:noFill/>
          <a:ln/>
        </p:spPr>
        <p:txBody>
          <a:bodyPr wrap="square" lIns="0" tIns="0" rIns="0" bIns="0" rtlCol="0" anchor="ctr">
            <a:normAutofit/>
          </a:bodyPr>
          <a:lstStyle/>
          <a:p>
            <a:pPr marL="0" indent="0" algn="ctr">
              <a:buNone/>
            </a:pPr>
            <a:r>
              <a:rPr lang="en-US" sz="1150" dirty="0">
                <a:solidFill>
                  <a:srgbClr val="6D7C8F"/>
                </a:solidFill>
                <a:latin typeface="Aptos" pitchFamily="34" charset="0"/>
                <a:ea typeface="Aptos" pitchFamily="34" charset="-122"/>
                <a:cs typeface="Aptos" pitchFamily="34" charset="-120"/>
              </a:rPr>
              <a:t>states, actions, goals, costs</a:t>
            </a:r>
            <a:endParaRPr lang="en-US" sz="1150" dirty="0"/>
          </a:p>
        </p:txBody>
      </p:sp>
      <p:sp>
        <p:nvSpPr>
          <p:cNvPr id="13" name="Shape 11"/>
          <p:cNvSpPr/>
          <p:nvPr/>
        </p:nvSpPr>
        <p:spPr>
          <a:xfrm>
            <a:off x="4736592" y="2468880"/>
            <a:ext cx="320040" cy="0"/>
          </a:xfrm>
          <a:prstGeom prst="line">
            <a:avLst/>
          </a:prstGeom>
          <a:noFill/>
          <a:ln w="25400">
            <a:solidFill>
              <a:srgbClr val="F2C14E"/>
            </a:solidFill>
            <a:prstDash val="solid"/>
            <a:headEnd type="none"/>
            <a:tailEnd type="triangle"/>
          </a:ln>
        </p:spPr>
        <p:txBody>
          <a:bodyPr/>
          <a:lstStyle/>
          <a:p>
            <a:endParaRPr lang="en-US"/>
          </a:p>
        </p:txBody>
      </p:sp>
      <p:sp>
        <p:nvSpPr>
          <p:cNvPr id="14" name="Shape 12"/>
          <p:cNvSpPr/>
          <p:nvPr/>
        </p:nvSpPr>
        <p:spPr>
          <a:xfrm>
            <a:off x="5166360" y="1874520"/>
            <a:ext cx="1783080" cy="1188720"/>
          </a:xfrm>
          <a:prstGeom prst="roundRect">
            <a:avLst>
              <a:gd name="adj" fmla="val 6154"/>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5" name="Text 13"/>
          <p:cNvSpPr/>
          <p:nvPr/>
        </p:nvSpPr>
        <p:spPr>
          <a:xfrm>
            <a:off x="5303520" y="2057400"/>
            <a:ext cx="1508760" cy="274320"/>
          </a:xfrm>
          <a:prstGeom prst="rect">
            <a:avLst/>
          </a:prstGeom>
          <a:noFill/>
          <a:ln/>
        </p:spPr>
        <p:txBody>
          <a:bodyPr wrap="square" lIns="0" tIns="0" rIns="0" bIns="0" rtlCol="0" anchor="ctr">
            <a:normAutofit/>
          </a:bodyPr>
          <a:lstStyle/>
          <a:p>
            <a:pPr marL="0" indent="0" algn="ctr">
              <a:buNone/>
            </a:pPr>
            <a:r>
              <a:rPr lang="en-US" sz="1500" b="1" dirty="0">
                <a:solidFill>
                  <a:srgbClr val="0B2D55"/>
                </a:solidFill>
                <a:latin typeface="Aptos" pitchFamily="34" charset="0"/>
                <a:ea typeface="Aptos" pitchFamily="34" charset="-122"/>
                <a:cs typeface="Aptos" pitchFamily="34" charset="-120"/>
              </a:rPr>
              <a:t>State space</a:t>
            </a:r>
            <a:endParaRPr lang="en-US" sz="1500" dirty="0"/>
          </a:p>
        </p:txBody>
      </p:sp>
      <p:sp>
        <p:nvSpPr>
          <p:cNvPr id="16" name="Text 14"/>
          <p:cNvSpPr/>
          <p:nvPr/>
        </p:nvSpPr>
        <p:spPr>
          <a:xfrm>
            <a:off x="5276088" y="2496312"/>
            <a:ext cx="1554480" cy="365760"/>
          </a:xfrm>
          <a:prstGeom prst="rect">
            <a:avLst/>
          </a:prstGeom>
          <a:noFill/>
          <a:ln/>
        </p:spPr>
        <p:txBody>
          <a:bodyPr wrap="square" lIns="0" tIns="0" rIns="0" bIns="0" rtlCol="0" anchor="ctr">
            <a:normAutofit/>
          </a:bodyPr>
          <a:lstStyle/>
          <a:p>
            <a:pPr marL="0" indent="0" algn="ctr">
              <a:buNone/>
            </a:pPr>
            <a:r>
              <a:rPr lang="en-US" sz="1150" dirty="0">
                <a:solidFill>
                  <a:srgbClr val="6D7C8F"/>
                </a:solidFill>
                <a:latin typeface="Aptos" pitchFamily="34" charset="0"/>
                <a:ea typeface="Aptos" pitchFamily="34" charset="-122"/>
                <a:cs typeface="Aptos" pitchFamily="34" charset="-120"/>
              </a:rPr>
              <a:t>possible situations</a:t>
            </a:r>
            <a:endParaRPr lang="en-US" sz="1150" dirty="0"/>
          </a:p>
        </p:txBody>
      </p:sp>
      <p:sp>
        <p:nvSpPr>
          <p:cNvPr id="17" name="Shape 15"/>
          <p:cNvSpPr/>
          <p:nvPr/>
        </p:nvSpPr>
        <p:spPr>
          <a:xfrm>
            <a:off x="6976872" y="2468880"/>
            <a:ext cx="320040" cy="0"/>
          </a:xfrm>
          <a:prstGeom prst="line">
            <a:avLst/>
          </a:prstGeom>
          <a:noFill/>
          <a:ln w="25400">
            <a:solidFill>
              <a:srgbClr val="F2C14E"/>
            </a:solidFill>
            <a:prstDash val="solid"/>
            <a:headEnd type="none"/>
            <a:tailEnd type="triangle"/>
          </a:ln>
        </p:spPr>
        <p:txBody>
          <a:bodyPr/>
          <a:lstStyle/>
          <a:p>
            <a:endParaRPr lang="en-US"/>
          </a:p>
        </p:txBody>
      </p:sp>
      <p:sp>
        <p:nvSpPr>
          <p:cNvPr id="18" name="Shape 16"/>
          <p:cNvSpPr/>
          <p:nvPr/>
        </p:nvSpPr>
        <p:spPr>
          <a:xfrm>
            <a:off x="7406640" y="1874520"/>
            <a:ext cx="1783080" cy="1188720"/>
          </a:xfrm>
          <a:prstGeom prst="roundRect">
            <a:avLst>
              <a:gd name="adj" fmla="val 6154"/>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9" name="Text 17"/>
          <p:cNvSpPr/>
          <p:nvPr/>
        </p:nvSpPr>
        <p:spPr>
          <a:xfrm>
            <a:off x="7543800" y="2057400"/>
            <a:ext cx="1508760" cy="274320"/>
          </a:xfrm>
          <a:prstGeom prst="rect">
            <a:avLst/>
          </a:prstGeom>
          <a:noFill/>
          <a:ln/>
        </p:spPr>
        <p:txBody>
          <a:bodyPr wrap="square" lIns="0" tIns="0" rIns="0" bIns="0" rtlCol="0" anchor="ctr">
            <a:normAutofit/>
          </a:bodyPr>
          <a:lstStyle/>
          <a:p>
            <a:pPr marL="0" indent="0" algn="ctr">
              <a:buNone/>
            </a:pPr>
            <a:r>
              <a:rPr lang="en-US" sz="1500" b="1" dirty="0">
                <a:solidFill>
                  <a:srgbClr val="0B2D55"/>
                </a:solidFill>
                <a:latin typeface="Aptos" pitchFamily="34" charset="0"/>
                <a:ea typeface="Aptos" pitchFamily="34" charset="-122"/>
                <a:cs typeface="Aptos" pitchFamily="34" charset="-120"/>
              </a:rPr>
              <a:t>Search algorithm</a:t>
            </a:r>
            <a:endParaRPr lang="en-US" sz="1500" dirty="0"/>
          </a:p>
        </p:txBody>
      </p:sp>
      <p:sp>
        <p:nvSpPr>
          <p:cNvPr id="20" name="Text 18"/>
          <p:cNvSpPr/>
          <p:nvPr/>
        </p:nvSpPr>
        <p:spPr>
          <a:xfrm>
            <a:off x="7516368" y="2496312"/>
            <a:ext cx="1554480" cy="365760"/>
          </a:xfrm>
          <a:prstGeom prst="rect">
            <a:avLst/>
          </a:prstGeom>
          <a:noFill/>
          <a:ln/>
        </p:spPr>
        <p:txBody>
          <a:bodyPr wrap="square" lIns="0" tIns="0" rIns="0" bIns="0" rtlCol="0" anchor="ctr">
            <a:normAutofit/>
          </a:bodyPr>
          <a:lstStyle/>
          <a:p>
            <a:pPr marL="0" indent="0" algn="ctr">
              <a:buNone/>
            </a:pPr>
            <a:r>
              <a:rPr lang="en-US" sz="1150" dirty="0">
                <a:solidFill>
                  <a:srgbClr val="6D7C8F"/>
                </a:solidFill>
                <a:latin typeface="Aptos" pitchFamily="34" charset="0"/>
                <a:ea typeface="Aptos" pitchFamily="34" charset="-122"/>
                <a:cs typeface="Aptos" pitchFamily="34" charset="-120"/>
              </a:rPr>
              <a:t>systematic exploration</a:t>
            </a:r>
            <a:endParaRPr lang="en-US" sz="1150" dirty="0"/>
          </a:p>
        </p:txBody>
      </p:sp>
      <p:sp>
        <p:nvSpPr>
          <p:cNvPr id="21" name="Shape 19"/>
          <p:cNvSpPr/>
          <p:nvPr/>
        </p:nvSpPr>
        <p:spPr>
          <a:xfrm>
            <a:off x="9217152" y="2468880"/>
            <a:ext cx="320040" cy="0"/>
          </a:xfrm>
          <a:prstGeom prst="line">
            <a:avLst/>
          </a:prstGeom>
          <a:noFill/>
          <a:ln w="25400">
            <a:solidFill>
              <a:srgbClr val="F2C14E"/>
            </a:solidFill>
            <a:prstDash val="solid"/>
            <a:headEnd type="none"/>
            <a:tailEnd type="triangle"/>
          </a:ln>
        </p:spPr>
        <p:txBody>
          <a:bodyPr/>
          <a:lstStyle/>
          <a:p>
            <a:endParaRPr lang="en-US"/>
          </a:p>
        </p:txBody>
      </p:sp>
      <p:sp>
        <p:nvSpPr>
          <p:cNvPr id="22" name="Shape 20"/>
          <p:cNvSpPr/>
          <p:nvPr/>
        </p:nvSpPr>
        <p:spPr>
          <a:xfrm>
            <a:off x="9646920" y="1874520"/>
            <a:ext cx="1783080" cy="1188720"/>
          </a:xfrm>
          <a:prstGeom prst="roundRect">
            <a:avLst>
              <a:gd name="adj" fmla="val 6154"/>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23" name="Text 21"/>
          <p:cNvSpPr/>
          <p:nvPr/>
        </p:nvSpPr>
        <p:spPr>
          <a:xfrm>
            <a:off x="9784080" y="2057400"/>
            <a:ext cx="1508760" cy="274320"/>
          </a:xfrm>
          <a:prstGeom prst="rect">
            <a:avLst/>
          </a:prstGeom>
          <a:noFill/>
          <a:ln/>
        </p:spPr>
        <p:txBody>
          <a:bodyPr wrap="square" lIns="0" tIns="0" rIns="0" bIns="0" rtlCol="0" anchor="ctr">
            <a:normAutofit/>
          </a:bodyPr>
          <a:lstStyle/>
          <a:p>
            <a:pPr marL="0" indent="0" algn="ctr">
              <a:buNone/>
            </a:pPr>
            <a:r>
              <a:rPr lang="en-US" sz="1500" b="1" dirty="0">
                <a:solidFill>
                  <a:srgbClr val="0B2D55"/>
                </a:solidFill>
                <a:latin typeface="Aptos" pitchFamily="34" charset="0"/>
                <a:ea typeface="Aptos" pitchFamily="34" charset="-122"/>
                <a:cs typeface="Aptos" pitchFamily="34" charset="-120"/>
              </a:rPr>
              <a:t>Solution path</a:t>
            </a:r>
            <a:endParaRPr lang="en-US" sz="1500" dirty="0"/>
          </a:p>
        </p:txBody>
      </p:sp>
      <p:sp>
        <p:nvSpPr>
          <p:cNvPr id="24" name="Text 22"/>
          <p:cNvSpPr/>
          <p:nvPr/>
        </p:nvSpPr>
        <p:spPr>
          <a:xfrm>
            <a:off x="9756648" y="2496312"/>
            <a:ext cx="1554480" cy="365760"/>
          </a:xfrm>
          <a:prstGeom prst="rect">
            <a:avLst/>
          </a:prstGeom>
          <a:noFill/>
          <a:ln/>
        </p:spPr>
        <p:txBody>
          <a:bodyPr wrap="square" lIns="0" tIns="0" rIns="0" bIns="0" rtlCol="0" anchor="ctr">
            <a:normAutofit/>
          </a:bodyPr>
          <a:lstStyle/>
          <a:p>
            <a:pPr marL="0" indent="0" algn="ctr">
              <a:buNone/>
            </a:pPr>
            <a:r>
              <a:rPr lang="en-US" sz="1150" dirty="0">
                <a:solidFill>
                  <a:srgbClr val="6D7C8F"/>
                </a:solidFill>
                <a:latin typeface="Aptos" pitchFamily="34" charset="0"/>
                <a:ea typeface="Aptos" pitchFamily="34" charset="-122"/>
                <a:cs typeface="Aptos" pitchFamily="34" charset="-120"/>
              </a:rPr>
              <a:t>sequence of actions</a:t>
            </a:r>
            <a:endParaRPr lang="en-US" sz="1150" dirty="0"/>
          </a:p>
        </p:txBody>
      </p:sp>
      <p:sp>
        <p:nvSpPr>
          <p:cNvPr id="25" name="Text 23"/>
          <p:cNvSpPr/>
          <p:nvPr/>
        </p:nvSpPr>
        <p:spPr>
          <a:xfrm>
            <a:off x="1920240" y="4389120"/>
            <a:ext cx="8412480" cy="566928"/>
          </a:xfrm>
          <a:prstGeom prst="rect">
            <a:avLst/>
          </a:prstGeom>
          <a:noFill/>
          <a:ln/>
        </p:spPr>
        <p:txBody>
          <a:bodyPr wrap="square" lIns="0" tIns="0" rIns="0" bIns="0" rtlCol="0" anchor="ctr">
            <a:normAutofit/>
          </a:bodyPr>
          <a:lstStyle/>
          <a:p>
            <a:pPr marL="0" indent="0" algn="ctr">
              <a:buNone/>
            </a:pPr>
            <a:r>
              <a:rPr lang="en-US" sz="2800" b="1" dirty="0">
                <a:solidFill>
                  <a:srgbClr val="0B2D55"/>
                </a:solidFill>
                <a:latin typeface="Aptos" pitchFamily="34" charset="0"/>
                <a:ea typeface="Aptos" pitchFamily="34" charset="-122"/>
                <a:cs typeface="Aptos" pitchFamily="34" charset="-120"/>
              </a:rPr>
              <a:t>Formulation happens before algorithm selection.</a:t>
            </a:r>
            <a:endParaRPr lang="en-US" sz="2800" dirty="0"/>
          </a:p>
        </p:txBody>
      </p:sp>
      <p:sp>
        <p:nvSpPr>
          <p:cNvPr id="26" name="Text 24"/>
          <p:cNvSpPr/>
          <p:nvPr/>
        </p:nvSpPr>
        <p:spPr>
          <a:xfrm>
            <a:off x="1965960" y="5074920"/>
            <a:ext cx="8321040" cy="310896"/>
          </a:xfrm>
          <a:prstGeom prst="rect">
            <a:avLst/>
          </a:prstGeom>
          <a:noFill/>
          <a:ln/>
        </p:spPr>
        <p:txBody>
          <a:bodyPr wrap="square" lIns="0" tIns="0" rIns="0" bIns="0" rtlCol="0" anchor="ctr">
            <a:normAutofit/>
          </a:bodyPr>
          <a:lstStyle/>
          <a:p>
            <a:pPr marL="0" indent="0" algn="ctr">
              <a:buNone/>
            </a:pPr>
            <a:r>
              <a:rPr lang="en-US" sz="1700" dirty="0">
                <a:solidFill>
                  <a:srgbClr val="132033"/>
                </a:solidFill>
                <a:latin typeface="Aptos" pitchFamily="34" charset="0"/>
                <a:ea typeface="Aptos" pitchFamily="34" charset="-122"/>
                <a:cs typeface="Aptos" pitchFamily="34" charset="-120"/>
              </a:rPr>
              <a:t>A better algorithm cannot fully rescue a poorly represented problem.</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The four core elements</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A search problem answers four questions.</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6</a:t>
            </a:r>
            <a:endParaRPr lang="en-US" sz="850" dirty="0"/>
          </a:p>
        </p:txBody>
      </p:sp>
      <p:sp>
        <p:nvSpPr>
          <p:cNvPr id="6" name="Shape 4"/>
          <p:cNvSpPr/>
          <p:nvPr/>
        </p:nvSpPr>
        <p:spPr>
          <a:xfrm>
            <a:off x="777240" y="1828800"/>
            <a:ext cx="2423160" cy="1874520"/>
          </a:xfrm>
          <a:prstGeom prst="roundRect">
            <a:avLst>
              <a:gd name="adj" fmla="val 3902"/>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7" name="Shape 5"/>
          <p:cNvSpPr/>
          <p:nvPr/>
        </p:nvSpPr>
        <p:spPr>
          <a:xfrm>
            <a:off x="777240" y="1828800"/>
            <a:ext cx="73152" cy="1874520"/>
          </a:xfrm>
          <a:prstGeom prst="rect">
            <a:avLst/>
          </a:prstGeom>
          <a:solidFill>
            <a:srgbClr val="1D5FA7"/>
          </a:solidFill>
          <a:ln w="12700">
            <a:solidFill>
              <a:srgbClr val="1D5FA7"/>
            </a:solidFill>
            <a:prstDash val="solid"/>
          </a:ln>
        </p:spPr>
        <p:txBody>
          <a:bodyPr/>
          <a:lstStyle/>
          <a:p>
            <a:endParaRPr lang="en-US"/>
          </a:p>
        </p:txBody>
      </p:sp>
      <p:sp>
        <p:nvSpPr>
          <p:cNvPr id="8" name="Text 6"/>
          <p:cNvSpPr/>
          <p:nvPr/>
        </p:nvSpPr>
        <p:spPr>
          <a:xfrm>
            <a:off x="960120" y="1975104"/>
            <a:ext cx="210312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State</a:t>
            </a:r>
            <a:endParaRPr lang="en-US" sz="1500" dirty="0"/>
          </a:p>
        </p:txBody>
      </p:sp>
      <p:sp>
        <p:nvSpPr>
          <p:cNvPr id="9" name="Text 7"/>
          <p:cNvSpPr/>
          <p:nvPr/>
        </p:nvSpPr>
        <p:spPr>
          <a:xfrm>
            <a:off x="960120" y="2313432"/>
            <a:ext cx="2103120" cy="1280160"/>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Where are we?</a:t>
            </a:r>
            <a:endParaRPr lang="en-US" sz="1350" dirty="0"/>
          </a:p>
          <a:p>
            <a:pPr marL="0" indent="0">
              <a:buNone/>
            </a:pPr>
            <a:r>
              <a:rPr lang="en-US" sz="1350" dirty="0">
                <a:solidFill>
                  <a:srgbClr val="132033"/>
                </a:solidFill>
                <a:latin typeface="Aptos" pitchFamily="34" charset="0"/>
                <a:ea typeface="Aptos" pitchFamily="34" charset="-122"/>
                <a:cs typeface="Aptos" pitchFamily="34" charset="-120"/>
              </a:rPr>
              <a:t>Decision-relevant situation</a:t>
            </a:r>
            <a:endParaRPr lang="en-US" sz="1350" dirty="0"/>
          </a:p>
        </p:txBody>
      </p:sp>
      <p:sp>
        <p:nvSpPr>
          <p:cNvPr id="10" name="Shape 8"/>
          <p:cNvSpPr/>
          <p:nvPr/>
        </p:nvSpPr>
        <p:spPr>
          <a:xfrm>
            <a:off x="3566160" y="1828800"/>
            <a:ext cx="2423160" cy="1874520"/>
          </a:xfrm>
          <a:prstGeom prst="roundRect">
            <a:avLst>
              <a:gd name="adj" fmla="val 3902"/>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1" name="Shape 9"/>
          <p:cNvSpPr/>
          <p:nvPr/>
        </p:nvSpPr>
        <p:spPr>
          <a:xfrm>
            <a:off x="3566160" y="1828800"/>
            <a:ext cx="73152" cy="1874520"/>
          </a:xfrm>
          <a:prstGeom prst="rect">
            <a:avLst/>
          </a:prstGeom>
          <a:solidFill>
            <a:srgbClr val="39A875"/>
          </a:solidFill>
          <a:ln w="12700">
            <a:solidFill>
              <a:srgbClr val="39A875"/>
            </a:solidFill>
            <a:prstDash val="solid"/>
          </a:ln>
        </p:spPr>
        <p:txBody>
          <a:bodyPr/>
          <a:lstStyle/>
          <a:p>
            <a:endParaRPr lang="en-US"/>
          </a:p>
        </p:txBody>
      </p:sp>
      <p:sp>
        <p:nvSpPr>
          <p:cNvPr id="12" name="Text 10"/>
          <p:cNvSpPr/>
          <p:nvPr/>
        </p:nvSpPr>
        <p:spPr>
          <a:xfrm>
            <a:off x="3749040" y="1975104"/>
            <a:ext cx="210312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Actions</a:t>
            </a:r>
            <a:endParaRPr lang="en-US" sz="1500" dirty="0"/>
          </a:p>
        </p:txBody>
      </p:sp>
      <p:sp>
        <p:nvSpPr>
          <p:cNvPr id="13" name="Text 11"/>
          <p:cNvSpPr/>
          <p:nvPr/>
        </p:nvSpPr>
        <p:spPr>
          <a:xfrm>
            <a:off x="3749040" y="2313432"/>
            <a:ext cx="2103120" cy="1280160"/>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What can we do?</a:t>
            </a:r>
            <a:endParaRPr lang="en-US" sz="1350" dirty="0"/>
          </a:p>
          <a:p>
            <a:pPr marL="0" indent="0">
              <a:buNone/>
            </a:pPr>
            <a:r>
              <a:rPr lang="en-US" sz="1350" dirty="0">
                <a:solidFill>
                  <a:srgbClr val="132033"/>
                </a:solidFill>
                <a:latin typeface="Aptos" pitchFamily="34" charset="0"/>
                <a:ea typeface="Aptos" pitchFamily="34" charset="-122"/>
                <a:cs typeface="Aptos" pitchFamily="34" charset="-120"/>
              </a:rPr>
              <a:t>Legal moves from a state</a:t>
            </a:r>
            <a:endParaRPr lang="en-US" sz="1350" dirty="0"/>
          </a:p>
        </p:txBody>
      </p:sp>
      <p:sp>
        <p:nvSpPr>
          <p:cNvPr id="14" name="Shape 12"/>
          <p:cNvSpPr/>
          <p:nvPr/>
        </p:nvSpPr>
        <p:spPr>
          <a:xfrm>
            <a:off x="6355080" y="1828800"/>
            <a:ext cx="2423160" cy="1874520"/>
          </a:xfrm>
          <a:prstGeom prst="roundRect">
            <a:avLst>
              <a:gd name="adj" fmla="val 3902"/>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5" name="Shape 13"/>
          <p:cNvSpPr/>
          <p:nvPr/>
        </p:nvSpPr>
        <p:spPr>
          <a:xfrm>
            <a:off x="6355080" y="1828800"/>
            <a:ext cx="73152" cy="1874520"/>
          </a:xfrm>
          <a:prstGeom prst="rect">
            <a:avLst/>
          </a:prstGeom>
          <a:solidFill>
            <a:srgbClr val="F2C14E"/>
          </a:solidFill>
          <a:ln w="12700">
            <a:solidFill>
              <a:srgbClr val="F2C14E"/>
            </a:solidFill>
            <a:prstDash val="solid"/>
          </a:ln>
        </p:spPr>
        <p:txBody>
          <a:bodyPr/>
          <a:lstStyle/>
          <a:p>
            <a:endParaRPr lang="en-US"/>
          </a:p>
        </p:txBody>
      </p:sp>
      <p:sp>
        <p:nvSpPr>
          <p:cNvPr id="16" name="Text 14"/>
          <p:cNvSpPr/>
          <p:nvPr/>
        </p:nvSpPr>
        <p:spPr>
          <a:xfrm>
            <a:off x="6537960" y="1975104"/>
            <a:ext cx="210312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Goal test</a:t>
            </a:r>
            <a:endParaRPr lang="en-US" sz="1500" dirty="0"/>
          </a:p>
        </p:txBody>
      </p:sp>
      <p:sp>
        <p:nvSpPr>
          <p:cNvPr id="17" name="Text 15"/>
          <p:cNvSpPr/>
          <p:nvPr/>
        </p:nvSpPr>
        <p:spPr>
          <a:xfrm>
            <a:off x="6537960" y="2313432"/>
            <a:ext cx="2103120" cy="1280160"/>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When are we done?</a:t>
            </a:r>
            <a:endParaRPr lang="en-US" sz="1350" dirty="0"/>
          </a:p>
          <a:p>
            <a:pPr marL="0" indent="0">
              <a:buNone/>
            </a:pPr>
            <a:r>
              <a:rPr lang="en-US" sz="1350" dirty="0">
                <a:solidFill>
                  <a:srgbClr val="132033"/>
                </a:solidFill>
                <a:latin typeface="Aptos" pitchFamily="34" charset="0"/>
                <a:ea typeface="Aptos" pitchFamily="34" charset="-122"/>
                <a:cs typeface="Aptos" pitchFamily="34" charset="-120"/>
              </a:rPr>
              <a:t>Condition that recognizes success</a:t>
            </a:r>
            <a:endParaRPr lang="en-US" sz="1350" dirty="0"/>
          </a:p>
        </p:txBody>
      </p:sp>
      <p:sp>
        <p:nvSpPr>
          <p:cNvPr id="18" name="Shape 16"/>
          <p:cNvSpPr/>
          <p:nvPr/>
        </p:nvSpPr>
        <p:spPr>
          <a:xfrm>
            <a:off x="9144000" y="1828800"/>
            <a:ext cx="2423160" cy="1874520"/>
          </a:xfrm>
          <a:prstGeom prst="roundRect">
            <a:avLst>
              <a:gd name="adj" fmla="val 3902"/>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9" name="Shape 17"/>
          <p:cNvSpPr/>
          <p:nvPr/>
        </p:nvSpPr>
        <p:spPr>
          <a:xfrm>
            <a:off x="9144000" y="1828800"/>
            <a:ext cx="73152" cy="1874520"/>
          </a:xfrm>
          <a:prstGeom prst="rect">
            <a:avLst/>
          </a:prstGeom>
          <a:solidFill>
            <a:srgbClr val="D94E4E"/>
          </a:solidFill>
          <a:ln w="12700">
            <a:solidFill>
              <a:srgbClr val="D94E4E"/>
            </a:solidFill>
            <a:prstDash val="solid"/>
          </a:ln>
        </p:spPr>
        <p:txBody>
          <a:bodyPr/>
          <a:lstStyle/>
          <a:p>
            <a:endParaRPr lang="en-US"/>
          </a:p>
        </p:txBody>
      </p:sp>
      <p:sp>
        <p:nvSpPr>
          <p:cNvPr id="20" name="Text 18"/>
          <p:cNvSpPr/>
          <p:nvPr/>
        </p:nvSpPr>
        <p:spPr>
          <a:xfrm>
            <a:off x="9326880" y="1975104"/>
            <a:ext cx="210312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Path cost</a:t>
            </a:r>
            <a:endParaRPr lang="en-US" sz="1500" dirty="0"/>
          </a:p>
        </p:txBody>
      </p:sp>
      <p:sp>
        <p:nvSpPr>
          <p:cNvPr id="21" name="Text 19"/>
          <p:cNvSpPr/>
          <p:nvPr/>
        </p:nvSpPr>
        <p:spPr>
          <a:xfrm>
            <a:off x="9326880" y="2313432"/>
            <a:ext cx="2103120" cy="1280160"/>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What is better?</a:t>
            </a:r>
            <a:endParaRPr lang="en-US" sz="1350" dirty="0"/>
          </a:p>
          <a:p>
            <a:pPr marL="0" indent="0">
              <a:buNone/>
            </a:pPr>
            <a:r>
              <a:rPr lang="en-US" sz="1350" dirty="0">
                <a:solidFill>
                  <a:srgbClr val="132033"/>
                </a:solidFill>
                <a:latin typeface="Aptos" pitchFamily="34" charset="0"/>
                <a:ea typeface="Aptos" pitchFamily="34" charset="-122"/>
                <a:cs typeface="Aptos" pitchFamily="34" charset="-120"/>
              </a:rPr>
              <a:t>Cumulative quantity to minimize</a:t>
            </a:r>
            <a:endParaRPr lang="en-US" sz="1350" dirty="0"/>
          </a:p>
        </p:txBody>
      </p:sp>
      <p:sp>
        <p:nvSpPr>
          <p:cNvPr id="22" name="Text 20"/>
          <p:cNvSpPr/>
          <p:nvPr/>
        </p:nvSpPr>
        <p:spPr>
          <a:xfrm>
            <a:off x="914400" y="5074920"/>
            <a:ext cx="10149840" cy="502920"/>
          </a:xfrm>
          <a:prstGeom prst="rect">
            <a:avLst/>
          </a:prstGeom>
          <a:noFill/>
          <a:ln/>
        </p:spPr>
        <p:txBody>
          <a:bodyPr wrap="square" lIns="0" tIns="0" rIns="0" bIns="0" rtlCol="0" anchor="ctr">
            <a:normAutofit/>
          </a:bodyPr>
          <a:lstStyle/>
          <a:p>
            <a:pPr marL="0" indent="0" algn="ctr">
              <a:buNone/>
            </a:pPr>
            <a:r>
              <a:rPr lang="en-US" sz="2300" b="1" dirty="0">
                <a:solidFill>
                  <a:srgbClr val="0B2D55"/>
                </a:solidFill>
                <a:latin typeface="Aptos" pitchFamily="34" charset="0"/>
                <a:ea typeface="Aptos" pitchFamily="34" charset="-122"/>
                <a:cs typeface="Aptos" pitchFamily="34" charset="-120"/>
              </a:rPr>
              <a:t>Initial state: the specific state where the problem starts.</a:t>
            </a:r>
            <a:endParaRPr lang="en-US" sz="2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States: what must the system remember?</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A state is a decision-relevant snapshot, not a complete copy of reality.</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7</a:t>
            </a:r>
            <a:endParaRPr lang="en-US" sz="850" dirty="0"/>
          </a:p>
        </p:txBody>
      </p:sp>
      <p:sp>
        <p:nvSpPr>
          <p:cNvPr id="6" name="Text 4"/>
          <p:cNvSpPr/>
          <p:nvPr/>
        </p:nvSpPr>
        <p:spPr>
          <a:xfrm>
            <a:off x="914400" y="1600200"/>
            <a:ext cx="2377440" cy="365760"/>
          </a:xfrm>
          <a:prstGeom prst="rect">
            <a:avLst/>
          </a:prstGeom>
          <a:noFill/>
          <a:ln/>
        </p:spPr>
        <p:txBody>
          <a:bodyPr wrap="square" lIns="0" tIns="0" rIns="0" bIns="0" rtlCol="0" anchor="ctr">
            <a:normAutofit/>
          </a:bodyPr>
          <a:lstStyle/>
          <a:p>
            <a:pPr marL="0" indent="0" algn="ctr">
              <a:buNone/>
            </a:pPr>
            <a:r>
              <a:rPr lang="en-US" sz="2200" b="1" dirty="0">
                <a:solidFill>
                  <a:srgbClr val="D94E4E"/>
                </a:solidFill>
                <a:latin typeface="Aptos" pitchFamily="34" charset="0"/>
                <a:ea typeface="Aptos" pitchFamily="34" charset="-122"/>
                <a:cs typeface="Aptos" pitchFamily="34" charset="-120"/>
              </a:rPr>
              <a:t>Too little</a:t>
            </a:r>
            <a:endParaRPr lang="en-US" sz="2200" dirty="0"/>
          </a:p>
        </p:txBody>
      </p:sp>
      <p:sp>
        <p:nvSpPr>
          <p:cNvPr id="7" name="Shape 5"/>
          <p:cNvSpPr/>
          <p:nvPr/>
        </p:nvSpPr>
        <p:spPr>
          <a:xfrm>
            <a:off x="822960" y="2057400"/>
            <a:ext cx="2834640" cy="1325880"/>
          </a:xfrm>
          <a:prstGeom prst="roundRect">
            <a:avLst>
              <a:gd name="adj" fmla="val 5517"/>
            </a:avLst>
          </a:prstGeom>
          <a:solidFill>
            <a:srgbClr val="FFF3F3"/>
          </a:solidFill>
          <a:ln w="12700">
            <a:solidFill>
              <a:srgbClr val="D94E4E"/>
            </a:solidFill>
            <a:prstDash val="solid"/>
          </a:ln>
          <a:effectLst>
            <a:outerShdw blurRad="12700" dist="50800" dir="2700000" algn="bl" rotWithShape="0">
              <a:srgbClr val="D4DEE8">
                <a:alpha val="25000"/>
              </a:srgbClr>
            </a:outerShdw>
          </a:effectLst>
        </p:spPr>
        <p:txBody>
          <a:bodyPr/>
          <a:lstStyle/>
          <a:p>
            <a:endParaRPr lang="en-US"/>
          </a:p>
        </p:txBody>
      </p:sp>
      <p:sp>
        <p:nvSpPr>
          <p:cNvPr id="8" name="Text 6"/>
          <p:cNvSpPr/>
          <p:nvPr/>
        </p:nvSpPr>
        <p:spPr>
          <a:xfrm>
            <a:off x="1051560" y="2487168"/>
            <a:ext cx="2377440" cy="320040"/>
          </a:xfrm>
          <a:prstGeom prst="rect">
            <a:avLst/>
          </a:prstGeom>
          <a:noFill/>
          <a:ln/>
        </p:spPr>
        <p:txBody>
          <a:bodyPr wrap="square" lIns="0" tIns="0" rIns="0" bIns="0" rtlCol="0" anchor="ctr">
            <a:normAutofit/>
          </a:bodyPr>
          <a:lstStyle/>
          <a:p>
            <a:pPr marL="0" indent="0" algn="ctr">
              <a:buNone/>
            </a:pPr>
            <a:r>
              <a:rPr lang="en-US" sz="2300" b="1" dirty="0">
                <a:solidFill>
                  <a:srgbClr val="D94E4E"/>
                </a:solidFill>
                <a:latin typeface="Aptos" pitchFamily="34" charset="0"/>
                <a:ea typeface="Aptos" pitchFamily="34" charset="-122"/>
                <a:cs typeface="Aptos" pitchFamily="34" charset="-120"/>
              </a:rPr>
              <a:t>location only</a:t>
            </a:r>
            <a:endParaRPr lang="en-US" sz="2300" dirty="0"/>
          </a:p>
        </p:txBody>
      </p:sp>
      <p:sp>
        <p:nvSpPr>
          <p:cNvPr id="9" name="Text 7"/>
          <p:cNvSpPr/>
          <p:nvPr/>
        </p:nvSpPr>
        <p:spPr>
          <a:xfrm>
            <a:off x="868680" y="3520440"/>
            <a:ext cx="2743200" cy="530352"/>
          </a:xfrm>
          <a:prstGeom prst="rect">
            <a:avLst/>
          </a:prstGeom>
          <a:noFill/>
          <a:ln/>
        </p:spPr>
        <p:txBody>
          <a:bodyPr wrap="square" lIns="0" tIns="0" rIns="0" bIns="0" rtlCol="0" anchor="ctr">
            <a:normAutofit/>
          </a:bodyPr>
          <a:lstStyle/>
          <a:p>
            <a:pPr marL="0" indent="0" algn="ctr">
              <a:buNone/>
            </a:pPr>
            <a:r>
              <a:rPr lang="en-US" sz="1400" dirty="0">
                <a:solidFill>
                  <a:srgbClr val="132033"/>
                </a:solidFill>
                <a:latin typeface="Aptos" pitchFamily="34" charset="0"/>
                <a:ea typeface="Aptos" pitchFamily="34" charset="-122"/>
                <a:cs typeface="Aptos" pitchFamily="34" charset="-120"/>
              </a:rPr>
              <a:t>Cannot know whether samples are already collected.</a:t>
            </a:r>
            <a:endParaRPr lang="en-US" sz="1400" dirty="0"/>
          </a:p>
        </p:txBody>
      </p:sp>
      <p:sp>
        <p:nvSpPr>
          <p:cNvPr id="10" name="Shape 8"/>
          <p:cNvSpPr/>
          <p:nvPr/>
        </p:nvSpPr>
        <p:spPr>
          <a:xfrm>
            <a:off x="3977640" y="2743200"/>
            <a:ext cx="777240" cy="0"/>
          </a:xfrm>
          <a:prstGeom prst="line">
            <a:avLst/>
          </a:prstGeom>
          <a:noFill/>
          <a:ln w="25400">
            <a:solidFill>
              <a:srgbClr val="F2C14E"/>
            </a:solidFill>
            <a:prstDash val="solid"/>
            <a:headEnd type="none"/>
            <a:tailEnd type="triangle"/>
          </a:ln>
        </p:spPr>
        <p:txBody>
          <a:bodyPr/>
          <a:lstStyle/>
          <a:p>
            <a:endParaRPr lang="en-US"/>
          </a:p>
        </p:txBody>
      </p:sp>
      <p:sp>
        <p:nvSpPr>
          <p:cNvPr id="11" name="Text 9"/>
          <p:cNvSpPr/>
          <p:nvPr/>
        </p:nvSpPr>
        <p:spPr>
          <a:xfrm>
            <a:off x="4800600" y="1600200"/>
            <a:ext cx="2743200" cy="365760"/>
          </a:xfrm>
          <a:prstGeom prst="rect">
            <a:avLst/>
          </a:prstGeom>
          <a:noFill/>
          <a:ln/>
        </p:spPr>
        <p:txBody>
          <a:bodyPr wrap="square" lIns="0" tIns="0" rIns="0" bIns="0" rtlCol="0" anchor="ctr">
            <a:normAutofit/>
          </a:bodyPr>
          <a:lstStyle/>
          <a:p>
            <a:pPr marL="0" indent="0" algn="ctr">
              <a:buNone/>
            </a:pPr>
            <a:r>
              <a:rPr lang="en-US" sz="2200" b="1" dirty="0">
                <a:solidFill>
                  <a:srgbClr val="39A875"/>
                </a:solidFill>
                <a:latin typeface="Aptos" pitchFamily="34" charset="0"/>
                <a:ea typeface="Aptos" pitchFamily="34" charset="-122"/>
                <a:cs typeface="Aptos" pitchFamily="34" charset="-120"/>
              </a:rPr>
              <a:t>Useful abstraction</a:t>
            </a:r>
            <a:endParaRPr lang="en-US" sz="2200" dirty="0"/>
          </a:p>
        </p:txBody>
      </p:sp>
      <p:sp>
        <p:nvSpPr>
          <p:cNvPr id="12" name="Shape 10"/>
          <p:cNvSpPr/>
          <p:nvPr/>
        </p:nvSpPr>
        <p:spPr>
          <a:xfrm>
            <a:off x="4663440" y="2057400"/>
            <a:ext cx="3017520" cy="1325880"/>
          </a:xfrm>
          <a:prstGeom prst="roundRect">
            <a:avLst>
              <a:gd name="adj" fmla="val 5517"/>
            </a:avLst>
          </a:prstGeom>
          <a:solidFill>
            <a:srgbClr val="F1FBF5"/>
          </a:solidFill>
          <a:ln w="12700">
            <a:solidFill>
              <a:srgbClr val="39A875"/>
            </a:solidFill>
            <a:prstDash val="solid"/>
          </a:ln>
          <a:effectLst>
            <a:outerShdw blurRad="12700" dist="50800" dir="2700000" algn="bl" rotWithShape="0">
              <a:srgbClr val="D4DEE8">
                <a:alpha val="25000"/>
              </a:srgbClr>
            </a:outerShdw>
          </a:effectLst>
        </p:spPr>
        <p:txBody>
          <a:bodyPr/>
          <a:lstStyle/>
          <a:p>
            <a:endParaRPr lang="en-US"/>
          </a:p>
        </p:txBody>
      </p:sp>
      <p:sp>
        <p:nvSpPr>
          <p:cNvPr id="13" name="Text 11"/>
          <p:cNvSpPr/>
          <p:nvPr/>
        </p:nvSpPr>
        <p:spPr>
          <a:xfrm>
            <a:off x="4800600" y="2487168"/>
            <a:ext cx="2743200" cy="320040"/>
          </a:xfrm>
          <a:prstGeom prst="rect">
            <a:avLst/>
          </a:prstGeom>
          <a:noFill/>
          <a:ln/>
        </p:spPr>
        <p:txBody>
          <a:bodyPr wrap="square" lIns="0" tIns="0" rIns="0" bIns="0" rtlCol="0" anchor="ctr">
            <a:normAutofit/>
          </a:bodyPr>
          <a:lstStyle/>
          <a:p>
            <a:pPr marL="0" indent="0" algn="ctr">
              <a:buNone/>
            </a:pPr>
            <a:r>
              <a:rPr lang="en-US" sz="2000" b="1" dirty="0">
                <a:solidFill>
                  <a:srgbClr val="39A875"/>
                </a:solidFill>
                <a:latin typeface="Aptos" pitchFamily="34" charset="0"/>
                <a:ea typeface="Aptos" pitchFamily="34" charset="-122"/>
                <a:cs typeface="Aptos" pitchFamily="34" charset="-120"/>
              </a:rPr>
              <a:t>(location, samples, battery)</a:t>
            </a:r>
            <a:endParaRPr lang="en-US" sz="2000" dirty="0"/>
          </a:p>
        </p:txBody>
      </p:sp>
      <p:sp>
        <p:nvSpPr>
          <p:cNvPr id="14" name="Text 12"/>
          <p:cNvSpPr/>
          <p:nvPr/>
        </p:nvSpPr>
        <p:spPr>
          <a:xfrm>
            <a:off x="4709160" y="3520440"/>
            <a:ext cx="2926080" cy="530352"/>
          </a:xfrm>
          <a:prstGeom prst="rect">
            <a:avLst/>
          </a:prstGeom>
          <a:noFill/>
          <a:ln/>
        </p:spPr>
        <p:txBody>
          <a:bodyPr wrap="square" lIns="0" tIns="0" rIns="0" bIns="0" rtlCol="0" anchor="ctr">
            <a:normAutofit/>
          </a:bodyPr>
          <a:lstStyle/>
          <a:p>
            <a:pPr marL="0" indent="0" algn="ctr">
              <a:buNone/>
            </a:pPr>
            <a:r>
              <a:rPr lang="en-US" sz="1400" dirty="0">
                <a:solidFill>
                  <a:srgbClr val="132033"/>
                </a:solidFill>
                <a:latin typeface="Aptos" pitchFamily="34" charset="0"/>
                <a:ea typeface="Aptos" pitchFamily="34" charset="-122"/>
                <a:cs typeface="Aptos" pitchFamily="34" charset="-120"/>
              </a:rPr>
              <a:t>Supports actions, goal recognition, and cost reasoning.</a:t>
            </a:r>
            <a:endParaRPr lang="en-US" sz="1400" dirty="0"/>
          </a:p>
        </p:txBody>
      </p:sp>
      <p:sp>
        <p:nvSpPr>
          <p:cNvPr id="15" name="Shape 13"/>
          <p:cNvSpPr/>
          <p:nvPr/>
        </p:nvSpPr>
        <p:spPr>
          <a:xfrm>
            <a:off x="7955280" y="2743200"/>
            <a:ext cx="777240" cy="0"/>
          </a:xfrm>
          <a:prstGeom prst="line">
            <a:avLst/>
          </a:prstGeom>
          <a:noFill/>
          <a:ln w="25400">
            <a:solidFill>
              <a:srgbClr val="F2C14E"/>
            </a:solidFill>
            <a:prstDash val="solid"/>
            <a:headEnd type="none"/>
            <a:tailEnd type="triangle"/>
          </a:ln>
        </p:spPr>
        <p:txBody>
          <a:bodyPr/>
          <a:lstStyle/>
          <a:p>
            <a:endParaRPr lang="en-US"/>
          </a:p>
        </p:txBody>
      </p:sp>
      <p:sp>
        <p:nvSpPr>
          <p:cNvPr id="16" name="Text 14"/>
          <p:cNvSpPr/>
          <p:nvPr/>
        </p:nvSpPr>
        <p:spPr>
          <a:xfrm>
            <a:off x="8915400" y="1600200"/>
            <a:ext cx="2377440" cy="365760"/>
          </a:xfrm>
          <a:prstGeom prst="rect">
            <a:avLst/>
          </a:prstGeom>
          <a:noFill/>
          <a:ln/>
        </p:spPr>
        <p:txBody>
          <a:bodyPr wrap="square" lIns="0" tIns="0" rIns="0" bIns="0" rtlCol="0" anchor="ctr">
            <a:normAutofit/>
          </a:bodyPr>
          <a:lstStyle/>
          <a:p>
            <a:pPr marL="0" indent="0" algn="ctr">
              <a:buNone/>
            </a:pPr>
            <a:r>
              <a:rPr lang="en-US" sz="2200" b="1" dirty="0">
                <a:solidFill>
                  <a:srgbClr val="6D7C8F"/>
                </a:solidFill>
                <a:latin typeface="Aptos" pitchFamily="34" charset="0"/>
                <a:ea typeface="Aptos" pitchFamily="34" charset="-122"/>
                <a:cs typeface="Aptos" pitchFamily="34" charset="-120"/>
              </a:rPr>
              <a:t>Too much</a:t>
            </a:r>
            <a:endParaRPr lang="en-US" sz="2200" dirty="0"/>
          </a:p>
        </p:txBody>
      </p:sp>
      <p:sp>
        <p:nvSpPr>
          <p:cNvPr id="17" name="Shape 15"/>
          <p:cNvSpPr/>
          <p:nvPr/>
        </p:nvSpPr>
        <p:spPr>
          <a:xfrm>
            <a:off x="8823960" y="2057400"/>
            <a:ext cx="2834640" cy="1325880"/>
          </a:xfrm>
          <a:prstGeom prst="roundRect">
            <a:avLst>
              <a:gd name="adj" fmla="val 5517"/>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8" name="Text 16"/>
          <p:cNvSpPr/>
          <p:nvPr/>
        </p:nvSpPr>
        <p:spPr>
          <a:xfrm>
            <a:off x="8988552" y="2487168"/>
            <a:ext cx="2514600" cy="320040"/>
          </a:xfrm>
          <a:prstGeom prst="rect">
            <a:avLst/>
          </a:prstGeom>
          <a:noFill/>
          <a:ln/>
        </p:spPr>
        <p:txBody>
          <a:bodyPr wrap="square" lIns="0" tIns="0" rIns="0" bIns="0" rtlCol="0" anchor="ctr">
            <a:normAutofit/>
          </a:bodyPr>
          <a:lstStyle/>
          <a:p>
            <a:pPr marL="0" indent="0" algn="ctr">
              <a:buNone/>
            </a:pPr>
            <a:r>
              <a:rPr lang="en-US" sz="2000" b="1" dirty="0">
                <a:solidFill>
                  <a:srgbClr val="6D7C8F"/>
                </a:solidFill>
                <a:latin typeface="Aptos" pitchFamily="34" charset="0"/>
                <a:ea typeface="Aptos" pitchFamily="34" charset="-122"/>
                <a:cs typeface="Aptos" pitchFamily="34" charset="-120"/>
              </a:rPr>
              <a:t>everything measurable</a:t>
            </a:r>
            <a:endParaRPr lang="en-US" sz="2000" dirty="0"/>
          </a:p>
        </p:txBody>
      </p:sp>
      <p:sp>
        <p:nvSpPr>
          <p:cNvPr id="19" name="Text 17"/>
          <p:cNvSpPr/>
          <p:nvPr/>
        </p:nvSpPr>
        <p:spPr>
          <a:xfrm>
            <a:off x="8869680" y="3520440"/>
            <a:ext cx="2743200" cy="530352"/>
          </a:xfrm>
          <a:prstGeom prst="rect">
            <a:avLst/>
          </a:prstGeom>
          <a:noFill/>
          <a:ln/>
        </p:spPr>
        <p:txBody>
          <a:bodyPr wrap="square" lIns="0" tIns="0" rIns="0" bIns="0" rtlCol="0" anchor="ctr">
            <a:normAutofit/>
          </a:bodyPr>
          <a:lstStyle/>
          <a:p>
            <a:pPr marL="0" indent="0" algn="ctr">
              <a:buNone/>
            </a:pPr>
            <a:r>
              <a:rPr lang="en-US" sz="1400" dirty="0">
                <a:solidFill>
                  <a:srgbClr val="132033"/>
                </a:solidFill>
                <a:latin typeface="Aptos" pitchFamily="34" charset="0"/>
                <a:ea typeface="Aptos" pitchFamily="34" charset="-122"/>
                <a:cs typeface="Aptos" pitchFamily="34" charset="-120"/>
              </a:rPr>
              <a:t>Adds states without improving decisions.</a:t>
            </a:r>
            <a:endParaRPr lang="en-US" sz="1400" dirty="0"/>
          </a:p>
        </p:txBody>
      </p:sp>
      <p:sp>
        <p:nvSpPr>
          <p:cNvPr id="20" name="Shape 18"/>
          <p:cNvSpPr/>
          <p:nvPr/>
        </p:nvSpPr>
        <p:spPr>
          <a:xfrm>
            <a:off x="786384" y="54406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21" name="Text 19"/>
          <p:cNvSpPr/>
          <p:nvPr/>
        </p:nvSpPr>
        <p:spPr>
          <a:xfrm>
            <a:off x="832104" y="55686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Real world</a:t>
            </a:r>
            <a:endParaRPr lang="en-US" sz="1050" dirty="0"/>
          </a:p>
        </p:txBody>
      </p:sp>
      <p:sp>
        <p:nvSpPr>
          <p:cNvPr id="22" name="Shape 20"/>
          <p:cNvSpPr/>
          <p:nvPr/>
        </p:nvSpPr>
        <p:spPr>
          <a:xfrm>
            <a:off x="2185416" y="5577840"/>
            <a:ext cx="164592" cy="164592"/>
          </a:xfrm>
          <a:prstGeom prst="chevron">
            <a:avLst/>
          </a:prstGeom>
          <a:solidFill>
            <a:srgbClr val="B8C7D8"/>
          </a:solidFill>
          <a:ln w="12700">
            <a:solidFill>
              <a:srgbClr val="B8C7D8"/>
            </a:solidFill>
            <a:prstDash val="solid"/>
          </a:ln>
        </p:spPr>
        <p:txBody>
          <a:bodyPr/>
          <a:lstStyle/>
          <a:p>
            <a:endParaRPr lang="en-US"/>
          </a:p>
        </p:txBody>
      </p:sp>
      <p:sp>
        <p:nvSpPr>
          <p:cNvPr id="23" name="Shape 21"/>
          <p:cNvSpPr/>
          <p:nvPr/>
        </p:nvSpPr>
        <p:spPr>
          <a:xfrm>
            <a:off x="2450592" y="5440680"/>
            <a:ext cx="1325880" cy="438912"/>
          </a:xfrm>
          <a:prstGeom prst="roundRect">
            <a:avLst>
              <a:gd name="adj" fmla="val 14583"/>
            </a:avLst>
          </a:prstGeom>
          <a:solidFill>
            <a:srgbClr val="F2C14E"/>
          </a:solidFill>
          <a:ln w="12700">
            <a:solidFill>
              <a:srgbClr val="F2C14E"/>
            </a:solidFill>
            <a:prstDash val="solid"/>
          </a:ln>
        </p:spPr>
        <p:txBody>
          <a:bodyPr/>
          <a:lstStyle/>
          <a:p>
            <a:endParaRPr lang="en-US"/>
          </a:p>
        </p:txBody>
      </p:sp>
      <p:sp>
        <p:nvSpPr>
          <p:cNvPr id="24" name="Text 22"/>
          <p:cNvSpPr/>
          <p:nvPr/>
        </p:nvSpPr>
        <p:spPr>
          <a:xfrm>
            <a:off x="2496312" y="5568696"/>
            <a:ext cx="1234440" cy="164592"/>
          </a:xfrm>
          <a:prstGeom prst="rect">
            <a:avLst/>
          </a:prstGeom>
          <a:noFill/>
          <a:ln/>
        </p:spPr>
        <p:txBody>
          <a:bodyPr wrap="square" lIns="0" tIns="0" rIns="0" bIns="0" rtlCol="0" anchor="ctr">
            <a:normAutofit/>
          </a:bodyPr>
          <a:lstStyle/>
          <a:p>
            <a:pPr marL="0" indent="0" algn="ctr">
              <a:buNone/>
            </a:pPr>
            <a:r>
              <a:rPr lang="en-US" sz="1050" b="1" dirty="0">
                <a:solidFill>
                  <a:srgbClr val="0B2D55"/>
                </a:solidFill>
                <a:latin typeface="Aptos" pitchFamily="34" charset="0"/>
                <a:ea typeface="Aptos" pitchFamily="34" charset="-122"/>
                <a:cs typeface="Aptos" pitchFamily="34" charset="-120"/>
              </a:rPr>
              <a:t>State</a:t>
            </a:r>
            <a:endParaRPr lang="en-US" sz="1050" dirty="0"/>
          </a:p>
        </p:txBody>
      </p:sp>
      <p:sp>
        <p:nvSpPr>
          <p:cNvPr id="25" name="Shape 23"/>
          <p:cNvSpPr/>
          <p:nvPr/>
        </p:nvSpPr>
        <p:spPr>
          <a:xfrm>
            <a:off x="3849624" y="5577840"/>
            <a:ext cx="164592" cy="164592"/>
          </a:xfrm>
          <a:prstGeom prst="chevron">
            <a:avLst/>
          </a:prstGeom>
          <a:solidFill>
            <a:srgbClr val="B8C7D8"/>
          </a:solidFill>
          <a:ln w="12700">
            <a:solidFill>
              <a:srgbClr val="B8C7D8"/>
            </a:solidFill>
            <a:prstDash val="solid"/>
          </a:ln>
        </p:spPr>
        <p:txBody>
          <a:bodyPr/>
          <a:lstStyle/>
          <a:p>
            <a:endParaRPr lang="en-US"/>
          </a:p>
        </p:txBody>
      </p:sp>
      <p:sp>
        <p:nvSpPr>
          <p:cNvPr id="26" name="Shape 24"/>
          <p:cNvSpPr/>
          <p:nvPr/>
        </p:nvSpPr>
        <p:spPr>
          <a:xfrm>
            <a:off x="4114800" y="54406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27" name="Text 25"/>
          <p:cNvSpPr/>
          <p:nvPr/>
        </p:nvSpPr>
        <p:spPr>
          <a:xfrm>
            <a:off x="4160520" y="55686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Actions</a:t>
            </a:r>
            <a:endParaRPr lang="en-US" sz="1050" dirty="0"/>
          </a:p>
        </p:txBody>
      </p:sp>
      <p:sp>
        <p:nvSpPr>
          <p:cNvPr id="28" name="Shape 26"/>
          <p:cNvSpPr/>
          <p:nvPr/>
        </p:nvSpPr>
        <p:spPr>
          <a:xfrm>
            <a:off x="5513832" y="5577840"/>
            <a:ext cx="164592" cy="164592"/>
          </a:xfrm>
          <a:prstGeom prst="chevron">
            <a:avLst/>
          </a:prstGeom>
          <a:solidFill>
            <a:srgbClr val="B8C7D8"/>
          </a:solidFill>
          <a:ln w="12700">
            <a:solidFill>
              <a:srgbClr val="B8C7D8"/>
            </a:solidFill>
            <a:prstDash val="solid"/>
          </a:ln>
        </p:spPr>
        <p:txBody>
          <a:bodyPr/>
          <a:lstStyle/>
          <a:p>
            <a:endParaRPr lang="en-US"/>
          </a:p>
        </p:txBody>
      </p:sp>
      <p:sp>
        <p:nvSpPr>
          <p:cNvPr id="29" name="Shape 27"/>
          <p:cNvSpPr/>
          <p:nvPr/>
        </p:nvSpPr>
        <p:spPr>
          <a:xfrm>
            <a:off x="5779008" y="54406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30" name="Text 28"/>
          <p:cNvSpPr/>
          <p:nvPr/>
        </p:nvSpPr>
        <p:spPr>
          <a:xfrm>
            <a:off x="5824728" y="55686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Goal</a:t>
            </a:r>
            <a:endParaRPr lang="en-US" sz="1050" dirty="0"/>
          </a:p>
        </p:txBody>
      </p:sp>
      <p:sp>
        <p:nvSpPr>
          <p:cNvPr id="31" name="Shape 29"/>
          <p:cNvSpPr/>
          <p:nvPr/>
        </p:nvSpPr>
        <p:spPr>
          <a:xfrm>
            <a:off x="7178040" y="5577840"/>
            <a:ext cx="164592" cy="164592"/>
          </a:xfrm>
          <a:prstGeom prst="chevron">
            <a:avLst/>
          </a:prstGeom>
          <a:solidFill>
            <a:srgbClr val="B8C7D8"/>
          </a:solidFill>
          <a:ln w="12700">
            <a:solidFill>
              <a:srgbClr val="B8C7D8"/>
            </a:solidFill>
            <a:prstDash val="solid"/>
          </a:ln>
        </p:spPr>
        <p:txBody>
          <a:bodyPr/>
          <a:lstStyle/>
          <a:p>
            <a:endParaRPr lang="en-US"/>
          </a:p>
        </p:txBody>
      </p:sp>
      <p:sp>
        <p:nvSpPr>
          <p:cNvPr id="32" name="Shape 30"/>
          <p:cNvSpPr/>
          <p:nvPr/>
        </p:nvSpPr>
        <p:spPr>
          <a:xfrm>
            <a:off x="7443216" y="54406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33" name="Text 31"/>
          <p:cNvSpPr/>
          <p:nvPr/>
        </p:nvSpPr>
        <p:spPr>
          <a:xfrm>
            <a:off x="7488936" y="55686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Cost</a:t>
            </a:r>
            <a:endParaRPr lang="en-US" sz="1050" dirty="0"/>
          </a:p>
        </p:txBody>
      </p:sp>
      <p:sp>
        <p:nvSpPr>
          <p:cNvPr id="34" name="Shape 32"/>
          <p:cNvSpPr/>
          <p:nvPr/>
        </p:nvSpPr>
        <p:spPr>
          <a:xfrm>
            <a:off x="8842248" y="5577840"/>
            <a:ext cx="164592" cy="164592"/>
          </a:xfrm>
          <a:prstGeom prst="chevron">
            <a:avLst/>
          </a:prstGeom>
          <a:solidFill>
            <a:srgbClr val="B8C7D8"/>
          </a:solidFill>
          <a:ln w="12700">
            <a:solidFill>
              <a:srgbClr val="B8C7D8"/>
            </a:solidFill>
            <a:prstDash val="solid"/>
          </a:ln>
        </p:spPr>
        <p:txBody>
          <a:bodyPr/>
          <a:lstStyle/>
          <a:p>
            <a:endParaRPr lang="en-US"/>
          </a:p>
        </p:txBody>
      </p:sp>
      <p:sp>
        <p:nvSpPr>
          <p:cNvPr id="35" name="Shape 33"/>
          <p:cNvSpPr/>
          <p:nvPr/>
        </p:nvSpPr>
        <p:spPr>
          <a:xfrm>
            <a:off x="9107424" y="54406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36" name="Text 34"/>
          <p:cNvSpPr/>
          <p:nvPr/>
        </p:nvSpPr>
        <p:spPr>
          <a:xfrm>
            <a:off x="9153144" y="55686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Search</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Relevant, missing, and irrelevant information</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Representation design is an engineering tradeoff.</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8</a:t>
            </a:r>
            <a:endParaRPr lang="en-US" sz="850" dirty="0"/>
          </a:p>
        </p:txBody>
      </p:sp>
      <p:sp>
        <p:nvSpPr>
          <p:cNvPr id="6" name="Shape 4"/>
          <p:cNvSpPr/>
          <p:nvPr/>
        </p:nvSpPr>
        <p:spPr>
          <a:xfrm>
            <a:off x="868680" y="1645920"/>
            <a:ext cx="3063240" cy="3429000"/>
          </a:xfrm>
          <a:prstGeom prst="roundRect">
            <a:avLst>
              <a:gd name="adj" fmla="val 2388"/>
            </a:avLst>
          </a:prstGeom>
          <a:solidFill>
            <a:srgbClr val="F1FBF5"/>
          </a:solidFill>
          <a:ln w="12700">
            <a:solidFill>
              <a:srgbClr val="39A875"/>
            </a:solidFill>
            <a:prstDash val="solid"/>
          </a:ln>
          <a:effectLst>
            <a:outerShdw blurRad="12700" dist="50800" dir="2700000" algn="bl" rotWithShape="0">
              <a:srgbClr val="D4DEE8">
                <a:alpha val="25000"/>
              </a:srgbClr>
            </a:outerShdw>
          </a:effectLst>
        </p:spPr>
        <p:txBody>
          <a:bodyPr/>
          <a:lstStyle/>
          <a:p>
            <a:endParaRPr lang="en-US"/>
          </a:p>
        </p:txBody>
      </p:sp>
      <p:sp>
        <p:nvSpPr>
          <p:cNvPr id="7" name="Text 5"/>
          <p:cNvSpPr/>
          <p:nvPr/>
        </p:nvSpPr>
        <p:spPr>
          <a:xfrm>
            <a:off x="1069848" y="1874520"/>
            <a:ext cx="2651760" cy="320040"/>
          </a:xfrm>
          <a:prstGeom prst="rect">
            <a:avLst/>
          </a:prstGeom>
          <a:noFill/>
          <a:ln/>
        </p:spPr>
        <p:txBody>
          <a:bodyPr wrap="square" lIns="0" tIns="0" rIns="0" bIns="0" rtlCol="0" anchor="ctr">
            <a:normAutofit/>
          </a:bodyPr>
          <a:lstStyle/>
          <a:p>
            <a:pPr marL="0" indent="0" algn="ctr">
              <a:buNone/>
            </a:pPr>
            <a:r>
              <a:rPr lang="en-US" sz="2400" b="1" dirty="0">
                <a:solidFill>
                  <a:srgbClr val="39A875"/>
                </a:solidFill>
                <a:latin typeface="Aptos" pitchFamily="34" charset="0"/>
                <a:ea typeface="Aptos" pitchFamily="34" charset="-122"/>
                <a:cs typeface="Aptos" pitchFamily="34" charset="-120"/>
              </a:rPr>
              <a:t>Relevant</a:t>
            </a:r>
            <a:endParaRPr lang="en-US" sz="2400" dirty="0"/>
          </a:p>
        </p:txBody>
      </p:sp>
      <p:sp>
        <p:nvSpPr>
          <p:cNvPr id="8" name="Text 6"/>
          <p:cNvSpPr/>
          <p:nvPr/>
        </p:nvSpPr>
        <p:spPr>
          <a:xfrm>
            <a:off x="1097280" y="2423160"/>
            <a:ext cx="2606040" cy="594360"/>
          </a:xfrm>
          <a:prstGeom prst="rect">
            <a:avLst/>
          </a:prstGeom>
          <a:noFill/>
          <a:ln/>
        </p:spPr>
        <p:txBody>
          <a:bodyPr wrap="square" lIns="0" tIns="0" rIns="0" bIns="0" rtlCol="0" anchor="ctr">
            <a:normAutofit/>
          </a:bodyPr>
          <a:lstStyle/>
          <a:p>
            <a:pPr marL="0" indent="0" algn="ctr">
              <a:buNone/>
            </a:pPr>
            <a:r>
              <a:rPr lang="en-US" sz="1400" dirty="0">
                <a:solidFill>
                  <a:srgbClr val="132033"/>
                </a:solidFill>
                <a:latin typeface="Aptos" pitchFamily="34" charset="0"/>
                <a:ea typeface="Aptos" pitchFamily="34" charset="-122"/>
                <a:cs typeface="Aptos" pitchFamily="34" charset="-120"/>
              </a:rPr>
              <a:t>Affects legal actions, goal recognition, or cost</a:t>
            </a:r>
            <a:endParaRPr lang="en-US" sz="1400" dirty="0"/>
          </a:p>
        </p:txBody>
      </p:sp>
      <p:sp>
        <p:nvSpPr>
          <p:cNvPr id="9" name="Text 7"/>
          <p:cNvSpPr/>
          <p:nvPr/>
        </p:nvSpPr>
        <p:spPr>
          <a:xfrm>
            <a:off x="1188720" y="3246120"/>
            <a:ext cx="2423160" cy="1005840"/>
          </a:xfrm>
          <a:prstGeom prst="rect">
            <a:avLst/>
          </a:prstGeom>
          <a:noFill/>
          <a:ln/>
        </p:spPr>
        <p:txBody>
          <a:bodyPr wrap="square" lIns="0" tIns="0" rIns="0" bIns="0" rtlCol="0" anchor="ctr">
            <a:normAutofit/>
          </a:bodyPr>
          <a:lstStyle/>
          <a:p>
            <a:pPr marL="0" indent="0" algn="ctr">
              <a:buNone/>
            </a:pPr>
            <a:r>
              <a:rPr lang="en-US" sz="1800" b="1" dirty="0">
                <a:solidFill>
                  <a:srgbClr val="0B2D55"/>
                </a:solidFill>
                <a:latin typeface="Aptos" pitchFamily="34" charset="0"/>
                <a:ea typeface="Aptos" pitchFamily="34" charset="-122"/>
                <a:cs typeface="Aptos" pitchFamily="34" charset="-120"/>
              </a:rPr>
              <a:t>current location</a:t>
            </a:r>
            <a:endParaRPr lang="en-US" sz="1800" dirty="0"/>
          </a:p>
          <a:p>
            <a:pPr marL="0" indent="0" algn="ctr">
              <a:buNone/>
            </a:pPr>
            <a:r>
              <a:rPr lang="en-US" sz="1800" b="1" dirty="0">
                <a:solidFill>
                  <a:srgbClr val="0B2D55"/>
                </a:solidFill>
                <a:latin typeface="Aptos" pitchFamily="34" charset="0"/>
                <a:ea typeface="Aptos" pitchFamily="34" charset="-122"/>
                <a:cs typeface="Aptos" pitchFamily="34" charset="-120"/>
              </a:rPr>
              <a:t>samples collected</a:t>
            </a:r>
            <a:endParaRPr lang="en-US" sz="1800" dirty="0"/>
          </a:p>
          <a:p>
            <a:pPr marL="0" indent="0" algn="ctr">
              <a:buNone/>
            </a:pPr>
            <a:r>
              <a:rPr lang="en-US" sz="1800" b="1" dirty="0">
                <a:solidFill>
                  <a:srgbClr val="0B2D55"/>
                </a:solidFill>
                <a:latin typeface="Aptos" pitchFamily="34" charset="0"/>
                <a:ea typeface="Aptos" pitchFamily="34" charset="-122"/>
                <a:cs typeface="Aptos" pitchFamily="34" charset="-120"/>
              </a:rPr>
              <a:t>battery category</a:t>
            </a:r>
            <a:endParaRPr lang="en-US" sz="1800" dirty="0"/>
          </a:p>
        </p:txBody>
      </p:sp>
      <p:sp>
        <p:nvSpPr>
          <p:cNvPr id="10" name="Shape 8"/>
          <p:cNvSpPr/>
          <p:nvPr/>
        </p:nvSpPr>
        <p:spPr>
          <a:xfrm>
            <a:off x="4526280" y="1645920"/>
            <a:ext cx="3063240" cy="3429000"/>
          </a:xfrm>
          <a:prstGeom prst="roundRect">
            <a:avLst>
              <a:gd name="adj" fmla="val 2388"/>
            </a:avLst>
          </a:prstGeom>
          <a:solidFill>
            <a:srgbClr val="FFF3F3"/>
          </a:solidFill>
          <a:ln w="12700">
            <a:solidFill>
              <a:srgbClr val="D94E4E"/>
            </a:solidFill>
            <a:prstDash val="solid"/>
          </a:ln>
          <a:effectLst>
            <a:outerShdw blurRad="12700" dist="50800" dir="2700000" algn="bl" rotWithShape="0">
              <a:srgbClr val="D4DEE8">
                <a:alpha val="25000"/>
              </a:srgbClr>
            </a:outerShdw>
          </a:effectLst>
        </p:spPr>
        <p:txBody>
          <a:bodyPr/>
          <a:lstStyle/>
          <a:p>
            <a:endParaRPr lang="en-US"/>
          </a:p>
        </p:txBody>
      </p:sp>
      <p:sp>
        <p:nvSpPr>
          <p:cNvPr id="11" name="Text 9"/>
          <p:cNvSpPr/>
          <p:nvPr/>
        </p:nvSpPr>
        <p:spPr>
          <a:xfrm>
            <a:off x="4727448" y="1874520"/>
            <a:ext cx="2651760" cy="320040"/>
          </a:xfrm>
          <a:prstGeom prst="rect">
            <a:avLst/>
          </a:prstGeom>
          <a:noFill/>
          <a:ln/>
        </p:spPr>
        <p:txBody>
          <a:bodyPr wrap="square" lIns="0" tIns="0" rIns="0" bIns="0" rtlCol="0" anchor="ctr">
            <a:normAutofit/>
          </a:bodyPr>
          <a:lstStyle/>
          <a:p>
            <a:pPr marL="0" indent="0" algn="ctr">
              <a:buNone/>
            </a:pPr>
            <a:r>
              <a:rPr lang="en-US" sz="2400" b="1" dirty="0">
                <a:solidFill>
                  <a:srgbClr val="D94E4E"/>
                </a:solidFill>
                <a:latin typeface="Aptos" pitchFamily="34" charset="0"/>
                <a:ea typeface="Aptos" pitchFamily="34" charset="-122"/>
                <a:cs typeface="Aptos" pitchFamily="34" charset="-120"/>
              </a:rPr>
              <a:t>Missing</a:t>
            </a:r>
            <a:endParaRPr lang="en-US" sz="2400" dirty="0"/>
          </a:p>
        </p:txBody>
      </p:sp>
      <p:sp>
        <p:nvSpPr>
          <p:cNvPr id="12" name="Text 10"/>
          <p:cNvSpPr/>
          <p:nvPr/>
        </p:nvSpPr>
        <p:spPr>
          <a:xfrm>
            <a:off x="4754880" y="2423160"/>
            <a:ext cx="2606040" cy="594360"/>
          </a:xfrm>
          <a:prstGeom prst="rect">
            <a:avLst/>
          </a:prstGeom>
          <a:noFill/>
          <a:ln/>
        </p:spPr>
        <p:txBody>
          <a:bodyPr wrap="square" lIns="0" tIns="0" rIns="0" bIns="0" rtlCol="0" anchor="ctr">
            <a:normAutofit/>
          </a:bodyPr>
          <a:lstStyle/>
          <a:p>
            <a:pPr marL="0" indent="0" algn="ctr">
              <a:buNone/>
            </a:pPr>
            <a:r>
              <a:rPr lang="en-US" sz="1400" dirty="0">
                <a:solidFill>
                  <a:srgbClr val="132033"/>
                </a:solidFill>
                <a:latin typeface="Aptos" pitchFamily="34" charset="0"/>
                <a:ea typeface="Aptos" pitchFamily="34" charset="-122"/>
                <a:cs typeface="Aptos" pitchFamily="34" charset="-120"/>
              </a:rPr>
              <a:t>Needed for correct decisions but absent</a:t>
            </a:r>
            <a:endParaRPr lang="en-US" sz="1400" dirty="0"/>
          </a:p>
        </p:txBody>
      </p:sp>
      <p:sp>
        <p:nvSpPr>
          <p:cNvPr id="13" name="Text 11"/>
          <p:cNvSpPr/>
          <p:nvPr/>
        </p:nvSpPr>
        <p:spPr>
          <a:xfrm>
            <a:off x="4846320" y="3246120"/>
            <a:ext cx="2423160" cy="1005840"/>
          </a:xfrm>
          <a:prstGeom prst="rect">
            <a:avLst/>
          </a:prstGeom>
          <a:noFill/>
          <a:ln/>
        </p:spPr>
        <p:txBody>
          <a:bodyPr wrap="square" lIns="0" tIns="0" rIns="0" bIns="0" rtlCol="0" anchor="ctr">
            <a:normAutofit/>
          </a:bodyPr>
          <a:lstStyle/>
          <a:p>
            <a:pPr marL="0" indent="0" algn="ctr">
              <a:buNone/>
            </a:pPr>
            <a:r>
              <a:rPr lang="en-US" sz="1800" b="1" dirty="0">
                <a:solidFill>
                  <a:srgbClr val="0B2D55"/>
                </a:solidFill>
                <a:latin typeface="Aptos" pitchFamily="34" charset="0"/>
                <a:ea typeface="Aptos" pitchFamily="34" charset="-122"/>
                <a:cs typeface="Aptos" pitchFamily="34" charset="-120"/>
              </a:rPr>
              <a:t>sample status</a:t>
            </a:r>
            <a:endParaRPr lang="en-US" sz="1800" dirty="0"/>
          </a:p>
          <a:p>
            <a:pPr marL="0" indent="0" algn="ctr">
              <a:buNone/>
            </a:pPr>
            <a:r>
              <a:rPr lang="en-US" sz="1800" b="1" dirty="0">
                <a:solidFill>
                  <a:srgbClr val="0B2D55"/>
                </a:solidFill>
                <a:latin typeface="Aptos" pitchFamily="34" charset="0"/>
                <a:ea typeface="Aptos" pitchFamily="34" charset="-122"/>
                <a:cs typeface="Aptos" pitchFamily="34" charset="-120"/>
              </a:rPr>
              <a:t>remaining battery</a:t>
            </a:r>
            <a:endParaRPr lang="en-US" sz="1800" dirty="0"/>
          </a:p>
          <a:p>
            <a:pPr marL="0" indent="0" algn="ctr">
              <a:buNone/>
            </a:pPr>
            <a:r>
              <a:rPr lang="en-US" sz="1800" b="1" dirty="0">
                <a:solidFill>
                  <a:srgbClr val="0B2D55"/>
                </a:solidFill>
                <a:latin typeface="Aptos" pitchFamily="34" charset="0"/>
                <a:ea typeface="Aptos" pitchFamily="34" charset="-122"/>
                <a:cs typeface="Aptos" pitchFamily="34" charset="-120"/>
              </a:rPr>
              <a:t>hazard status</a:t>
            </a:r>
            <a:endParaRPr lang="en-US" sz="1800" dirty="0"/>
          </a:p>
        </p:txBody>
      </p:sp>
      <p:sp>
        <p:nvSpPr>
          <p:cNvPr id="14" name="Shape 12"/>
          <p:cNvSpPr/>
          <p:nvPr/>
        </p:nvSpPr>
        <p:spPr>
          <a:xfrm>
            <a:off x="8183880" y="1645920"/>
            <a:ext cx="3063240" cy="3429000"/>
          </a:xfrm>
          <a:prstGeom prst="roundRect">
            <a:avLst>
              <a:gd name="adj" fmla="val 2388"/>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5" name="Text 13"/>
          <p:cNvSpPr/>
          <p:nvPr/>
        </p:nvSpPr>
        <p:spPr>
          <a:xfrm>
            <a:off x="8385048" y="1874520"/>
            <a:ext cx="2651760" cy="320040"/>
          </a:xfrm>
          <a:prstGeom prst="rect">
            <a:avLst/>
          </a:prstGeom>
          <a:noFill/>
          <a:ln/>
        </p:spPr>
        <p:txBody>
          <a:bodyPr wrap="square" lIns="0" tIns="0" rIns="0" bIns="0" rtlCol="0" anchor="ctr">
            <a:normAutofit/>
          </a:bodyPr>
          <a:lstStyle/>
          <a:p>
            <a:pPr marL="0" indent="0" algn="ctr">
              <a:buNone/>
            </a:pPr>
            <a:r>
              <a:rPr lang="en-US" sz="2400" b="1" dirty="0">
                <a:solidFill>
                  <a:srgbClr val="0B2D55"/>
                </a:solidFill>
                <a:latin typeface="Aptos" pitchFamily="34" charset="0"/>
                <a:ea typeface="Aptos" pitchFamily="34" charset="-122"/>
                <a:cs typeface="Aptos" pitchFamily="34" charset="-120"/>
              </a:rPr>
              <a:t>Irrelevant</a:t>
            </a:r>
            <a:endParaRPr lang="en-US" sz="2400" dirty="0"/>
          </a:p>
        </p:txBody>
      </p:sp>
      <p:sp>
        <p:nvSpPr>
          <p:cNvPr id="16" name="Text 14"/>
          <p:cNvSpPr/>
          <p:nvPr/>
        </p:nvSpPr>
        <p:spPr>
          <a:xfrm>
            <a:off x="8412480" y="2423160"/>
            <a:ext cx="2606040" cy="594360"/>
          </a:xfrm>
          <a:prstGeom prst="rect">
            <a:avLst/>
          </a:prstGeom>
          <a:noFill/>
          <a:ln/>
        </p:spPr>
        <p:txBody>
          <a:bodyPr wrap="square" lIns="0" tIns="0" rIns="0" bIns="0" rtlCol="0" anchor="ctr">
            <a:normAutofit/>
          </a:bodyPr>
          <a:lstStyle/>
          <a:p>
            <a:pPr marL="0" indent="0" algn="ctr">
              <a:buNone/>
            </a:pPr>
            <a:r>
              <a:rPr lang="en-US" sz="1400" dirty="0">
                <a:solidFill>
                  <a:srgbClr val="132033"/>
                </a:solidFill>
                <a:latin typeface="Aptos" pitchFamily="34" charset="0"/>
                <a:ea typeface="Aptos" pitchFamily="34" charset="-122"/>
                <a:cs typeface="Aptos" pitchFamily="34" charset="-120"/>
              </a:rPr>
              <a:t>Adds complexity without changing decisions</a:t>
            </a:r>
            <a:endParaRPr lang="en-US" sz="1400" dirty="0"/>
          </a:p>
        </p:txBody>
      </p:sp>
      <p:sp>
        <p:nvSpPr>
          <p:cNvPr id="17" name="Text 15"/>
          <p:cNvSpPr/>
          <p:nvPr/>
        </p:nvSpPr>
        <p:spPr>
          <a:xfrm>
            <a:off x="8503920" y="3246120"/>
            <a:ext cx="2423160" cy="1005840"/>
          </a:xfrm>
          <a:prstGeom prst="rect">
            <a:avLst/>
          </a:prstGeom>
          <a:noFill/>
          <a:ln/>
        </p:spPr>
        <p:txBody>
          <a:bodyPr wrap="square" lIns="0" tIns="0" rIns="0" bIns="0" rtlCol="0" anchor="ctr">
            <a:normAutofit/>
          </a:bodyPr>
          <a:lstStyle/>
          <a:p>
            <a:pPr marL="0" indent="0" algn="ctr">
              <a:buNone/>
            </a:pPr>
            <a:r>
              <a:rPr lang="en-US" sz="1800" b="1" dirty="0">
                <a:solidFill>
                  <a:srgbClr val="0B2D55"/>
                </a:solidFill>
                <a:latin typeface="Aptos" pitchFamily="34" charset="0"/>
                <a:ea typeface="Aptos" pitchFamily="34" charset="-122"/>
                <a:cs typeface="Aptos" pitchFamily="34" charset="-120"/>
              </a:rPr>
              <a:t>paint color</a:t>
            </a:r>
            <a:endParaRPr lang="en-US" sz="1800" dirty="0"/>
          </a:p>
          <a:p>
            <a:pPr marL="0" indent="0" algn="ctr">
              <a:buNone/>
            </a:pPr>
            <a:r>
              <a:rPr lang="en-US" sz="1800" b="1" dirty="0">
                <a:solidFill>
                  <a:srgbClr val="0B2D55"/>
                </a:solidFill>
                <a:latin typeface="Aptos" pitchFamily="34" charset="0"/>
                <a:ea typeface="Aptos" pitchFamily="34" charset="-122"/>
                <a:cs typeface="Aptos" pitchFamily="34" charset="-120"/>
              </a:rPr>
              <a:t>serial number</a:t>
            </a:r>
            <a:endParaRPr lang="en-US" sz="1800" dirty="0"/>
          </a:p>
          <a:p>
            <a:pPr marL="0" indent="0" algn="ctr">
              <a:buNone/>
            </a:pPr>
            <a:r>
              <a:rPr lang="en-US" sz="1800" b="1" dirty="0">
                <a:solidFill>
                  <a:srgbClr val="0B2D55"/>
                </a:solidFill>
                <a:latin typeface="Aptos" pitchFamily="34" charset="0"/>
                <a:ea typeface="Aptos" pitchFamily="34" charset="-122"/>
                <a:cs typeface="Aptos" pitchFamily="34" charset="-120"/>
              </a:rPr>
              <a:t>operator name</a:t>
            </a:r>
            <a:endParaRPr lang="en-US" sz="1800" dirty="0"/>
          </a:p>
        </p:txBody>
      </p:sp>
      <p:sp>
        <p:nvSpPr>
          <p:cNvPr id="18" name="Text 16"/>
          <p:cNvSpPr/>
          <p:nvPr/>
        </p:nvSpPr>
        <p:spPr>
          <a:xfrm>
            <a:off x="914400" y="5605272"/>
            <a:ext cx="10149840" cy="411480"/>
          </a:xfrm>
          <a:prstGeom prst="rect">
            <a:avLst/>
          </a:prstGeom>
          <a:noFill/>
          <a:ln/>
        </p:spPr>
        <p:txBody>
          <a:bodyPr wrap="square" lIns="0" tIns="0" rIns="0" bIns="0" rtlCol="0" anchor="ctr">
            <a:normAutofit/>
          </a:bodyPr>
          <a:lstStyle/>
          <a:p>
            <a:pPr marL="0" indent="0" algn="ctr">
              <a:buNone/>
            </a:pPr>
            <a:r>
              <a:rPr lang="en-US" sz="2200" b="1" dirty="0">
                <a:solidFill>
                  <a:srgbClr val="0B2D55"/>
                </a:solidFill>
                <a:latin typeface="Aptos" pitchFamily="34" charset="0"/>
                <a:ea typeface="Aptos" pitchFamily="34" charset="-122"/>
                <a:cs typeface="Aptos" pitchFamily="34" charset="-120"/>
              </a:rPr>
              <a:t>Engineering check: does the state support actions, goal tests, and costs?</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Actions and state transitions</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Actions are operations available from a state.</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9</a:t>
            </a:r>
            <a:endParaRPr lang="en-US" sz="850" dirty="0"/>
          </a:p>
        </p:txBody>
      </p:sp>
      <p:sp>
        <p:nvSpPr>
          <p:cNvPr id="6" name="Shape 4"/>
          <p:cNvSpPr/>
          <p:nvPr/>
        </p:nvSpPr>
        <p:spPr>
          <a:xfrm>
            <a:off x="777240" y="1600200"/>
            <a:ext cx="3017520" cy="2880360"/>
          </a:xfrm>
          <a:prstGeom prst="roundRect">
            <a:avLst>
              <a:gd name="adj" fmla="val 2540"/>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7" name="Text 5"/>
          <p:cNvSpPr/>
          <p:nvPr/>
        </p:nvSpPr>
        <p:spPr>
          <a:xfrm>
            <a:off x="1024128" y="1874520"/>
            <a:ext cx="2514600" cy="320040"/>
          </a:xfrm>
          <a:prstGeom prst="rect">
            <a:avLst/>
          </a:prstGeom>
          <a:noFill/>
          <a:ln/>
        </p:spPr>
        <p:txBody>
          <a:bodyPr wrap="square" lIns="0" tIns="0" rIns="0" bIns="0" rtlCol="0" anchor="ctr">
            <a:normAutofit/>
          </a:bodyPr>
          <a:lstStyle/>
          <a:p>
            <a:pPr marL="0" indent="0" algn="ctr">
              <a:buNone/>
            </a:pPr>
            <a:r>
              <a:rPr lang="en-US" sz="2200" b="1" dirty="0">
                <a:solidFill>
                  <a:srgbClr val="0B2D55"/>
                </a:solidFill>
                <a:latin typeface="Aptos" pitchFamily="34" charset="0"/>
                <a:ea typeface="Aptos" pitchFamily="34" charset="-122"/>
                <a:cs typeface="Aptos" pitchFamily="34" charset="-120"/>
              </a:rPr>
              <a:t>Current state</a:t>
            </a:r>
            <a:endParaRPr lang="en-US" sz="2200" dirty="0"/>
          </a:p>
        </p:txBody>
      </p:sp>
      <p:sp>
        <p:nvSpPr>
          <p:cNvPr id="8" name="Text 6"/>
          <p:cNvSpPr/>
          <p:nvPr/>
        </p:nvSpPr>
        <p:spPr>
          <a:xfrm>
            <a:off x="1005840" y="2514600"/>
            <a:ext cx="2560320" cy="777240"/>
          </a:xfrm>
          <a:prstGeom prst="rect">
            <a:avLst/>
          </a:prstGeom>
          <a:noFill/>
          <a:ln/>
        </p:spPr>
        <p:txBody>
          <a:bodyPr wrap="square" lIns="0" tIns="0" rIns="0" bIns="0" rtlCol="0" anchor="ctr">
            <a:normAutofit/>
          </a:bodyPr>
          <a:lstStyle/>
          <a:p>
            <a:pPr marL="0" indent="0" algn="ctr">
              <a:buNone/>
            </a:pPr>
            <a:r>
              <a:rPr lang="en-US" sz="2000" b="1" dirty="0">
                <a:solidFill>
                  <a:srgbClr val="1D5FA7"/>
                </a:solidFill>
                <a:latin typeface="Aptos" pitchFamily="34" charset="0"/>
                <a:ea typeface="Aptos" pitchFamily="34" charset="-122"/>
                <a:cs typeface="Aptos" pitchFamily="34" charset="-120"/>
              </a:rPr>
              <a:t>(site A, sample A collected, medium battery)</a:t>
            </a:r>
            <a:endParaRPr lang="en-US" sz="2000" dirty="0"/>
          </a:p>
        </p:txBody>
      </p:sp>
      <p:sp>
        <p:nvSpPr>
          <p:cNvPr id="9" name="Shape 7"/>
          <p:cNvSpPr/>
          <p:nvPr/>
        </p:nvSpPr>
        <p:spPr>
          <a:xfrm>
            <a:off x="4572000" y="1737360"/>
            <a:ext cx="1920240" cy="420624"/>
          </a:xfrm>
          <a:prstGeom prst="roundRect">
            <a:avLst>
              <a:gd name="adj" fmla="val 17391"/>
            </a:avLst>
          </a:prstGeom>
          <a:solidFill>
            <a:srgbClr val="1D5FA7"/>
          </a:solidFill>
          <a:ln w="12700">
            <a:solidFill>
              <a:srgbClr val="1D5FA7">
                <a:alpha val="0"/>
              </a:srgbClr>
            </a:solidFill>
            <a:prstDash val="solid"/>
          </a:ln>
        </p:spPr>
        <p:txBody>
          <a:bodyPr/>
          <a:lstStyle/>
          <a:p>
            <a:endParaRPr lang="en-US"/>
          </a:p>
        </p:txBody>
      </p:sp>
      <p:sp>
        <p:nvSpPr>
          <p:cNvPr id="10" name="Text 8"/>
          <p:cNvSpPr/>
          <p:nvPr/>
        </p:nvSpPr>
        <p:spPr>
          <a:xfrm>
            <a:off x="4617720" y="1810512"/>
            <a:ext cx="1828800" cy="310896"/>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Move</a:t>
            </a:r>
            <a:endParaRPr lang="en-US" sz="1300" dirty="0"/>
          </a:p>
        </p:txBody>
      </p:sp>
      <p:sp>
        <p:nvSpPr>
          <p:cNvPr id="11" name="Text 9"/>
          <p:cNvSpPr/>
          <p:nvPr/>
        </p:nvSpPr>
        <p:spPr>
          <a:xfrm>
            <a:off x="6720840" y="1819656"/>
            <a:ext cx="1828800" cy="274320"/>
          </a:xfrm>
          <a:prstGeom prst="rect">
            <a:avLst/>
          </a:prstGeom>
          <a:noFill/>
          <a:ln/>
        </p:spPr>
        <p:txBody>
          <a:bodyPr wrap="square" lIns="0" tIns="0" rIns="0" bIns="0" rtlCol="0" anchor="ctr">
            <a:normAutofit/>
          </a:bodyPr>
          <a:lstStyle/>
          <a:p>
            <a:pPr marL="0" indent="0">
              <a:buNone/>
            </a:pPr>
            <a:r>
              <a:rPr lang="en-US" sz="1600" dirty="0">
                <a:solidFill>
                  <a:srgbClr val="132033"/>
                </a:solidFill>
                <a:latin typeface="Aptos" pitchFamily="34" charset="0"/>
                <a:ea typeface="Aptos" pitchFamily="34" charset="-122"/>
                <a:cs typeface="Aptos" pitchFamily="34" charset="-120"/>
              </a:rPr>
              <a:t>to neighboring site</a:t>
            </a:r>
            <a:endParaRPr lang="en-US" sz="1600" dirty="0"/>
          </a:p>
        </p:txBody>
      </p:sp>
      <p:sp>
        <p:nvSpPr>
          <p:cNvPr id="12" name="Shape 10"/>
          <p:cNvSpPr/>
          <p:nvPr/>
        </p:nvSpPr>
        <p:spPr>
          <a:xfrm>
            <a:off x="3840480" y="1938528"/>
            <a:ext cx="594360" cy="0"/>
          </a:xfrm>
          <a:prstGeom prst="line">
            <a:avLst/>
          </a:prstGeom>
          <a:noFill/>
          <a:ln w="25400">
            <a:solidFill>
              <a:srgbClr val="1D5FA7"/>
            </a:solidFill>
            <a:prstDash val="solid"/>
            <a:headEnd type="none"/>
            <a:tailEnd type="triangle"/>
          </a:ln>
        </p:spPr>
        <p:txBody>
          <a:bodyPr/>
          <a:lstStyle/>
          <a:p>
            <a:endParaRPr lang="en-US"/>
          </a:p>
        </p:txBody>
      </p:sp>
      <p:sp>
        <p:nvSpPr>
          <p:cNvPr id="13" name="Shape 11"/>
          <p:cNvSpPr/>
          <p:nvPr/>
        </p:nvSpPr>
        <p:spPr>
          <a:xfrm>
            <a:off x="4572000" y="2651760"/>
            <a:ext cx="1920240" cy="420624"/>
          </a:xfrm>
          <a:prstGeom prst="roundRect">
            <a:avLst>
              <a:gd name="adj" fmla="val 17391"/>
            </a:avLst>
          </a:prstGeom>
          <a:solidFill>
            <a:srgbClr val="F2C14E"/>
          </a:solidFill>
          <a:ln w="12700">
            <a:solidFill>
              <a:srgbClr val="F2C14E">
                <a:alpha val="0"/>
              </a:srgbClr>
            </a:solidFill>
            <a:prstDash val="solid"/>
          </a:ln>
        </p:spPr>
        <p:txBody>
          <a:bodyPr/>
          <a:lstStyle/>
          <a:p>
            <a:endParaRPr lang="en-US"/>
          </a:p>
        </p:txBody>
      </p:sp>
      <p:sp>
        <p:nvSpPr>
          <p:cNvPr id="14" name="Text 12"/>
          <p:cNvSpPr/>
          <p:nvPr/>
        </p:nvSpPr>
        <p:spPr>
          <a:xfrm>
            <a:off x="4617720" y="2724912"/>
            <a:ext cx="1828800" cy="310896"/>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Collect</a:t>
            </a:r>
            <a:endParaRPr lang="en-US" sz="1300" dirty="0"/>
          </a:p>
        </p:txBody>
      </p:sp>
      <p:sp>
        <p:nvSpPr>
          <p:cNvPr id="15" name="Text 13"/>
          <p:cNvSpPr/>
          <p:nvPr/>
        </p:nvSpPr>
        <p:spPr>
          <a:xfrm>
            <a:off x="6720840" y="2734056"/>
            <a:ext cx="1828800" cy="274320"/>
          </a:xfrm>
          <a:prstGeom prst="rect">
            <a:avLst/>
          </a:prstGeom>
          <a:noFill/>
          <a:ln/>
        </p:spPr>
        <p:txBody>
          <a:bodyPr wrap="square" lIns="0" tIns="0" rIns="0" bIns="0" rtlCol="0" anchor="ctr">
            <a:normAutofit/>
          </a:bodyPr>
          <a:lstStyle/>
          <a:p>
            <a:pPr marL="0" indent="0">
              <a:buNone/>
            </a:pPr>
            <a:r>
              <a:rPr lang="en-US" sz="1600" dirty="0">
                <a:solidFill>
                  <a:srgbClr val="132033"/>
                </a:solidFill>
                <a:latin typeface="Aptos" pitchFamily="34" charset="0"/>
                <a:ea typeface="Aptos" pitchFamily="34" charset="-122"/>
                <a:cs typeface="Aptos" pitchFamily="34" charset="-120"/>
              </a:rPr>
              <a:t>only at sample site</a:t>
            </a:r>
            <a:endParaRPr lang="en-US" sz="1600" dirty="0"/>
          </a:p>
        </p:txBody>
      </p:sp>
      <p:sp>
        <p:nvSpPr>
          <p:cNvPr id="16" name="Shape 14"/>
          <p:cNvSpPr/>
          <p:nvPr/>
        </p:nvSpPr>
        <p:spPr>
          <a:xfrm>
            <a:off x="3840480" y="2852928"/>
            <a:ext cx="594360" cy="0"/>
          </a:xfrm>
          <a:prstGeom prst="line">
            <a:avLst/>
          </a:prstGeom>
          <a:noFill/>
          <a:ln w="25400">
            <a:solidFill>
              <a:srgbClr val="F2C14E"/>
            </a:solidFill>
            <a:prstDash val="solid"/>
            <a:headEnd type="none"/>
            <a:tailEnd type="triangle"/>
          </a:ln>
        </p:spPr>
        <p:txBody>
          <a:bodyPr/>
          <a:lstStyle/>
          <a:p>
            <a:endParaRPr lang="en-US"/>
          </a:p>
        </p:txBody>
      </p:sp>
      <p:sp>
        <p:nvSpPr>
          <p:cNvPr id="17" name="Shape 15"/>
          <p:cNvSpPr/>
          <p:nvPr/>
        </p:nvSpPr>
        <p:spPr>
          <a:xfrm>
            <a:off x="4572000" y="3566160"/>
            <a:ext cx="1920240" cy="420624"/>
          </a:xfrm>
          <a:prstGeom prst="roundRect">
            <a:avLst>
              <a:gd name="adj" fmla="val 17391"/>
            </a:avLst>
          </a:prstGeom>
          <a:solidFill>
            <a:srgbClr val="39A875"/>
          </a:solidFill>
          <a:ln w="12700">
            <a:solidFill>
              <a:srgbClr val="39A875">
                <a:alpha val="0"/>
              </a:srgbClr>
            </a:solidFill>
            <a:prstDash val="solid"/>
          </a:ln>
        </p:spPr>
        <p:txBody>
          <a:bodyPr/>
          <a:lstStyle/>
          <a:p>
            <a:endParaRPr lang="en-US"/>
          </a:p>
        </p:txBody>
      </p:sp>
      <p:sp>
        <p:nvSpPr>
          <p:cNvPr id="18" name="Text 16"/>
          <p:cNvSpPr/>
          <p:nvPr/>
        </p:nvSpPr>
        <p:spPr>
          <a:xfrm>
            <a:off x="4617720" y="3639312"/>
            <a:ext cx="1828800" cy="310896"/>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Recharge</a:t>
            </a:r>
            <a:endParaRPr lang="en-US" sz="1300" dirty="0"/>
          </a:p>
        </p:txBody>
      </p:sp>
      <p:sp>
        <p:nvSpPr>
          <p:cNvPr id="19" name="Text 17"/>
          <p:cNvSpPr/>
          <p:nvPr/>
        </p:nvSpPr>
        <p:spPr>
          <a:xfrm>
            <a:off x="6720840" y="3648456"/>
            <a:ext cx="1828800" cy="274320"/>
          </a:xfrm>
          <a:prstGeom prst="rect">
            <a:avLst/>
          </a:prstGeom>
          <a:noFill/>
          <a:ln/>
        </p:spPr>
        <p:txBody>
          <a:bodyPr wrap="square" lIns="0" tIns="0" rIns="0" bIns="0" rtlCol="0" anchor="ctr">
            <a:normAutofit/>
          </a:bodyPr>
          <a:lstStyle/>
          <a:p>
            <a:pPr marL="0" indent="0">
              <a:buNone/>
            </a:pPr>
            <a:r>
              <a:rPr lang="en-US" sz="1600" dirty="0">
                <a:solidFill>
                  <a:srgbClr val="132033"/>
                </a:solidFill>
                <a:latin typeface="Aptos" pitchFamily="34" charset="0"/>
                <a:ea typeface="Aptos" pitchFamily="34" charset="-122"/>
                <a:cs typeface="Aptos" pitchFamily="34" charset="-120"/>
              </a:rPr>
              <a:t>only at station</a:t>
            </a:r>
            <a:endParaRPr lang="en-US" sz="1600" dirty="0"/>
          </a:p>
        </p:txBody>
      </p:sp>
      <p:sp>
        <p:nvSpPr>
          <p:cNvPr id="20" name="Shape 18"/>
          <p:cNvSpPr/>
          <p:nvPr/>
        </p:nvSpPr>
        <p:spPr>
          <a:xfrm>
            <a:off x="3840480" y="3767328"/>
            <a:ext cx="594360" cy="0"/>
          </a:xfrm>
          <a:prstGeom prst="line">
            <a:avLst/>
          </a:prstGeom>
          <a:noFill/>
          <a:ln w="25400">
            <a:solidFill>
              <a:srgbClr val="39A875"/>
            </a:solidFill>
            <a:prstDash val="solid"/>
            <a:headEnd type="none"/>
            <a:tailEnd type="triangle"/>
          </a:ln>
        </p:spPr>
        <p:txBody>
          <a:bodyPr/>
          <a:lstStyle/>
          <a:p>
            <a:endParaRPr lang="en-US"/>
          </a:p>
        </p:txBody>
      </p:sp>
      <p:sp>
        <p:nvSpPr>
          <p:cNvPr id="21" name="Shape 19"/>
          <p:cNvSpPr/>
          <p:nvPr/>
        </p:nvSpPr>
        <p:spPr>
          <a:xfrm>
            <a:off x="8915400" y="1783080"/>
            <a:ext cx="2468880" cy="1691640"/>
          </a:xfrm>
          <a:prstGeom prst="roundRect">
            <a:avLst>
              <a:gd name="adj" fmla="val 4324"/>
            </a:avLst>
          </a:prstGeom>
          <a:solidFill>
            <a:srgbClr val="DCEEFF"/>
          </a:solidFill>
          <a:ln w="12700">
            <a:solidFill>
              <a:srgbClr val="1D5FA7"/>
            </a:solidFill>
            <a:prstDash val="solid"/>
          </a:ln>
          <a:effectLst>
            <a:outerShdw blurRad="12700" dist="50800" dir="2700000" algn="bl" rotWithShape="0">
              <a:srgbClr val="D4DEE8">
                <a:alpha val="25000"/>
              </a:srgbClr>
            </a:outerShdw>
          </a:effectLst>
        </p:spPr>
        <p:txBody>
          <a:bodyPr/>
          <a:lstStyle/>
          <a:p>
            <a:endParaRPr lang="en-US"/>
          </a:p>
        </p:txBody>
      </p:sp>
      <p:sp>
        <p:nvSpPr>
          <p:cNvPr id="22" name="Text 20"/>
          <p:cNvSpPr/>
          <p:nvPr/>
        </p:nvSpPr>
        <p:spPr>
          <a:xfrm>
            <a:off x="9098280" y="2011680"/>
            <a:ext cx="2103120" cy="320040"/>
          </a:xfrm>
          <a:prstGeom prst="rect">
            <a:avLst/>
          </a:prstGeom>
          <a:noFill/>
          <a:ln/>
        </p:spPr>
        <p:txBody>
          <a:bodyPr wrap="square" lIns="0" tIns="0" rIns="0" bIns="0" rtlCol="0" anchor="ctr">
            <a:normAutofit/>
          </a:bodyPr>
          <a:lstStyle/>
          <a:p>
            <a:pPr marL="0" indent="0" algn="ctr">
              <a:buNone/>
            </a:pPr>
            <a:r>
              <a:rPr lang="en-US" sz="1900" b="1" dirty="0">
                <a:solidFill>
                  <a:srgbClr val="0B2D55"/>
                </a:solidFill>
                <a:latin typeface="Aptos" pitchFamily="34" charset="0"/>
                <a:ea typeface="Aptos" pitchFamily="34" charset="-122"/>
                <a:cs typeface="Aptos" pitchFamily="34" charset="-120"/>
              </a:rPr>
              <a:t>Successor state</a:t>
            </a:r>
            <a:endParaRPr lang="en-US" sz="1900" dirty="0"/>
          </a:p>
        </p:txBody>
      </p:sp>
      <p:sp>
        <p:nvSpPr>
          <p:cNvPr id="23" name="Text 21"/>
          <p:cNvSpPr/>
          <p:nvPr/>
        </p:nvSpPr>
        <p:spPr>
          <a:xfrm>
            <a:off x="9098280" y="2542032"/>
            <a:ext cx="2103120" cy="502920"/>
          </a:xfrm>
          <a:prstGeom prst="rect">
            <a:avLst/>
          </a:prstGeom>
          <a:noFill/>
          <a:ln/>
        </p:spPr>
        <p:txBody>
          <a:bodyPr wrap="square" lIns="0" tIns="0" rIns="0" bIns="0" rtlCol="0" anchor="ctr">
            <a:normAutofit/>
          </a:bodyPr>
          <a:lstStyle/>
          <a:p>
            <a:pPr marL="0" indent="0" algn="ctr">
              <a:buNone/>
            </a:pPr>
            <a:r>
              <a:rPr lang="en-US" sz="1400" dirty="0">
                <a:solidFill>
                  <a:srgbClr val="132033"/>
                </a:solidFill>
                <a:latin typeface="Aptos" pitchFamily="34" charset="0"/>
                <a:ea typeface="Aptos" pitchFamily="34" charset="-122"/>
                <a:cs typeface="Aptos" pitchFamily="34" charset="-120"/>
              </a:rPr>
              <a:t>updated location, samples, and battery</a:t>
            </a:r>
            <a:endParaRPr lang="en-US" sz="1400" dirty="0"/>
          </a:p>
        </p:txBody>
      </p:sp>
      <p:sp>
        <p:nvSpPr>
          <p:cNvPr id="24" name="Text 22"/>
          <p:cNvSpPr/>
          <p:nvPr/>
        </p:nvSpPr>
        <p:spPr>
          <a:xfrm>
            <a:off x="960120" y="5074920"/>
            <a:ext cx="10149840" cy="502920"/>
          </a:xfrm>
          <a:prstGeom prst="rect">
            <a:avLst/>
          </a:prstGeom>
          <a:noFill/>
          <a:ln/>
        </p:spPr>
        <p:txBody>
          <a:bodyPr wrap="square" lIns="0" tIns="0" rIns="0" bIns="0" rtlCol="0" anchor="ctr">
            <a:normAutofit/>
          </a:bodyPr>
          <a:lstStyle/>
          <a:p>
            <a:pPr marL="0" indent="0" algn="ctr">
              <a:buNone/>
            </a:pPr>
            <a:r>
              <a:rPr lang="en-US" sz="2400" b="1" dirty="0">
                <a:solidFill>
                  <a:srgbClr val="0B2D55"/>
                </a:solidFill>
                <a:latin typeface="Aptos" pitchFamily="34" charset="0"/>
                <a:ea typeface="Aptos" pitchFamily="34" charset="-122"/>
                <a:cs typeface="Aptos" pitchFamily="34" charset="-120"/>
              </a:rPr>
              <a:t>Preconditions matter: not every action is legal in every state.</a:t>
            </a:r>
            <a:endParaRPr lang="en-US" sz="2400" dirty="0"/>
          </a:p>
        </p:txBody>
      </p:sp>
      <p:sp>
        <p:nvSpPr>
          <p:cNvPr id="25" name="Shape 23"/>
          <p:cNvSpPr/>
          <p:nvPr/>
        </p:nvSpPr>
        <p:spPr>
          <a:xfrm>
            <a:off x="786384" y="58978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26" name="Text 24"/>
          <p:cNvSpPr/>
          <p:nvPr/>
        </p:nvSpPr>
        <p:spPr>
          <a:xfrm>
            <a:off x="832104" y="60258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Real world</a:t>
            </a:r>
            <a:endParaRPr lang="en-US" sz="1050" dirty="0"/>
          </a:p>
        </p:txBody>
      </p:sp>
      <p:sp>
        <p:nvSpPr>
          <p:cNvPr id="27" name="Shape 25"/>
          <p:cNvSpPr/>
          <p:nvPr/>
        </p:nvSpPr>
        <p:spPr>
          <a:xfrm>
            <a:off x="2185416" y="6035040"/>
            <a:ext cx="164592" cy="164592"/>
          </a:xfrm>
          <a:prstGeom prst="chevron">
            <a:avLst/>
          </a:prstGeom>
          <a:solidFill>
            <a:srgbClr val="B8C7D8"/>
          </a:solidFill>
          <a:ln w="12700">
            <a:solidFill>
              <a:srgbClr val="B8C7D8"/>
            </a:solidFill>
            <a:prstDash val="solid"/>
          </a:ln>
        </p:spPr>
        <p:txBody>
          <a:bodyPr/>
          <a:lstStyle/>
          <a:p>
            <a:endParaRPr lang="en-US"/>
          </a:p>
        </p:txBody>
      </p:sp>
      <p:sp>
        <p:nvSpPr>
          <p:cNvPr id="28" name="Shape 26"/>
          <p:cNvSpPr/>
          <p:nvPr/>
        </p:nvSpPr>
        <p:spPr>
          <a:xfrm>
            <a:off x="2450592" y="58978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29" name="Text 27"/>
          <p:cNvSpPr/>
          <p:nvPr/>
        </p:nvSpPr>
        <p:spPr>
          <a:xfrm>
            <a:off x="2496312" y="60258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State</a:t>
            </a:r>
            <a:endParaRPr lang="en-US" sz="1050" dirty="0"/>
          </a:p>
        </p:txBody>
      </p:sp>
      <p:sp>
        <p:nvSpPr>
          <p:cNvPr id="30" name="Shape 28"/>
          <p:cNvSpPr/>
          <p:nvPr/>
        </p:nvSpPr>
        <p:spPr>
          <a:xfrm>
            <a:off x="3849624" y="6035040"/>
            <a:ext cx="164592" cy="164592"/>
          </a:xfrm>
          <a:prstGeom prst="chevron">
            <a:avLst/>
          </a:prstGeom>
          <a:solidFill>
            <a:srgbClr val="B8C7D8"/>
          </a:solidFill>
          <a:ln w="12700">
            <a:solidFill>
              <a:srgbClr val="B8C7D8"/>
            </a:solidFill>
            <a:prstDash val="solid"/>
          </a:ln>
        </p:spPr>
        <p:txBody>
          <a:bodyPr/>
          <a:lstStyle/>
          <a:p>
            <a:endParaRPr lang="en-US"/>
          </a:p>
        </p:txBody>
      </p:sp>
      <p:sp>
        <p:nvSpPr>
          <p:cNvPr id="31" name="Shape 29"/>
          <p:cNvSpPr/>
          <p:nvPr/>
        </p:nvSpPr>
        <p:spPr>
          <a:xfrm>
            <a:off x="4114800" y="5897880"/>
            <a:ext cx="1325880" cy="438912"/>
          </a:xfrm>
          <a:prstGeom prst="roundRect">
            <a:avLst>
              <a:gd name="adj" fmla="val 14583"/>
            </a:avLst>
          </a:prstGeom>
          <a:solidFill>
            <a:srgbClr val="F2C14E"/>
          </a:solidFill>
          <a:ln w="12700">
            <a:solidFill>
              <a:srgbClr val="F2C14E"/>
            </a:solidFill>
            <a:prstDash val="solid"/>
          </a:ln>
        </p:spPr>
        <p:txBody>
          <a:bodyPr/>
          <a:lstStyle/>
          <a:p>
            <a:endParaRPr lang="en-US"/>
          </a:p>
        </p:txBody>
      </p:sp>
      <p:sp>
        <p:nvSpPr>
          <p:cNvPr id="32" name="Text 30"/>
          <p:cNvSpPr/>
          <p:nvPr/>
        </p:nvSpPr>
        <p:spPr>
          <a:xfrm>
            <a:off x="4160520" y="6025896"/>
            <a:ext cx="1234440" cy="164592"/>
          </a:xfrm>
          <a:prstGeom prst="rect">
            <a:avLst/>
          </a:prstGeom>
          <a:noFill/>
          <a:ln/>
        </p:spPr>
        <p:txBody>
          <a:bodyPr wrap="square" lIns="0" tIns="0" rIns="0" bIns="0" rtlCol="0" anchor="ctr">
            <a:normAutofit/>
          </a:bodyPr>
          <a:lstStyle/>
          <a:p>
            <a:pPr marL="0" indent="0" algn="ctr">
              <a:buNone/>
            </a:pPr>
            <a:r>
              <a:rPr lang="en-US" sz="1050" b="1" dirty="0">
                <a:solidFill>
                  <a:srgbClr val="0B2D55"/>
                </a:solidFill>
                <a:latin typeface="Aptos" pitchFamily="34" charset="0"/>
                <a:ea typeface="Aptos" pitchFamily="34" charset="-122"/>
                <a:cs typeface="Aptos" pitchFamily="34" charset="-120"/>
              </a:rPr>
              <a:t>Actions</a:t>
            </a:r>
            <a:endParaRPr lang="en-US" sz="1050" dirty="0"/>
          </a:p>
        </p:txBody>
      </p:sp>
      <p:sp>
        <p:nvSpPr>
          <p:cNvPr id="33" name="Shape 31"/>
          <p:cNvSpPr/>
          <p:nvPr/>
        </p:nvSpPr>
        <p:spPr>
          <a:xfrm>
            <a:off x="5513832" y="6035040"/>
            <a:ext cx="164592" cy="164592"/>
          </a:xfrm>
          <a:prstGeom prst="chevron">
            <a:avLst/>
          </a:prstGeom>
          <a:solidFill>
            <a:srgbClr val="B8C7D8"/>
          </a:solidFill>
          <a:ln w="12700">
            <a:solidFill>
              <a:srgbClr val="B8C7D8"/>
            </a:solidFill>
            <a:prstDash val="solid"/>
          </a:ln>
        </p:spPr>
        <p:txBody>
          <a:bodyPr/>
          <a:lstStyle/>
          <a:p>
            <a:endParaRPr lang="en-US"/>
          </a:p>
        </p:txBody>
      </p:sp>
      <p:sp>
        <p:nvSpPr>
          <p:cNvPr id="34" name="Shape 32"/>
          <p:cNvSpPr/>
          <p:nvPr/>
        </p:nvSpPr>
        <p:spPr>
          <a:xfrm>
            <a:off x="5779008" y="58978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35" name="Text 33"/>
          <p:cNvSpPr/>
          <p:nvPr/>
        </p:nvSpPr>
        <p:spPr>
          <a:xfrm>
            <a:off x="5824728" y="60258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Goal</a:t>
            </a:r>
            <a:endParaRPr lang="en-US" sz="1050" dirty="0"/>
          </a:p>
        </p:txBody>
      </p:sp>
      <p:sp>
        <p:nvSpPr>
          <p:cNvPr id="36" name="Shape 34"/>
          <p:cNvSpPr/>
          <p:nvPr/>
        </p:nvSpPr>
        <p:spPr>
          <a:xfrm>
            <a:off x="7178040" y="6035040"/>
            <a:ext cx="164592" cy="164592"/>
          </a:xfrm>
          <a:prstGeom prst="chevron">
            <a:avLst/>
          </a:prstGeom>
          <a:solidFill>
            <a:srgbClr val="B8C7D8"/>
          </a:solidFill>
          <a:ln w="12700">
            <a:solidFill>
              <a:srgbClr val="B8C7D8"/>
            </a:solidFill>
            <a:prstDash val="solid"/>
          </a:ln>
        </p:spPr>
        <p:txBody>
          <a:bodyPr/>
          <a:lstStyle/>
          <a:p>
            <a:endParaRPr lang="en-US"/>
          </a:p>
        </p:txBody>
      </p:sp>
      <p:sp>
        <p:nvSpPr>
          <p:cNvPr id="37" name="Shape 35"/>
          <p:cNvSpPr/>
          <p:nvPr/>
        </p:nvSpPr>
        <p:spPr>
          <a:xfrm>
            <a:off x="7443216" y="58978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38" name="Text 36"/>
          <p:cNvSpPr/>
          <p:nvPr/>
        </p:nvSpPr>
        <p:spPr>
          <a:xfrm>
            <a:off x="7488936" y="60258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Cost</a:t>
            </a:r>
            <a:endParaRPr lang="en-US" sz="1050" dirty="0"/>
          </a:p>
        </p:txBody>
      </p:sp>
      <p:sp>
        <p:nvSpPr>
          <p:cNvPr id="39" name="Shape 37"/>
          <p:cNvSpPr/>
          <p:nvPr/>
        </p:nvSpPr>
        <p:spPr>
          <a:xfrm>
            <a:off x="8842248" y="6035040"/>
            <a:ext cx="164592" cy="164592"/>
          </a:xfrm>
          <a:prstGeom prst="chevron">
            <a:avLst/>
          </a:prstGeom>
          <a:solidFill>
            <a:srgbClr val="B8C7D8"/>
          </a:solidFill>
          <a:ln w="12700">
            <a:solidFill>
              <a:srgbClr val="B8C7D8"/>
            </a:solidFill>
            <a:prstDash val="solid"/>
          </a:ln>
        </p:spPr>
        <p:txBody>
          <a:bodyPr/>
          <a:lstStyle/>
          <a:p>
            <a:endParaRPr lang="en-US"/>
          </a:p>
        </p:txBody>
      </p:sp>
      <p:sp>
        <p:nvSpPr>
          <p:cNvPr id="40" name="Shape 38"/>
          <p:cNvSpPr/>
          <p:nvPr/>
        </p:nvSpPr>
        <p:spPr>
          <a:xfrm>
            <a:off x="9107424" y="58978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41" name="Text 39"/>
          <p:cNvSpPr/>
          <p:nvPr/>
        </p:nvSpPr>
        <p:spPr>
          <a:xfrm>
            <a:off x="9153144" y="60258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Search</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Goal tests: when is the mission complete?</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The goal test evaluates a state, not the amount of effort spent.</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10</a:t>
            </a:r>
            <a:endParaRPr lang="en-US" sz="850" dirty="0"/>
          </a:p>
        </p:txBody>
      </p:sp>
      <p:sp>
        <p:nvSpPr>
          <p:cNvPr id="6" name="Shape 4"/>
          <p:cNvSpPr/>
          <p:nvPr/>
        </p:nvSpPr>
        <p:spPr>
          <a:xfrm>
            <a:off x="868680" y="1828800"/>
            <a:ext cx="3063240" cy="2057400"/>
          </a:xfrm>
          <a:prstGeom prst="roundRect">
            <a:avLst>
              <a:gd name="adj" fmla="val 3556"/>
            </a:avLst>
          </a:prstGeom>
          <a:solidFill>
            <a:srgbClr val="FFFFFF"/>
          </a:solidFill>
          <a:ln w="12700">
            <a:solidFill>
              <a:srgbClr val="D94E4E"/>
            </a:solidFill>
            <a:prstDash val="solid"/>
          </a:ln>
          <a:effectLst>
            <a:outerShdw blurRad="12700" dist="50800" dir="2700000" algn="bl" rotWithShape="0">
              <a:srgbClr val="D4DEE8">
                <a:alpha val="25000"/>
              </a:srgbClr>
            </a:outerShdw>
          </a:effectLst>
        </p:spPr>
        <p:txBody>
          <a:bodyPr/>
          <a:lstStyle/>
          <a:p>
            <a:endParaRPr lang="en-US"/>
          </a:p>
        </p:txBody>
      </p:sp>
      <p:sp>
        <p:nvSpPr>
          <p:cNvPr id="7" name="Text 5"/>
          <p:cNvSpPr/>
          <p:nvPr/>
        </p:nvSpPr>
        <p:spPr>
          <a:xfrm>
            <a:off x="1097280" y="2029968"/>
            <a:ext cx="2606040" cy="320040"/>
          </a:xfrm>
          <a:prstGeom prst="rect">
            <a:avLst/>
          </a:prstGeom>
          <a:noFill/>
          <a:ln/>
        </p:spPr>
        <p:txBody>
          <a:bodyPr wrap="square" lIns="0" tIns="0" rIns="0" bIns="0" rtlCol="0" anchor="ctr">
            <a:normAutofit/>
          </a:bodyPr>
          <a:lstStyle/>
          <a:p>
            <a:pPr marL="0" indent="0" algn="ctr">
              <a:buNone/>
            </a:pPr>
            <a:r>
              <a:rPr lang="en-US" sz="2200" b="1" dirty="0">
                <a:solidFill>
                  <a:srgbClr val="D94E4E"/>
                </a:solidFill>
                <a:latin typeface="Aptos" pitchFamily="34" charset="0"/>
                <a:ea typeface="Aptos" pitchFamily="34" charset="-122"/>
                <a:cs typeface="Aptos" pitchFamily="34" charset="-120"/>
              </a:rPr>
              <a:t>Weak</a:t>
            </a:r>
            <a:endParaRPr lang="en-US" sz="2200" dirty="0"/>
          </a:p>
        </p:txBody>
      </p:sp>
      <p:sp>
        <p:nvSpPr>
          <p:cNvPr id="8" name="Text 6"/>
          <p:cNvSpPr/>
          <p:nvPr/>
        </p:nvSpPr>
        <p:spPr>
          <a:xfrm>
            <a:off x="1097280" y="2606040"/>
            <a:ext cx="2606040" cy="502920"/>
          </a:xfrm>
          <a:prstGeom prst="rect">
            <a:avLst/>
          </a:prstGeom>
          <a:noFill/>
          <a:ln/>
        </p:spPr>
        <p:txBody>
          <a:bodyPr wrap="square" lIns="0" tIns="0" rIns="0" bIns="0" rtlCol="0" anchor="ctr">
            <a:normAutofit/>
          </a:bodyPr>
          <a:lstStyle/>
          <a:p>
            <a:pPr marL="0" indent="0" algn="ctr">
              <a:buNone/>
            </a:pPr>
            <a:r>
              <a:rPr lang="en-US" sz="1900" b="1" dirty="0">
                <a:solidFill>
                  <a:srgbClr val="0B2D55"/>
                </a:solidFill>
                <a:latin typeface="Aptos" pitchFamily="34" charset="0"/>
                <a:ea typeface="Aptos" pitchFamily="34" charset="-122"/>
                <a:cs typeface="Aptos" pitchFamily="34" charset="-120"/>
              </a:rPr>
              <a:t>Rover is at the lander</a:t>
            </a:r>
            <a:endParaRPr lang="en-US" sz="1900" dirty="0"/>
          </a:p>
        </p:txBody>
      </p:sp>
      <p:sp>
        <p:nvSpPr>
          <p:cNvPr id="9" name="Text 7"/>
          <p:cNvSpPr/>
          <p:nvPr/>
        </p:nvSpPr>
        <p:spPr>
          <a:xfrm>
            <a:off x="1097280" y="3246120"/>
            <a:ext cx="2606040" cy="329184"/>
          </a:xfrm>
          <a:prstGeom prst="rect">
            <a:avLst/>
          </a:prstGeom>
          <a:noFill/>
          <a:ln/>
        </p:spPr>
        <p:txBody>
          <a:bodyPr wrap="square" lIns="0" tIns="0" rIns="0" bIns="0" rtlCol="0" anchor="ctr">
            <a:normAutofit/>
          </a:bodyPr>
          <a:lstStyle/>
          <a:p>
            <a:pPr marL="0" indent="0" algn="ctr">
              <a:buNone/>
            </a:pPr>
            <a:r>
              <a:rPr lang="en-US" sz="1350" dirty="0">
                <a:solidFill>
                  <a:srgbClr val="132033"/>
                </a:solidFill>
                <a:latin typeface="Aptos" pitchFamily="34" charset="0"/>
                <a:ea typeface="Aptos" pitchFamily="34" charset="-122"/>
                <a:cs typeface="Aptos" pitchFamily="34" charset="-120"/>
              </a:rPr>
              <a:t>May return before collecting samples</a:t>
            </a:r>
            <a:endParaRPr lang="en-US" sz="1350" dirty="0"/>
          </a:p>
        </p:txBody>
      </p:sp>
      <p:sp>
        <p:nvSpPr>
          <p:cNvPr id="10" name="Shape 8"/>
          <p:cNvSpPr/>
          <p:nvPr/>
        </p:nvSpPr>
        <p:spPr>
          <a:xfrm>
            <a:off x="4526280" y="1828800"/>
            <a:ext cx="3063240" cy="2057400"/>
          </a:xfrm>
          <a:prstGeom prst="roundRect">
            <a:avLst>
              <a:gd name="adj" fmla="val 3556"/>
            </a:avLst>
          </a:prstGeom>
          <a:solidFill>
            <a:srgbClr val="FFFFFF"/>
          </a:solidFill>
          <a:ln w="12700">
            <a:solidFill>
              <a:srgbClr val="F2C14E"/>
            </a:solidFill>
            <a:prstDash val="solid"/>
          </a:ln>
          <a:effectLst>
            <a:outerShdw blurRad="12700" dist="50800" dir="2700000" algn="bl" rotWithShape="0">
              <a:srgbClr val="D4DEE8">
                <a:alpha val="25000"/>
              </a:srgbClr>
            </a:outerShdw>
          </a:effectLst>
        </p:spPr>
        <p:txBody>
          <a:bodyPr/>
          <a:lstStyle/>
          <a:p>
            <a:endParaRPr lang="en-US"/>
          </a:p>
        </p:txBody>
      </p:sp>
      <p:sp>
        <p:nvSpPr>
          <p:cNvPr id="11" name="Text 9"/>
          <p:cNvSpPr/>
          <p:nvPr/>
        </p:nvSpPr>
        <p:spPr>
          <a:xfrm>
            <a:off x="4754880" y="2029968"/>
            <a:ext cx="2606040" cy="320040"/>
          </a:xfrm>
          <a:prstGeom prst="rect">
            <a:avLst/>
          </a:prstGeom>
          <a:noFill/>
          <a:ln/>
        </p:spPr>
        <p:txBody>
          <a:bodyPr wrap="square" lIns="0" tIns="0" rIns="0" bIns="0" rtlCol="0" anchor="ctr">
            <a:normAutofit/>
          </a:bodyPr>
          <a:lstStyle/>
          <a:p>
            <a:pPr marL="0" indent="0" algn="ctr">
              <a:buNone/>
            </a:pPr>
            <a:r>
              <a:rPr lang="en-US" sz="2200" b="1" dirty="0">
                <a:solidFill>
                  <a:srgbClr val="F2C14E"/>
                </a:solidFill>
                <a:latin typeface="Aptos" pitchFamily="34" charset="0"/>
                <a:ea typeface="Aptos" pitchFamily="34" charset="-122"/>
                <a:cs typeface="Aptos" pitchFamily="34" charset="-120"/>
              </a:rPr>
              <a:t>Incomplete</a:t>
            </a:r>
            <a:endParaRPr lang="en-US" sz="2200" dirty="0"/>
          </a:p>
        </p:txBody>
      </p:sp>
      <p:sp>
        <p:nvSpPr>
          <p:cNvPr id="12" name="Text 10"/>
          <p:cNvSpPr/>
          <p:nvPr/>
        </p:nvSpPr>
        <p:spPr>
          <a:xfrm>
            <a:off x="4754880" y="2606040"/>
            <a:ext cx="2606040" cy="502920"/>
          </a:xfrm>
          <a:prstGeom prst="rect">
            <a:avLst/>
          </a:prstGeom>
          <a:noFill/>
          <a:ln/>
        </p:spPr>
        <p:txBody>
          <a:bodyPr wrap="square" lIns="0" tIns="0" rIns="0" bIns="0" rtlCol="0" anchor="ctr">
            <a:normAutofit/>
          </a:bodyPr>
          <a:lstStyle/>
          <a:p>
            <a:pPr marL="0" indent="0" algn="ctr">
              <a:buNone/>
            </a:pPr>
            <a:r>
              <a:rPr lang="en-US" sz="1900" b="1" dirty="0">
                <a:solidFill>
                  <a:srgbClr val="0B2D55"/>
                </a:solidFill>
                <a:latin typeface="Aptos" pitchFamily="34" charset="0"/>
                <a:ea typeface="Aptos" pitchFamily="34" charset="-122"/>
                <a:cs typeface="Aptos" pitchFamily="34" charset="-120"/>
              </a:rPr>
              <a:t>At least one sample collected</a:t>
            </a:r>
            <a:endParaRPr lang="en-US" sz="1900" dirty="0"/>
          </a:p>
        </p:txBody>
      </p:sp>
      <p:sp>
        <p:nvSpPr>
          <p:cNvPr id="13" name="Text 11"/>
          <p:cNvSpPr/>
          <p:nvPr/>
        </p:nvSpPr>
        <p:spPr>
          <a:xfrm>
            <a:off x="4754880" y="3246120"/>
            <a:ext cx="2606040" cy="329184"/>
          </a:xfrm>
          <a:prstGeom prst="rect">
            <a:avLst/>
          </a:prstGeom>
          <a:noFill/>
          <a:ln/>
        </p:spPr>
        <p:txBody>
          <a:bodyPr wrap="square" lIns="0" tIns="0" rIns="0" bIns="0" rtlCol="0" anchor="ctr">
            <a:normAutofit/>
          </a:bodyPr>
          <a:lstStyle/>
          <a:p>
            <a:pPr marL="0" indent="0" algn="ctr">
              <a:buNone/>
            </a:pPr>
            <a:r>
              <a:rPr lang="en-US" sz="1350" dirty="0">
                <a:solidFill>
                  <a:srgbClr val="132033"/>
                </a:solidFill>
                <a:latin typeface="Aptos" pitchFamily="34" charset="0"/>
                <a:ea typeface="Aptos" pitchFamily="34" charset="-122"/>
                <a:cs typeface="Aptos" pitchFamily="34" charset="-120"/>
              </a:rPr>
              <a:t>May never return safely</a:t>
            </a:r>
            <a:endParaRPr lang="en-US" sz="1350" dirty="0"/>
          </a:p>
        </p:txBody>
      </p:sp>
      <p:sp>
        <p:nvSpPr>
          <p:cNvPr id="14" name="Shape 12"/>
          <p:cNvSpPr/>
          <p:nvPr/>
        </p:nvSpPr>
        <p:spPr>
          <a:xfrm>
            <a:off x="8183880" y="1828800"/>
            <a:ext cx="3063240" cy="2057400"/>
          </a:xfrm>
          <a:prstGeom prst="roundRect">
            <a:avLst>
              <a:gd name="adj" fmla="val 3556"/>
            </a:avLst>
          </a:prstGeom>
          <a:solidFill>
            <a:srgbClr val="F1FBF5"/>
          </a:solidFill>
          <a:ln w="12700">
            <a:solidFill>
              <a:srgbClr val="39A875"/>
            </a:solidFill>
            <a:prstDash val="solid"/>
          </a:ln>
          <a:effectLst>
            <a:outerShdw blurRad="12700" dist="50800" dir="2700000" algn="bl" rotWithShape="0">
              <a:srgbClr val="D4DEE8">
                <a:alpha val="25000"/>
              </a:srgbClr>
            </a:outerShdw>
          </a:effectLst>
        </p:spPr>
        <p:txBody>
          <a:bodyPr/>
          <a:lstStyle/>
          <a:p>
            <a:endParaRPr lang="en-US"/>
          </a:p>
        </p:txBody>
      </p:sp>
      <p:sp>
        <p:nvSpPr>
          <p:cNvPr id="15" name="Text 13"/>
          <p:cNvSpPr/>
          <p:nvPr/>
        </p:nvSpPr>
        <p:spPr>
          <a:xfrm>
            <a:off x="8412480" y="2029968"/>
            <a:ext cx="2606040" cy="320040"/>
          </a:xfrm>
          <a:prstGeom prst="rect">
            <a:avLst/>
          </a:prstGeom>
          <a:noFill/>
          <a:ln/>
        </p:spPr>
        <p:txBody>
          <a:bodyPr wrap="square" lIns="0" tIns="0" rIns="0" bIns="0" rtlCol="0" anchor="ctr">
            <a:normAutofit/>
          </a:bodyPr>
          <a:lstStyle/>
          <a:p>
            <a:pPr marL="0" indent="0" algn="ctr">
              <a:buNone/>
            </a:pPr>
            <a:r>
              <a:rPr lang="en-US" sz="2200" b="1" dirty="0">
                <a:solidFill>
                  <a:srgbClr val="39A875"/>
                </a:solidFill>
                <a:latin typeface="Aptos" pitchFamily="34" charset="0"/>
                <a:ea typeface="Aptos" pitchFamily="34" charset="-122"/>
                <a:cs typeface="Aptos" pitchFamily="34" charset="-120"/>
              </a:rPr>
              <a:t>Complete</a:t>
            </a:r>
            <a:endParaRPr lang="en-US" sz="2200" dirty="0"/>
          </a:p>
        </p:txBody>
      </p:sp>
      <p:sp>
        <p:nvSpPr>
          <p:cNvPr id="16" name="Text 14"/>
          <p:cNvSpPr/>
          <p:nvPr/>
        </p:nvSpPr>
        <p:spPr>
          <a:xfrm>
            <a:off x="8412480" y="2606040"/>
            <a:ext cx="2606040" cy="502920"/>
          </a:xfrm>
          <a:prstGeom prst="rect">
            <a:avLst/>
          </a:prstGeom>
          <a:noFill/>
          <a:ln/>
        </p:spPr>
        <p:txBody>
          <a:bodyPr wrap="square" lIns="0" tIns="0" rIns="0" bIns="0" rtlCol="0" anchor="ctr">
            <a:normAutofit/>
          </a:bodyPr>
          <a:lstStyle/>
          <a:p>
            <a:pPr marL="0" indent="0" algn="ctr">
              <a:buNone/>
            </a:pPr>
            <a:r>
              <a:rPr lang="en-US" sz="1900" b="1" dirty="0">
                <a:solidFill>
                  <a:srgbClr val="0B2D55"/>
                </a:solidFill>
                <a:latin typeface="Aptos" pitchFamily="34" charset="0"/>
                <a:ea typeface="Aptos" pitchFamily="34" charset="-122"/>
                <a:cs typeface="Aptos" pitchFamily="34" charset="-120"/>
              </a:rPr>
              <a:t>Both samples collected and rover at lander</a:t>
            </a:r>
            <a:endParaRPr lang="en-US" sz="1900" dirty="0"/>
          </a:p>
        </p:txBody>
      </p:sp>
      <p:sp>
        <p:nvSpPr>
          <p:cNvPr id="17" name="Text 15"/>
          <p:cNvSpPr/>
          <p:nvPr/>
        </p:nvSpPr>
        <p:spPr>
          <a:xfrm>
            <a:off x="8412480" y="3246120"/>
            <a:ext cx="2606040" cy="329184"/>
          </a:xfrm>
          <a:prstGeom prst="rect">
            <a:avLst/>
          </a:prstGeom>
          <a:noFill/>
          <a:ln/>
        </p:spPr>
        <p:txBody>
          <a:bodyPr wrap="square" lIns="0" tIns="0" rIns="0" bIns="0" rtlCol="0" anchor="ctr">
            <a:normAutofit/>
          </a:bodyPr>
          <a:lstStyle/>
          <a:p>
            <a:pPr marL="0" indent="0" algn="ctr">
              <a:buNone/>
            </a:pPr>
            <a:r>
              <a:rPr lang="en-US" sz="1350" dirty="0">
                <a:solidFill>
                  <a:srgbClr val="132033"/>
                </a:solidFill>
                <a:latin typeface="Aptos" pitchFamily="34" charset="0"/>
                <a:ea typeface="Aptos" pitchFamily="34" charset="-122"/>
                <a:cs typeface="Aptos" pitchFamily="34" charset="-120"/>
              </a:rPr>
              <a:t>Captures the actual mission objective</a:t>
            </a:r>
            <a:endParaRPr lang="en-US" sz="1350" dirty="0"/>
          </a:p>
        </p:txBody>
      </p:sp>
      <p:sp>
        <p:nvSpPr>
          <p:cNvPr id="18" name="Text 16"/>
          <p:cNvSpPr/>
          <p:nvPr/>
        </p:nvSpPr>
        <p:spPr>
          <a:xfrm>
            <a:off x="1005840" y="5074920"/>
            <a:ext cx="10149840" cy="548640"/>
          </a:xfrm>
          <a:prstGeom prst="rect">
            <a:avLst/>
          </a:prstGeom>
          <a:noFill/>
          <a:ln/>
        </p:spPr>
        <p:txBody>
          <a:bodyPr wrap="square" lIns="0" tIns="0" rIns="0" bIns="0" rtlCol="0" anchor="ctr">
            <a:normAutofit/>
          </a:bodyPr>
          <a:lstStyle/>
          <a:p>
            <a:pPr marL="0" indent="0" algn="ctr">
              <a:buNone/>
            </a:pPr>
            <a:r>
              <a:rPr lang="en-US" sz="2400" b="1" dirty="0">
                <a:solidFill>
                  <a:srgbClr val="0B2D55"/>
                </a:solidFill>
                <a:latin typeface="Aptos" pitchFamily="34" charset="0"/>
                <a:ea typeface="Aptos" pitchFamily="34" charset="-122"/>
                <a:cs typeface="Aptos" pitchFamily="34" charset="-120"/>
              </a:rPr>
              <a:t>A good goal test is precise, checkable, and aligned with the actual objective.</a:t>
            </a:r>
            <a:endParaRPr lang="en-US" sz="2400" dirty="0"/>
          </a:p>
        </p:txBody>
      </p:sp>
      <p:sp>
        <p:nvSpPr>
          <p:cNvPr id="19" name="Shape 17"/>
          <p:cNvSpPr/>
          <p:nvPr/>
        </p:nvSpPr>
        <p:spPr>
          <a:xfrm>
            <a:off x="786384" y="58978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20" name="Text 18"/>
          <p:cNvSpPr/>
          <p:nvPr/>
        </p:nvSpPr>
        <p:spPr>
          <a:xfrm>
            <a:off x="832104" y="60258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Real world</a:t>
            </a:r>
            <a:endParaRPr lang="en-US" sz="1050" dirty="0"/>
          </a:p>
        </p:txBody>
      </p:sp>
      <p:sp>
        <p:nvSpPr>
          <p:cNvPr id="21" name="Shape 19"/>
          <p:cNvSpPr/>
          <p:nvPr/>
        </p:nvSpPr>
        <p:spPr>
          <a:xfrm>
            <a:off x="2185416" y="6035040"/>
            <a:ext cx="164592" cy="164592"/>
          </a:xfrm>
          <a:prstGeom prst="chevron">
            <a:avLst/>
          </a:prstGeom>
          <a:solidFill>
            <a:srgbClr val="B8C7D8"/>
          </a:solidFill>
          <a:ln w="12700">
            <a:solidFill>
              <a:srgbClr val="B8C7D8"/>
            </a:solidFill>
            <a:prstDash val="solid"/>
          </a:ln>
        </p:spPr>
        <p:txBody>
          <a:bodyPr/>
          <a:lstStyle/>
          <a:p>
            <a:endParaRPr lang="en-US"/>
          </a:p>
        </p:txBody>
      </p:sp>
      <p:sp>
        <p:nvSpPr>
          <p:cNvPr id="22" name="Shape 20"/>
          <p:cNvSpPr/>
          <p:nvPr/>
        </p:nvSpPr>
        <p:spPr>
          <a:xfrm>
            <a:off x="2450592" y="58978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23" name="Text 21"/>
          <p:cNvSpPr/>
          <p:nvPr/>
        </p:nvSpPr>
        <p:spPr>
          <a:xfrm>
            <a:off x="2496312" y="60258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State</a:t>
            </a:r>
            <a:endParaRPr lang="en-US" sz="1050" dirty="0"/>
          </a:p>
        </p:txBody>
      </p:sp>
      <p:sp>
        <p:nvSpPr>
          <p:cNvPr id="24" name="Shape 22"/>
          <p:cNvSpPr/>
          <p:nvPr/>
        </p:nvSpPr>
        <p:spPr>
          <a:xfrm>
            <a:off x="3849624" y="6035040"/>
            <a:ext cx="164592" cy="164592"/>
          </a:xfrm>
          <a:prstGeom prst="chevron">
            <a:avLst/>
          </a:prstGeom>
          <a:solidFill>
            <a:srgbClr val="B8C7D8"/>
          </a:solidFill>
          <a:ln w="12700">
            <a:solidFill>
              <a:srgbClr val="B8C7D8"/>
            </a:solidFill>
            <a:prstDash val="solid"/>
          </a:ln>
        </p:spPr>
        <p:txBody>
          <a:bodyPr/>
          <a:lstStyle/>
          <a:p>
            <a:endParaRPr lang="en-US"/>
          </a:p>
        </p:txBody>
      </p:sp>
      <p:sp>
        <p:nvSpPr>
          <p:cNvPr id="25" name="Shape 23"/>
          <p:cNvSpPr/>
          <p:nvPr/>
        </p:nvSpPr>
        <p:spPr>
          <a:xfrm>
            <a:off x="4114800" y="58978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26" name="Text 24"/>
          <p:cNvSpPr/>
          <p:nvPr/>
        </p:nvSpPr>
        <p:spPr>
          <a:xfrm>
            <a:off x="4160520" y="60258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Actions</a:t>
            </a:r>
            <a:endParaRPr lang="en-US" sz="1050" dirty="0"/>
          </a:p>
        </p:txBody>
      </p:sp>
      <p:sp>
        <p:nvSpPr>
          <p:cNvPr id="27" name="Shape 25"/>
          <p:cNvSpPr/>
          <p:nvPr/>
        </p:nvSpPr>
        <p:spPr>
          <a:xfrm>
            <a:off x="5513832" y="6035040"/>
            <a:ext cx="164592" cy="164592"/>
          </a:xfrm>
          <a:prstGeom prst="chevron">
            <a:avLst/>
          </a:prstGeom>
          <a:solidFill>
            <a:srgbClr val="B8C7D8"/>
          </a:solidFill>
          <a:ln w="12700">
            <a:solidFill>
              <a:srgbClr val="B8C7D8"/>
            </a:solidFill>
            <a:prstDash val="solid"/>
          </a:ln>
        </p:spPr>
        <p:txBody>
          <a:bodyPr/>
          <a:lstStyle/>
          <a:p>
            <a:endParaRPr lang="en-US"/>
          </a:p>
        </p:txBody>
      </p:sp>
      <p:sp>
        <p:nvSpPr>
          <p:cNvPr id="28" name="Shape 26"/>
          <p:cNvSpPr/>
          <p:nvPr/>
        </p:nvSpPr>
        <p:spPr>
          <a:xfrm>
            <a:off x="5779008" y="5897880"/>
            <a:ext cx="1325880" cy="438912"/>
          </a:xfrm>
          <a:prstGeom prst="roundRect">
            <a:avLst>
              <a:gd name="adj" fmla="val 14583"/>
            </a:avLst>
          </a:prstGeom>
          <a:solidFill>
            <a:srgbClr val="F2C14E"/>
          </a:solidFill>
          <a:ln w="12700">
            <a:solidFill>
              <a:srgbClr val="F2C14E"/>
            </a:solidFill>
            <a:prstDash val="solid"/>
          </a:ln>
        </p:spPr>
        <p:txBody>
          <a:bodyPr/>
          <a:lstStyle/>
          <a:p>
            <a:endParaRPr lang="en-US"/>
          </a:p>
        </p:txBody>
      </p:sp>
      <p:sp>
        <p:nvSpPr>
          <p:cNvPr id="29" name="Text 27"/>
          <p:cNvSpPr/>
          <p:nvPr/>
        </p:nvSpPr>
        <p:spPr>
          <a:xfrm>
            <a:off x="5824728" y="6025896"/>
            <a:ext cx="1234440" cy="164592"/>
          </a:xfrm>
          <a:prstGeom prst="rect">
            <a:avLst/>
          </a:prstGeom>
          <a:noFill/>
          <a:ln/>
        </p:spPr>
        <p:txBody>
          <a:bodyPr wrap="square" lIns="0" tIns="0" rIns="0" bIns="0" rtlCol="0" anchor="ctr">
            <a:normAutofit/>
          </a:bodyPr>
          <a:lstStyle/>
          <a:p>
            <a:pPr marL="0" indent="0" algn="ctr">
              <a:buNone/>
            </a:pPr>
            <a:r>
              <a:rPr lang="en-US" sz="1050" b="1" dirty="0">
                <a:solidFill>
                  <a:srgbClr val="0B2D55"/>
                </a:solidFill>
                <a:latin typeface="Aptos" pitchFamily="34" charset="0"/>
                <a:ea typeface="Aptos" pitchFamily="34" charset="-122"/>
                <a:cs typeface="Aptos" pitchFamily="34" charset="-120"/>
              </a:rPr>
              <a:t>Goal</a:t>
            </a:r>
            <a:endParaRPr lang="en-US" sz="1050" dirty="0"/>
          </a:p>
        </p:txBody>
      </p:sp>
      <p:sp>
        <p:nvSpPr>
          <p:cNvPr id="30" name="Shape 28"/>
          <p:cNvSpPr/>
          <p:nvPr/>
        </p:nvSpPr>
        <p:spPr>
          <a:xfrm>
            <a:off x="7178040" y="6035040"/>
            <a:ext cx="164592" cy="164592"/>
          </a:xfrm>
          <a:prstGeom prst="chevron">
            <a:avLst/>
          </a:prstGeom>
          <a:solidFill>
            <a:srgbClr val="B8C7D8"/>
          </a:solidFill>
          <a:ln w="12700">
            <a:solidFill>
              <a:srgbClr val="B8C7D8"/>
            </a:solidFill>
            <a:prstDash val="solid"/>
          </a:ln>
        </p:spPr>
        <p:txBody>
          <a:bodyPr/>
          <a:lstStyle/>
          <a:p>
            <a:endParaRPr lang="en-US"/>
          </a:p>
        </p:txBody>
      </p:sp>
      <p:sp>
        <p:nvSpPr>
          <p:cNvPr id="31" name="Shape 29"/>
          <p:cNvSpPr/>
          <p:nvPr/>
        </p:nvSpPr>
        <p:spPr>
          <a:xfrm>
            <a:off x="7443216" y="58978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32" name="Text 30"/>
          <p:cNvSpPr/>
          <p:nvPr/>
        </p:nvSpPr>
        <p:spPr>
          <a:xfrm>
            <a:off x="7488936" y="60258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Cost</a:t>
            </a:r>
            <a:endParaRPr lang="en-US" sz="1050" dirty="0"/>
          </a:p>
        </p:txBody>
      </p:sp>
      <p:sp>
        <p:nvSpPr>
          <p:cNvPr id="33" name="Shape 31"/>
          <p:cNvSpPr/>
          <p:nvPr/>
        </p:nvSpPr>
        <p:spPr>
          <a:xfrm>
            <a:off x="8842248" y="6035040"/>
            <a:ext cx="164592" cy="164592"/>
          </a:xfrm>
          <a:prstGeom prst="chevron">
            <a:avLst/>
          </a:prstGeom>
          <a:solidFill>
            <a:srgbClr val="B8C7D8"/>
          </a:solidFill>
          <a:ln w="12700">
            <a:solidFill>
              <a:srgbClr val="B8C7D8"/>
            </a:solidFill>
            <a:prstDash val="solid"/>
          </a:ln>
        </p:spPr>
        <p:txBody>
          <a:bodyPr/>
          <a:lstStyle/>
          <a:p>
            <a:endParaRPr lang="en-US"/>
          </a:p>
        </p:txBody>
      </p:sp>
      <p:sp>
        <p:nvSpPr>
          <p:cNvPr id="34" name="Shape 32"/>
          <p:cNvSpPr/>
          <p:nvPr/>
        </p:nvSpPr>
        <p:spPr>
          <a:xfrm>
            <a:off x="9107424" y="58978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35" name="Text 33"/>
          <p:cNvSpPr/>
          <p:nvPr/>
        </p:nvSpPr>
        <p:spPr>
          <a:xfrm>
            <a:off x="9153144" y="60258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Search</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Path costs: what does “best” mean?</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Changing the cost function can change the preferred solution.</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11</a:t>
            </a:r>
            <a:endParaRPr lang="en-US" sz="850" dirty="0"/>
          </a:p>
        </p:txBody>
      </p:sp>
      <p:sp>
        <p:nvSpPr>
          <p:cNvPr id="6" name="Shape 4"/>
          <p:cNvSpPr/>
          <p:nvPr/>
        </p:nvSpPr>
        <p:spPr>
          <a:xfrm>
            <a:off x="777240" y="1645920"/>
            <a:ext cx="4937760" cy="1005840"/>
          </a:xfrm>
          <a:prstGeom prst="roundRect">
            <a:avLst>
              <a:gd name="adj" fmla="val 7273"/>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7" name="Shape 5"/>
          <p:cNvSpPr/>
          <p:nvPr/>
        </p:nvSpPr>
        <p:spPr>
          <a:xfrm>
            <a:off x="777240" y="1645920"/>
            <a:ext cx="73152" cy="1005840"/>
          </a:xfrm>
          <a:prstGeom prst="rect">
            <a:avLst/>
          </a:prstGeom>
          <a:solidFill>
            <a:srgbClr val="1D5FA7"/>
          </a:solidFill>
          <a:ln w="12700">
            <a:solidFill>
              <a:srgbClr val="1D5FA7"/>
            </a:solidFill>
            <a:prstDash val="solid"/>
          </a:ln>
        </p:spPr>
        <p:txBody>
          <a:bodyPr/>
          <a:lstStyle/>
          <a:p>
            <a:endParaRPr lang="en-US"/>
          </a:p>
        </p:txBody>
      </p:sp>
      <p:sp>
        <p:nvSpPr>
          <p:cNvPr id="8" name="Text 6"/>
          <p:cNvSpPr/>
          <p:nvPr/>
        </p:nvSpPr>
        <p:spPr>
          <a:xfrm>
            <a:off x="960120" y="1792224"/>
            <a:ext cx="461772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Shortest distance</a:t>
            </a:r>
            <a:endParaRPr lang="en-US" sz="1500" dirty="0"/>
          </a:p>
        </p:txBody>
      </p:sp>
      <p:sp>
        <p:nvSpPr>
          <p:cNvPr id="9" name="Text 7"/>
          <p:cNvSpPr/>
          <p:nvPr/>
        </p:nvSpPr>
        <p:spPr>
          <a:xfrm>
            <a:off x="960120" y="2130552"/>
            <a:ext cx="4617720" cy="411480"/>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Minimize meters traveled</a:t>
            </a:r>
            <a:endParaRPr lang="en-US" sz="1350" dirty="0"/>
          </a:p>
        </p:txBody>
      </p:sp>
      <p:sp>
        <p:nvSpPr>
          <p:cNvPr id="10" name="Shape 8"/>
          <p:cNvSpPr/>
          <p:nvPr/>
        </p:nvSpPr>
        <p:spPr>
          <a:xfrm>
            <a:off x="6355080" y="1645920"/>
            <a:ext cx="4937760" cy="1005840"/>
          </a:xfrm>
          <a:prstGeom prst="roundRect">
            <a:avLst>
              <a:gd name="adj" fmla="val 7273"/>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1" name="Shape 9"/>
          <p:cNvSpPr/>
          <p:nvPr/>
        </p:nvSpPr>
        <p:spPr>
          <a:xfrm>
            <a:off x="6355080" y="1645920"/>
            <a:ext cx="73152" cy="1005840"/>
          </a:xfrm>
          <a:prstGeom prst="rect">
            <a:avLst/>
          </a:prstGeom>
          <a:solidFill>
            <a:srgbClr val="39A875"/>
          </a:solidFill>
          <a:ln w="12700">
            <a:solidFill>
              <a:srgbClr val="39A875"/>
            </a:solidFill>
            <a:prstDash val="solid"/>
          </a:ln>
        </p:spPr>
        <p:txBody>
          <a:bodyPr/>
          <a:lstStyle/>
          <a:p>
            <a:endParaRPr lang="en-US"/>
          </a:p>
        </p:txBody>
      </p:sp>
      <p:sp>
        <p:nvSpPr>
          <p:cNvPr id="12" name="Text 10"/>
          <p:cNvSpPr/>
          <p:nvPr/>
        </p:nvSpPr>
        <p:spPr>
          <a:xfrm>
            <a:off x="6537960" y="1792224"/>
            <a:ext cx="461772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Least energy</a:t>
            </a:r>
            <a:endParaRPr lang="en-US" sz="1500" dirty="0"/>
          </a:p>
        </p:txBody>
      </p:sp>
      <p:sp>
        <p:nvSpPr>
          <p:cNvPr id="13" name="Text 11"/>
          <p:cNvSpPr/>
          <p:nvPr/>
        </p:nvSpPr>
        <p:spPr>
          <a:xfrm>
            <a:off x="6537960" y="2130552"/>
            <a:ext cx="4617720" cy="411480"/>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Minimize battery consumed</a:t>
            </a:r>
            <a:endParaRPr lang="en-US" sz="1350" dirty="0"/>
          </a:p>
        </p:txBody>
      </p:sp>
      <p:sp>
        <p:nvSpPr>
          <p:cNvPr id="14" name="Shape 12"/>
          <p:cNvSpPr/>
          <p:nvPr/>
        </p:nvSpPr>
        <p:spPr>
          <a:xfrm>
            <a:off x="777240" y="3154680"/>
            <a:ext cx="4937760" cy="1005840"/>
          </a:xfrm>
          <a:prstGeom prst="roundRect">
            <a:avLst>
              <a:gd name="adj" fmla="val 7273"/>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5" name="Shape 13"/>
          <p:cNvSpPr/>
          <p:nvPr/>
        </p:nvSpPr>
        <p:spPr>
          <a:xfrm>
            <a:off x="777240" y="3154680"/>
            <a:ext cx="73152" cy="1005840"/>
          </a:xfrm>
          <a:prstGeom prst="rect">
            <a:avLst/>
          </a:prstGeom>
          <a:solidFill>
            <a:srgbClr val="D94E4E"/>
          </a:solidFill>
          <a:ln w="12700">
            <a:solidFill>
              <a:srgbClr val="D94E4E"/>
            </a:solidFill>
            <a:prstDash val="solid"/>
          </a:ln>
        </p:spPr>
        <p:txBody>
          <a:bodyPr/>
          <a:lstStyle/>
          <a:p>
            <a:endParaRPr lang="en-US"/>
          </a:p>
        </p:txBody>
      </p:sp>
      <p:sp>
        <p:nvSpPr>
          <p:cNvPr id="16" name="Text 14"/>
          <p:cNvSpPr/>
          <p:nvPr/>
        </p:nvSpPr>
        <p:spPr>
          <a:xfrm>
            <a:off x="960120" y="3300984"/>
            <a:ext cx="461772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Lowest risk</a:t>
            </a:r>
            <a:endParaRPr lang="en-US" sz="1500" dirty="0"/>
          </a:p>
        </p:txBody>
      </p:sp>
      <p:sp>
        <p:nvSpPr>
          <p:cNvPr id="17" name="Text 15"/>
          <p:cNvSpPr/>
          <p:nvPr/>
        </p:nvSpPr>
        <p:spPr>
          <a:xfrm>
            <a:off x="960120" y="3639312"/>
            <a:ext cx="4617720" cy="411480"/>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Avoid unstable terrain</a:t>
            </a:r>
            <a:endParaRPr lang="en-US" sz="1350" dirty="0"/>
          </a:p>
        </p:txBody>
      </p:sp>
      <p:sp>
        <p:nvSpPr>
          <p:cNvPr id="18" name="Shape 16"/>
          <p:cNvSpPr/>
          <p:nvPr/>
        </p:nvSpPr>
        <p:spPr>
          <a:xfrm>
            <a:off x="6355080" y="3154680"/>
            <a:ext cx="4937760" cy="1005840"/>
          </a:xfrm>
          <a:prstGeom prst="roundRect">
            <a:avLst>
              <a:gd name="adj" fmla="val 7273"/>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9" name="Shape 17"/>
          <p:cNvSpPr/>
          <p:nvPr/>
        </p:nvSpPr>
        <p:spPr>
          <a:xfrm>
            <a:off x="6355080" y="3154680"/>
            <a:ext cx="73152" cy="1005840"/>
          </a:xfrm>
          <a:prstGeom prst="rect">
            <a:avLst/>
          </a:prstGeom>
          <a:solidFill>
            <a:srgbClr val="F2C14E"/>
          </a:solidFill>
          <a:ln w="12700">
            <a:solidFill>
              <a:srgbClr val="F2C14E"/>
            </a:solidFill>
            <a:prstDash val="solid"/>
          </a:ln>
        </p:spPr>
        <p:txBody>
          <a:bodyPr/>
          <a:lstStyle/>
          <a:p>
            <a:endParaRPr lang="en-US"/>
          </a:p>
        </p:txBody>
      </p:sp>
      <p:sp>
        <p:nvSpPr>
          <p:cNvPr id="20" name="Text 18"/>
          <p:cNvSpPr/>
          <p:nvPr/>
        </p:nvSpPr>
        <p:spPr>
          <a:xfrm>
            <a:off x="6537960" y="3300984"/>
            <a:ext cx="461772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Fastest time</a:t>
            </a:r>
            <a:endParaRPr lang="en-US" sz="1500" dirty="0"/>
          </a:p>
        </p:txBody>
      </p:sp>
      <p:sp>
        <p:nvSpPr>
          <p:cNvPr id="21" name="Text 19"/>
          <p:cNvSpPr/>
          <p:nvPr/>
        </p:nvSpPr>
        <p:spPr>
          <a:xfrm>
            <a:off x="6537960" y="3639312"/>
            <a:ext cx="4617720" cy="411480"/>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Minimize mission duration</a:t>
            </a:r>
            <a:endParaRPr lang="en-US" sz="1350" dirty="0"/>
          </a:p>
        </p:txBody>
      </p:sp>
      <p:sp>
        <p:nvSpPr>
          <p:cNvPr id="22" name="Text 20"/>
          <p:cNvSpPr/>
          <p:nvPr/>
        </p:nvSpPr>
        <p:spPr>
          <a:xfrm>
            <a:off x="960120" y="5074920"/>
            <a:ext cx="10149840" cy="502920"/>
          </a:xfrm>
          <a:prstGeom prst="rect">
            <a:avLst/>
          </a:prstGeom>
          <a:noFill/>
          <a:ln/>
        </p:spPr>
        <p:txBody>
          <a:bodyPr wrap="square" lIns="0" tIns="0" rIns="0" bIns="0" rtlCol="0" anchor="ctr">
            <a:normAutofit/>
          </a:bodyPr>
          <a:lstStyle/>
          <a:p>
            <a:pPr marL="0" indent="0" algn="ctr">
              <a:buNone/>
            </a:pPr>
            <a:r>
              <a:rPr lang="en-US" sz="2600" b="1" dirty="0">
                <a:solidFill>
                  <a:srgbClr val="0B2D55"/>
                </a:solidFill>
                <a:latin typeface="Aptos" pitchFamily="34" charset="0"/>
                <a:ea typeface="Aptos" pitchFamily="34" charset="-122"/>
                <a:cs typeface="Aptos" pitchFamily="34" charset="-120"/>
              </a:rPr>
              <a:t>Same map. Same goal. Different cost. Different “best” path.</a:t>
            </a:r>
            <a:endParaRPr lang="en-US" sz="2600" dirty="0"/>
          </a:p>
        </p:txBody>
      </p:sp>
      <p:sp>
        <p:nvSpPr>
          <p:cNvPr id="23" name="Shape 21"/>
          <p:cNvSpPr/>
          <p:nvPr/>
        </p:nvSpPr>
        <p:spPr>
          <a:xfrm>
            <a:off x="786384" y="58978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24" name="Text 22"/>
          <p:cNvSpPr/>
          <p:nvPr/>
        </p:nvSpPr>
        <p:spPr>
          <a:xfrm>
            <a:off x="832104" y="60258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Real world</a:t>
            </a:r>
            <a:endParaRPr lang="en-US" sz="1050" dirty="0"/>
          </a:p>
        </p:txBody>
      </p:sp>
      <p:sp>
        <p:nvSpPr>
          <p:cNvPr id="25" name="Shape 23"/>
          <p:cNvSpPr/>
          <p:nvPr/>
        </p:nvSpPr>
        <p:spPr>
          <a:xfrm>
            <a:off x="2185416" y="6035040"/>
            <a:ext cx="164592" cy="164592"/>
          </a:xfrm>
          <a:prstGeom prst="chevron">
            <a:avLst/>
          </a:prstGeom>
          <a:solidFill>
            <a:srgbClr val="B8C7D8"/>
          </a:solidFill>
          <a:ln w="12700">
            <a:solidFill>
              <a:srgbClr val="B8C7D8"/>
            </a:solidFill>
            <a:prstDash val="solid"/>
          </a:ln>
        </p:spPr>
        <p:txBody>
          <a:bodyPr/>
          <a:lstStyle/>
          <a:p>
            <a:endParaRPr lang="en-US"/>
          </a:p>
        </p:txBody>
      </p:sp>
      <p:sp>
        <p:nvSpPr>
          <p:cNvPr id="26" name="Shape 24"/>
          <p:cNvSpPr/>
          <p:nvPr/>
        </p:nvSpPr>
        <p:spPr>
          <a:xfrm>
            <a:off x="2450592" y="58978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27" name="Text 25"/>
          <p:cNvSpPr/>
          <p:nvPr/>
        </p:nvSpPr>
        <p:spPr>
          <a:xfrm>
            <a:off x="2496312" y="60258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State</a:t>
            </a:r>
            <a:endParaRPr lang="en-US" sz="1050" dirty="0"/>
          </a:p>
        </p:txBody>
      </p:sp>
      <p:sp>
        <p:nvSpPr>
          <p:cNvPr id="28" name="Shape 26"/>
          <p:cNvSpPr/>
          <p:nvPr/>
        </p:nvSpPr>
        <p:spPr>
          <a:xfrm>
            <a:off x="3849624" y="6035040"/>
            <a:ext cx="164592" cy="164592"/>
          </a:xfrm>
          <a:prstGeom prst="chevron">
            <a:avLst/>
          </a:prstGeom>
          <a:solidFill>
            <a:srgbClr val="B8C7D8"/>
          </a:solidFill>
          <a:ln w="12700">
            <a:solidFill>
              <a:srgbClr val="B8C7D8"/>
            </a:solidFill>
            <a:prstDash val="solid"/>
          </a:ln>
        </p:spPr>
        <p:txBody>
          <a:bodyPr/>
          <a:lstStyle/>
          <a:p>
            <a:endParaRPr lang="en-US"/>
          </a:p>
        </p:txBody>
      </p:sp>
      <p:sp>
        <p:nvSpPr>
          <p:cNvPr id="29" name="Shape 27"/>
          <p:cNvSpPr/>
          <p:nvPr/>
        </p:nvSpPr>
        <p:spPr>
          <a:xfrm>
            <a:off x="4114800" y="58978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30" name="Text 28"/>
          <p:cNvSpPr/>
          <p:nvPr/>
        </p:nvSpPr>
        <p:spPr>
          <a:xfrm>
            <a:off x="4160520" y="60258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Actions</a:t>
            </a:r>
            <a:endParaRPr lang="en-US" sz="1050" dirty="0"/>
          </a:p>
        </p:txBody>
      </p:sp>
      <p:sp>
        <p:nvSpPr>
          <p:cNvPr id="31" name="Shape 29"/>
          <p:cNvSpPr/>
          <p:nvPr/>
        </p:nvSpPr>
        <p:spPr>
          <a:xfrm>
            <a:off x="5513832" y="6035040"/>
            <a:ext cx="164592" cy="164592"/>
          </a:xfrm>
          <a:prstGeom prst="chevron">
            <a:avLst/>
          </a:prstGeom>
          <a:solidFill>
            <a:srgbClr val="B8C7D8"/>
          </a:solidFill>
          <a:ln w="12700">
            <a:solidFill>
              <a:srgbClr val="B8C7D8"/>
            </a:solidFill>
            <a:prstDash val="solid"/>
          </a:ln>
        </p:spPr>
        <p:txBody>
          <a:bodyPr/>
          <a:lstStyle/>
          <a:p>
            <a:endParaRPr lang="en-US"/>
          </a:p>
        </p:txBody>
      </p:sp>
      <p:sp>
        <p:nvSpPr>
          <p:cNvPr id="32" name="Shape 30"/>
          <p:cNvSpPr/>
          <p:nvPr/>
        </p:nvSpPr>
        <p:spPr>
          <a:xfrm>
            <a:off x="5779008" y="58978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33" name="Text 31"/>
          <p:cNvSpPr/>
          <p:nvPr/>
        </p:nvSpPr>
        <p:spPr>
          <a:xfrm>
            <a:off x="5824728" y="60258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Goal</a:t>
            </a:r>
            <a:endParaRPr lang="en-US" sz="1050" dirty="0"/>
          </a:p>
        </p:txBody>
      </p:sp>
      <p:sp>
        <p:nvSpPr>
          <p:cNvPr id="34" name="Shape 32"/>
          <p:cNvSpPr/>
          <p:nvPr/>
        </p:nvSpPr>
        <p:spPr>
          <a:xfrm>
            <a:off x="7178040" y="6035040"/>
            <a:ext cx="164592" cy="164592"/>
          </a:xfrm>
          <a:prstGeom prst="chevron">
            <a:avLst/>
          </a:prstGeom>
          <a:solidFill>
            <a:srgbClr val="B8C7D8"/>
          </a:solidFill>
          <a:ln w="12700">
            <a:solidFill>
              <a:srgbClr val="B8C7D8"/>
            </a:solidFill>
            <a:prstDash val="solid"/>
          </a:ln>
        </p:spPr>
        <p:txBody>
          <a:bodyPr/>
          <a:lstStyle/>
          <a:p>
            <a:endParaRPr lang="en-US"/>
          </a:p>
        </p:txBody>
      </p:sp>
      <p:sp>
        <p:nvSpPr>
          <p:cNvPr id="35" name="Shape 33"/>
          <p:cNvSpPr/>
          <p:nvPr/>
        </p:nvSpPr>
        <p:spPr>
          <a:xfrm>
            <a:off x="7443216" y="5897880"/>
            <a:ext cx="1325880" cy="438912"/>
          </a:xfrm>
          <a:prstGeom prst="roundRect">
            <a:avLst>
              <a:gd name="adj" fmla="val 14583"/>
            </a:avLst>
          </a:prstGeom>
          <a:solidFill>
            <a:srgbClr val="F2C14E"/>
          </a:solidFill>
          <a:ln w="12700">
            <a:solidFill>
              <a:srgbClr val="F2C14E"/>
            </a:solidFill>
            <a:prstDash val="solid"/>
          </a:ln>
        </p:spPr>
        <p:txBody>
          <a:bodyPr/>
          <a:lstStyle/>
          <a:p>
            <a:endParaRPr lang="en-US"/>
          </a:p>
        </p:txBody>
      </p:sp>
      <p:sp>
        <p:nvSpPr>
          <p:cNvPr id="36" name="Text 34"/>
          <p:cNvSpPr/>
          <p:nvPr/>
        </p:nvSpPr>
        <p:spPr>
          <a:xfrm>
            <a:off x="7488936" y="6025896"/>
            <a:ext cx="1234440" cy="164592"/>
          </a:xfrm>
          <a:prstGeom prst="rect">
            <a:avLst/>
          </a:prstGeom>
          <a:noFill/>
          <a:ln/>
        </p:spPr>
        <p:txBody>
          <a:bodyPr wrap="square" lIns="0" tIns="0" rIns="0" bIns="0" rtlCol="0" anchor="ctr">
            <a:normAutofit/>
          </a:bodyPr>
          <a:lstStyle/>
          <a:p>
            <a:pPr marL="0" indent="0" algn="ctr">
              <a:buNone/>
            </a:pPr>
            <a:r>
              <a:rPr lang="en-US" sz="1050" b="1" dirty="0">
                <a:solidFill>
                  <a:srgbClr val="0B2D55"/>
                </a:solidFill>
                <a:latin typeface="Aptos" pitchFamily="34" charset="0"/>
                <a:ea typeface="Aptos" pitchFamily="34" charset="-122"/>
                <a:cs typeface="Aptos" pitchFamily="34" charset="-120"/>
              </a:rPr>
              <a:t>Cost</a:t>
            </a:r>
            <a:endParaRPr lang="en-US" sz="1050" dirty="0"/>
          </a:p>
        </p:txBody>
      </p:sp>
      <p:sp>
        <p:nvSpPr>
          <p:cNvPr id="37" name="Shape 35"/>
          <p:cNvSpPr/>
          <p:nvPr/>
        </p:nvSpPr>
        <p:spPr>
          <a:xfrm>
            <a:off x="8842248" y="6035040"/>
            <a:ext cx="164592" cy="164592"/>
          </a:xfrm>
          <a:prstGeom prst="chevron">
            <a:avLst/>
          </a:prstGeom>
          <a:solidFill>
            <a:srgbClr val="B8C7D8"/>
          </a:solidFill>
          <a:ln w="12700">
            <a:solidFill>
              <a:srgbClr val="B8C7D8"/>
            </a:solidFill>
            <a:prstDash val="solid"/>
          </a:ln>
        </p:spPr>
        <p:txBody>
          <a:bodyPr/>
          <a:lstStyle/>
          <a:p>
            <a:endParaRPr lang="en-US"/>
          </a:p>
        </p:txBody>
      </p:sp>
      <p:sp>
        <p:nvSpPr>
          <p:cNvPr id="38" name="Shape 36"/>
          <p:cNvSpPr/>
          <p:nvPr/>
        </p:nvSpPr>
        <p:spPr>
          <a:xfrm>
            <a:off x="9107424" y="5897880"/>
            <a:ext cx="1325880" cy="438912"/>
          </a:xfrm>
          <a:prstGeom prst="roundRect">
            <a:avLst>
              <a:gd name="adj" fmla="val 14583"/>
            </a:avLst>
          </a:prstGeom>
          <a:solidFill>
            <a:srgbClr val="FFFFFF">
              <a:alpha val="90000"/>
            </a:srgbClr>
          </a:solidFill>
          <a:ln w="12700">
            <a:solidFill>
              <a:srgbClr val="B8C7D8"/>
            </a:solidFill>
            <a:prstDash val="solid"/>
          </a:ln>
        </p:spPr>
        <p:txBody>
          <a:bodyPr/>
          <a:lstStyle/>
          <a:p>
            <a:endParaRPr lang="en-US"/>
          </a:p>
        </p:txBody>
      </p:sp>
      <p:sp>
        <p:nvSpPr>
          <p:cNvPr id="39" name="Text 37"/>
          <p:cNvSpPr/>
          <p:nvPr/>
        </p:nvSpPr>
        <p:spPr>
          <a:xfrm>
            <a:off x="9153144" y="6025896"/>
            <a:ext cx="1234440" cy="164592"/>
          </a:xfrm>
          <a:prstGeom prst="rect">
            <a:avLst/>
          </a:prstGeom>
          <a:noFill/>
          <a:ln/>
        </p:spPr>
        <p:txBody>
          <a:bodyPr wrap="square" lIns="0" tIns="0" rIns="0" bIns="0" rtlCol="0" anchor="ctr">
            <a:normAutofit/>
          </a:bodyPr>
          <a:lstStyle/>
          <a:p>
            <a:pPr marL="0" indent="0" algn="ctr">
              <a:buNone/>
            </a:pPr>
            <a:r>
              <a:rPr lang="en-US" sz="1050" dirty="0">
                <a:solidFill>
                  <a:srgbClr val="6D7C8F"/>
                </a:solidFill>
                <a:latin typeface="Aptos" pitchFamily="34" charset="0"/>
                <a:ea typeface="Aptos" pitchFamily="34" charset="-122"/>
                <a:cs typeface="Aptos" pitchFamily="34" charset="-120"/>
              </a:rPr>
              <a:t>Search</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Complete rover formulation</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Now assemble the pieces into one coherent search problem.</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12</a:t>
            </a:r>
            <a:endParaRPr lang="en-US" sz="850" dirty="0"/>
          </a:p>
        </p:txBody>
      </p:sp>
      <p:sp>
        <p:nvSpPr>
          <p:cNvPr id="6" name="Shape 4"/>
          <p:cNvSpPr/>
          <p:nvPr/>
        </p:nvSpPr>
        <p:spPr>
          <a:xfrm>
            <a:off x="914400" y="1508760"/>
            <a:ext cx="10332720" cy="749808"/>
          </a:xfrm>
          <a:prstGeom prst="roundRect">
            <a:avLst>
              <a:gd name="adj" fmla="val 9756"/>
            </a:avLst>
          </a:prstGeom>
          <a:solidFill>
            <a:srgbClr val="F4F8FC"/>
          </a:solidFill>
          <a:ln w="12700">
            <a:solidFill>
              <a:srgbClr val="B8C7D8"/>
            </a:solidFill>
            <a:prstDash val="solid"/>
          </a:ln>
        </p:spPr>
        <p:txBody>
          <a:bodyPr/>
          <a:lstStyle/>
          <a:p>
            <a:endParaRPr lang="en-US"/>
          </a:p>
        </p:txBody>
      </p:sp>
      <p:sp>
        <p:nvSpPr>
          <p:cNvPr id="7" name="Text 5"/>
          <p:cNvSpPr/>
          <p:nvPr/>
        </p:nvSpPr>
        <p:spPr>
          <a:xfrm>
            <a:off x="1143000" y="1709928"/>
            <a:ext cx="1645920" cy="274320"/>
          </a:xfrm>
          <a:prstGeom prst="rect">
            <a:avLst/>
          </a:prstGeom>
          <a:noFill/>
          <a:ln/>
        </p:spPr>
        <p:txBody>
          <a:bodyPr wrap="square" lIns="0" tIns="0" rIns="0" bIns="0" rtlCol="0" anchor="ctr">
            <a:normAutofit/>
          </a:bodyPr>
          <a:lstStyle/>
          <a:p>
            <a:pPr marL="0" indent="0">
              <a:buNone/>
            </a:pPr>
            <a:r>
              <a:rPr lang="en-US" sz="1800" b="1" dirty="0">
                <a:solidFill>
                  <a:srgbClr val="0B2D55"/>
                </a:solidFill>
                <a:latin typeface="Aptos" pitchFamily="34" charset="0"/>
                <a:ea typeface="Aptos" pitchFamily="34" charset="-122"/>
                <a:cs typeface="Aptos" pitchFamily="34" charset="-120"/>
              </a:rPr>
              <a:t>State</a:t>
            </a:r>
            <a:endParaRPr lang="en-US" sz="1800" dirty="0"/>
          </a:p>
        </p:txBody>
      </p:sp>
      <p:sp>
        <p:nvSpPr>
          <p:cNvPr id="8" name="Text 6"/>
          <p:cNvSpPr/>
          <p:nvPr/>
        </p:nvSpPr>
        <p:spPr>
          <a:xfrm>
            <a:off x="2971800" y="1709928"/>
            <a:ext cx="7863840" cy="274320"/>
          </a:xfrm>
          <a:prstGeom prst="rect">
            <a:avLst/>
          </a:prstGeom>
          <a:noFill/>
          <a:ln/>
        </p:spPr>
        <p:txBody>
          <a:bodyPr wrap="square" lIns="0" tIns="0" rIns="0" bIns="0" rtlCol="0" anchor="ctr">
            <a:normAutofit/>
          </a:bodyPr>
          <a:lstStyle/>
          <a:p>
            <a:pPr marL="0" indent="0">
              <a:buNone/>
            </a:pPr>
            <a:r>
              <a:rPr lang="en-US" sz="1800" dirty="0">
                <a:solidFill>
                  <a:srgbClr val="132033"/>
                </a:solidFill>
                <a:latin typeface="Aptos" pitchFamily="34" charset="0"/>
                <a:ea typeface="Aptos" pitchFamily="34" charset="-122"/>
                <a:cs typeface="Aptos" pitchFamily="34" charset="-120"/>
              </a:rPr>
              <a:t>(location, samples collected, battery category)</a:t>
            </a:r>
            <a:endParaRPr lang="en-US" sz="1800" dirty="0"/>
          </a:p>
        </p:txBody>
      </p:sp>
      <p:sp>
        <p:nvSpPr>
          <p:cNvPr id="9" name="Shape 7"/>
          <p:cNvSpPr/>
          <p:nvPr/>
        </p:nvSpPr>
        <p:spPr>
          <a:xfrm>
            <a:off x="914400" y="2468880"/>
            <a:ext cx="10332720" cy="749808"/>
          </a:xfrm>
          <a:prstGeom prst="roundRect">
            <a:avLst>
              <a:gd name="adj" fmla="val 9756"/>
            </a:avLst>
          </a:prstGeom>
          <a:solidFill>
            <a:srgbClr val="FFFFFF"/>
          </a:solidFill>
          <a:ln w="12700">
            <a:solidFill>
              <a:srgbClr val="B8C7D8"/>
            </a:solidFill>
            <a:prstDash val="solid"/>
          </a:ln>
        </p:spPr>
        <p:txBody>
          <a:bodyPr/>
          <a:lstStyle/>
          <a:p>
            <a:endParaRPr lang="en-US"/>
          </a:p>
        </p:txBody>
      </p:sp>
      <p:sp>
        <p:nvSpPr>
          <p:cNvPr id="10" name="Text 8"/>
          <p:cNvSpPr/>
          <p:nvPr/>
        </p:nvSpPr>
        <p:spPr>
          <a:xfrm>
            <a:off x="1143000" y="2670048"/>
            <a:ext cx="1645920" cy="274320"/>
          </a:xfrm>
          <a:prstGeom prst="rect">
            <a:avLst/>
          </a:prstGeom>
          <a:noFill/>
          <a:ln/>
        </p:spPr>
        <p:txBody>
          <a:bodyPr wrap="square" lIns="0" tIns="0" rIns="0" bIns="0" rtlCol="0" anchor="ctr">
            <a:normAutofit/>
          </a:bodyPr>
          <a:lstStyle/>
          <a:p>
            <a:pPr marL="0" indent="0">
              <a:buNone/>
            </a:pPr>
            <a:r>
              <a:rPr lang="en-US" sz="1800" b="1" dirty="0">
                <a:solidFill>
                  <a:srgbClr val="0B2D55"/>
                </a:solidFill>
                <a:latin typeface="Aptos" pitchFamily="34" charset="0"/>
                <a:ea typeface="Aptos" pitchFamily="34" charset="-122"/>
                <a:cs typeface="Aptos" pitchFamily="34" charset="-120"/>
              </a:rPr>
              <a:t>Actions</a:t>
            </a:r>
            <a:endParaRPr lang="en-US" sz="1800" dirty="0"/>
          </a:p>
        </p:txBody>
      </p:sp>
      <p:sp>
        <p:nvSpPr>
          <p:cNvPr id="11" name="Text 9"/>
          <p:cNvSpPr/>
          <p:nvPr/>
        </p:nvSpPr>
        <p:spPr>
          <a:xfrm>
            <a:off x="2971800" y="2670048"/>
            <a:ext cx="7863840" cy="274320"/>
          </a:xfrm>
          <a:prstGeom prst="rect">
            <a:avLst/>
          </a:prstGeom>
          <a:noFill/>
          <a:ln/>
        </p:spPr>
        <p:txBody>
          <a:bodyPr wrap="square" lIns="0" tIns="0" rIns="0" bIns="0" rtlCol="0" anchor="ctr">
            <a:normAutofit/>
          </a:bodyPr>
          <a:lstStyle/>
          <a:p>
            <a:pPr marL="0" indent="0">
              <a:buNone/>
            </a:pPr>
            <a:r>
              <a:rPr lang="en-US" sz="1800" dirty="0">
                <a:solidFill>
                  <a:srgbClr val="132033"/>
                </a:solidFill>
                <a:latin typeface="Aptos" pitchFamily="34" charset="0"/>
                <a:ea typeface="Aptos" pitchFamily="34" charset="-122"/>
                <a:cs typeface="Aptos" pitchFamily="34" charset="-120"/>
              </a:rPr>
              <a:t>move, collect sample, recharge, return</a:t>
            </a:r>
            <a:endParaRPr lang="en-US" sz="1800" dirty="0"/>
          </a:p>
        </p:txBody>
      </p:sp>
      <p:sp>
        <p:nvSpPr>
          <p:cNvPr id="12" name="Shape 10"/>
          <p:cNvSpPr/>
          <p:nvPr/>
        </p:nvSpPr>
        <p:spPr>
          <a:xfrm>
            <a:off x="914400" y="3429000"/>
            <a:ext cx="10332720" cy="749808"/>
          </a:xfrm>
          <a:prstGeom prst="roundRect">
            <a:avLst>
              <a:gd name="adj" fmla="val 9756"/>
            </a:avLst>
          </a:prstGeom>
          <a:solidFill>
            <a:srgbClr val="F4F8FC"/>
          </a:solidFill>
          <a:ln w="12700">
            <a:solidFill>
              <a:srgbClr val="B8C7D8"/>
            </a:solidFill>
            <a:prstDash val="solid"/>
          </a:ln>
        </p:spPr>
        <p:txBody>
          <a:bodyPr/>
          <a:lstStyle/>
          <a:p>
            <a:endParaRPr lang="en-US"/>
          </a:p>
        </p:txBody>
      </p:sp>
      <p:sp>
        <p:nvSpPr>
          <p:cNvPr id="13" name="Text 11"/>
          <p:cNvSpPr/>
          <p:nvPr/>
        </p:nvSpPr>
        <p:spPr>
          <a:xfrm>
            <a:off x="1143000" y="3630168"/>
            <a:ext cx="1645920" cy="274320"/>
          </a:xfrm>
          <a:prstGeom prst="rect">
            <a:avLst/>
          </a:prstGeom>
          <a:noFill/>
          <a:ln/>
        </p:spPr>
        <p:txBody>
          <a:bodyPr wrap="square" lIns="0" tIns="0" rIns="0" bIns="0" rtlCol="0" anchor="ctr">
            <a:normAutofit/>
          </a:bodyPr>
          <a:lstStyle/>
          <a:p>
            <a:pPr marL="0" indent="0">
              <a:buNone/>
            </a:pPr>
            <a:r>
              <a:rPr lang="en-US" sz="1800" b="1" dirty="0">
                <a:solidFill>
                  <a:srgbClr val="0B2D55"/>
                </a:solidFill>
                <a:latin typeface="Aptos" pitchFamily="34" charset="0"/>
                <a:ea typeface="Aptos" pitchFamily="34" charset="-122"/>
                <a:cs typeface="Aptos" pitchFamily="34" charset="-120"/>
              </a:rPr>
              <a:t>Goal test</a:t>
            </a:r>
            <a:endParaRPr lang="en-US" sz="1800" dirty="0"/>
          </a:p>
        </p:txBody>
      </p:sp>
      <p:sp>
        <p:nvSpPr>
          <p:cNvPr id="14" name="Text 12"/>
          <p:cNvSpPr/>
          <p:nvPr/>
        </p:nvSpPr>
        <p:spPr>
          <a:xfrm>
            <a:off x="2971800" y="3630168"/>
            <a:ext cx="7863840" cy="274320"/>
          </a:xfrm>
          <a:prstGeom prst="rect">
            <a:avLst/>
          </a:prstGeom>
          <a:noFill/>
          <a:ln/>
        </p:spPr>
        <p:txBody>
          <a:bodyPr wrap="square" lIns="0" tIns="0" rIns="0" bIns="0" rtlCol="0" anchor="ctr">
            <a:normAutofit/>
          </a:bodyPr>
          <a:lstStyle/>
          <a:p>
            <a:pPr marL="0" indent="0">
              <a:buNone/>
            </a:pPr>
            <a:r>
              <a:rPr lang="en-US" sz="1800" dirty="0">
                <a:solidFill>
                  <a:srgbClr val="132033"/>
                </a:solidFill>
                <a:latin typeface="Aptos" pitchFamily="34" charset="0"/>
                <a:ea typeface="Aptos" pitchFamily="34" charset="-122"/>
                <a:cs typeface="Aptos" pitchFamily="34" charset="-120"/>
              </a:rPr>
              <a:t>both samples collected AND rover at lander</a:t>
            </a:r>
            <a:endParaRPr lang="en-US" sz="1800" dirty="0"/>
          </a:p>
        </p:txBody>
      </p:sp>
      <p:sp>
        <p:nvSpPr>
          <p:cNvPr id="15" name="Shape 13"/>
          <p:cNvSpPr/>
          <p:nvPr/>
        </p:nvSpPr>
        <p:spPr>
          <a:xfrm>
            <a:off x="914400" y="4389120"/>
            <a:ext cx="10332720" cy="749808"/>
          </a:xfrm>
          <a:prstGeom prst="roundRect">
            <a:avLst>
              <a:gd name="adj" fmla="val 9756"/>
            </a:avLst>
          </a:prstGeom>
          <a:solidFill>
            <a:srgbClr val="FFFFFF"/>
          </a:solidFill>
          <a:ln w="12700">
            <a:solidFill>
              <a:srgbClr val="B8C7D8"/>
            </a:solidFill>
            <a:prstDash val="solid"/>
          </a:ln>
        </p:spPr>
        <p:txBody>
          <a:bodyPr/>
          <a:lstStyle/>
          <a:p>
            <a:endParaRPr lang="en-US"/>
          </a:p>
        </p:txBody>
      </p:sp>
      <p:sp>
        <p:nvSpPr>
          <p:cNvPr id="16" name="Text 14"/>
          <p:cNvSpPr/>
          <p:nvPr/>
        </p:nvSpPr>
        <p:spPr>
          <a:xfrm>
            <a:off x="1143000" y="4590288"/>
            <a:ext cx="1645920" cy="274320"/>
          </a:xfrm>
          <a:prstGeom prst="rect">
            <a:avLst/>
          </a:prstGeom>
          <a:noFill/>
          <a:ln/>
        </p:spPr>
        <p:txBody>
          <a:bodyPr wrap="square" lIns="0" tIns="0" rIns="0" bIns="0" rtlCol="0" anchor="ctr">
            <a:normAutofit/>
          </a:bodyPr>
          <a:lstStyle/>
          <a:p>
            <a:pPr marL="0" indent="0">
              <a:buNone/>
            </a:pPr>
            <a:r>
              <a:rPr lang="en-US" sz="1800" b="1" dirty="0">
                <a:solidFill>
                  <a:srgbClr val="0B2D55"/>
                </a:solidFill>
                <a:latin typeface="Aptos" pitchFamily="34" charset="0"/>
                <a:ea typeface="Aptos" pitchFamily="34" charset="-122"/>
                <a:cs typeface="Aptos" pitchFamily="34" charset="-120"/>
              </a:rPr>
              <a:t>Path cost</a:t>
            </a:r>
            <a:endParaRPr lang="en-US" sz="1800" dirty="0"/>
          </a:p>
        </p:txBody>
      </p:sp>
      <p:sp>
        <p:nvSpPr>
          <p:cNvPr id="17" name="Text 15"/>
          <p:cNvSpPr/>
          <p:nvPr/>
        </p:nvSpPr>
        <p:spPr>
          <a:xfrm>
            <a:off x="2971800" y="4590288"/>
            <a:ext cx="7863840" cy="274320"/>
          </a:xfrm>
          <a:prstGeom prst="rect">
            <a:avLst/>
          </a:prstGeom>
          <a:noFill/>
          <a:ln/>
        </p:spPr>
        <p:txBody>
          <a:bodyPr wrap="square" lIns="0" tIns="0" rIns="0" bIns="0" rtlCol="0" anchor="ctr">
            <a:normAutofit/>
          </a:bodyPr>
          <a:lstStyle/>
          <a:p>
            <a:pPr marL="0" indent="0">
              <a:buNone/>
            </a:pPr>
            <a:r>
              <a:rPr lang="en-US" sz="1800" dirty="0">
                <a:solidFill>
                  <a:srgbClr val="132033"/>
                </a:solidFill>
                <a:latin typeface="Aptos" pitchFamily="34" charset="0"/>
                <a:ea typeface="Aptos" pitchFamily="34" charset="-122"/>
                <a:cs typeface="Aptos" pitchFamily="34" charset="-120"/>
              </a:rPr>
              <a:t>total energy used, with hazard penalties</a:t>
            </a:r>
            <a:endParaRPr lang="en-US" sz="1800" dirty="0"/>
          </a:p>
        </p:txBody>
      </p:sp>
      <p:sp>
        <p:nvSpPr>
          <p:cNvPr id="18" name="Text 16"/>
          <p:cNvSpPr/>
          <p:nvPr/>
        </p:nvSpPr>
        <p:spPr>
          <a:xfrm>
            <a:off x="960120" y="5577840"/>
            <a:ext cx="10149840" cy="365760"/>
          </a:xfrm>
          <a:prstGeom prst="rect">
            <a:avLst/>
          </a:prstGeom>
          <a:noFill/>
          <a:ln/>
        </p:spPr>
        <p:txBody>
          <a:bodyPr wrap="square" lIns="0" tIns="0" rIns="0" bIns="0" rtlCol="0" anchor="ctr">
            <a:normAutofit/>
          </a:bodyPr>
          <a:lstStyle/>
          <a:p>
            <a:pPr marL="0" indent="0" algn="ctr">
              <a:buNone/>
            </a:pPr>
            <a:r>
              <a:rPr lang="en-US" sz="1800" b="1" dirty="0">
                <a:solidFill>
                  <a:srgbClr val="1D5FA7"/>
                </a:solidFill>
                <a:latin typeface="Aptos" pitchFamily="34" charset="0"/>
                <a:ea typeface="Aptos" pitchFamily="34" charset="-122"/>
                <a:cs typeface="Aptos" pitchFamily="34" charset="-120"/>
              </a:rPr>
              <a:t>This template is reusable across route planning, robotics, cyber response, scheduling, and games.</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Representation changes the state space</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More expressive representations create more possible states.</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13</a:t>
            </a:r>
            <a:endParaRPr lang="en-US" sz="850" dirty="0"/>
          </a:p>
        </p:txBody>
      </p:sp>
      <p:sp>
        <p:nvSpPr>
          <p:cNvPr id="6" name="Shape 4"/>
          <p:cNvSpPr/>
          <p:nvPr/>
        </p:nvSpPr>
        <p:spPr>
          <a:xfrm>
            <a:off x="914400" y="1645920"/>
            <a:ext cx="4206240" cy="822960"/>
          </a:xfrm>
          <a:prstGeom prst="roundRect">
            <a:avLst>
              <a:gd name="adj" fmla="val 8889"/>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7" name="Shape 5"/>
          <p:cNvSpPr/>
          <p:nvPr/>
        </p:nvSpPr>
        <p:spPr>
          <a:xfrm>
            <a:off x="914400" y="1645920"/>
            <a:ext cx="73152" cy="822960"/>
          </a:xfrm>
          <a:prstGeom prst="rect">
            <a:avLst/>
          </a:prstGeom>
          <a:solidFill>
            <a:srgbClr val="D94E4E"/>
          </a:solidFill>
          <a:ln w="12700">
            <a:solidFill>
              <a:srgbClr val="D94E4E"/>
            </a:solidFill>
            <a:prstDash val="solid"/>
          </a:ln>
        </p:spPr>
        <p:txBody>
          <a:bodyPr/>
          <a:lstStyle/>
          <a:p>
            <a:endParaRPr lang="en-US"/>
          </a:p>
        </p:txBody>
      </p:sp>
      <p:sp>
        <p:nvSpPr>
          <p:cNvPr id="8" name="Text 6"/>
          <p:cNvSpPr/>
          <p:nvPr/>
        </p:nvSpPr>
        <p:spPr>
          <a:xfrm>
            <a:off x="1097280" y="1792224"/>
            <a:ext cx="388620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Location only</a:t>
            </a:r>
            <a:endParaRPr lang="en-US" sz="1500" dirty="0"/>
          </a:p>
        </p:txBody>
      </p:sp>
      <p:sp>
        <p:nvSpPr>
          <p:cNvPr id="9" name="Text 7"/>
          <p:cNvSpPr/>
          <p:nvPr/>
        </p:nvSpPr>
        <p:spPr>
          <a:xfrm>
            <a:off x="1097280" y="2130552"/>
            <a:ext cx="3886200" cy="228600"/>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6 locations</a:t>
            </a:r>
            <a:endParaRPr lang="en-US" sz="1350" dirty="0"/>
          </a:p>
          <a:p>
            <a:pPr marL="0" indent="0">
              <a:buNone/>
            </a:pPr>
            <a:r>
              <a:rPr lang="en-US" sz="1350" dirty="0">
                <a:solidFill>
                  <a:srgbClr val="132033"/>
                </a:solidFill>
                <a:latin typeface="Aptos" pitchFamily="34" charset="0"/>
                <a:ea typeface="Aptos" pitchFamily="34" charset="-122"/>
                <a:cs typeface="Aptos" pitchFamily="34" charset="-120"/>
              </a:rPr>
              <a:t>6 states</a:t>
            </a:r>
            <a:endParaRPr lang="en-US" sz="1350" dirty="0"/>
          </a:p>
        </p:txBody>
      </p:sp>
      <p:sp>
        <p:nvSpPr>
          <p:cNvPr id="10" name="Shape 8"/>
          <p:cNvSpPr/>
          <p:nvPr/>
        </p:nvSpPr>
        <p:spPr>
          <a:xfrm>
            <a:off x="914400" y="2788920"/>
            <a:ext cx="4206240" cy="822960"/>
          </a:xfrm>
          <a:prstGeom prst="roundRect">
            <a:avLst>
              <a:gd name="adj" fmla="val 8889"/>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1" name="Shape 9"/>
          <p:cNvSpPr/>
          <p:nvPr/>
        </p:nvSpPr>
        <p:spPr>
          <a:xfrm>
            <a:off x="914400" y="2788920"/>
            <a:ext cx="73152" cy="822960"/>
          </a:xfrm>
          <a:prstGeom prst="rect">
            <a:avLst/>
          </a:prstGeom>
          <a:solidFill>
            <a:srgbClr val="F2C14E"/>
          </a:solidFill>
          <a:ln w="12700">
            <a:solidFill>
              <a:srgbClr val="F2C14E"/>
            </a:solidFill>
            <a:prstDash val="solid"/>
          </a:ln>
        </p:spPr>
        <p:txBody>
          <a:bodyPr/>
          <a:lstStyle/>
          <a:p>
            <a:endParaRPr lang="en-US"/>
          </a:p>
        </p:txBody>
      </p:sp>
      <p:sp>
        <p:nvSpPr>
          <p:cNvPr id="12" name="Text 10"/>
          <p:cNvSpPr/>
          <p:nvPr/>
        </p:nvSpPr>
        <p:spPr>
          <a:xfrm>
            <a:off x="1097280" y="2935224"/>
            <a:ext cx="388620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Add samples</a:t>
            </a:r>
            <a:endParaRPr lang="en-US" sz="1500" dirty="0"/>
          </a:p>
        </p:txBody>
      </p:sp>
      <p:sp>
        <p:nvSpPr>
          <p:cNvPr id="13" name="Text 11"/>
          <p:cNvSpPr/>
          <p:nvPr/>
        </p:nvSpPr>
        <p:spPr>
          <a:xfrm>
            <a:off x="1097280" y="3273552"/>
            <a:ext cx="3886200" cy="228600"/>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6 × 4 sample statuses</a:t>
            </a:r>
            <a:endParaRPr lang="en-US" sz="1350" dirty="0"/>
          </a:p>
          <a:p>
            <a:pPr marL="0" indent="0">
              <a:buNone/>
            </a:pPr>
            <a:r>
              <a:rPr lang="en-US" sz="1350" dirty="0">
                <a:solidFill>
                  <a:srgbClr val="132033"/>
                </a:solidFill>
                <a:latin typeface="Aptos" pitchFamily="34" charset="0"/>
                <a:ea typeface="Aptos" pitchFamily="34" charset="-122"/>
                <a:cs typeface="Aptos" pitchFamily="34" charset="-120"/>
              </a:rPr>
              <a:t>24 states</a:t>
            </a:r>
            <a:endParaRPr lang="en-US" sz="1350" dirty="0"/>
          </a:p>
        </p:txBody>
      </p:sp>
      <p:sp>
        <p:nvSpPr>
          <p:cNvPr id="14" name="Shape 12"/>
          <p:cNvSpPr/>
          <p:nvPr/>
        </p:nvSpPr>
        <p:spPr>
          <a:xfrm>
            <a:off x="914400" y="3931920"/>
            <a:ext cx="4206240" cy="822960"/>
          </a:xfrm>
          <a:prstGeom prst="roundRect">
            <a:avLst>
              <a:gd name="adj" fmla="val 8889"/>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5" name="Shape 13"/>
          <p:cNvSpPr/>
          <p:nvPr/>
        </p:nvSpPr>
        <p:spPr>
          <a:xfrm>
            <a:off x="914400" y="3931920"/>
            <a:ext cx="73152" cy="822960"/>
          </a:xfrm>
          <a:prstGeom prst="rect">
            <a:avLst/>
          </a:prstGeom>
          <a:solidFill>
            <a:srgbClr val="39A875"/>
          </a:solidFill>
          <a:ln w="12700">
            <a:solidFill>
              <a:srgbClr val="39A875"/>
            </a:solidFill>
            <a:prstDash val="solid"/>
          </a:ln>
        </p:spPr>
        <p:txBody>
          <a:bodyPr/>
          <a:lstStyle/>
          <a:p>
            <a:endParaRPr lang="en-US"/>
          </a:p>
        </p:txBody>
      </p:sp>
      <p:sp>
        <p:nvSpPr>
          <p:cNvPr id="16" name="Text 14"/>
          <p:cNvSpPr/>
          <p:nvPr/>
        </p:nvSpPr>
        <p:spPr>
          <a:xfrm>
            <a:off x="1097280" y="4078224"/>
            <a:ext cx="388620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Add battery</a:t>
            </a:r>
            <a:endParaRPr lang="en-US" sz="1500" dirty="0"/>
          </a:p>
        </p:txBody>
      </p:sp>
      <p:sp>
        <p:nvSpPr>
          <p:cNvPr id="17" name="Text 15"/>
          <p:cNvSpPr/>
          <p:nvPr/>
        </p:nvSpPr>
        <p:spPr>
          <a:xfrm>
            <a:off x="1097280" y="4416552"/>
            <a:ext cx="3886200" cy="228600"/>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6 × 4 × 3 battery categories</a:t>
            </a:r>
            <a:endParaRPr lang="en-US" sz="1350" dirty="0"/>
          </a:p>
          <a:p>
            <a:pPr marL="0" indent="0">
              <a:buNone/>
            </a:pPr>
            <a:r>
              <a:rPr lang="en-US" sz="1350" dirty="0">
                <a:solidFill>
                  <a:srgbClr val="132033"/>
                </a:solidFill>
                <a:latin typeface="Aptos" pitchFamily="34" charset="0"/>
                <a:ea typeface="Aptos" pitchFamily="34" charset="-122"/>
                <a:cs typeface="Aptos" pitchFamily="34" charset="-120"/>
              </a:rPr>
              <a:t>72 states</a:t>
            </a:r>
            <a:endParaRPr lang="en-US" sz="1350" dirty="0"/>
          </a:p>
        </p:txBody>
      </p:sp>
      <p:sp>
        <p:nvSpPr>
          <p:cNvPr id="18" name="Shape 16"/>
          <p:cNvSpPr/>
          <p:nvPr/>
        </p:nvSpPr>
        <p:spPr>
          <a:xfrm>
            <a:off x="5440680" y="2926080"/>
            <a:ext cx="1097280" cy="0"/>
          </a:xfrm>
          <a:prstGeom prst="line">
            <a:avLst/>
          </a:prstGeom>
          <a:noFill/>
          <a:ln w="25400">
            <a:solidFill>
              <a:srgbClr val="1D5FA7"/>
            </a:solidFill>
            <a:prstDash val="solid"/>
            <a:headEnd type="none"/>
            <a:tailEnd type="triangle"/>
          </a:ln>
        </p:spPr>
        <p:txBody>
          <a:bodyPr/>
          <a:lstStyle/>
          <a:p>
            <a:endParaRPr lang="en-US"/>
          </a:p>
        </p:txBody>
      </p:sp>
      <p:sp>
        <p:nvSpPr>
          <p:cNvPr id="19" name="Shape 17"/>
          <p:cNvSpPr/>
          <p:nvPr/>
        </p:nvSpPr>
        <p:spPr>
          <a:xfrm>
            <a:off x="6720840" y="1965960"/>
            <a:ext cx="4069080" cy="2057400"/>
          </a:xfrm>
          <a:prstGeom prst="roundRect">
            <a:avLst>
              <a:gd name="adj" fmla="val 3556"/>
            </a:avLst>
          </a:prstGeom>
          <a:solidFill>
            <a:srgbClr val="DCEEFF"/>
          </a:solidFill>
          <a:ln w="12700">
            <a:solidFill>
              <a:srgbClr val="1D5FA7"/>
            </a:solidFill>
            <a:prstDash val="solid"/>
          </a:ln>
          <a:effectLst>
            <a:outerShdw blurRad="12700" dist="50800" dir="2700000" algn="bl" rotWithShape="0">
              <a:srgbClr val="D4DEE8">
                <a:alpha val="25000"/>
              </a:srgbClr>
            </a:outerShdw>
          </a:effectLst>
        </p:spPr>
        <p:txBody>
          <a:bodyPr/>
          <a:lstStyle/>
          <a:p>
            <a:endParaRPr lang="en-US"/>
          </a:p>
        </p:txBody>
      </p:sp>
      <p:sp>
        <p:nvSpPr>
          <p:cNvPr id="20" name="Text 18"/>
          <p:cNvSpPr/>
          <p:nvPr/>
        </p:nvSpPr>
        <p:spPr>
          <a:xfrm>
            <a:off x="6995160" y="2331720"/>
            <a:ext cx="3520440" cy="347472"/>
          </a:xfrm>
          <a:prstGeom prst="rect">
            <a:avLst/>
          </a:prstGeom>
          <a:noFill/>
          <a:ln/>
        </p:spPr>
        <p:txBody>
          <a:bodyPr wrap="square" lIns="0" tIns="0" rIns="0" bIns="0" rtlCol="0" anchor="ctr">
            <a:normAutofit/>
          </a:bodyPr>
          <a:lstStyle/>
          <a:p>
            <a:pPr marL="0" indent="0" algn="ctr">
              <a:buNone/>
            </a:pPr>
            <a:r>
              <a:rPr lang="en-US" sz="2400" b="1" dirty="0">
                <a:solidFill>
                  <a:srgbClr val="0B2D55"/>
                </a:solidFill>
                <a:latin typeface="Aptos" pitchFamily="34" charset="0"/>
                <a:ea typeface="Aptos" pitchFamily="34" charset="-122"/>
                <a:cs typeface="Aptos" pitchFamily="34" charset="-120"/>
              </a:rPr>
              <a:t>Bigger is not always worse.</a:t>
            </a:r>
            <a:endParaRPr lang="en-US" sz="2400" dirty="0"/>
          </a:p>
        </p:txBody>
      </p:sp>
      <p:sp>
        <p:nvSpPr>
          <p:cNvPr id="21" name="Text 19"/>
          <p:cNvSpPr/>
          <p:nvPr/>
        </p:nvSpPr>
        <p:spPr>
          <a:xfrm>
            <a:off x="6995160" y="2926080"/>
            <a:ext cx="3520440" cy="640080"/>
          </a:xfrm>
          <a:prstGeom prst="rect">
            <a:avLst/>
          </a:prstGeom>
          <a:noFill/>
          <a:ln/>
        </p:spPr>
        <p:txBody>
          <a:bodyPr wrap="square" lIns="0" tIns="0" rIns="0" bIns="0" rtlCol="0" anchor="ctr">
            <a:normAutofit/>
          </a:bodyPr>
          <a:lstStyle/>
          <a:p>
            <a:pPr marL="0" indent="0" algn="ctr">
              <a:buNone/>
            </a:pPr>
            <a:r>
              <a:rPr lang="en-US" sz="1700" dirty="0">
                <a:solidFill>
                  <a:srgbClr val="132033"/>
                </a:solidFill>
                <a:latin typeface="Aptos" pitchFamily="34" charset="0"/>
                <a:ea typeface="Aptos" pitchFamily="34" charset="-122"/>
                <a:cs typeface="Aptos" pitchFamily="34" charset="-120"/>
              </a:rPr>
              <a:t>The question is whether the added state detail supports correct decisions.</a:t>
            </a:r>
            <a:endParaRPr lang="en-US" sz="1700" dirty="0"/>
          </a:p>
        </p:txBody>
      </p:sp>
      <p:sp>
        <p:nvSpPr>
          <p:cNvPr id="22" name="Text 20"/>
          <p:cNvSpPr/>
          <p:nvPr/>
        </p:nvSpPr>
        <p:spPr>
          <a:xfrm>
            <a:off x="960120" y="5212080"/>
            <a:ext cx="10149840" cy="411480"/>
          </a:xfrm>
          <a:prstGeom prst="rect">
            <a:avLst/>
          </a:prstGeom>
          <a:noFill/>
          <a:ln/>
        </p:spPr>
        <p:txBody>
          <a:bodyPr wrap="square" lIns="0" tIns="0" rIns="0" bIns="0" rtlCol="0" anchor="ctr">
            <a:normAutofit/>
          </a:bodyPr>
          <a:lstStyle/>
          <a:p>
            <a:pPr marL="0" indent="0" algn="ctr">
              <a:buNone/>
            </a:pPr>
            <a:r>
              <a:rPr lang="en-US" sz="2100" b="1" dirty="0">
                <a:solidFill>
                  <a:srgbClr val="0B2D55"/>
                </a:solidFill>
                <a:latin typeface="Aptos" pitchFamily="34" charset="0"/>
                <a:ea typeface="Aptos" pitchFamily="34" charset="-122"/>
                <a:cs typeface="Aptos" pitchFamily="34" charset="-120"/>
              </a:rPr>
              <a:t>Richer models may be necessary, but unnecessary detail increases search difficulty.</a:t>
            </a: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The representation tradeoff</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Good abstraction preserves what matters and removes what does not.</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14</a:t>
            </a:r>
            <a:endParaRPr lang="en-US" sz="850" dirty="0"/>
          </a:p>
        </p:txBody>
      </p:sp>
      <p:sp>
        <p:nvSpPr>
          <p:cNvPr id="6" name="Text 4"/>
          <p:cNvSpPr/>
          <p:nvPr/>
        </p:nvSpPr>
        <p:spPr>
          <a:xfrm>
            <a:off x="914400" y="1828800"/>
            <a:ext cx="2377440" cy="320040"/>
          </a:xfrm>
          <a:prstGeom prst="rect">
            <a:avLst/>
          </a:prstGeom>
          <a:noFill/>
          <a:ln/>
        </p:spPr>
        <p:txBody>
          <a:bodyPr wrap="square" lIns="0" tIns="0" rIns="0" bIns="0" rtlCol="0" anchor="ctr">
            <a:normAutofit/>
          </a:bodyPr>
          <a:lstStyle/>
          <a:p>
            <a:pPr marL="0" indent="0" algn="ctr">
              <a:buNone/>
            </a:pPr>
            <a:r>
              <a:rPr lang="en-US" sz="2400" b="1" dirty="0">
                <a:solidFill>
                  <a:srgbClr val="D94E4E"/>
                </a:solidFill>
                <a:latin typeface="Aptos" pitchFamily="34" charset="0"/>
                <a:ea typeface="Aptos" pitchFamily="34" charset="-122"/>
                <a:cs typeface="Aptos" pitchFamily="34" charset="-120"/>
              </a:rPr>
              <a:t>Too simple</a:t>
            </a:r>
            <a:endParaRPr lang="en-US" sz="2400" dirty="0"/>
          </a:p>
        </p:txBody>
      </p:sp>
      <p:sp>
        <p:nvSpPr>
          <p:cNvPr id="7" name="Text 5"/>
          <p:cNvSpPr/>
          <p:nvPr/>
        </p:nvSpPr>
        <p:spPr>
          <a:xfrm>
            <a:off x="731520" y="2286000"/>
            <a:ext cx="2743200" cy="457200"/>
          </a:xfrm>
          <a:prstGeom prst="rect">
            <a:avLst/>
          </a:prstGeom>
          <a:noFill/>
          <a:ln/>
        </p:spPr>
        <p:txBody>
          <a:bodyPr wrap="square" lIns="0" tIns="0" rIns="0" bIns="0" rtlCol="0" anchor="ctr">
            <a:normAutofit/>
          </a:bodyPr>
          <a:lstStyle/>
          <a:p>
            <a:pPr marL="0" indent="0" algn="ctr">
              <a:buNone/>
            </a:pPr>
            <a:r>
              <a:rPr lang="en-US" sz="1500" dirty="0">
                <a:solidFill>
                  <a:srgbClr val="132033"/>
                </a:solidFill>
                <a:latin typeface="Aptos" pitchFamily="34" charset="0"/>
                <a:ea typeface="Aptos" pitchFamily="34" charset="-122"/>
                <a:cs typeface="Aptos" pitchFamily="34" charset="-120"/>
              </a:rPr>
              <a:t>incorrect or impossible decisions</a:t>
            </a:r>
            <a:endParaRPr lang="en-US" sz="1500" dirty="0"/>
          </a:p>
        </p:txBody>
      </p:sp>
      <p:sp>
        <p:nvSpPr>
          <p:cNvPr id="8" name="Text 6"/>
          <p:cNvSpPr/>
          <p:nvPr/>
        </p:nvSpPr>
        <p:spPr>
          <a:xfrm>
            <a:off x="4023360" y="1600200"/>
            <a:ext cx="4206240" cy="411480"/>
          </a:xfrm>
          <a:prstGeom prst="rect">
            <a:avLst/>
          </a:prstGeom>
          <a:noFill/>
          <a:ln/>
        </p:spPr>
        <p:txBody>
          <a:bodyPr wrap="square" lIns="0" tIns="0" rIns="0" bIns="0" rtlCol="0" anchor="ctr">
            <a:normAutofit/>
          </a:bodyPr>
          <a:lstStyle/>
          <a:p>
            <a:pPr marL="0" indent="0" algn="ctr">
              <a:buNone/>
            </a:pPr>
            <a:r>
              <a:rPr lang="en-US" sz="2600" b="1" dirty="0">
                <a:solidFill>
                  <a:srgbClr val="39A875"/>
                </a:solidFill>
                <a:latin typeface="Aptos" pitchFamily="34" charset="0"/>
                <a:ea typeface="Aptos" pitchFamily="34" charset="-122"/>
                <a:cs typeface="Aptos" pitchFamily="34" charset="-120"/>
              </a:rPr>
              <a:t>Appropriate abstraction</a:t>
            </a:r>
            <a:endParaRPr lang="en-US" sz="2600" dirty="0"/>
          </a:p>
        </p:txBody>
      </p:sp>
      <p:sp>
        <p:nvSpPr>
          <p:cNvPr id="9" name="Text 7"/>
          <p:cNvSpPr/>
          <p:nvPr/>
        </p:nvSpPr>
        <p:spPr>
          <a:xfrm>
            <a:off x="3886200" y="2148840"/>
            <a:ext cx="4480560" cy="457200"/>
          </a:xfrm>
          <a:prstGeom prst="rect">
            <a:avLst/>
          </a:prstGeom>
          <a:noFill/>
          <a:ln/>
        </p:spPr>
        <p:txBody>
          <a:bodyPr wrap="square" lIns="0" tIns="0" rIns="0" bIns="0" rtlCol="0" anchor="ctr">
            <a:normAutofit/>
          </a:bodyPr>
          <a:lstStyle/>
          <a:p>
            <a:pPr marL="0" indent="0" algn="ctr">
              <a:buNone/>
            </a:pPr>
            <a:r>
              <a:rPr lang="en-US" sz="1700" dirty="0">
                <a:solidFill>
                  <a:srgbClr val="132033"/>
                </a:solidFill>
                <a:latin typeface="Aptos" pitchFamily="34" charset="0"/>
                <a:ea typeface="Aptos" pitchFamily="34" charset="-122"/>
                <a:cs typeface="Aptos" pitchFamily="34" charset="-120"/>
              </a:rPr>
              <a:t>enough information at manageable complexity</a:t>
            </a:r>
            <a:endParaRPr lang="en-US" sz="1700" dirty="0"/>
          </a:p>
        </p:txBody>
      </p:sp>
      <p:sp>
        <p:nvSpPr>
          <p:cNvPr id="10" name="Text 8"/>
          <p:cNvSpPr/>
          <p:nvPr/>
        </p:nvSpPr>
        <p:spPr>
          <a:xfrm>
            <a:off x="8915400" y="1828800"/>
            <a:ext cx="2377440" cy="320040"/>
          </a:xfrm>
          <a:prstGeom prst="rect">
            <a:avLst/>
          </a:prstGeom>
          <a:noFill/>
          <a:ln/>
        </p:spPr>
        <p:txBody>
          <a:bodyPr wrap="square" lIns="0" tIns="0" rIns="0" bIns="0" rtlCol="0" anchor="ctr">
            <a:normAutofit/>
          </a:bodyPr>
          <a:lstStyle/>
          <a:p>
            <a:pPr marL="0" indent="0" algn="ctr">
              <a:buNone/>
            </a:pPr>
            <a:r>
              <a:rPr lang="en-US" sz="2400" b="1" dirty="0">
                <a:solidFill>
                  <a:srgbClr val="6D7C8F"/>
                </a:solidFill>
                <a:latin typeface="Aptos" pitchFamily="34" charset="0"/>
                <a:ea typeface="Aptos" pitchFamily="34" charset="-122"/>
                <a:cs typeface="Aptos" pitchFamily="34" charset="-120"/>
              </a:rPr>
              <a:t>Too detailed</a:t>
            </a:r>
            <a:endParaRPr lang="en-US" sz="2400" dirty="0"/>
          </a:p>
        </p:txBody>
      </p:sp>
      <p:sp>
        <p:nvSpPr>
          <p:cNvPr id="11" name="Text 9"/>
          <p:cNvSpPr/>
          <p:nvPr/>
        </p:nvSpPr>
        <p:spPr>
          <a:xfrm>
            <a:off x="8732520" y="2286000"/>
            <a:ext cx="2743200" cy="457200"/>
          </a:xfrm>
          <a:prstGeom prst="rect">
            <a:avLst/>
          </a:prstGeom>
          <a:noFill/>
          <a:ln/>
        </p:spPr>
        <p:txBody>
          <a:bodyPr wrap="square" lIns="0" tIns="0" rIns="0" bIns="0" rtlCol="0" anchor="ctr">
            <a:normAutofit/>
          </a:bodyPr>
          <a:lstStyle/>
          <a:p>
            <a:pPr marL="0" indent="0" algn="ctr">
              <a:buNone/>
            </a:pPr>
            <a:r>
              <a:rPr lang="en-US" sz="1500" dirty="0">
                <a:solidFill>
                  <a:srgbClr val="132033"/>
                </a:solidFill>
                <a:latin typeface="Aptos" pitchFamily="34" charset="0"/>
                <a:ea typeface="Aptos" pitchFamily="34" charset="-122"/>
                <a:cs typeface="Aptos" pitchFamily="34" charset="-120"/>
              </a:rPr>
              <a:t>unnecessary search burden</a:t>
            </a:r>
            <a:endParaRPr lang="en-US" sz="1500" dirty="0"/>
          </a:p>
        </p:txBody>
      </p:sp>
      <p:sp>
        <p:nvSpPr>
          <p:cNvPr id="12" name="Shape 10"/>
          <p:cNvSpPr/>
          <p:nvPr/>
        </p:nvSpPr>
        <p:spPr>
          <a:xfrm>
            <a:off x="1005840" y="4206240"/>
            <a:ext cx="10058400" cy="0"/>
          </a:xfrm>
          <a:prstGeom prst="line">
            <a:avLst/>
          </a:prstGeom>
          <a:noFill/>
          <a:ln w="38100">
            <a:solidFill>
              <a:srgbClr val="B8C7D8"/>
            </a:solidFill>
            <a:prstDash val="solid"/>
          </a:ln>
        </p:spPr>
        <p:txBody>
          <a:bodyPr/>
          <a:lstStyle/>
          <a:p>
            <a:endParaRPr lang="en-US"/>
          </a:p>
        </p:txBody>
      </p:sp>
      <p:sp>
        <p:nvSpPr>
          <p:cNvPr id="13" name="Shape 11"/>
          <p:cNvSpPr/>
          <p:nvPr/>
        </p:nvSpPr>
        <p:spPr>
          <a:xfrm>
            <a:off x="896112" y="4096512"/>
            <a:ext cx="219456" cy="219456"/>
          </a:xfrm>
          <a:prstGeom prst="ellipse">
            <a:avLst/>
          </a:prstGeom>
          <a:solidFill>
            <a:srgbClr val="D94E4E"/>
          </a:solidFill>
          <a:ln w="12700">
            <a:solidFill>
              <a:srgbClr val="D94E4E"/>
            </a:solidFill>
            <a:prstDash val="solid"/>
          </a:ln>
        </p:spPr>
        <p:txBody>
          <a:bodyPr/>
          <a:lstStyle/>
          <a:p>
            <a:endParaRPr lang="en-US"/>
          </a:p>
        </p:txBody>
      </p:sp>
      <p:sp>
        <p:nvSpPr>
          <p:cNvPr id="14" name="Shape 12"/>
          <p:cNvSpPr/>
          <p:nvPr/>
        </p:nvSpPr>
        <p:spPr>
          <a:xfrm>
            <a:off x="5925312" y="4096512"/>
            <a:ext cx="219456" cy="219456"/>
          </a:xfrm>
          <a:prstGeom prst="ellipse">
            <a:avLst/>
          </a:prstGeom>
          <a:solidFill>
            <a:srgbClr val="39A875"/>
          </a:solidFill>
          <a:ln w="12700">
            <a:solidFill>
              <a:srgbClr val="39A875"/>
            </a:solidFill>
            <a:prstDash val="solid"/>
          </a:ln>
        </p:spPr>
        <p:txBody>
          <a:bodyPr/>
          <a:lstStyle/>
          <a:p>
            <a:endParaRPr lang="en-US"/>
          </a:p>
        </p:txBody>
      </p:sp>
      <p:sp>
        <p:nvSpPr>
          <p:cNvPr id="15" name="Shape 13"/>
          <p:cNvSpPr/>
          <p:nvPr/>
        </p:nvSpPr>
        <p:spPr>
          <a:xfrm>
            <a:off x="10954512" y="4096512"/>
            <a:ext cx="219456" cy="219456"/>
          </a:xfrm>
          <a:prstGeom prst="ellipse">
            <a:avLst/>
          </a:prstGeom>
          <a:solidFill>
            <a:srgbClr val="6D7C8F"/>
          </a:solidFill>
          <a:ln w="12700">
            <a:solidFill>
              <a:srgbClr val="6D7C8F"/>
            </a:solidFill>
            <a:prstDash val="solid"/>
          </a:ln>
        </p:spPr>
        <p:txBody>
          <a:bodyPr/>
          <a:lstStyle/>
          <a:p>
            <a:endParaRPr lang="en-US"/>
          </a:p>
        </p:txBody>
      </p:sp>
      <p:sp>
        <p:nvSpPr>
          <p:cNvPr id="16" name="Text 14"/>
          <p:cNvSpPr/>
          <p:nvPr/>
        </p:nvSpPr>
        <p:spPr>
          <a:xfrm>
            <a:off x="1005840" y="5074920"/>
            <a:ext cx="10149840" cy="502920"/>
          </a:xfrm>
          <a:prstGeom prst="rect">
            <a:avLst/>
          </a:prstGeom>
          <a:noFill/>
          <a:ln/>
        </p:spPr>
        <p:txBody>
          <a:bodyPr wrap="square" lIns="0" tIns="0" rIns="0" bIns="0" rtlCol="0" anchor="ctr">
            <a:normAutofit/>
          </a:bodyPr>
          <a:lstStyle/>
          <a:p>
            <a:pPr marL="0" indent="0" algn="ctr">
              <a:buNone/>
            </a:pPr>
            <a:r>
              <a:rPr lang="en-US" sz="2300" b="1" dirty="0">
                <a:solidFill>
                  <a:srgbClr val="0B2D55"/>
                </a:solidFill>
                <a:latin typeface="Aptos" pitchFamily="34" charset="0"/>
                <a:ea typeface="Aptos" pitchFamily="34" charset="-122"/>
                <a:cs typeface="Aptos" pitchFamily="34" charset="-120"/>
              </a:rPr>
              <a:t>Use this test: can the state determine legal actions, recognize the goal, and calculate relevant costs?</a:t>
            </a:r>
            <a:endParaRPr lang="en-US" sz="2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Debug the formulation</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Find the flaw before the algorithm runs.</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15</a:t>
            </a:r>
            <a:endParaRPr lang="en-US" sz="850" dirty="0"/>
          </a:p>
        </p:txBody>
      </p:sp>
      <p:sp>
        <p:nvSpPr>
          <p:cNvPr id="6" name="Shape 4"/>
          <p:cNvSpPr/>
          <p:nvPr/>
        </p:nvSpPr>
        <p:spPr>
          <a:xfrm>
            <a:off x="777240" y="1554480"/>
            <a:ext cx="4800600" cy="3749040"/>
          </a:xfrm>
          <a:prstGeom prst="roundRect">
            <a:avLst>
              <a:gd name="adj" fmla="val 1951"/>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7" name="Text 5"/>
          <p:cNvSpPr/>
          <p:nvPr/>
        </p:nvSpPr>
        <p:spPr>
          <a:xfrm>
            <a:off x="1051560" y="1828800"/>
            <a:ext cx="4251960" cy="310896"/>
          </a:xfrm>
          <a:prstGeom prst="rect">
            <a:avLst/>
          </a:prstGeom>
          <a:noFill/>
          <a:ln/>
        </p:spPr>
        <p:txBody>
          <a:bodyPr wrap="square" lIns="0" tIns="0" rIns="0" bIns="0" rtlCol="0" anchor="ctr">
            <a:normAutofit/>
          </a:bodyPr>
          <a:lstStyle/>
          <a:p>
            <a:pPr marL="0" indent="0">
              <a:buNone/>
            </a:pPr>
            <a:r>
              <a:rPr lang="en-US" sz="2200" b="1" dirty="0">
                <a:solidFill>
                  <a:srgbClr val="0B2D55"/>
                </a:solidFill>
                <a:latin typeface="Aptos" pitchFamily="34" charset="0"/>
                <a:ea typeface="Aptos" pitchFamily="34" charset="-122"/>
                <a:cs typeface="Aptos" pitchFamily="34" charset="-120"/>
              </a:rPr>
              <a:t>Inspection vehicle scenario</a:t>
            </a:r>
            <a:endParaRPr lang="en-US" sz="2200" dirty="0"/>
          </a:p>
        </p:txBody>
      </p:sp>
      <p:sp>
        <p:nvSpPr>
          <p:cNvPr id="8" name="Text 6"/>
          <p:cNvSpPr/>
          <p:nvPr/>
        </p:nvSpPr>
        <p:spPr>
          <a:xfrm>
            <a:off x="1051560" y="2331720"/>
            <a:ext cx="4160520" cy="685800"/>
          </a:xfrm>
          <a:prstGeom prst="rect">
            <a:avLst/>
          </a:prstGeom>
          <a:noFill/>
          <a:ln/>
        </p:spPr>
        <p:txBody>
          <a:bodyPr wrap="square" lIns="0" tIns="0" rIns="0" bIns="0" rtlCol="0" anchor="ctr">
            <a:normAutofit/>
          </a:bodyPr>
          <a:lstStyle/>
          <a:p>
            <a:pPr marL="0" indent="0">
              <a:buNone/>
            </a:pPr>
            <a:r>
              <a:rPr lang="en-US" sz="1800" dirty="0">
                <a:solidFill>
                  <a:srgbClr val="132033"/>
                </a:solidFill>
                <a:latin typeface="Aptos" pitchFamily="34" charset="0"/>
                <a:ea typeface="Aptos" pitchFamily="34" charset="-122"/>
                <a:cs typeface="Aptos" pitchFamily="34" charset="-120"/>
              </a:rPr>
              <a:t>An underwater vehicle must inspect two bridge supports, avoid restricted zones, manage battery, and return to the dock.</a:t>
            </a:r>
            <a:endParaRPr lang="en-US" sz="1800" dirty="0"/>
          </a:p>
        </p:txBody>
      </p:sp>
      <p:sp>
        <p:nvSpPr>
          <p:cNvPr id="9" name="Text 7"/>
          <p:cNvSpPr/>
          <p:nvPr/>
        </p:nvSpPr>
        <p:spPr>
          <a:xfrm>
            <a:off x="1051560" y="3429000"/>
            <a:ext cx="4160520" cy="1051560"/>
          </a:xfrm>
          <a:prstGeom prst="rect">
            <a:avLst/>
          </a:prstGeom>
          <a:noFill/>
          <a:ln/>
        </p:spPr>
        <p:txBody>
          <a:bodyPr wrap="square" lIns="0" tIns="0" rIns="0" bIns="0" rtlCol="0" anchor="ctr">
            <a:normAutofit/>
          </a:bodyPr>
          <a:lstStyle/>
          <a:p>
            <a:pPr marL="0" indent="0">
              <a:buNone/>
            </a:pPr>
            <a:r>
              <a:rPr lang="en-US" sz="1800" b="1" dirty="0">
                <a:solidFill>
                  <a:srgbClr val="D94E4E"/>
                </a:solidFill>
                <a:latin typeface="Aptos" pitchFamily="34" charset="0"/>
                <a:ea typeface="Aptos" pitchFamily="34" charset="-122"/>
                <a:cs typeface="Aptos" pitchFamily="34" charset="-120"/>
              </a:rPr>
              <a:t>Flawed formulation: state = current location; goal = vehicle reaches a support; cost = number of actions.</a:t>
            </a:r>
            <a:endParaRPr lang="en-US" sz="1800" dirty="0"/>
          </a:p>
        </p:txBody>
      </p:sp>
      <p:sp>
        <p:nvSpPr>
          <p:cNvPr id="10" name="Shape 8"/>
          <p:cNvSpPr/>
          <p:nvPr/>
        </p:nvSpPr>
        <p:spPr>
          <a:xfrm>
            <a:off x="6172200" y="1554480"/>
            <a:ext cx="5029200" cy="3749040"/>
          </a:xfrm>
          <a:prstGeom prst="roundRect">
            <a:avLst>
              <a:gd name="adj" fmla="val 1951"/>
            </a:avLst>
          </a:prstGeom>
          <a:solidFill>
            <a:srgbClr val="F4F8FC"/>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1" name="Text 9"/>
          <p:cNvSpPr/>
          <p:nvPr/>
        </p:nvSpPr>
        <p:spPr>
          <a:xfrm>
            <a:off x="6446520" y="1828800"/>
            <a:ext cx="4526280" cy="320040"/>
          </a:xfrm>
          <a:prstGeom prst="rect">
            <a:avLst/>
          </a:prstGeom>
          <a:noFill/>
          <a:ln/>
        </p:spPr>
        <p:txBody>
          <a:bodyPr wrap="square" lIns="0" tIns="0" rIns="0" bIns="0" rtlCol="0" anchor="ctr">
            <a:normAutofit/>
          </a:bodyPr>
          <a:lstStyle/>
          <a:p>
            <a:pPr marL="0" indent="0">
              <a:buNone/>
            </a:pPr>
            <a:r>
              <a:rPr lang="en-US" sz="2200" b="1" dirty="0">
                <a:solidFill>
                  <a:srgbClr val="0B2D55"/>
                </a:solidFill>
                <a:latin typeface="Aptos" pitchFamily="34" charset="0"/>
                <a:ea typeface="Aptos" pitchFamily="34" charset="-122"/>
                <a:cs typeface="Aptos" pitchFamily="34" charset="-120"/>
              </a:rPr>
              <a:t>Group task</a:t>
            </a:r>
            <a:endParaRPr lang="en-US" sz="2200" dirty="0"/>
          </a:p>
        </p:txBody>
      </p:sp>
      <p:sp>
        <p:nvSpPr>
          <p:cNvPr id="12" name="Shape 10"/>
          <p:cNvSpPr/>
          <p:nvPr/>
        </p:nvSpPr>
        <p:spPr>
          <a:xfrm>
            <a:off x="6446520" y="2423160"/>
            <a:ext cx="237744" cy="237744"/>
          </a:xfrm>
          <a:prstGeom prst="ellipse">
            <a:avLst/>
          </a:prstGeom>
          <a:solidFill>
            <a:srgbClr val="F2C14E"/>
          </a:solidFill>
          <a:ln w="12700">
            <a:solidFill>
              <a:srgbClr val="F2C14E"/>
            </a:solidFill>
            <a:prstDash val="solid"/>
          </a:ln>
        </p:spPr>
        <p:txBody>
          <a:bodyPr/>
          <a:lstStyle/>
          <a:p>
            <a:endParaRPr lang="en-US"/>
          </a:p>
        </p:txBody>
      </p:sp>
      <p:sp>
        <p:nvSpPr>
          <p:cNvPr id="13" name="Text 11"/>
          <p:cNvSpPr/>
          <p:nvPr/>
        </p:nvSpPr>
        <p:spPr>
          <a:xfrm>
            <a:off x="6446520" y="2468880"/>
            <a:ext cx="237744" cy="192024"/>
          </a:xfrm>
          <a:prstGeom prst="rect">
            <a:avLst/>
          </a:prstGeom>
          <a:noFill/>
          <a:ln/>
        </p:spPr>
        <p:txBody>
          <a:bodyPr wrap="square" lIns="0" tIns="0" rIns="0" bIns="0" rtlCol="0" anchor="ctr">
            <a:normAutofit/>
          </a:bodyPr>
          <a:lstStyle/>
          <a:p>
            <a:pPr marL="0" indent="0" algn="ctr">
              <a:buNone/>
            </a:pPr>
            <a:endParaRPr lang="en-US" sz="1800" dirty="0"/>
          </a:p>
        </p:txBody>
      </p:sp>
      <p:sp>
        <p:nvSpPr>
          <p:cNvPr id="14" name="Text 12"/>
          <p:cNvSpPr/>
          <p:nvPr/>
        </p:nvSpPr>
        <p:spPr>
          <a:xfrm>
            <a:off x="6812280" y="2377440"/>
            <a:ext cx="3977640" cy="292608"/>
          </a:xfrm>
          <a:prstGeom prst="rect">
            <a:avLst/>
          </a:prstGeom>
          <a:noFill/>
          <a:ln/>
        </p:spPr>
        <p:txBody>
          <a:bodyPr wrap="square" lIns="0" tIns="0" rIns="0" bIns="0" rtlCol="0" anchor="ctr">
            <a:normAutofit/>
          </a:bodyPr>
          <a:lstStyle/>
          <a:p>
            <a:pPr marL="0" indent="0">
              <a:buNone/>
            </a:pPr>
            <a:r>
              <a:rPr lang="en-US" sz="1700" dirty="0">
                <a:solidFill>
                  <a:srgbClr val="132033"/>
                </a:solidFill>
                <a:latin typeface="Aptos" pitchFamily="34" charset="0"/>
                <a:ea typeface="Aptos" pitchFamily="34" charset="-122"/>
                <a:cs typeface="Aptos" pitchFamily="34" charset="-120"/>
              </a:rPr>
              <a:t>One missing state feature</a:t>
            </a:r>
            <a:endParaRPr lang="en-US" sz="1700" dirty="0"/>
          </a:p>
        </p:txBody>
      </p:sp>
      <p:sp>
        <p:nvSpPr>
          <p:cNvPr id="15" name="Shape 13"/>
          <p:cNvSpPr/>
          <p:nvPr/>
        </p:nvSpPr>
        <p:spPr>
          <a:xfrm>
            <a:off x="6446520" y="3017520"/>
            <a:ext cx="237744" cy="237744"/>
          </a:xfrm>
          <a:prstGeom prst="ellipse">
            <a:avLst/>
          </a:prstGeom>
          <a:solidFill>
            <a:srgbClr val="F2C14E"/>
          </a:solidFill>
          <a:ln w="12700">
            <a:solidFill>
              <a:srgbClr val="F2C14E"/>
            </a:solidFill>
            <a:prstDash val="solid"/>
          </a:ln>
        </p:spPr>
        <p:txBody>
          <a:bodyPr/>
          <a:lstStyle/>
          <a:p>
            <a:endParaRPr lang="en-US"/>
          </a:p>
        </p:txBody>
      </p:sp>
      <p:sp>
        <p:nvSpPr>
          <p:cNvPr id="16" name="Text 14"/>
          <p:cNvSpPr/>
          <p:nvPr/>
        </p:nvSpPr>
        <p:spPr>
          <a:xfrm>
            <a:off x="6446520" y="3063240"/>
            <a:ext cx="237744" cy="192024"/>
          </a:xfrm>
          <a:prstGeom prst="rect">
            <a:avLst/>
          </a:prstGeom>
          <a:noFill/>
          <a:ln/>
        </p:spPr>
        <p:txBody>
          <a:bodyPr wrap="square" lIns="0" tIns="0" rIns="0" bIns="0" rtlCol="0" anchor="ctr">
            <a:normAutofit/>
          </a:bodyPr>
          <a:lstStyle/>
          <a:p>
            <a:pPr marL="0" indent="0" algn="ctr">
              <a:buNone/>
            </a:pPr>
            <a:endParaRPr lang="en-US" sz="1800" dirty="0"/>
          </a:p>
        </p:txBody>
      </p:sp>
      <p:sp>
        <p:nvSpPr>
          <p:cNvPr id="17" name="Text 15"/>
          <p:cNvSpPr/>
          <p:nvPr/>
        </p:nvSpPr>
        <p:spPr>
          <a:xfrm>
            <a:off x="6812280" y="2971800"/>
            <a:ext cx="3977640" cy="292608"/>
          </a:xfrm>
          <a:prstGeom prst="rect">
            <a:avLst/>
          </a:prstGeom>
          <a:noFill/>
          <a:ln/>
        </p:spPr>
        <p:txBody>
          <a:bodyPr wrap="square" lIns="0" tIns="0" rIns="0" bIns="0" rtlCol="0" anchor="ctr">
            <a:normAutofit/>
          </a:bodyPr>
          <a:lstStyle/>
          <a:p>
            <a:pPr marL="0" indent="0">
              <a:buNone/>
            </a:pPr>
            <a:r>
              <a:rPr lang="en-US" sz="1700" dirty="0">
                <a:solidFill>
                  <a:srgbClr val="132033"/>
                </a:solidFill>
                <a:latin typeface="Aptos" pitchFamily="34" charset="0"/>
                <a:ea typeface="Aptos" pitchFamily="34" charset="-122"/>
                <a:cs typeface="Aptos" pitchFamily="34" charset="-120"/>
              </a:rPr>
              <a:t>One questionable action or precondition</a:t>
            </a:r>
            <a:endParaRPr lang="en-US" sz="1700" dirty="0"/>
          </a:p>
        </p:txBody>
      </p:sp>
      <p:sp>
        <p:nvSpPr>
          <p:cNvPr id="18" name="Shape 16"/>
          <p:cNvSpPr/>
          <p:nvPr/>
        </p:nvSpPr>
        <p:spPr>
          <a:xfrm>
            <a:off x="6446520" y="3611880"/>
            <a:ext cx="237744" cy="237744"/>
          </a:xfrm>
          <a:prstGeom prst="ellipse">
            <a:avLst/>
          </a:prstGeom>
          <a:solidFill>
            <a:srgbClr val="F2C14E"/>
          </a:solidFill>
          <a:ln w="12700">
            <a:solidFill>
              <a:srgbClr val="F2C14E"/>
            </a:solidFill>
            <a:prstDash val="solid"/>
          </a:ln>
        </p:spPr>
        <p:txBody>
          <a:bodyPr/>
          <a:lstStyle/>
          <a:p>
            <a:endParaRPr lang="en-US"/>
          </a:p>
        </p:txBody>
      </p:sp>
      <p:sp>
        <p:nvSpPr>
          <p:cNvPr id="19" name="Text 17"/>
          <p:cNvSpPr/>
          <p:nvPr/>
        </p:nvSpPr>
        <p:spPr>
          <a:xfrm>
            <a:off x="6446520" y="3657600"/>
            <a:ext cx="237744" cy="192024"/>
          </a:xfrm>
          <a:prstGeom prst="rect">
            <a:avLst/>
          </a:prstGeom>
          <a:noFill/>
          <a:ln/>
        </p:spPr>
        <p:txBody>
          <a:bodyPr wrap="square" lIns="0" tIns="0" rIns="0" bIns="0" rtlCol="0" anchor="ctr">
            <a:normAutofit/>
          </a:bodyPr>
          <a:lstStyle/>
          <a:p>
            <a:pPr marL="0" indent="0" algn="ctr">
              <a:buNone/>
            </a:pPr>
            <a:endParaRPr lang="en-US" sz="1800" dirty="0"/>
          </a:p>
        </p:txBody>
      </p:sp>
      <p:sp>
        <p:nvSpPr>
          <p:cNvPr id="20" name="Text 18"/>
          <p:cNvSpPr/>
          <p:nvPr/>
        </p:nvSpPr>
        <p:spPr>
          <a:xfrm>
            <a:off x="6812280" y="3566160"/>
            <a:ext cx="3977640" cy="292608"/>
          </a:xfrm>
          <a:prstGeom prst="rect">
            <a:avLst/>
          </a:prstGeom>
          <a:noFill/>
          <a:ln/>
        </p:spPr>
        <p:txBody>
          <a:bodyPr wrap="square" lIns="0" tIns="0" rIns="0" bIns="0" rtlCol="0" anchor="ctr">
            <a:normAutofit/>
          </a:bodyPr>
          <a:lstStyle/>
          <a:p>
            <a:pPr marL="0" indent="0">
              <a:buNone/>
            </a:pPr>
            <a:r>
              <a:rPr lang="en-US" sz="1700" dirty="0">
                <a:solidFill>
                  <a:srgbClr val="132033"/>
                </a:solidFill>
                <a:latin typeface="Aptos" pitchFamily="34" charset="0"/>
                <a:ea typeface="Aptos" pitchFamily="34" charset="-122"/>
                <a:cs typeface="Aptos" pitchFamily="34" charset="-120"/>
              </a:rPr>
              <a:t>One incomplete goal test</a:t>
            </a:r>
            <a:endParaRPr lang="en-US" sz="1700" dirty="0"/>
          </a:p>
        </p:txBody>
      </p:sp>
      <p:sp>
        <p:nvSpPr>
          <p:cNvPr id="21" name="Shape 19"/>
          <p:cNvSpPr/>
          <p:nvPr/>
        </p:nvSpPr>
        <p:spPr>
          <a:xfrm>
            <a:off x="6446520" y="4206240"/>
            <a:ext cx="237744" cy="237744"/>
          </a:xfrm>
          <a:prstGeom prst="ellipse">
            <a:avLst/>
          </a:prstGeom>
          <a:solidFill>
            <a:srgbClr val="F2C14E"/>
          </a:solidFill>
          <a:ln w="12700">
            <a:solidFill>
              <a:srgbClr val="F2C14E"/>
            </a:solidFill>
            <a:prstDash val="solid"/>
          </a:ln>
        </p:spPr>
        <p:txBody>
          <a:bodyPr/>
          <a:lstStyle/>
          <a:p>
            <a:endParaRPr lang="en-US"/>
          </a:p>
        </p:txBody>
      </p:sp>
      <p:sp>
        <p:nvSpPr>
          <p:cNvPr id="22" name="Text 20"/>
          <p:cNvSpPr/>
          <p:nvPr/>
        </p:nvSpPr>
        <p:spPr>
          <a:xfrm>
            <a:off x="6446520" y="4251960"/>
            <a:ext cx="237744" cy="192024"/>
          </a:xfrm>
          <a:prstGeom prst="rect">
            <a:avLst/>
          </a:prstGeom>
          <a:noFill/>
          <a:ln/>
        </p:spPr>
        <p:txBody>
          <a:bodyPr wrap="square" lIns="0" tIns="0" rIns="0" bIns="0" rtlCol="0" anchor="ctr">
            <a:normAutofit/>
          </a:bodyPr>
          <a:lstStyle/>
          <a:p>
            <a:pPr marL="0" indent="0" algn="ctr">
              <a:buNone/>
            </a:pPr>
            <a:endParaRPr lang="en-US" sz="1800" dirty="0"/>
          </a:p>
        </p:txBody>
      </p:sp>
      <p:sp>
        <p:nvSpPr>
          <p:cNvPr id="23" name="Text 21"/>
          <p:cNvSpPr/>
          <p:nvPr/>
        </p:nvSpPr>
        <p:spPr>
          <a:xfrm>
            <a:off x="6812280" y="4160520"/>
            <a:ext cx="3977640" cy="292608"/>
          </a:xfrm>
          <a:prstGeom prst="rect">
            <a:avLst/>
          </a:prstGeom>
          <a:noFill/>
          <a:ln/>
        </p:spPr>
        <p:txBody>
          <a:bodyPr wrap="square" lIns="0" tIns="0" rIns="0" bIns="0" rtlCol="0" anchor="ctr">
            <a:normAutofit/>
          </a:bodyPr>
          <a:lstStyle/>
          <a:p>
            <a:pPr marL="0" indent="0">
              <a:buNone/>
            </a:pPr>
            <a:r>
              <a:rPr lang="en-US" sz="1700" dirty="0">
                <a:solidFill>
                  <a:srgbClr val="132033"/>
                </a:solidFill>
                <a:latin typeface="Aptos" pitchFamily="34" charset="0"/>
                <a:ea typeface="Aptos" pitchFamily="34" charset="-122"/>
                <a:cs typeface="Aptos" pitchFamily="34" charset="-120"/>
              </a:rPr>
              <a:t>One mismatched path cost</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Formulation sprint</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Build a search problem from a new mission brief.</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16</a:t>
            </a:r>
            <a:endParaRPr lang="en-US" sz="850" dirty="0"/>
          </a:p>
        </p:txBody>
      </p:sp>
      <p:sp>
        <p:nvSpPr>
          <p:cNvPr id="6" name="Text 4"/>
          <p:cNvSpPr/>
          <p:nvPr/>
        </p:nvSpPr>
        <p:spPr>
          <a:xfrm>
            <a:off x="822960" y="1554480"/>
            <a:ext cx="2011680" cy="320040"/>
          </a:xfrm>
          <a:prstGeom prst="rect">
            <a:avLst/>
          </a:prstGeom>
          <a:noFill/>
          <a:ln/>
        </p:spPr>
        <p:txBody>
          <a:bodyPr wrap="square" lIns="0" tIns="0" rIns="0" bIns="0" rtlCol="0" anchor="ctr">
            <a:normAutofit/>
          </a:bodyPr>
          <a:lstStyle/>
          <a:p>
            <a:pPr marL="0" indent="0">
              <a:buNone/>
            </a:pPr>
            <a:r>
              <a:rPr lang="en-US" sz="2400" b="1" dirty="0">
                <a:solidFill>
                  <a:srgbClr val="0B2D55"/>
                </a:solidFill>
                <a:latin typeface="Aptos" pitchFamily="34" charset="0"/>
                <a:ea typeface="Aptos" pitchFamily="34" charset="-122"/>
                <a:cs typeface="Aptos" pitchFamily="34" charset="-120"/>
              </a:rPr>
              <a:t>Scenario</a:t>
            </a:r>
            <a:endParaRPr lang="en-US" sz="2400" dirty="0"/>
          </a:p>
        </p:txBody>
      </p:sp>
      <p:sp>
        <p:nvSpPr>
          <p:cNvPr id="7" name="Text 5"/>
          <p:cNvSpPr/>
          <p:nvPr/>
        </p:nvSpPr>
        <p:spPr>
          <a:xfrm>
            <a:off x="868680" y="2057400"/>
            <a:ext cx="4572000" cy="1097280"/>
          </a:xfrm>
          <a:prstGeom prst="rect">
            <a:avLst/>
          </a:prstGeom>
          <a:noFill/>
          <a:ln/>
        </p:spPr>
        <p:txBody>
          <a:bodyPr wrap="square" lIns="0" tIns="0" rIns="0" bIns="0" rtlCol="0" anchor="ctr">
            <a:normAutofit/>
          </a:bodyPr>
          <a:lstStyle/>
          <a:p>
            <a:pPr marL="0" indent="0">
              <a:buNone/>
            </a:pPr>
            <a:r>
              <a:rPr lang="en-US" sz="2200" dirty="0">
                <a:solidFill>
                  <a:srgbClr val="132033"/>
                </a:solidFill>
                <a:latin typeface="Aptos" pitchFamily="34" charset="0"/>
                <a:ea typeface="Aptos" pitchFamily="34" charset="-122"/>
                <a:cs typeface="Aptos" pitchFamily="34" charset="-120"/>
              </a:rPr>
              <a:t>A medical-delivery robot must move through a damaged building, deliver medicine to two rooms, avoid blocked corridors, and return to the lobby.</a:t>
            </a:r>
            <a:endParaRPr lang="en-US" sz="2200" dirty="0"/>
          </a:p>
        </p:txBody>
      </p:sp>
      <p:sp>
        <p:nvSpPr>
          <p:cNvPr id="8" name="Shape 6"/>
          <p:cNvSpPr/>
          <p:nvPr/>
        </p:nvSpPr>
        <p:spPr>
          <a:xfrm>
            <a:off x="6035040" y="1600200"/>
            <a:ext cx="5074920" cy="621792"/>
          </a:xfrm>
          <a:prstGeom prst="roundRect">
            <a:avLst>
              <a:gd name="adj" fmla="val 11765"/>
            </a:avLst>
          </a:prstGeom>
          <a:solidFill>
            <a:srgbClr val="F4F8FC"/>
          </a:solidFill>
          <a:ln w="12700">
            <a:solidFill>
              <a:srgbClr val="B8C7D8"/>
            </a:solidFill>
            <a:prstDash val="solid"/>
          </a:ln>
        </p:spPr>
        <p:txBody>
          <a:bodyPr/>
          <a:lstStyle/>
          <a:p>
            <a:endParaRPr lang="en-US"/>
          </a:p>
        </p:txBody>
      </p:sp>
      <p:sp>
        <p:nvSpPr>
          <p:cNvPr id="9" name="Text 7"/>
          <p:cNvSpPr/>
          <p:nvPr/>
        </p:nvSpPr>
        <p:spPr>
          <a:xfrm>
            <a:off x="6263640" y="1764792"/>
            <a:ext cx="1280160" cy="274320"/>
          </a:xfrm>
          <a:prstGeom prst="rect">
            <a:avLst/>
          </a:prstGeom>
          <a:noFill/>
          <a:ln/>
        </p:spPr>
        <p:txBody>
          <a:bodyPr wrap="square" lIns="0" tIns="0" rIns="0" bIns="0" rtlCol="0" anchor="ctr">
            <a:normAutofit/>
          </a:bodyPr>
          <a:lstStyle/>
          <a:p>
            <a:pPr marL="0" indent="0">
              <a:buNone/>
            </a:pPr>
            <a:r>
              <a:rPr lang="en-US" sz="1600" b="1" dirty="0">
                <a:solidFill>
                  <a:srgbClr val="0B2D55"/>
                </a:solidFill>
                <a:latin typeface="Aptos" pitchFamily="34" charset="0"/>
                <a:ea typeface="Aptos" pitchFamily="34" charset="-122"/>
                <a:cs typeface="Aptos" pitchFamily="34" charset="-120"/>
              </a:rPr>
              <a:t>State</a:t>
            </a:r>
            <a:endParaRPr lang="en-US" sz="1600" dirty="0"/>
          </a:p>
        </p:txBody>
      </p:sp>
      <p:sp>
        <p:nvSpPr>
          <p:cNvPr id="10" name="Text 8"/>
          <p:cNvSpPr/>
          <p:nvPr/>
        </p:nvSpPr>
        <p:spPr>
          <a:xfrm>
            <a:off x="7635240" y="1764792"/>
            <a:ext cx="3200400" cy="274320"/>
          </a:xfrm>
          <a:prstGeom prst="rect">
            <a:avLst/>
          </a:prstGeom>
          <a:noFill/>
          <a:ln/>
        </p:spPr>
        <p:txBody>
          <a:bodyPr wrap="square" lIns="0" tIns="0" rIns="0" bIns="0" rtlCol="0" anchor="ctr">
            <a:normAutofit/>
          </a:bodyPr>
          <a:lstStyle/>
          <a:p>
            <a:pPr marL="0" indent="0">
              <a:buNone/>
            </a:pPr>
            <a:r>
              <a:rPr lang="en-US" sz="1600" dirty="0">
                <a:solidFill>
                  <a:srgbClr val="6D7C8F"/>
                </a:solidFill>
                <a:latin typeface="Aptos" pitchFamily="34" charset="0"/>
                <a:ea typeface="Aptos" pitchFamily="34" charset="-122"/>
                <a:cs typeface="Aptos" pitchFamily="34" charset="-120"/>
              </a:rPr>
              <a:t>What must it remember?</a:t>
            </a:r>
            <a:endParaRPr lang="en-US" sz="1600" dirty="0"/>
          </a:p>
        </p:txBody>
      </p:sp>
      <p:sp>
        <p:nvSpPr>
          <p:cNvPr id="11" name="Shape 9"/>
          <p:cNvSpPr/>
          <p:nvPr/>
        </p:nvSpPr>
        <p:spPr>
          <a:xfrm>
            <a:off x="6035040" y="2468880"/>
            <a:ext cx="5074920" cy="621792"/>
          </a:xfrm>
          <a:prstGeom prst="roundRect">
            <a:avLst>
              <a:gd name="adj" fmla="val 11765"/>
            </a:avLst>
          </a:prstGeom>
          <a:solidFill>
            <a:srgbClr val="FFFFFF"/>
          </a:solidFill>
          <a:ln w="12700">
            <a:solidFill>
              <a:srgbClr val="B8C7D8"/>
            </a:solidFill>
            <a:prstDash val="solid"/>
          </a:ln>
        </p:spPr>
        <p:txBody>
          <a:bodyPr/>
          <a:lstStyle/>
          <a:p>
            <a:endParaRPr lang="en-US"/>
          </a:p>
        </p:txBody>
      </p:sp>
      <p:sp>
        <p:nvSpPr>
          <p:cNvPr id="12" name="Text 10"/>
          <p:cNvSpPr/>
          <p:nvPr/>
        </p:nvSpPr>
        <p:spPr>
          <a:xfrm>
            <a:off x="6263640" y="2633472"/>
            <a:ext cx="1280160" cy="274320"/>
          </a:xfrm>
          <a:prstGeom prst="rect">
            <a:avLst/>
          </a:prstGeom>
          <a:noFill/>
          <a:ln/>
        </p:spPr>
        <p:txBody>
          <a:bodyPr wrap="square" lIns="0" tIns="0" rIns="0" bIns="0" rtlCol="0" anchor="ctr">
            <a:normAutofit/>
          </a:bodyPr>
          <a:lstStyle/>
          <a:p>
            <a:pPr marL="0" indent="0">
              <a:buNone/>
            </a:pPr>
            <a:r>
              <a:rPr lang="en-US" sz="1600" b="1" dirty="0">
                <a:solidFill>
                  <a:srgbClr val="0B2D55"/>
                </a:solidFill>
                <a:latin typeface="Aptos" pitchFamily="34" charset="0"/>
                <a:ea typeface="Aptos" pitchFamily="34" charset="-122"/>
                <a:cs typeface="Aptos" pitchFamily="34" charset="-120"/>
              </a:rPr>
              <a:t>Actions</a:t>
            </a:r>
            <a:endParaRPr lang="en-US" sz="1600" dirty="0"/>
          </a:p>
        </p:txBody>
      </p:sp>
      <p:sp>
        <p:nvSpPr>
          <p:cNvPr id="13" name="Text 11"/>
          <p:cNvSpPr/>
          <p:nvPr/>
        </p:nvSpPr>
        <p:spPr>
          <a:xfrm>
            <a:off x="7635240" y="2633472"/>
            <a:ext cx="3200400" cy="274320"/>
          </a:xfrm>
          <a:prstGeom prst="rect">
            <a:avLst/>
          </a:prstGeom>
          <a:noFill/>
          <a:ln/>
        </p:spPr>
        <p:txBody>
          <a:bodyPr wrap="square" lIns="0" tIns="0" rIns="0" bIns="0" rtlCol="0" anchor="ctr">
            <a:normAutofit/>
          </a:bodyPr>
          <a:lstStyle/>
          <a:p>
            <a:pPr marL="0" indent="0">
              <a:buNone/>
            </a:pPr>
            <a:r>
              <a:rPr lang="en-US" sz="1600" dirty="0">
                <a:solidFill>
                  <a:srgbClr val="6D7C8F"/>
                </a:solidFill>
                <a:latin typeface="Aptos" pitchFamily="34" charset="0"/>
                <a:ea typeface="Aptos" pitchFamily="34" charset="-122"/>
                <a:cs typeface="Aptos" pitchFamily="34" charset="-120"/>
              </a:rPr>
              <a:t>What can it do?</a:t>
            </a:r>
            <a:endParaRPr lang="en-US" sz="1600" dirty="0"/>
          </a:p>
        </p:txBody>
      </p:sp>
      <p:sp>
        <p:nvSpPr>
          <p:cNvPr id="14" name="Shape 12"/>
          <p:cNvSpPr/>
          <p:nvPr/>
        </p:nvSpPr>
        <p:spPr>
          <a:xfrm>
            <a:off x="6035040" y="3337560"/>
            <a:ext cx="5074920" cy="621792"/>
          </a:xfrm>
          <a:prstGeom prst="roundRect">
            <a:avLst>
              <a:gd name="adj" fmla="val 11765"/>
            </a:avLst>
          </a:prstGeom>
          <a:solidFill>
            <a:srgbClr val="F4F8FC"/>
          </a:solidFill>
          <a:ln w="12700">
            <a:solidFill>
              <a:srgbClr val="B8C7D8"/>
            </a:solidFill>
            <a:prstDash val="solid"/>
          </a:ln>
        </p:spPr>
        <p:txBody>
          <a:bodyPr/>
          <a:lstStyle/>
          <a:p>
            <a:endParaRPr lang="en-US"/>
          </a:p>
        </p:txBody>
      </p:sp>
      <p:sp>
        <p:nvSpPr>
          <p:cNvPr id="15" name="Text 13"/>
          <p:cNvSpPr/>
          <p:nvPr/>
        </p:nvSpPr>
        <p:spPr>
          <a:xfrm>
            <a:off x="6263640" y="3502152"/>
            <a:ext cx="1280160" cy="274320"/>
          </a:xfrm>
          <a:prstGeom prst="rect">
            <a:avLst/>
          </a:prstGeom>
          <a:noFill/>
          <a:ln/>
        </p:spPr>
        <p:txBody>
          <a:bodyPr wrap="square" lIns="0" tIns="0" rIns="0" bIns="0" rtlCol="0" anchor="ctr">
            <a:normAutofit/>
          </a:bodyPr>
          <a:lstStyle/>
          <a:p>
            <a:pPr marL="0" indent="0">
              <a:buNone/>
            </a:pPr>
            <a:r>
              <a:rPr lang="en-US" sz="1600" b="1" dirty="0">
                <a:solidFill>
                  <a:srgbClr val="0B2D55"/>
                </a:solidFill>
                <a:latin typeface="Aptos" pitchFamily="34" charset="0"/>
                <a:ea typeface="Aptos" pitchFamily="34" charset="-122"/>
                <a:cs typeface="Aptos" pitchFamily="34" charset="-120"/>
              </a:rPr>
              <a:t>Goal test</a:t>
            </a:r>
            <a:endParaRPr lang="en-US" sz="1600" dirty="0"/>
          </a:p>
        </p:txBody>
      </p:sp>
      <p:sp>
        <p:nvSpPr>
          <p:cNvPr id="16" name="Text 14"/>
          <p:cNvSpPr/>
          <p:nvPr/>
        </p:nvSpPr>
        <p:spPr>
          <a:xfrm>
            <a:off x="7635240" y="3502152"/>
            <a:ext cx="3200400" cy="274320"/>
          </a:xfrm>
          <a:prstGeom prst="rect">
            <a:avLst/>
          </a:prstGeom>
          <a:noFill/>
          <a:ln/>
        </p:spPr>
        <p:txBody>
          <a:bodyPr wrap="square" lIns="0" tIns="0" rIns="0" bIns="0" rtlCol="0" anchor="ctr">
            <a:normAutofit/>
          </a:bodyPr>
          <a:lstStyle/>
          <a:p>
            <a:pPr marL="0" indent="0">
              <a:buNone/>
            </a:pPr>
            <a:r>
              <a:rPr lang="en-US" sz="1600" dirty="0">
                <a:solidFill>
                  <a:srgbClr val="6D7C8F"/>
                </a:solidFill>
                <a:latin typeface="Aptos" pitchFamily="34" charset="0"/>
                <a:ea typeface="Aptos" pitchFamily="34" charset="-122"/>
                <a:cs typeface="Aptos" pitchFamily="34" charset="-120"/>
              </a:rPr>
              <a:t>When is the mission complete?</a:t>
            </a:r>
            <a:endParaRPr lang="en-US" sz="1600" dirty="0"/>
          </a:p>
        </p:txBody>
      </p:sp>
      <p:sp>
        <p:nvSpPr>
          <p:cNvPr id="17" name="Shape 15"/>
          <p:cNvSpPr/>
          <p:nvPr/>
        </p:nvSpPr>
        <p:spPr>
          <a:xfrm>
            <a:off x="6035040" y="4206240"/>
            <a:ext cx="5074920" cy="621792"/>
          </a:xfrm>
          <a:prstGeom prst="roundRect">
            <a:avLst>
              <a:gd name="adj" fmla="val 11765"/>
            </a:avLst>
          </a:prstGeom>
          <a:solidFill>
            <a:srgbClr val="FFFFFF"/>
          </a:solidFill>
          <a:ln w="12700">
            <a:solidFill>
              <a:srgbClr val="B8C7D8"/>
            </a:solidFill>
            <a:prstDash val="solid"/>
          </a:ln>
        </p:spPr>
        <p:txBody>
          <a:bodyPr/>
          <a:lstStyle/>
          <a:p>
            <a:endParaRPr lang="en-US"/>
          </a:p>
        </p:txBody>
      </p:sp>
      <p:sp>
        <p:nvSpPr>
          <p:cNvPr id="18" name="Text 16"/>
          <p:cNvSpPr/>
          <p:nvPr/>
        </p:nvSpPr>
        <p:spPr>
          <a:xfrm>
            <a:off x="6263640" y="4370832"/>
            <a:ext cx="1280160" cy="274320"/>
          </a:xfrm>
          <a:prstGeom prst="rect">
            <a:avLst/>
          </a:prstGeom>
          <a:noFill/>
          <a:ln/>
        </p:spPr>
        <p:txBody>
          <a:bodyPr wrap="square" lIns="0" tIns="0" rIns="0" bIns="0" rtlCol="0" anchor="ctr">
            <a:normAutofit/>
          </a:bodyPr>
          <a:lstStyle/>
          <a:p>
            <a:pPr marL="0" indent="0">
              <a:buNone/>
            </a:pPr>
            <a:r>
              <a:rPr lang="en-US" sz="1600" b="1" dirty="0">
                <a:solidFill>
                  <a:srgbClr val="0B2D55"/>
                </a:solidFill>
                <a:latin typeface="Aptos" pitchFamily="34" charset="0"/>
                <a:ea typeface="Aptos" pitchFamily="34" charset="-122"/>
                <a:cs typeface="Aptos" pitchFamily="34" charset="-120"/>
              </a:rPr>
              <a:t>Path cost</a:t>
            </a:r>
            <a:endParaRPr lang="en-US" sz="1600" dirty="0"/>
          </a:p>
        </p:txBody>
      </p:sp>
      <p:sp>
        <p:nvSpPr>
          <p:cNvPr id="19" name="Text 17"/>
          <p:cNvSpPr/>
          <p:nvPr/>
        </p:nvSpPr>
        <p:spPr>
          <a:xfrm>
            <a:off x="7635240" y="4370832"/>
            <a:ext cx="3200400" cy="274320"/>
          </a:xfrm>
          <a:prstGeom prst="rect">
            <a:avLst/>
          </a:prstGeom>
          <a:noFill/>
          <a:ln/>
        </p:spPr>
        <p:txBody>
          <a:bodyPr wrap="square" lIns="0" tIns="0" rIns="0" bIns="0" rtlCol="0" anchor="ctr">
            <a:normAutofit/>
          </a:bodyPr>
          <a:lstStyle/>
          <a:p>
            <a:pPr marL="0" indent="0">
              <a:buNone/>
            </a:pPr>
            <a:r>
              <a:rPr lang="en-US" sz="1600" dirty="0">
                <a:solidFill>
                  <a:srgbClr val="6D7C8F"/>
                </a:solidFill>
                <a:latin typeface="Aptos" pitchFamily="34" charset="0"/>
                <a:ea typeface="Aptos" pitchFamily="34" charset="-122"/>
                <a:cs typeface="Aptos" pitchFamily="34" charset="-120"/>
              </a:rPr>
              <a:t>What should be minimized?</a:t>
            </a:r>
            <a:endParaRPr lang="en-US" sz="1600" dirty="0"/>
          </a:p>
        </p:txBody>
      </p:sp>
      <p:sp>
        <p:nvSpPr>
          <p:cNvPr id="20" name="Text 18"/>
          <p:cNvSpPr/>
          <p:nvPr/>
        </p:nvSpPr>
        <p:spPr>
          <a:xfrm>
            <a:off x="960120" y="5486400"/>
            <a:ext cx="10149840" cy="457200"/>
          </a:xfrm>
          <a:prstGeom prst="rect">
            <a:avLst/>
          </a:prstGeom>
          <a:noFill/>
          <a:ln/>
        </p:spPr>
        <p:txBody>
          <a:bodyPr wrap="square" lIns="0" tIns="0" rIns="0" bIns="0" rtlCol="0" anchor="ctr">
            <a:normAutofit/>
          </a:bodyPr>
          <a:lstStyle/>
          <a:p>
            <a:pPr marL="0" indent="0" algn="ctr">
              <a:buNone/>
            </a:pPr>
            <a:r>
              <a:rPr lang="en-US" sz="2300" b="1" dirty="0">
                <a:solidFill>
                  <a:srgbClr val="1D5FA7"/>
                </a:solidFill>
                <a:latin typeface="Aptos" pitchFamily="34" charset="0"/>
                <a:ea typeface="Aptos" pitchFamily="34" charset="-122"/>
                <a:cs typeface="Aptos" pitchFamily="34" charset="-120"/>
              </a:rPr>
              <a:t>Pairs: create the four-part formulation. Be ready to defend one design choice.</a:t>
            </a:r>
            <a:endParaRPr lang="en-US" sz="2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Critique and revise</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A formulation is not finished until it survives questions.</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17</a:t>
            </a:r>
            <a:endParaRPr lang="en-US" sz="850" dirty="0"/>
          </a:p>
        </p:txBody>
      </p:sp>
      <p:sp>
        <p:nvSpPr>
          <p:cNvPr id="6" name="Shape 4"/>
          <p:cNvSpPr/>
          <p:nvPr/>
        </p:nvSpPr>
        <p:spPr>
          <a:xfrm>
            <a:off x="822960" y="1600200"/>
            <a:ext cx="4892040" cy="1005840"/>
          </a:xfrm>
          <a:prstGeom prst="roundRect">
            <a:avLst>
              <a:gd name="adj" fmla="val 7273"/>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7" name="Shape 5"/>
          <p:cNvSpPr/>
          <p:nvPr/>
        </p:nvSpPr>
        <p:spPr>
          <a:xfrm>
            <a:off x="822960" y="1600200"/>
            <a:ext cx="73152" cy="1005840"/>
          </a:xfrm>
          <a:prstGeom prst="rect">
            <a:avLst/>
          </a:prstGeom>
          <a:solidFill>
            <a:srgbClr val="39A875"/>
          </a:solidFill>
          <a:ln w="12700">
            <a:solidFill>
              <a:srgbClr val="39A875"/>
            </a:solidFill>
            <a:prstDash val="solid"/>
          </a:ln>
        </p:spPr>
        <p:txBody>
          <a:bodyPr/>
          <a:lstStyle/>
          <a:p>
            <a:endParaRPr lang="en-US"/>
          </a:p>
        </p:txBody>
      </p:sp>
      <p:sp>
        <p:nvSpPr>
          <p:cNvPr id="8" name="Text 6"/>
          <p:cNvSpPr/>
          <p:nvPr/>
        </p:nvSpPr>
        <p:spPr>
          <a:xfrm>
            <a:off x="1005840" y="1746504"/>
            <a:ext cx="457200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Actions</a:t>
            </a:r>
            <a:endParaRPr lang="en-US" sz="1500" dirty="0"/>
          </a:p>
        </p:txBody>
      </p:sp>
      <p:sp>
        <p:nvSpPr>
          <p:cNvPr id="9" name="Text 7"/>
          <p:cNvSpPr/>
          <p:nvPr/>
        </p:nvSpPr>
        <p:spPr>
          <a:xfrm>
            <a:off x="1005840" y="2084832"/>
            <a:ext cx="4572000" cy="411480"/>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Does the state tell us which actions are legal?</a:t>
            </a:r>
            <a:endParaRPr lang="en-US" sz="1350" dirty="0"/>
          </a:p>
        </p:txBody>
      </p:sp>
      <p:sp>
        <p:nvSpPr>
          <p:cNvPr id="10" name="Shape 8"/>
          <p:cNvSpPr/>
          <p:nvPr/>
        </p:nvSpPr>
        <p:spPr>
          <a:xfrm>
            <a:off x="6400800" y="1600200"/>
            <a:ext cx="4892040" cy="1005840"/>
          </a:xfrm>
          <a:prstGeom prst="roundRect">
            <a:avLst>
              <a:gd name="adj" fmla="val 7273"/>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1" name="Shape 9"/>
          <p:cNvSpPr/>
          <p:nvPr/>
        </p:nvSpPr>
        <p:spPr>
          <a:xfrm>
            <a:off x="6400800" y="1600200"/>
            <a:ext cx="73152" cy="1005840"/>
          </a:xfrm>
          <a:prstGeom prst="rect">
            <a:avLst/>
          </a:prstGeom>
          <a:solidFill>
            <a:srgbClr val="F2C14E"/>
          </a:solidFill>
          <a:ln w="12700">
            <a:solidFill>
              <a:srgbClr val="F2C14E"/>
            </a:solidFill>
            <a:prstDash val="solid"/>
          </a:ln>
        </p:spPr>
        <p:txBody>
          <a:bodyPr/>
          <a:lstStyle/>
          <a:p>
            <a:endParaRPr lang="en-US"/>
          </a:p>
        </p:txBody>
      </p:sp>
      <p:sp>
        <p:nvSpPr>
          <p:cNvPr id="12" name="Text 10"/>
          <p:cNvSpPr/>
          <p:nvPr/>
        </p:nvSpPr>
        <p:spPr>
          <a:xfrm>
            <a:off x="6583680" y="1746504"/>
            <a:ext cx="457200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Goal</a:t>
            </a:r>
            <a:endParaRPr lang="en-US" sz="1500" dirty="0"/>
          </a:p>
        </p:txBody>
      </p:sp>
      <p:sp>
        <p:nvSpPr>
          <p:cNvPr id="13" name="Text 11"/>
          <p:cNvSpPr/>
          <p:nvPr/>
        </p:nvSpPr>
        <p:spPr>
          <a:xfrm>
            <a:off x="6583680" y="2084832"/>
            <a:ext cx="4572000" cy="411480"/>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Can the system recognize success from the state?</a:t>
            </a:r>
            <a:endParaRPr lang="en-US" sz="1350" dirty="0"/>
          </a:p>
        </p:txBody>
      </p:sp>
      <p:sp>
        <p:nvSpPr>
          <p:cNvPr id="14" name="Shape 12"/>
          <p:cNvSpPr/>
          <p:nvPr/>
        </p:nvSpPr>
        <p:spPr>
          <a:xfrm>
            <a:off x="822960" y="3108960"/>
            <a:ext cx="4892040" cy="1005840"/>
          </a:xfrm>
          <a:prstGeom prst="roundRect">
            <a:avLst>
              <a:gd name="adj" fmla="val 7273"/>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5" name="Shape 13"/>
          <p:cNvSpPr/>
          <p:nvPr/>
        </p:nvSpPr>
        <p:spPr>
          <a:xfrm>
            <a:off x="822960" y="3108960"/>
            <a:ext cx="73152" cy="1005840"/>
          </a:xfrm>
          <a:prstGeom prst="rect">
            <a:avLst/>
          </a:prstGeom>
          <a:solidFill>
            <a:srgbClr val="1D5FA7"/>
          </a:solidFill>
          <a:ln w="12700">
            <a:solidFill>
              <a:srgbClr val="1D5FA7"/>
            </a:solidFill>
            <a:prstDash val="solid"/>
          </a:ln>
        </p:spPr>
        <p:txBody>
          <a:bodyPr/>
          <a:lstStyle/>
          <a:p>
            <a:endParaRPr lang="en-US"/>
          </a:p>
        </p:txBody>
      </p:sp>
      <p:sp>
        <p:nvSpPr>
          <p:cNvPr id="16" name="Text 14"/>
          <p:cNvSpPr/>
          <p:nvPr/>
        </p:nvSpPr>
        <p:spPr>
          <a:xfrm>
            <a:off x="1005840" y="3255264"/>
            <a:ext cx="457200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Cost</a:t>
            </a:r>
            <a:endParaRPr lang="en-US" sz="1500" dirty="0"/>
          </a:p>
        </p:txBody>
      </p:sp>
      <p:sp>
        <p:nvSpPr>
          <p:cNvPr id="17" name="Text 15"/>
          <p:cNvSpPr/>
          <p:nvPr/>
        </p:nvSpPr>
        <p:spPr>
          <a:xfrm>
            <a:off x="1005840" y="3593592"/>
            <a:ext cx="4572000" cy="411480"/>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Can the path cost be accumulated over actions?</a:t>
            </a:r>
            <a:endParaRPr lang="en-US" sz="1350" dirty="0"/>
          </a:p>
        </p:txBody>
      </p:sp>
      <p:sp>
        <p:nvSpPr>
          <p:cNvPr id="18" name="Shape 16"/>
          <p:cNvSpPr/>
          <p:nvPr/>
        </p:nvSpPr>
        <p:spPr>
          <a:xfrm>
            <a:off x="6400800" y="3108960"/>
            <a:ext cx="4892040" cy="1005840"/>
          </a:xfrm>
          <a:prstGeom prst="roundRect">
            <a:avLst>
              <a:gd name="adj" fmla="val 7273"/>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9" name="Shape 17"/>
          <p:cNvSpPr/>
          <p:nvPr/>
        </p:nvSpPr>
        <p:spPr>
          <a:xfrm>
            <a:off x="6400800" y="3108960"/>
            <a:ext cx="73152" cy="1005840"/>
          </a:xfrm>
          <a:prstGeom prst="rect">
            <a:avLst/>
          </a:prstGeom>
          <a:solidFill>
            <a:srgbClr val="6D7C8F"/>
          </a:solidFill>
          <a:ln w="12700">
            <a:solidFill>
              <a:srgbClr val="6D7C8F"/>
            </a:solidFill>
            <a:prstDash val="solid"/>
          </a:ln>
        </p:spPr>
        <p:txBody>
          <a:bodyPr/>
          <a:lstStyle/>
          <a:p>
            <a:endParaRPr lang="en-US"/>
          </a:p>
        </p:txBody>
      </p:sp>
      <p:sp>
        <p:nvSpPr>
          <p:cNvPr id="20" name="Text 18"/>
          <p:cNvSpPr/>
          <p:nvPr/>
        </p:nvSpPr>
        <p:spPr>
          <a:xfrm>
            <a:off x="6583680" y="3255264"/>
            <a:ext cx="457200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Complexity</a:t>
            </a:r>
            <a:endParaRPr lang="en-US" sz="1500" dirty="0"/>
          </a:p>
        </p:txBody>
      </p:sp>
      <p:sp>
        <p:nvSpPr>
          <p:cNvPr id="21" name="Text 19"/>
          <p:cNvSpPr/>
          <p:nvPr/>
        </p:nvSpPr>
        <p:spPr>
          <a:xfrm>
            <a:off x="6583680" y="3593592"/>
            <a:ext cx="4572000" cy="411480"/>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Did we include unnecessary details?</a:t>
            </a:r>
            <a:endParaRPr lang="en-US" sz="1350" dirty="0"/>
          </a:p>
        </p:txBody>
      </p:sp>
      <p:sp>
        <p:nvSpPr>
          <p:cNvPr id="22" name="Text 20"/>
          <p:cNvSpPr/>
          <p:nvPr/>
        </p:nvSpPr>
        <p:spPr>
          <a:xfrm>
            <a:off x="960120" y="5257800"/>
            <a:ext cx="10149840" cy="457200"/>
          </a:xfrm>
          <a:prstGeom prst="rect">
            <a:avLst/>
          </a:prstGeom>
          <a:noFill/>
          <a:ln/>
        </p:spPr>
        <p:txBody>
          <a:bodyPr wrap="square" lIns="0" tIns="0" rIns="0" bIns="0" rtlCol="0" anchor="ctr">
            <a:normAutofit/>
          </a:bodyPr>
          <a:lstStyle/>
          <a:p>
            <a:pPr marL="0" indent="0" algn="ctr">
              <a:buNone/>
            </a:pPr>
            <a:r>
              <a:rPr lang="en-US" sz="2300" b="1" dirty="0">
                <a:solidFill>
                  <a:srgbClr val="0B2D55"/>
                </a:solidFill>
                <a:latin typeface="Aptos" pitchFamily="34" charset="0"/>
                <a:ea typeface="Aptos" pitchFamily="34" charset="-122"/>
                <a:cs typeface="Aptos" pitchFamily="34" charset="-120"/>
              </a:rPr>
              <a:t>Revision rule: change one element and explain how the change improves the formulation.</a:t>
            </a:r>
            <a:endParaRPr lang="en-US" sz="2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How this shows up in Module 1</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Assessment practice builds from recognition to explanation.</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18</a:t>
            </a:r>
            <a:endParaRPr lang="en-US" sz="850" dirty="0"/>
          </a:p>
        </p:txBody>
      </p:sp>
      <p:sp>
        <p:nvSpPr>
          <p:cNvPr id="6" name="Shape 4"/>
          <p:cNvSpPr/>
          <p:nvPr/>
        </p:nvSpPr>
        <p:spPr>
          <a:xfrm>
            <a:off x="914400" y="1828800"/>
            <a:ext cx="3063240" cy="1965960"/>
          </a:xfrm>
          <a:prstGeom prst="roundRect">
            <a:avLst>
              <a:gd name="adj" fmla="val 3721"/>
            </a:avLst>
          </a:prstGeom>
          <a:solidFill>
            <a:srgbClr val="FFFFFF"/>
          </a:solidFill>
          <a:ln w="12700">
            <a:solidFill>
              <a:srgbClr val="39A875"/>
            </a:solidFill>
            <a:prstDash val="solid"/>
          </a:ln>
          <a:effectLst>
            <a:outerShdw blurRad="12700" dist="50800" dir="2700000" algn="bl" rotWithShape="0">
              <a:srgbClr val="D4DEE8">
                <a:alpha val="25000"/>
              </a:srgbClr>
            </a:outerShdw>
          </a:effectLst>
        </p:spPr>
        <p:txBody>
          <a:bodyPr/>
          <a:lstStyle/>
          <a:p>
            <a:endParaRPr lang="en-US"/>
          </a:p>
        </p:txBody>
      </p:sp>
      <p:sp>
        <p:nvSpPr>
          <p:cNvPr id="7" name="Text 5"/>
          <p:cNvSpPr/>
          <p:nvPr/>
        </p:nvSpPr>
        <p:spPr>
          <a:xfrm>
            <a:off x="1143000" y="2048256"/>
            <a:ext cx="2606040" cy="320040"/>
          </a:xfrm>
          <a:prstGeom prst="rect">
            <a:avLst/>
          </a:prstGeom>
          <a:noFill/>
          <a:ln/>
        </p:spPr>
        <p:txBody>
          <a:bodyPr wrap="square" lIns="0" tIns="0" rIns="0" bIns="0" rtlCol="0" anchor="ctr">
            <a:normAutofit/>
          </a:bodyPr>
          <a:lstStyle/>
          <a:p>
            <a:pPr marL="0" indent="0" algn="ctr">
              <a:buNone/>
            </a:pPr>
            <a:r>
              <a:rPr lang="en-US" sz="2400" b="1" dirty="0">
                <a:solidFill>
                  <a:srgbClr val="39A875"/>
                </a:solidFill>
                <a:latin typeface="Aptos" pitchFamily="34" charset="0"/>
                <a:ea typeface="Aptos" pitchFamily="34" charset="-122"/>
                <a:cs typeface="Aptos" pitchFamily="34" charset="-120"/>
              </a:rPr>
              <a:t>HW1</a:t>
            </a:r>
            <a:endParaRPr lang="en-US" sz="2400" dirty="0"/>
          </a:p>
        </p:txBody>
      </p:sp>
      <p:sp>
        <p:nvSpPr>
          <p:cNvPr id="8" name="Text 6"/>
          <p:cNvSpPr/>
          <p:nvPr/>
        </p:nvSpPr>
        <p:spPr>
          <a:xfrm>
            <a:off x="1143000" y="2615184"/>
            <a:ext cx="2606040" cy="475488"/>
          </a:xfrm>
          <a:prstGeom prst="rect">
            <a:avLst/>
          </a:prstGeom>
          <a:noFill/>
          <a:ln/>
        </p:spPr>
        <p:txBody>
          <a:bodyPr wrap="square" lIns="0" tIns="0" rIns="0" bIns="0" rtlCol="0" anchor="ctr">
            <a:normAutofit/>
          </a:bodyPr>
          <a:lstStyle/>
          <a:p>
            <a:pPr marL="0" indent="0" algn="ctr">
              <a:buNone/>
            </a:pPr>
            <a:r>
              <a:rPr lang="en-US" sz="1700" b="1" dirty="0">
                <a:solidFill>
                  <a:srgbClr val="0B2D55"/>
                </a:solidFill>
                <a:latin typeface="Aptos" pitchFamily="34" charset="0"/>
                <a:ea typeface="Aptos" pitchFamily="34" charset="-122"/>
                <a:cs typeface="Aptos" pitchFamily="34" charset="-120"/>
              </a:rPr>
              <a:t>Build and test representations</a:t>
            </a:r>
            <a:endParaRPr lang="en-US" sz="1700" dirty="0"/>
          </a:p>
        </p:txBody>
      </p:sp>
      <p:sp>
        <p:nvSpPr>
          <p:cNvPr id="9" name="Text 7"/>
          <p:cNvSpPr/>
          <p:nvPr/>
        </p:nvSpPr>
        <p:spPr>
          <a:xfrm>
            <a:off x="1143000" y="3319272"/>
            <a:ext cx="2606040" cy="365760"/>
          </a:xfrm>
          <a:prstGeom prst="rect">
            <a:avLst/>
          </a:prstGeom>
          <a:noFill/>
          <a:ln/>
        </p:spPr>
        <p:txBody>
          <a:bodyPr wrap="square" lIns="0" tIns="0" rIns="0" bIns="0" rtlCol="0" anchor="ctr">
            <a:normAutofit/>
          </a:bodyPr>
          <a:lstStyle/>
          <a:p>
            <a:pPr marL="0" indent="0" algn="ctr">
              <a:buNone/>
            </a:pPr>
            <a:r>
              <a:rPr lang="en-US" sz="1400" dirty="0">
                <a:solidFill>
                  <a:srgbClr val="6D7C8F"/>
                </a:solidFill>
                <a:latin typeface="Aptos" pitchFamily="34" charset="0"/>
                <a:ea typeface="Aptos" pitchFamily="34" charset="-122"/>
                <a:cs typeface="Aptos" pitchFamily="34" charset="-120"/>
              </a:rPr>
              <a:t>construction + reflection</a:t>
            </a:r>
            <a:endParaRPr lang="en-US" sz="1400" dirty="0"/>
          </a:p>
        </p:txBody>
      </p:sp>
      <p:sp>
        <p:nvSpPr>
          <p:cNvPr id="10" name="Shape 8"/>
          <p:cNvSpPr/>
          <p:nvPr/>
        </p:nvSpPr>
        <p:spPr>
          <a:xfrm>
            <a:off x="4526280" y="1828800"/>
            <a:ext cx="3063240" cy="1965960"/>
          </a:xfrm>
          <a:prstGeom prst="roundRect">
            <a:avLst>
              <a:gd name="adj" fmla="val 3721"/>
            </a:avLst>
          </a:prstGeom>
          <a:solidFill>
            <a:srgbClr val="FFFFFF"/>
          </a:solidFill>
          <a:ln w="12700">
            <a:solidFill>
              <a:srgbClr val="1D5FA7"/>
            </a:solidFill>
            <a:prstDash val="solid"/>
          </a:ln>
          <a:effectLst>
            <a:outerShdw blurRad="12700" dist="50800" dir="2700000" algn="bl" rotWithShape="0">
              <a:srgbClr val="D4DEE8">
                <a:alpha val="25000"/>
              </a:srgbClr>
            </a:outerShdw>
          </a:effectLst>
        </p:spPr>
        <p:txBody>
          <a:bodyPr/>
          <a:lstStyle/>
          <a:p>
            <a:endParaRPr lang="en-US"/>
          </a:p>
        </p:txBody>
      </p:sp>
      <p:sp>
        <p:nvSpPr>
          <p:cNvPr id="11" name="Text 9"/>
          <p:cNvSpPr/>
          <p:nvPr/>
        </p:nvSpPr>
        <p:spPr>
          <a:xfrm>
            <a:off x="4754880" y="2048256"/>
            <a:ext cx="2606040" cy="320040"/>
          </a:xfrm>
          <a:prstGeom prst="rect">
            <a:avLst/>
          </a:prstGeom>
          <a:noFill/>
          <a:ln/>
        </p:spPr>
        <p:txBody>
          <a:bodyPr wrap="square" lIns="0" tIns="0" rIns="0" bIns="0" rtlCol="0" anchor="ctr">
            <a:normAutofit/>
          </a:bodyPr>
          <a:lstStyle/>
          <a:p>
            <a:pPr marL="0" indent="0" algn="ctr">
              <a:buNone/>
            </a:pPr>
            <a:r>
              <a:rPr lang="en-US" sz="2400" b="1" dirty="0">
                <a:solidFill>
                  <a:srgbClr val="1D5FA7"/>
                </a:solidFill>
                <a:latin typeface="Aptos" pitchFamily="34" charset="0"/>
                <a:ea typeface="Aptos" pitchFamily="34" charset="-122"/>
                <a:cs typeface="Aptos" pitchFamily="34" charset="-120"/>
              </a:rPr>
              <a:t>Quiz 1</a:t>
            </a:r>
            <a:endParaRPr lang="en-US" sz="2400" dirty="0"/>
          </a:p>
        </p:txBody>
      </p:sp>
      <p:sp>
        <p:nvSpPr>
          <p:cNvPr id="12" name="Text 10"/>
          <p:cNvSpPr/>
          <p:nvPr/>
        </p:nvSpPr>
        <p:spPr>
          <a:xfrm>
            <a:off x="4754880" y="2615184"/>
            <a:ext cx="2606040" cy="475488"/>
          </a:xfrm>
          <a:prstGeom prst="rect">
            <a:avLst/>
          </a:prstGeom>
          <a:noFill/>
          <a:ln/>
        </p:spPr>
        <p:txBody>
          <a:bodyPr wrap="square" lIns="0" tIns="0" rIns="0" bIns="0" rtlCol="0" anchor="ctr">
            <a:normAutofit/>
          </a:bodyPr>
          <a:lstStyle/>
          <a:p>
            <a:pPr marL="0" indent="0" algn="ctr">
              <a:buNone/>
            </a:pPr>
            <a:r>
              <a:rPr lang="en-US" sz="1700" b="1" dirty="0">
                <a:solidFill>
                  <a:srgbClr val="0B2D55"/>
                </a:solidFill>
                <a:latin typeface="Aptos" pitchFamily="34" charset="0"/>
                <a:ea typeface="Aptos" pitchFamily="34" charset="-122"/>
                <a:cs typeface="Aptos" pitchFamily="34" charset="-120"/>
              </a:rPr>
              <a:t>Recognize and compare formulations</a:t>
            </a:r>
            <a:endParaRPr lang="en-US" sz="1700" dirty="0"/>
          </a:p>
        </p:txBody>
      </p:sp>
      <p:sp>
        <p:nvSpPr>
          <p:cNvPr id="13" name="Text 11"/>
          <p:cNvSpPr/>
          <p:nvPr/>
        </p:nvSpPr>
        <p:spPr>
          <a:xfrm>
            <a:off x="4754880" y="3319272"/>
            <a:ext cx="2606040" cy="365760"/>
          </a:xfrm>
          <a:prstGeom prst="rect">
            <a:avLst/>
          </a:prstGeom>
          <a:noFill/>
          <a:ln/>
        </p:spPr>
        <p:txBody>
          <a:bodyPr wrap="square" lIns="0" tIns="0" rIns="0" bIns="0" rtlCol="0" anchor="ctr">
            <a:normAutofit/>
          </a:bodyPr>
          <a:lstStyle/>
          <a:p>
            <a:pPr marL="0" indent="0" algn="ctr">
              <a:buNone/>
            </a:pPr>
            <a:r>
              <a:rPr lang="en-US" sz="1400" dirty="0">
                <a:solidFill>
                  <a:srgbClr val="6D7C8F"/>
                </a:solidFill>
                <a:latin typeface="Aptos" pitchFamily="34" charset="0"/>
                <a:ea typeface="Aptos" pitchFamily="34" charset="-122"/>
                <a:cs typeface="Aptos" pitchFamily="34" charset="-120"/>
              </a:rPr>
              <a:t>quick classification</a:t>
            </a:r>
            <a:endParaRPr lang="en-US" sz="1400" dirty="0"/>
          </a:p>
        </p:txBody>
      </p:sp>
      <p:sp>
        <p:nvSpPr>
          <p:cNvPr id="14" name="Shape 12"/>
          <p:cNvSpPr/>
          <p:nvPr/>
        </p:nvSpPr>
        <p:spPr>
          <a:xfrm>
            <a:off x="8138160" y="1828800"/>
            <a:ext cx="3063240" cy="1965960"/>
          </a:xfrm>
          <a:prstGeom prst="roundRect">
            <a:avLst>
              <a:gd name="adj" fmla="val 3721"/>
            </a:avLst>
          </a:prstGeom>
          <a:solidFill>
            <a:srgbClr val="FFFFFF"/>
          </a:solidFill>
          <a:ln w="12700">
            <a:solidFill>
              <a:srgbClr val="F2C14E"/>
            </a:solidFill>
            <a:prstDash val="solid"/>
          </a:ln>
          <a:effectLst>
            <a:outerShdw blurRad="12700" dist="50800" dir="2700000" algn="bl" rotWithShape="0">
              <a:srgbClr val="D4DEE8">
                <a:alpha val="25000"/>
              </a:srgbClr>
            </a:outerShdw>
          </a:effectLst>
        </p:spPr>
        <p:txBody>
          <a:bodyPr/>
          <a:lstStyle/>
          <a:p>
            <a:endParaRPr lang="en-US"/>
          </a:p>
        </p:txBody>
      </p:sp>
      <p:sp>
        <p:nvSpPr>
          <p:cNvPr id="15" name="Text 13"/>
          <p:cNvSpPr/>
          <p:nvPr/>
        </p:nvSpPr>
        <p:spPr>
          <a:xfrm>
            <a:off x="8366760" y="2048256"/>
            <a:ext cx="2606040" cy="320040"/>
          </a:xfrm>
          <a:prstGeom prst="rect">
            <a:avLst/>
          </a:prstGeom>
          <a:noFill/>
          <a:ln/>
        </p:spPr>
        <p:txBody>
          <a:bodyPr wrap="square" lIns="0" tIns="0" rIns="0" bIns="0" rtlCol="0" anchor="ctr">
            <a:normAutofit/>
          </a:bodyPr>
          <a:lstStyle/>
          <a:p>
            <a:pPr marL="0" indent="0" algn="ctr">
              <a:buNone/>
            </a:pPr>
            <a:r>
              <a:rPr lang="en-US" sz="2400" b="1" dirty="0">
                <a:solidFill>
                  <a:srgbClr val="F2C14E"/>
                </a:solidFill>
                <a:latin typeface="Aptos" pitchFamily="34" charset="0"/>
                <a:ea typeface="Aptos" pitchFamily="34" charset="-122"/>
                <a:cs typeface="Aptos" pitchFamily="34" charset="-120"/>
              </a:rPr>
              <a:t>GR1</a:t>
            </a:r>
            <a:endParaRPr lang="en-US" sz="2400" dirty="0"/>
          </a:p>
        </p:txBody>
      </p:sp>
      <p:sp>
        <p:nvSpPr>
          <p:cNvPr id="16" name="Text 14"/>
          <p:cNvSpPr/>
          <p:nvPr/>
        </p:nvSpPr>
        <p:spPr>
          <a:xfrm>
            <a:off x="8366760" y="2615184"/>
            <a:ext cx="2606040" cy="475488"/>
          </a:xfrm>
          <a:prstGeom prst="rect">
            <a:avLst/>
          </a:prstGeom>
          <a:noFill/>
          <a:ln/>
        </p:spPr>
        <p:txBody>
          <a:bodyPr wrap="square" lIns="0" tIns="0" rIns="0" bIns="0" rtlCol="0" anchor="ctr">
            <a:normAutofit/>
          </a:bodyPr>
          <a:lstStyle/>
          <a:p>
            <a:pPr marL="0" indent="0" algn="ctr">
              <a:buNone/>
            </a:pPr>
            <a:r>
              <a:rPr lang="en-US" sz="1700" b="1" dirty="0">
                <a:solidFill>
                  <a:srgbClr val="0B2D55"/>
                </a:solidFill>
                <a:latin typeface="Aptos" pitchFamily="34" charset="0"/>
                <a:ea typeface="Aptos" pitchFamily="34" charset="-122"/>
                <a:cs typeface="Aptos" pitchFamily="34" charset="-120"/>
              </a:rPr>
              <a:t>Create and justify a new formulation</a:t>
            </a:r>
            <a:endParaRPr lang="en-US" sz="1700" dirty="0"/>
          </a:p>
        </p:txBody>
      </p:sp>
      <p:sp>
        <p:nvSpPr>
          <p:cNvPr id="17" name="Text 15"/>
          <p:cNvSpPr/>
          <p:nvPr/>
        </p:nvSpPr>
        <p:spPr>
          <a:xfrm>
            <a:off x="8366760" y="3319272"/>
            <a:ext cx="2606040" cy="365760"/>
          </a:xfrm>
          <a:prstGeom prst="rect">
            <a:avLst/>
          </a:prstGeom>
          <a:noFill/>
          <a:ln/>
        </p:spPr>
        <p:txBody>
          <a:bodyPr wrap="square" lIns="0" tIns="0" rIns="0" bIns="0" rtlCol="0" anchor="ctr">
            <a:normAutofit/>
          </a:bodyPr>
          <a:lstStyle/>
          <a:p>
            <a:pPr marL="0" indent="0" algn="ctr">
              <a:buNone/>
            </a:pPr>
            <a:r>
              <a:rPr lang="en-US" sz="1400" dirty="0">
                <a:solidFill>
                  <a:srgbClr val="6D7C8F"/>
                </a:solidFill>
                <a:latin typeface="Aptos" pitchFamily="34" charset="0"/>
                <a:ea typeface="Aptos" pitchFamily="34" charset="-122"/>
                <a:cs typeface="Aptos" pitchFamily="34" charset="-120"/>
              </a:rPr>
              <a:t>open-response transfer</a:t>
            </a:r>
            <a:endParaRPr lang="en-US" sz="1400" dirty="0"/>
          </a:p>
        </p:txBody>
      </p:sp>
      <p:sp>
        <p:nvSpPr>
          <p:cNvPr id="18" name="Text 16"/>
          <p:cNvSpPr/>
          <p:nvPr/>
        </p:nvSpPr>
        <p:spPr>
          <a:xfrm>
            <a:off x="960120" y="5212080"/>
            <a:ext cx="10149840" cy="457200"/>
          </a:xfrm>
          <a:prstGeom prst="rect">
            <a:avLst/>
          </a:prstGeom>
          <a:noFill/>
          <a:ln/>
        </p:spPr>
        <p:txBody>
          <a:bodyPr wrap="square" lIns="0" tIns="0" rIns="0" bIns="0" rtlCol="0" anchor="ctr">
            <a:normAutofit/>
          </a:bodyPr>
          <a:lstStyle/>
          <a:p>
            <a:pPr marL="0" indent="0" algn="ctr">
              <a:buNone/>
            </a:pPr>
            <a:r>
              <a:rPr lang="en-US" sz="2300" b="1" dirty="0">
                <a:solidFill>
                  <a:srgbClr val="0B2D55"/>
                </a:solidFill>
                <a:latin typeface="Aptos" pitchFamily="34" charset="0"/>
                <a:ea typeface="Aptos" pitchFamily="34" charset="-122"/>
                <a:cs typeface="Aptos" pitchFamily="34" charset="-120"/>
              </a:rPr>
              <a:t>You should be able to explain why your formulation would help or hurt search.</a:t>
            </a:r>
            <a:endParaRPr lang="en-US" sz="2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Synthesis: problem formulation</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Rebuild the search problem template from memory.</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19</a:t>
            </a:r>
            <a:endParaRPr lang="en-US" sz="850" dirty="0"/>
          </a:p>
        </p:txBody>
      </p:sp>
      <p:sp>
        <p:nvSpPr>
          <p:cNvPr id="6" name="Shape 4"/>
          <p:cNvSpPr/>
          <p:nvPr/>
        </p:nvSpPr>
        <p:spPr>
          <a:xfrm>
            <a:off x="822960" y="1828800"/>
            <a:ext cx="2423160" cy="1828800"/>
          </a:xfrm>
          <a:prstGeom prst="roundRect">
            <a:avLst>
              <a:gd name="adj" fmla="val 4000"/>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7" name="Shape 5"/>
          <p:cNvSpPr/>
          <p:nvPr/>
        </p:nvSpPr>
        <p:spPr>
          <a:xfrm>
            <a:off x="822960" y="1828800"/>
            <a:ext cx="73152" cy="1828800"/>
          </a:xfrm>
          <a:prstGeom prst="rect">
            <a:avLst/>
          </a:prstGeom>
          <a:solidFill>
            <a:srgbClr val="1D5FA7"/>
          </a:solidFill>
          <a:ln w="12700">
            <a:solidFill>
              <a:srgbClr val="1D5FA7"/>
            </a:solidFill>
            <a:prstDash val="solid"/>
          </a:ln>
        </p:spPr>
        <p:txBody>
          <a:bodyPr/>
          <a:lstStyle/>
          <a:p>
            <a:endParaRPr lang="en-US"/>
          </a:p>
        </p:txBody>
      </p:sp>
      <p:sp>
        <p:nvSpPr>
          <p:cNvPr id="8" name="Text 6"/>
          <p:cNvSpPr/>
          <p:nvPr/>
        </p:nvSpPr>
        <p:spPr>
          <a:xfrm>
            <a:off x="1005840" y="1975104"/>
            <a:ext cx="210312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State</a:t>
            </a:r>
            <a:endParaRPr lang="en-US" sz="1500" dirty="0"/>
          </a:p>
        </p:txBody>
      </p:sp>
      <p:sp>
        <p:nvSpPr>
          <p:cNvPr id="9" name="Text 7"/>
          <p:cNvSpPr/>
          <p:nvPr/>
        </p:nvSpPr>
        <p:spPr>
          <a:xfrm>
            <a:off x="1005840" y="2313432"/>
            <a:ext cx="2103120" cy="1234440"/>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What information distinguishes situations?</a:t>
            </a:r>
            <a:endParaRPr lang="en-US" sz="1350" dirty="0"/>
          </a:p>
        </p:txBody>
      </p:sp>
      <p:sp>
        <p:nvSpPr>
          <p:cNvPr id="10" name="Shape 8"/>
          <p:cNvSpPr/>
          <p:nvPr/>
        </p:nvSpPr>
        <p:spPr>
          <a:xfrm>
            <a:off x="3611880" y="1828800"/>
            <a:ext cx="2423160" cy="1828800"/>
          </a:xfrm>
          <a:prstGeom prst="roundRect">
            <a:avLst>
              <a:gd name="adj" fmla="val 4000"/>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1" name="Shape 9"/>
          <p:cNvSpPr/>
          <p:nvPr/>
        </p:nvSpPr>
        <p:spPr>
          <a:xfrm>
            <a:off x="3611880" y="1828800"/>
            <a:ext cx="73152" cy="1828800"/>
          </a:xfrm>
          <a:prstGeom prst="rect">
            <a:avLst/>
          </a:prstGeom>
          <a:solidFill>
            <a:srgbClr val="39A875"/>
          </a:solidFill>
          <a:ln w="12700">
            <a:solidFill>
              <a:srgbClr val="39A875"/>
            </a:solidFill>
            <a:prstDash val="solid"/>
          </a:ln>
        </p:spPr>
        <p:txBody>
          <a:bodyPr/>
          <a:lstStyle/>
          <a:p>
            <a:endParaRPr lang="en-US"/>
          </a:p>
        </p:txBody>
      </p:sp>
      <p:sp>
        <p:nvSpPr>
          <p:cNvPr id="12" name="Text 10"/>
          <p:cNvSpPr/>
          <p:nvPr/>
        </p:nvSpPr>
        <p:spPr>
          <a:xfrm>
            <a:off x="3794760" y="1975104"/>
            <a:ext cx="210312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Actions</a:t>
            </a:r>
            <a:endParaRPr lang="en-US" sz="1500" dirty="0"/>
          </a:p>
        </p:txBody>
      </p:sp>
      <p:sp>
        <p:nvSpPr>
          <p:cNvPr id="13" name="Text 11"/>
          <p:cNvSpPr/>
          <p:nvPr/>
        </p:nvSpPr>
        <p:spPr>
          <a:xfrm>
            <a:off x="3794760" y="2313432"/>
            <a:ext cx="2103120" cy="1234440"/>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What can the agent do?</a:t>
            </a:r>
            <a:endParaRPr lang="en-US" sz="1350" dirty="0"/>
          </a:p>
        </p:txBody>
      </p:sp>
      <p:sp>
        <p:nvSpPr>
          <p:cNvPr id="14" name="Shape 12"/>
          <p:cNvSpPr/>
          <p:nvPr/>
        </p:nvSpPr>
        <p:spPr>
          <a:xfrm>
            <a:off x="6400800" y="1828800"/>
            <a:ext cx="2423160" cy="1828800"/>
          </a:xfrm>
          <a:prstGeom prst="roundRect">
            <a:avLst>
              <a:gd name="adj" fmla="val 4000"/>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5" name="Shape 13"/>
          <p:cNvSpPr/>
          <p:nvPr/>
        </p:nvSpPr>
        <p:spPr>
          <a:xfrm>
            <a:off x="6400800" y="1828800"/>
            <a:ext cx="73152" cy="1828800"/>
          </a:xfrm>
          <a:prstGeom prst="rect">
            <a:avLst/>
          </a:prstGeom>
          <a:solidFill>
            <a:srgbClr val="F2C14E"/>
          </a:solidFill>
          <a:ln w="12700">
            <a:solidFill>
              <a:srgbClr val="F2C14E"/>
            </a:solidFill>
            <a:prstDash val="solid"/>
          </a:ln>
        </p:spPr>
        <p:txBody>
          <a:bodyPr/>
          <a:lstStyle/>
          <a:p>
            <a:endParaRPr lang="en-US"/>
          </a:p>
        </p:txBody>
      </p:sp>
      <p:sp>
        <p:nvSpPr>
          <p:cNvPr id="16" name="Text 14"/>
          <p:cNvSpPr/>
          <p:nvPr/>
        </p:nvSpPr>
        <p:spPr>
          <a:xfrm>
            <a:off x="6583680" y="1975104"/>
            <a:ext cx="210312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Goal test</a:t>
            </a:r>
            <a:endParaRPr lang="en-US" sz="1500" dirty="0"/>
          </a:p>
        </p:txBody>
      </p:sp>
      <p:sp>
        <p:nvSpPr>
          <p:cNvPr id="17" name="Text 15"/>
          <p:cNvSpPr/>
          <p:nvPr/>
        </p:nvSpPr>
        <p:spPr>
          <a:xfrm>
            <a:off x="6583680" y="2313432"/>
            <a:ext cx="2103120" cy="1234440"/>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How do we know we are done?</a:t>
            </a:r>
            <a:endParaRPr lang="en-US" sz="1350" dirty="0"/>
          </a:p>
        </p:txBody>
      </p:sp>
      <p:sp>
        <p:nvSpPr>
          <p:cNvPr id="18" name="Shape 16"/>
          <p:cNvSpPr/>
          <p:nvPr/>
        </p:nvSpPr>
        <p:spPr>
          <a:xfrm>
            <a:off x="9189720" y="1828800"/>
            <a:ext cx="2423160" cy="1828800"/>
          </a:xfrm>
          <a:prstGeom prst="roundRect">
            <a:avLst>
              <a:gd name="adj" fmla="val 4000"/>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9" name="Shape 17"/>
          <p:cNvSpPr/>
          <p:nvPr/>
        </p:nvSpPr>
        <p:spPr>
          <a:xfrm>
            <a:off x="9189720" y="1828800"/>
            <a:ext cx="73152" cy="1828800"/>
          </a:xfrm>
          <a:prstGeom prst="rect">
            <a:avLst/>
          </a:prstGeom>
          <a:solidFill>
            <a:srgbClr val="D94E4E"/>
          </a:solidFill>
          <a:ln w="12700">
            <a:solidFill>
              <a:srgbClr val="D94E4E"/>
            </a:solidFill>
            <a:prstDash val="solid"/>
          </a:ln>
        </p:spPr>
        <p:txBody>
          <a:bodyPr/>
          <a:lstStyle/>
          <a:p>
            <a:endParaRPr lang="en-US"/>
          </a:p>
        </p:txBody>
      </p:sp>
      <p:sp>
        <p:nvSpPr>
          <p:cNvPr id="20" name="Text 18"/>
          <p:cNvSpPr/>
          <p:nvPr/>
        </p:nvSpPr>
        <p:spPr>
          <a:xfrm>
            <a:off x="9372600" y="1975104"/>
            <a:ext cx="2103120" cy="256032"/>
          </a:xfrm>
          <a:prstGeom prst="rect">
            <a:avLst/>
          </a:prstGeom>
          <a:noFill/>
          <a:ln/>
        </p:spPr>
        <p:txBody>
          <a:bodyPr wrap="square" lIns="0" tIns="0" rIns="0" bIns="0" rtlCol="0" anchor="ctr">
            <a:normAutofit/>
          </a:bodyPr>
          <a:lstStyle/>
          <a:p>
            <a:pPr marL="0" indent="0">
              <a:buNone/>
            </a:pPr>
            <a:r>
              <a:rPr lang="en-US" sz="1500" b="1" dirty="0">
                <a:solidFill>
                  <a:srgbClr val="0B2D55"/>
                </a:solidFill>
                <a:latin typeface="Aptos" pitchFamily="34" charset="0"/>
                <a:ea typeface="Aptos" pitchFamily="34" charset="-122"/>
                <a:cs typeface="Aptos" pitchFamily="34" charset="-120"/>
              </a:rPr>
              <a:t>Path cost</a:t>
            </a:r>
            <a:endParaRPr lang="en-US" sz="1500" dirty="0"/>
          </a:p>
        </p:txBody>
      </p:sp>
      <p:sp>
        <p:nvSpPr>
          <p:cNvPr id="21" name="Text 19"/>
          <p:cNvSpPr/>
          <p:nvPr/>
        </p:nvSpPr>
        <p:spPr>
          <a:xfrm>
            <a:off x="9372600" y="2313432"/>
            <a:ext cx="2103120" cy="1234440"/>
          </a:xfrm>
          <a:prstGeom prst="rect">
            <a:avLst/>
          </a:prstGeom>
          <a:noFill/>
          <a:ln/>
        </p:spPr>
        <p:txBody>
          <a:bodyPr wrap="square" lIns="0" tIns="0" rIns="0" bIns="0" rtlCol="0" anchor="ctr">
            <a:normAutofit/>
          </a:bodyPr>
          <a:lstStyle/>
          <a:p>
            <a:pPr marL="0" indent="0">
              <a:buNone/>
            </a:pPr>
            <a:r>
              <a:rPr lang="en-US" sz="1350" dirty="0">
                <a:solidFill>
                  <a:srgbClr val="132033"/>
                </a:solidFill>
                <a:latin typeface="Aptos" pitchFamily="34" charset="0"/>
                <a:ea typeface="Aptos" pitchFamily="34" charset="-122"/>
                <a:cs typeface="Aptos" pitchFamily="34" charset="-120"/>
              </a:rPr>
              <a:t>What makes one solution better?</a:t>
            </a:r>
            <a:endParaRPr lang="en-US" sz="1350" dirty="0"/>
          </a:p>
        </p:txBody>
      </p:sp>
      <p:sp>
        <p:nvSpPr>
          <p:cNvPr id="22" name="Text 20"/>
          <p:cNvSpPr/>
          <p:nvPr/>
        </p:nvSpPr>
        <p:spPr>
          <a:xfrm>
            <a:off x="960120" y="5074920"/>
            <a:ext cx="10149840" cy="502920"/>
          </a:xfrm>
          <a:prstGeom prst="rect">
            <a:avLst/>
          </a:prstGeom>
          <a:noFill/>
          <a:ln/>
        </p:spPr>
        <p:txBody>
          <a:bodyPr wrap="square" lIns="0" tIns="0" rIns="0" bIns="0" rtlCol="0" anchor="ctr">
            <a:normAutofit/>
          </a:bodyPr>
          <a:lstStyle/>
          <a:p>
            <a:pPr marL="0" indent="0" algn="ctr">
              <a:buNone/>
            </a:pPr>
            <a:r>
              <a:rPr lang="en-US" sz="2600" b="1" dirty="0">
                <a:solidFill>
                  <a:srgbClr val="0B2D55"/>
                </a:solidFill>
                <a:latin typeface="Aptos" pitchFamily="34" charset="0"/>
                <a:ea typeface="Aptos" pitchFamily="34" charset="-122"/>
                <a:cs typeface="Aptos" pitchFamily="34" charset="-120"/>
              </a:rPr>
              <a:t>Good search begins before the search algorithm runs.</a:t>
            </a:r>
            <a:endParaRPr lang="en-US" sz="2600" dirty="0"/>
          </a:p>
        </p:txBody>
      </p:sp>
      <p:sp>
        <p:nvSpPr>
          <p:cNvPr id="23" name="Text 21"/>
          <p:cNvSpPr/>
          <p:nvPr/>
        </p:nvSpPr>
        <p:spPr>
          <a:xfrm>
            <a:off x="960120" y="5687568"/>
            <a:ext cx="10149840" cy="320040"/>
          </a:xfrm>
          <a:prstGeom prst="rect">
            <a:avLst/>
          </a:prstGeom>
          <a:noFill/>
          <a:ln/>
        </p:spPr>
        <p:txBody>
          <a:bodyPr wrap="square" lIns="0" tIns="0" rIns="0" bIns="0" rtlCol="0" anchor="ctr">
            <a:normAutofit/>
          </a:bodyPr>
          <a:lstStyle/>
          <a:p>
            <a:pPr marL="0" indent="0" algn="ctr">
              <a:buNone/>
            </a:pPr>
            <a:r>
              <a:rPr lang="en-US" sz="1800" dirty="0">
                <a:solidFill>
                  <a:srgbClr val="132033"/>
                </a:solidFill>
                <a:latin typeface="Aptos" pitchFamily="34" charset="0"/>
                <a:ea typeface="Aptos" pitchFamily="34" charset="-122"/>
                <a:cs typeface="Aptos" pitchFamily="34" charset="-120"/>
              </a:rPr>
              <a:t>Representation shapes what the system can even consider.</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76072" y="566928"/>
            <a:ext cx="8412480" cy="475488"/>
          </a:xfrm>
          <a:prstGeom prst="rect">
            <a:avLst/>
          </a:prstGeom>
          <a:noFill/>
          <a:ln/>
        </p:spPr>
        <p:txBody>
          <a:bodyPr wrap="square" lIns="0" tIns="0" rIns="0" bIns="0" rtlCol="0" anchor="ctr">
            <a:normAutofit/>
          </a:bodyP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Exit Ticket</a:t>
            </a:r>
            <a:endParaRPr lang="en-US" sz="3400" dirty="0"/>
          </a:p>
        </p:txBody>
      </p:sp>
      <p:sp>
        <p:nvSpPr>
          <p:cNvPr id="3" name="Text 1"/>
          <p:cNvSpPr/>
          <p:nvPr/>
        </p:nvSpPr>
        <p:spPr>
          <a:xfrm>
            <a:off x="594360" y="1051560"/>
            <a:ext cx="7315200" cy="292608"/>
          </a:xfrm>
          <a:prstGeom prst="rect">
            <a:avLst/>
          </a:prstGeom>
          <a:noFill/>
          <a:ln/>
        </p:spPr>
        <p:txBody>
          <a:bodyPr wrap="square" lIns="0" tIns="0" rIns="0" bIns="0" rtlCol="0" anchor="ctr">
            <a:normAutofit/>
          </a:bodyPr>
          <a:lstStyle/>
          <a:p>
            <a:pPr marL="0" indent="0">
              <a:buNone/>
            </a:pPr>
            <a:r>
              <a:rPr lang="en-US" sz="1500" dirty="0">
                <a:solidFill>
                  <a:srgbClr val="132033"/>
                </a:solidFill>
                <a:latin typeface="Aptos" pitchFamily="34" charset="0"/>
                <a:ea typeface="Aptos" pitchFamily="34" charset="-122"/>
                <a:cs typeface="Aptos" pitchFamily="34" charset="-120"/>
              </a:rPr>
              <a:t>Apply the formulation template to a compact scenario.</a:t>
            </a:r>
            <a:endParaRPr lang="en-US" sz="1500" dirty="0"/>
          </a:p>
        </p:txBody>
      </p:sp>
      <p:sp>
        <p:nvSpPr>
          <p:cNvPr id="4" name="Text 2"/>
          <p:cNvSpPr/>
          <p:nvPr/>
        </p:nvSpPr>
        <p:spPr>
          <a:xfrm>
            <a:off x="502920" y="6528816"/>
            <a:ext cx="4937760" cy="201168"/>
          </a:xfrm>
          <a:prstGeom prst="rect">
            <a:avLst/>
          </a:prstGeom>
          <a:noFill/>
          <a:ln/>
        </p:spPr>
        <p:txBody>
          <a:bodyPr wrap="square" lIns="0" tIns="0" rIns="0" bIns="0" rtlCol="0" anchor="ctr">
            <a:normAutofit/>
          </a:bodyPr>
          <a:lstStyle/>
          <a:p>
            <a:pPr marL="0" indent="0">
              <a:buNone/>
            </a:pPr>
            <a:r>
              <a:rPr lang="en-US" sz="850" dirty="0">
                <a:solidFill>
                  <a:srgbClr val="6D7C8F"/>
                </a:solidFill>
                <a:latin typeface="Aptos" pitchFamily="34" charset="0"/>
                <a:ea typeface="Aptos" pitchFamily="34" charset="-122"/>
                <a:cs typeface="Aptos" pitchFamily="34" charset="-120"/>
              </a:rPr>
              <a:t>CS 471  |  L04: Problem Formulation</a:t>
            </a:r>
            <a:endParaRPr lang="en-US" sz="850" dirty="0"/>
          </a:p>
        </p:txBody>
      </p:sp>
      <p:sp>
        <p:nvSpPr>
          <p:cNvPr id="5" name="Text 3"/>
          <p:cNvSpPr/>
          <p:nvPr/>
        </p:nvSpPr>
        <p:spPr>
          <a:xfrm>
            <a:off x="11402568" y="6528816"/>
            <a:ext cx="320040" cy="201168"/>
          </a:xfrm>
          <a:prstGeom prst="rect">
            <a:avLst/>
          </a:prstGeom>
          <a:noFill/>
          <a:ln/>
        </p:spPr>
        <p:txBody>
          <a:bodyPr wrap="square" lIns="0" tIns="0" rIns="0" bIns="0" rtlCol="0" anchor="ctr">
            <a:normAutofit/>
          </a:bodyPr>
          <a:lstStyle/>
          <a:p>
            <a:pPr marL="0" indent="0" algn="r">
              <a:buNone/>
            </a:pPr>
            <a:r>
              <a:rPr lang="en-US" sz="850" dirty="0">
                <a:solidFill>
                  <a:srgbClr val="6D7C8F"/>
                </a:solidFill>
                <a:latin typeface="Aptos" pitchFamily="34" charset="0"/>
                <a:ea typeface="Aptos" pitchFamily="34" charset="-122"/>
                <a:cs typeface="Aptos" pitchFamily="34" charset="-120"/>
              </a:rPr>
              <a:t>20</a:t>
            </a:r>
            <a:endParaRPr lang="en-US" sz="850" dirty="0"/>
          </a:p>
        </p:txBody>
      </p:sp>
      <p:sp>
        <p:nvSpPr>
          <p:cNvPr id="6" name="Shape 4"/>
          <p:cNvSpPr/>
          <p:nvPr/>
        </p:nvSpPr>
        <p:spPr>
          <a:xfrm>
            <a:off x="868680" y="1508760"/>
            <a:ext cx="5120640" cy="3886200"/>
          </a:xfrm>
          <a:prstGeom prst="roundRect">
            <a:avLst>
              <a:gd name="adj" fmla="val 1882"/>
            </a:avLst>
          </a:prstGeom>
          <a:solidFill>
            <a:srgbClr val="F4F8FC"/>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7" name="Text 5"/>
          <p:cNvSpPr/>
          <p:nvPr/>
        </p:nvSpPr>
        <p:spPr>
          <a:xfrm>
            <a:off x="1143000" y="1783080"/>
            <a:ext cx="4526280" cy="310896"/>
          </a:xfrm>
          <a:prstGeom prst="rect">
            <a:avLst/>
          </a:prstGeom>
          <a:noFill/>
          <a:ln/>
        </p:spPr>
        <p:txBody>
          <a:bodyPr wrap="square" lIns="0" tIns="0" rIns="0" bIns="0" rtlCol="0" anchor="ctr">
            <a:normAutofit/>
          </a:bodyPr>
          <a:lstStyle/>
          <a:p>
            <a:pPr marL="0" indent="0">
              <a:buNone/>
            </a:pPr>
            <a:r>
              <a:rPr lang="en-US" sz="2300" b="1" dirty="0">
                <a:solidFill>
                  <a:srgbClr val="0B2D55"/>
                </a:solidFill>
                <a:latin typeface="Aptos" pitchFamily="34" charset="0"/>
                <a:ea typeface="Aptos" pitchFamily="34" charset="-122"/>
                <a:cs typeface="Aptos" pitchFamily="34" charset="-120"/>
              </a:rPr>
              <a:t>Scenario</a:t>
            </a:r>
            <a:endParaRPr lang="en-US" sz="2300" dirty="0"/>
          </a:p>
        </p:txBody>
      </p:sp>
      <p:sp>
        <p:nvSpPr>
          <p:cNvPr id="8" name="Text 6"/>
          <p:cNvSpPr/>
          <p:nvPr/>
        </p:nvSpPr>
        <p:spPr>
          <a:xfrm>
            <a:off x="1143000" y="2331720"/>
            <a:ext cx="4434840" cy="1097280"/>
          </a:xfrm>
          <a:prstGeom prst="rect">
            <a:avLst/>
          </a:prstGeom>
          <a:noFill/>
          <a:ln/>
        </p:spPr>
        <p:txBody>
          <a:bodyPr wrap="square" lIns="0" tIns="0" rIns="0" bIns="0" rtlCol="0" anchor="ctr">
            <a:normAutofit/>
          </a:bodyPr>
          <a:lstStyle/>
          <a:p>
            <a:pPr marL="0" indent="0">
              <a:buNone/>
            </a:pPr>
            <a:r>
              <a:rPr lang="en-US" sz="2100" dirty="0">
                <a:solidFill>
                  <a:srgbClr val="132033"/>
                </a:solidFill>
                <a:latin typeface="Aptos" pitchFamily="34" charset="0"/>
                <a:ea typeface="Aptos" pitchFamily="34" charset="-122"/>
                <a:cs typeface="Aptos" pitchFamily="34" charset="-120"/>
              </a:rPr>
              <a:t>A cyber-defense agent must investigate hosts in a network, identify a compromised machine, and minimize disruption to mission-critical services.</a:t>
            </a:r>
            <a:endParaRPr lang="en-US" sz="2100" dirty="0"/>
          </a:p>
        </p:txBody>
      </p:sp>
      <p:sp>
        <p:nvSpPr>
          <p:cNvPr id="9" name="Shape 7"/>
          <p:cNvSpPr/>
          <p:nvPr/>
        </p:nvSpPr>
        <p:spPr>
          <a:xfrm>
            <a:off x="6400800" y="1508760"/>
            <a:ext cx="4800600" cy="3886200"/>
          </a:xfrm>
          <a:prstGeom prst="roundRect">
            <a:avLst>
              <a:gd name="adj" fmla="val 1882"/>
            </a:avLst>
          </a:prstGeom>
          <a:solidFill>
            <a:srgbClr val="FFFFFF"/>
          </a:solidFill>
          <a:ln w="12700">
            <a:solidFill>
              <a:srgbClr val="B8C7D8"/>
            </a:solidFill>
            <a:prstDash val="solid"/>
          </a:ln>
          <a:effectLst>
            <a:outerShdw blurRad="12700" dist="50800" dir="2700000" algn="bl" rotWithShape="0">
              <a:srgbClr val="D4DEE8">
                <a:alpha val="25000"/>
              </a:srgbClr>
            </a:outerShdw>
          </a:effectLst>
        </p:spPr>
        <p:txBody>
          <a:bodyPr/>
          <a:lstStyle/>
          <a:p>
            <a:endParaRPr lang="en-US"/>
          </a:p>
        </p:txBody>
      </p:sp>
      <p:sp>
        <p:nvSpPr>
          <p:cNvPr id="10" name="Text 8"/>
          <p:cNvSpPr/>
          <p:nvPr/>
        </p:nvSpPr>
        <p:spPr>
          <a:xfrm>
            <a:off x="6675120" y="1783080"/>
            <a:ext cx="4251960" cy="310896"/>
          </a:xfrm>
          <a:prstGeom prst="rect">
            <a:avLst/>
          </a:prstGeom>
          <a:noFill/>
          <a:ln/>
        </p:spPr>
        <p:txBody>
          <a:bodyPr wrap="square" lIns="0" tIns="0" rIns="0" bIns="0" rtlCol="0" anchor="ctr">
            <a:normAutofit/>
          </a:bodyPr>
          <a:lstStyle/>
          <a:p>
            <a:pPr marL="0" indent="0">
              <a:buNone/>
            </a:pPr>
            <a:r>
              <a:rPr lang="en-US" sz="2300" b="1" dirty="0">
                <a:solidFill>
                  <a:srgbClr val="0B2D55"/>
                </a:solidFill>
                <a:latin typeface="Aptos" pitchFamily="34" charset="0"/>
                <a:ea typeface="Aptos" pitchFamily="34" charset="-122"/>
                <a:cs typeface="Aptos" pitchFamily="34" charset="-120"/>
              </a:rPr>
              <a:t>Write</a:t>
            </a:r>
            <a:endParaRPr lang="en-US" sz="2300" dirty="0"/>
          </a:p>
        </p:txBody>
      </p:sp>
      <p:sp>
        <p:nvSpPr>
          <p:cNvPr id="11" name="Shape 9"/>
          <p:cNvSpPr/>
          <p:nvPr/>
        </p:nvSpPr>
        <p:spPr>
          <a:xfrm>
            <a:off x="6720840" y="2395728"/>
            <a:ext cx="201168" cy="201168"/>
          </a:xfrm>
          <a:prstGeom prst="ellipse">
            <a:avLst/>
          </a:prstGeom>
          <a:solidFill>
            <a:srgbClr val="F2C14E"/>
          </a:solidFill>
          <a:ln w="12700">
            <a:solidFill>
              <a:srgbClr val="F2C14E"/>
            </a:solidFill>
            <a:prstDash val="solid"/>
          </a:ln>
        </p:spPr>
        <p:txBody>
          <a:bodyPr/>
          <a:lstStyle/>
          <a:p>
            <a:endParaRPr lang="en-US"/>
          </a:p>
        </p:txBody>
      </p:sp>
      <p:sp>
        <p:nvSpPr>
          <p:cNvPr id="12" name="Text 10"/>
          <p:cNvSpPr/>
          <p:nvPr/>
        </p:nvSpPr>
        <p:spPr>
          <a:xfrm>
            <a:off x="6720840" y="2441448"/>
            <a:ext cx="201168" cy="155448"/>
          </a:xfrm>
          <a:prstGeom prst="rect">
            <a:avLst/>
          </a:prstGeom>
          <a:noFill/>
          <a:ln/>
        </p:spPr>
        <p:txBody>
          <a:bodyPr wrap="square" lIns="0" tIns="0" rIns="0" bIns="0" rtlCol="0" anchor="ctr">
            <a:normAutofit/>
          </a:bodyPr>
          <a:lstStyle/>
          <a:p>
            <a:pPr marL="0" indent="0" algn="ctr">
              <a:buNone/>
            </a:pPr>
            <a:endParaRPr lang="en-US" sz="1800" dirty="0"/>
          </a:p>
        </p:txBody>
      </p:sp>
      <p:sp>
        <p:nvSpPr>
          <p:cNvPr id="13" name="Text 11"/>
          <p:cNvSpPr/>
          <p:nvPr/>
        </p:nvSpPr>
        <p:spPr>
          <a:xfrm>
            <a:off x="7040880" y="2340864"/>
            <a:ext cx="3749040" cy="256032"/>
          </a:xfrm>
          <a:prstGeom prst="rect">
            <a:avLst/>
          </a:prstGeom>
          <a:noFill/>
          <a:ln/>
        </p:spPr>
        <p:txBody>
          <a:bodyPr wrap="square" lIns="0" tIns="0" rIns="0" bIns="0" rtlCol="0" anchor="ctr">
            <a:normAutofit/>
          </a:bodyPr>
          <a:lstStyle/>
          <a:p>
            <a:pPr marL="0" indent="0">
              <a:buNone/>
            </a:pPr>
            <a:r>
              <a:rPr lang="en-US" sz="1700" dirty="0">
                <a:solidFill>
                  <a:srgbClr val="132033"/>
                </a:solidFill>
                <a:latin typeface="Aptos" pitchFamily="34" charset="0"/>
                <a:ea typeface="Aptos" pitchFamily="34" charset="-122"/>
                <a:cs typeface="Aptos" pitchFamily="34" charset="-120"/>
              </a:rPr>
              <a:t>State</a:t>
            </a:r>
            <a:endParaRPr lang="en-US" sz="1700" dirty="0"/>
          </a:p>
        </p:txBody>
      </p:sp>
      <p:sp>
        <p:nvSpPr>
          <p:cNvPr id="14" name="Shape 12"/>
          <p:cNvSpPr/>
          <p:nvPr/>
        </p:nvSpPr>
        <p:spPr>
          <a:xfrm>
            <a:off x="6720840" y="2852928"/>
            <a:ext cx="201168" cy="201168"/>
          </a:xfrm>
          <a:prstGeom prst="ellipse">
            <a:avLst/>
          </a:prstGeom>
          <a:solidFill>
            <a:srgbClr val="F2C14E"/>
          </a:solidFill>
          <a:ln w="12700">
            <a:solidFill>
              <a:srgbClr val="F2C14E"/>
            </a:solidFill>
            <a:prstDash val="solid"/>
          </a:ln>
        </p:spPr>
        <p:txBody>
          <a:bodyPr/>
          <a:lstStyle/>
          <a:p>
            <a:endParaRPr lang="en-US"/>
          </a:p>
        </p:txBody>
      </p:sp>
      <p:sp>
        <p:nvSpPr>
          <p:cNvPr id="15" name="Text 13"/>
          <p:cNvSpPr/>
          <p:nvPr/>
        </p:nvSpPr>
        <p:spPr>
          <a:xfrm>
            <a:off x="6720840" y="2898648"/>
            <a:ext cx="201168" cy="155448"/>
          </a:xfrm>
          <a:prstGeom prst="rect">
            <a:avLst/>
          </a:prstGeom>
          <a:noFill/>
          <a:ln/>
        </p:spPr>
        <p:txBody>
          <a:bodyPr wrap="square" lIns="0" tIns="0" rIns="0" bIns="0" rtlCol="0" anchor="ctr">
            <a:normAutofit/>
          </a:bodyPr>
          <a:lstStyle/>
          <a:p>
            <a:pPr marL="0" indent="0" algn="ctr">
              <a:buNone/>
            </a:pPr>
            <a:endParaRPr lang="en-US" sz="1800" dirty="0"/>
          </a:p>
        </p:txBody>
      </p:sp>
      <p:sp>
        <p:nvSpPr>
          <p:cNvPr id="16" name="Text 14"/>
          <p:cNvSpPr/>
          <p:nvPr/>
        </p:nvSpPr>
        <p:spPr>
          <a:xfrm>
            <a:off x="7040880" y="2798064"/>
            <a:ext cx="3749040" cy="256032"/>
          </a:xfrm>
          <a:prstGeom prst="rect">
            <a:avLst/>
          </a:prstGeom>
          <a:noFill/>
          <a:ln/>
        </p:spPr>
        <p:txBody>
          <a:bodyPr wrap="square" lIns="0" tIns="0" rIns="0" bIns="0" rtlCol="0" anchor="ctr">
            <a:normAutofit/>
          </a:bodyPr>
          <a:lstStyle/>
          <a:p>
            <a:pPr marL="0" indent="0">
              <a:buNone/>
            </a:pPr>
            <a:r>
              <a:rPr lang="en-US" sz="1700" dirty="0">
                <a:solidFill>
                  <a:srgbClr val="132033"/>
                </a:solidFill>
                <a:latin typeface="Aptos" pitchFamily="34" charset="0"/>
                <a:ea typeface="Aptos" pitchFamily="34" charset="-122"/>
                <a:cs typeface="Aptos" pitchFamily="34" charset="-120"/>
              </a:rPr>
              <a:t>Actions</a:t>
            </a:r>
            <a:endParaRPr lang="en-US" sz="1700" dirty="0"/>
          </a:p>
        </p:txBody>
      </p:sp>
      <p:sp>
        <p:nvSpPr>
          <p:cNvPr id="17" name="Shape 15"/>
          <p:cNvSpPr/>
          <p:nvPr/>
        </p:nvSpPr>
        <p:spPr>
          <a:xfrm>
            <a:off x="6720840" y="3310128"/>
            <a:ext cx="201168" cy="201168"/>
          </a:xfrm>
          <a:prstGeom prst="ellipse">
            <a:avLst/>
          </a:prstGeom>
          <a:solidFill>
            <a:srgbClr val="F2C14E"/>
          </a:solidFill>
          <a:ln w="12700">
            <a:solidFill>
              <a:srgbClr val="F2C14E"/>
            </a:solidFill>
            <a:prstDash val="solid"/>
          </a:ln>
        </p:spPr>
        <p:txBody>
          <a:bodyPr/>
          <a:lstStyle/>
          <a:p>
            <a:endParaRPr lang="en-US"/>
          </a:p>
        </p:txBody>
      </p:sp>
      <p:sp>
        <p:nvSpPr>
          <p:cNvPr id="18" name="Text 16"/>
          <p:cNvSpPr/>
          <p:nvPr/>
        </p:nvSpPr>
        <p:spPr>
          <a:xfrm>
            <a:off x="6720840" y="3355848"/>
            <a:ext cx="201168" cy="155448"/>
          </a:xfrm>
          <a:prstGeom prst="rect">
            <a:avLst/>
          </a:prstGeom>
          <a:noFill/>
          <a:ln/>
        </p:spPr>
        <p:txBody>
          <a:bodyPr wrap="square" lIns="0" tIns="0" rIns="0" bIns="0" rtlCol="0" anchor="ctr">
            <a:normAutofit/>
          </a:bodyPr>
          <a:lstStyle/>
          <a:p>
            <a:pPr marL="0" indent="0" algn="ctr">
              <a:buNone/>
            </a:pPr>
            <a:endParaRPr lang="en-US" sz="1800" dirty="0"/>
          </a:p>
        </p:txBody>
      </p:sp>
      <p:sp>
        <p:nvSpPr>
          <p:cNvPr id="19" name="Text 17"/>
          <p:cNvSpPr/>
          <p:nvPr/>
        </p:nvSpPr>
        <p:spPr>
          <a:xfrm>
            <a:off x="7040880" y="3255264"/>
            <a:ext cx="3749040" cy="256032"/>
          </a:xfrm>
          <a:prstGeom prst="rect">
            <a:avLst/>
          </a:prstGeom>
          <a:noFill/>
          <a:ln/>
        </p:spPr>
        <p:txBody>
          <a:bodyPr wrap="square" lIns="0" tIns="0" rIns="0" bIns="0" rtlCol="0" anchor="ctr">
            <a:normAutofit/>
          </a:bodyPr>
          <a:lstStyle/>
          <a:p>
            <a:pPr marL="0" indent="0">
              <a:buNone/>
            </a:pPr>
            <a:r>
              <a:rPr lang="en-US" sz="1700" dirty="0">
                <a:solidFill>
                  <a:srgbClr val="132033"/>
                </a:solidFill>
                <a:latin typeface="Aptos" pitchFamily="34" charset="0"/>
                <a:ea typeface="Aptos" pitchFamily="34" charset="-122"/>
                <a:cs typeface="Aptos" pitchFamily="34" charset="-120"/>
              </a:rPr>
              <a:t>Goal test</a:t>
            </a:r>
            <a:endParaRPr lang="en-US" sz="1700" dirty="0"/>
          </a:p>
        </p:txBody>
      </p:sp>
      <p:sp>
        <p:nvSpPr>
          <p:cNvPr id="20" name="Shape 18"/>
          <p:cNvSpPr/>
          <p:nvPr/>
        </p:nvSpPr>
        <p:spPr>
          <a:xfrm>
            <a:off x="6720840" y="3767328"/>
            <a:ext cx="201168" cy="201168"/>
          </a:xfrm>
          <a:prstGeom prst="ellipse">
            <a:avLst/>
          </a:prstGeom>
          <a:solidFill>
            <a:srgbClr val="F2C14E"/>
          </a:solidFill>
          <a:ln w="12700">
            <a:solidFill>
              <a:srgbClr val="F2C14E"/>
            </a:solidFill>
            <a:prstDash val="solid"/>
          </a:ln>
        </p:spPr>
        <p:txBody>
          <a:bodyPr/>
          <a:lstStyle/>
          <a:p>
            <a:endParaRPr lang="en-US"/>
          </a:p>
        </p:txBody>
      </p:sp>
      <p:sp>
        <p:nvSpPr>
          <p:cNvPr id="21" name="Text 19"/>
          <p:cNvSpPr/>
          <p:nvPr/>
        </p:nvSpPr>
        <p:spPr>
          <a:xfrm>
            <a:off x="6720840" y="3813048"/>
            <a:ext cx="201168" cy="155448"/>
          </a:xfrm>
          <a:prstGeom prst="rect">
            <a:avLst/>
          </a:prstGeom>
          <a:noFill/>
          <a:ln/>
        </p:spPr>
        <p:txBody>
          <a:bodyPr wrap="square" lIns="0" tIns="0" rIns="0" bIns="0" rtlCol="0" anchor="ctr">
            <a:normAutofit/>
          </a:bodyPr>
          <a:lstStyle/>
          <a:p>
            <a:pPr marL="0" indent="0" algn="ctr">
              <a:buNone/>
            </a:pPr>
            <a:endParaRPr lang="en-US" sz="1800" dirty="0"/>
          </a:p>
        </p:txBody>
      </p:sp>
      <p:sp>
        <p:nvSpPr>
          <p:cNvPr id="22" name="Text 20"/>
          <p:cNvSpPr/>
          <p:nvPr/>
        </p:nvSpPr>
        <p:spPr>
          <a:xfrm>
            <a:off x="7040880" y="3712464"/>
            <a:ext cx="3749040" cy="256032"/>
          </a:xfrm>
          <a:prstGeom prst="rect">
            <a:avLst/>
          </a:prstGeom>
          <a:noFill/>
          <a:ln/>
        </p:spPr>
        <p:txBody>
          <a:bodyPr wrap="square" lIns="0" tIns="0" rIns="0" bIns="0" rtlCol="0" anchor="ctr">
            <a:normAutofit/>
          </a:bodyPr>
          <a:lstStyle/>
          <a:p>
            <a:pPr marL="0" indent="0">
              <a:buNone/>
            </a:pPr>
            <a:r>
              <a:rPr lang="en-US" sz="1700" dirty="0">
                <a:solidFill>
                  <a:srgbClr val="132033"/>
                </a:solidFill>
                <a:latin typeface="Aptos" pitchFamily="34" charset="0"/>
                <a:ea typeface="Aptos" pitchFamily="34" charset="-122"/>
                <a:cs typeface="Aptos" pitchFamily="34" charset="-120"/>
              </a:rPr>
              <a:t>Path cost</a:t>
            </a:r>
            <a:endParaRPr lang="en-US" sz="1700" dirty="0"/>
          </a:p>
        </p:txBody>
      </p:sp>
      <p:sp>
        <p:nvSpPr>
          <p:cNvPr id="23" name="Shape 21"/>
          <p:cNvSpPr/>
          <p:nvPr/>
        </p:nvSpPr>
        <p:spPr>
          <a:xfrm>
            <a:off x="6720840" y="4224528"/>
            <a:ext cx="201168" cy="201168"/>
          </a:xfrm>
          <a:prstGeom prst="ellipse">
            <a:avLst/>
          </a:prstGeom>
          <a:solidFill>
            <a:srgbClr val="F2C14E"/>
          </a:solidFill>
          <a:ln w="12700">
            <a:solidFill>
              <a:srgbClr val="F2C14E"/>
            </a:solidFill>
            <a:prstDash val="solid"/>
          </a:ln>
        </p:spPr>
        <p:txBody>
          <a:bodyPr/>
          <a:lstStyle/>
          <a:p>
            <a:endParaRPr lang="en-US"/>
          </a:p>
        </p:txBody>
      </p:sp>
      <p:sp>
        <p:nvSpPr>
          <p:cNvPr id="24" name="Text 22"/>
          <p:cNvSpPr/>
          <p:nvPr/>
        </p:nvSpPr>
        <p:spPr>
          <a:xfrm>
            <a:off x="6720840" y="4270248"/>
            <a:ext cx="201168" cy="155448"/>
          </a:xfrm>
          <a:prstGeom prst="rect">
            <a:avLst/>
          </a:prstGeom>
          <a:noFill/>
          <a:ln/>
        </p:spPr>
        <p:txBody>
          <a:bodyPr wrap="square" lIns="0" tIns="0" rIns="0" bIns="0" rtlCol="0" anchor="ctr">
            <a:normAutofit/>
          </a:bodyPr>
          <a:lstStyle/>
          <a:p>
            <a:pPr marL="0" indent="0" algn="ctr">
              <a:buNone/>
            </a:pPr>
            <a:endParaRPr lang="en-US" sz="1800" dirty="0"/>
          </a:p>
        </p:txBody>
      </p:sp>
      <p:sp>
        <p:nvSpPr>
          <p:cNvPr id="25" name="Text 23"/>
          <p:cNvSpPr/>
          <p:nvPr/>
        </p:nvSpPr>
        <p:spPr>
          <a:xfrm>
            <a:off x="7040880" y="4169664"/>
            <a:ext cx="3749040" cy="256032"/>
          </a:xfrm>
          <a:prstGeom prst="rect">
            <a:avLst/>
          </a:prstGeom>
          <a:noFill/>
          <a:ln/>
        </p:spPr>
        <p:txBody>
          <a:bodyPr wrap="square" lIns="0" tIns="0" rIns="0" bIns="0" rtlCol="0" anchor="ctr">
            <a:normAutofit/>
          </a:bodyPr>
          <a:lstStyle/>
          <a:p>
            <a:pPr marL="0" indent="0">
              <a:buNone/>
            </a:pPr>
            <a:r>
              <a:rPr lang="en-US" sz="1700" dirty="0">
                <a:solidFill>
                  <a:srgbClr val="132033"/>
                </a:solidFill>
                <a:latin typeface="Aptos" pitchFamily="34" charset="0"/>
                <a:ea typeface="Aptos" pitchFamily="34" charset="-122"/>
                <a:cs typeface="Aptos" pitchFamily="34" charset="-120"/>
              </a:rPr>
              <a:t>One representation tradeoff</a:t>
            </a:r>
            <a:endParaRPr lang="en-US" sz="1700" dirty="0"/>
          </a:p>
        </p:txBody>
      </p:sp>
      <p:sp>
        <p:nvSpPr>
          <p:cNvPr id="26" name="Text 24"/>
          <p:cNvSpPr/>
          <p:nvPr/>
        </p:nvSpPr>
        <p:spPr>
          <a:xfrm>
            <a:off x="914400" y="5989320"/>
            <a:ext cx="10149840" cy="320040"/>
          </a:xfrm>
          <a:prstGeom prst="rect">
            <a:avLst/>
          </a:prstGeom>
          <a:noFill/>
          <a:ln/>
        </p:spPr>
        <p:txBody>
          <a:bodyPr wrap="square" lIns="0" tIns="0" rIns="0" bIns="0" rtlCol="0" anchor="ctr">
            <a:normAutofit/>
          </a:bodyPr>
          <a:lstStyle/>
          <a:p>
            <a:pPr marL="0" indent="0" algn="ctr">
              <a:buNone/>
            </a:pPr>
            <a:r>
              <a:rPr lang="en-US" sz="1700" b="1" dirty="0">
                <a:solidFill>
                  <a:srgbClr val="1D5FA7"/>
                </a:solidFill>
                <a:latin typeface="Aptos" pitchFamily="34" charset="0"/>
                <a:ea typeface="Aptos" pitchFamily="34" charset="-122"/>
                <a:cs typeface="Aptos" pitchFamily="34" charset="-120"/>
              </a:rPr>
              <a:t>Next class: Uninformed Search — once the problem is defined, how should the algorithm explore it?</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ab80a06-f029-45c0-84d1-7dad19ce3c61}" enabled="0" method="" siteId="{7ab80a06-f029-45c0-84d1-7dad19ce3c61}" removed="1"/>
</clbl:labelList>
</file>

<file path=docProps/app.xml><?xml version="1.0" encoding="utf-8"?>
<Properties xmlns="http://schemas.openxmlformats.org/officeDocument/2006/extended-properties" xmlns:vt="http://schemas.openxmlformats.org/officeDocument/2006/docPropsVTypes">
  <TotalTime>5</TotalTime>
  <Words>1973</Words>
  <Application>Microsoft Office PowerPoint</Application>
  <PresentationFormat>Widescreen</PresentationFormat>
  <Paragraphs>341</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United States Air Force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CS471 Lesson 4 Problem Formulation</dc:title>
  <dc:subject>Lesson 4: Problem Formulation</dc:subject>
  <dc:creator>CS 471</dc:creator>
  <cp:lastModifiedBy>Phan, Tiffany M Capt USAF USAFA DF/DFCS</cp:lastModifiedBy>
  <cp:revision>1</cp:revision>
  <dcterms:created xsi:type="dcterms:W3CDTF">2026-08-04T22:40:23Z</dcterms:created>
  <dcterms:modified xsi:type="dcterms:W3CDTF">2026-08-04T22:50:46Z</dcterms:modified>
</cp:coreProperties>
</file>