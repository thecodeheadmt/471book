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9272C-DACA-4AEB-A1E1-80ABE3D45368}" v="200" dt="2026-08-04T21:02:02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84" y="1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, Tiffany M Capt USAF USAFA DF/DFCS" userId="a0ed988f-3bd3-448a-ab68-f6eca8eadb00" providerId="ADAL" clId="{D74FDB2A-C6F9-423C-9DA7-5C8A44CC196C}"/>
    <pc:docChg chg="undo redo custSel addSld modSld">
      <pc:chgData name="Phan, Tiffany M Capt USAF USAFA DF/DFCS" userId="a0ed988f-3bd3-448a-ab68-f6eca8eadb00" providerId="ADAL" clId="{D74FDB2A-C6F9-423C-9DA7-5C8A44CC196C}" dt="2026-08-04T21:05:14.119" v="665" actId="20577"/>
      <pc:docMkLst>
        <pc:docMk/>
      </pc:docMkLst>
      <pc:sldChg chg="addSp modSp mod">
        <pc:chgData name="Phan, Tiffany M Capt USAF USAFA DF/DFCS" userId="a0ed988f-3bd3-448a-ab68-f6eca8eadb00" providerId="ADAL" clId="{D74FDB2A-C6F9-423C-9DA7-5C8A44CC196C}" dt="2026-08-04T20:54:26.969" v="295" actId="1038"/>
        <pc:sldMkLst>
          <pc:docMk/>
          <pc:sldMk cId="0" sldId="256"/>
        </pc:sldMkLst>
        <pc:spChg chg="mod">
          <ac:chgData name="Phan, Tiffany M Capt USAF USAFA DF/DFCS" userId="a0ed988f-3bd3-448a-ab68-f6eca8eadb00" providerId="ADAL" clId="{D74FDB2A-C6F9-423C-9DA7-5C8A44CC196C}" dt="2026-08-04T20:49:11.297" v="245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7:38.615" v="155" actId="1037"/>
          <ac:spMkLst>
            <pc:docMk/>
            <pc:sldMk cId="0" sldId="256"/>
            <ac:spMk id="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7:38.615" v="155" actId="103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7:38.615" v="155" actId="103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7:38.615" v="155" actId="103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7:38.615" v="155" actId="103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7:38.615" v="155" actId="103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2:42.900" v="60" actId="20577"/>
          <ac:spMkLst>
            <pc:docMk/>
            <pc:sldMk cId="0" sldId="256"/>
            <ac:spMk id="15" creationId="{00000000-0000-0000-0000-000000000000}"/>
          </ac:spMkLst>
        </pc:spChg>
        <pc:picChg chg="add mod">
          <ac:chgData name="Phan, Tiffany M Capt USAF USAFA DF/DFCS" userId="a0ed988f-3bd3-448a-ab68-f6eca8eadb00" providerId="ADAL" clId="{D74FDB2A-C6F9-423C-9DA7-5C8A44CC196C}" dt="2026-08-04T20:54:26.969" v="295" actId="1038"/>
          <ac:picMkLst>
            <pc:docMk/>
            <pc:sldMk cId="0" sldId="256"/>
            <ac:picMk id="18" creationId="{1FF1F072-368F-DAC1-DFCE-450BFEBFD1C9}"/>
          </ac:picMkLst>
        </pc:picChg>
      </pc:sldChg>
      <pc:sldChg chg="addSp delSp modSp mod">
        <pc:chgData name="Phan, Tiffany M Capt USAF USAFA DF/DFCS" userId="a0ed988f-3bd3-448a-ab68-f6eca8eadb00" providerId="ADAL" clId="{D74FDB2A-C6F9-423C-9DA7-5C8A44CC196C}" dt="2026-08-04T21:05:14.119" v="665" actId="20577"/>
        <pc:sldMkLst>
          <pc:docMk/>
          <pc:sldMk cId="0" sldId="257"/>
        </pc:sldMkLst>
        <pc:spChg chg="del">
          <ac:chgData name="Phan, Tiffany M Capt USAF USAFA DF/DFCS" userId="a0ed988f-3bd3-448a-ab68-f6eca8eadb00" providerId="ADAL" clId="{D74FDB2A-C6F9-423C-9DA7-5C8A44CC196C}" dt="2026-08-04T20:57:57.641" v="348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55:11.252" v="311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55:28.119" v="345" actId="20577"/>
          <ac:spMkLst>
            <pc:docMk/>
            <pc:sldMk cId="0" sldId="257"/>
            <ac:spMk id="6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04T20:55:40.850" v="346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04T20:55:40.850" v="346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04T20:55:40.850" v="346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04T20:55:40.850" v="346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04T20:55:40.850" v="346" actId="478"/>
          <ac:spMkLst>
            <pc:docMk/>
            <pc:sldMk cId="0" sldId="257"/>
            <ac:spMk id="14" creationId="{00000000-0000-0000-0000-000000000000}"/>
          </ac:spMkLst>
        </pc:spChg>
        <pc:spChg chg="del mod">
          <ac:chgData name="Phan, Tiffany M Capt USAF USAFA DF/DFCS" userId="a0ed988f-3bd3-448a-ab68-f6eca8eadb00" providerId="ADAL" clId="{D74FDB2A-C6F9-423C-9DA7-5C8A44CC196C}" dt="2026-08-04T20:55:40.850" v="346" actId="478"/>
          <ac:spMkLst>
            <pc:docMk/>
            <pc:sldMk cId="0" sldId="257"/>
            <ac:spMk id="15" creationId="{00000000-0000-0000-0000-000000000000}"/>
          </ac:spMkLst>
        </pc:spChg>
        <pc:spChg chg="del ord">
          <ac:chgData name="Phan, Tiffany M Capt USAF USAFA DF/DFCS" userId="a0ed988f-3bd3-448a-ab68-f6eca8eadb00" providerId="ADAL" clId="{D74FDB2A-C6F9-423C-9DA7-5C8A44CC196C}" dt="2026-08-04T20:55:40.850" v="346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04T20:55:40.850" v="346" actId="478"/>
          <ac:spMkLst>
            <pc:docMk/>
            <pc:sldMk cId="0" sldId="257"/>
            <ac:spMk id="17" creationId="{00000000-0000-0000-0000-000000000000}"/>
          </ac:spMkLst>
        </pc:spChg>
        <pc:spChg chg="add del">
          <ac:chgData name="Phan, Tiffany M Capt USAF USAFA DF/DFCS" userId="a0ed988f-3bd3-448a-ab68-f6eca8eadb00" providerId="ADAL" clId="{D74FDB2A-C6F9-423C-9DA7-5C8A44CC196C}" dt="2026-08-04T21:02:24.433" v="550" actId="22"/>
          <ac:spMkLst>
            <pc:docMk/>
            <pc:sldMk cId="0" sldId="257"/>
            <ac:spMk id="35" creationId="{CCAE80B4-C3F7-1E18-4F32-57EE01523C70}"/>
          </ac:spMkLst>
        </pc:spChg>
        <pc:spChg chg="add mod">
          <ac:chgData name="Phan, Tiffany M Capt USAF USAFA DF/DFCS" userId="a0ed988f-3bd3-448a-ab68-f6eca8eadb00" providerId="ADAL" clId="{D74FDB2A-C6F9-423C-9DA7-5C8A44CC196C}" dt="2026-08-04T21:05:14.119" v="665" actId="20577"/>
          <ac:spMkLst>
            <pc:docMk/>
            <pc:sldMk cId="0" sldId="257"/>
            <ac:spMk id="37" creationId="{A3ACC29D-E4F6-3D9E-681B-127C4EE24A64}"/>
          </ac:spMkLst>
        </pc:spChg>
        <pc:picChg chg="add mod">
          <ac:chgData name="Phan, Tiffany M Capt USAF USAFA DF/DFCS" userId="a0ed988f-3bd3-448a-ab68-f6eca8eadb00" providerId="ADAL" clId="{D74FDB2A-C6F9-423C-9DA7-5C8A44CC196C}" dt="2026-08-04T21:01:41.613" v="449" actId="1076"/>
          <ac:picMkLst>
            <pc:docMk/>
            <pc:sldMk cId="0" sldId="257"/>
            <ac:picMk id="19" creationId="{71FB375E-4547-454B-B5E6-F6FBD8865285}"/>
          </ac:picMkLst>
        </pc:picChg>
        <pc:picChg chg="add mod">
          <ac:chgData name="Phan, Tiffany M Capt USAF USAFA DF/DFCS" userId="a0ed988f-3bd3-448a-ab68-f6eca8eadb00" providerId="ADAL" clId="{D74FDB2A-C6F9-423C-9DA7-5C8A44CC196C}" dt="2026-08-04T21:01:45.007" v="479" actId="1037"/>
          <ac:picMkLst>
            <pc:docMk/>
            <pc:sldMk cId="0" sldId="257"/>
            <ac:picMk id="21" creationId="{E1244B99-CD11-E0F1-11C1-C94FA2235A17}"/>
          </ac:picMkLst>
        </pc:picChg>
        <pc:picChg chg="add mod">
          <ac:chgData name="Phan, Tiffany M Capt USAF USAFA DF/DFCS" userId="a0ed988f-3bd3-448a-ab68-f6eca8eadb00" providerId="ADAL" clId="{D74FDB2A-C6F9-423C-9DA7-5C8A44CC196C}" dt="2026-08-04T21:01:49.705" v="506" actId="1038"/>
          <ac:picMkLst>
            <pc:docMk/>
            <pc:sldMk cId="0" sldId="257"/>
            <ac:picMk id="23" creationId="{BA6EEB50-6697-28EA-7BA3-9BBF785B17AD}"/>
          </ac:picMkLst>
        </pc:picChg>
        <pc:picChg chg="add mod">
          <ac:chgData name="Phan, Tiffany M Capt USAF USAFA DF/DFCS" userId="a0ed988f-3bd3-448a-ab68-f6eca8eadb00" providerId="ADAL" clId="{D74FDB2A-C6F9-423C-9DA7-5C8A44CC196C}" dt="2026-08-04T21:01:49.705" v="506" actId="1038"/>
          <ac:picMkLst>
            <pc:docMk/>
            <pc:sldMk cId="0" sldId="257"/>
            <ac:picMk id="25" creationId="{6401B5C4-6B57-2384-B3C3-19DA00AD55C4}"/>
          </ac:picMkLst>
        </pc:picChg>
        <pc:picChg chg="add mod modCrop">
          <ac:chgData name="Phan, Tiffany M Capt USAF USAFA DF/DFCS" userId="a0ed988f-3bd3-448a-ab68-f6eca8eadb00" providerId="ADAL" clId="{D74FDB2A-C6F9-423C-9DA7-5C8A44CC196C}" dt="2026-08-04T21:02:00.341" v="545" actId="1038"/>
          <ac:picMkLst>
            <pc:docMk/>
            <pc:sldMk cId="0" sldId="257"/>
            <ac:picMk id="27" creationId="{63421FEB-44F7-1E2E-E419-9C4379160705}"/>
          </ac:picMkLst>
        </pc:picChg>
        <pc:picChg chg="add mod">
          <ac:chgData name="Phan, Tiffany M Capt USAF USAFA DF/DFCS" userId="a0ed988f-3bd3-448a-ab68-f6eca8eadb00" providerId="ADAL" clId="{D74FDB2A-C6F9-423C-9DA7-5C8A44CC196C}" dt="2026-08-04T21:02:00.341" v="545" actId="1038"/>
          <ac:picMkLst>
            <pc:docMk/>
            <pc:sldMk cId="0" sldId="257"/>
            <ac:picMk id="29" creationId="{D08FDC85-9B83-D41D-FF27-285FB3EEB23B}"/>
          </ac:picMkLst>
        </pc:picChg>
        <pc:picChg chg="add mod">
          <ac:chgData name="Phan, Tiffany M Capt USAF USAFA DF/DFCS" userId="a0ed988f-3bd3-448a-ab68-f6eca8eadb00" providerId="ADAL" clId="{D74FDB2A-C6F9-423C-9DA7-5C8A44CC196C}" dt="2026-08-04T21:02:02.897" v="548" actId="1038"/>
          <ac:picMkLst>
            <pc:docMk/>
            <pc:sldMk cId="0" sldId="257"/>
            <ac:picMk id="31" creationId="{BEDDB2D0-19E8-74C7-D7A2-3EAD362C2BEB}"/>
          </ac:picMkLst>
        </pc:picChg>
        <pc:picChg chg="add mod">
          <ac:chgData name="Phan, Tiffany M Capt USAF USAFA DF/DFCS" userId="a0ed988f-3bd3-448a-ab68-f6eca8eadb00" providerId="ADAL" clId="{D74FDB2A-C6F9-423C-9DA7-5C8A44CC196C}" dt="2026-08-04T21:01:57.255" v="537" actId="1038"/>
          <ac:picMkLst>
            <pc:docMk/>
            <pc:sldMk cId="0" sldId="257"/>
            <ac:picMk id="32" creationId="{2F91A365-28D8-36F0-1641-4DBCF3AA55A1}"/>
          </ac:picMkLst>
        </pc:picChg>
        <pc:picChg chg="add mod">
          <ac:chgData name="Phan, Tiffany M Capt USAF USAFA DF/DFCS" userId="a0ed988f-3bd3-448a-ab68-f6eca8eadb00" providerId="ADAL" clId="{D74FDB2A-C6F9-423C-9DA7-5C8A44CC196C}" dt="2026-08-04T21:01:57.255" v="537" actId="1038"/>
          <ac:picMkLst>
            <pc:docMk/>
            <pc:sldMk cId="0" sldId="257"/>
            <ac:picMk id="33" creationId="{718C12EF-48D3-6B77-C23E-E5B9D5A8F4A5}"/>
          </ac:picMkLst>
        </pc:picChg>
        <pc:picChg chg="add mod ord">
          <ac:chgData name="Phan, Tiffany M Capt USAF USAFA DF/DFCS" userId="a0ed988f-3bd3-448a-ab68-f6eca8eadb00" providerId="ADAL" clId="{D74FDB2A-C6F9-423C-9DA7-5C8A44CC196C}" dt="2026-08-04T21:04:37.036" v="615" actId="1076"/>
          <ac:picMkLst>
            <pc:docMk/>
            <pc:sldMk cId="0" sldId="257"/>
            <ac:picMk id="38" creationId="{8669D762-359F-4AFD-6EFB-34372DAD0E54}"/>
          </ac:picMkLst>
        </pc:picChg>
        <pc:picChg chg="add del">
          <ac:chgData name="Phan, Tiffany M Capt USAF USAFA DF/DFCS" userId="a0ed988f-3bd3-448a-ab68-f6eca8eadb00" providerId="ADAL" clId="{D74FDB2A-C6F9-423C-9DA7-5C8A44CC196C}" dt="2026-08-04T21:03:28.785" v="590" actId="22"/>
          <ac:picMkLst>
            <pc:docMk/>
            <pc:sldMk cId="0" sldId="257"/>
            <ac:picMk id="39" creationId="{B33FE35D-D39F-8653-EE39-7E7356D39378}"/>
          </ac:picMkLst>
        </pc:picChg>
        <pc:picChg chg="add mod ord">
          <ac:chgData name="Phan, Tiffany M Capt USAF USAFA DF/DFCS" userId="a0ed988f-3bd3-448a-ab68-f6eca8eadb00" providerId="ADAL" clId="{D74FDB2A-C6F9-423C-9DA7-5C8A44CC196C}" dt="2026-08-04T21:04:34.809" v="614" actId="1076"/>
          <ac:picMkLst>
            <pc:docMk/>
            <pc:sldMk cId="0" sldId="257"/>
            <ac:picMk id="40" creationId="{83AFDB15-3CEE-6B6D-D1E4-E30D89ED6799}"/>
          </ac:picMkLst>
        </pc:picChg>
        <pc:picChg chg="add mod">
          <ac:chgData name="Phan, Tiffany M Capt USAF USAFA DF/DFCS" userId="a0ed988f-3bd3-448a-ab68-f6eca8eadb00" providerId="ADAL" clId="{D74FDB2A-C6F9-423C-9DA7-5C8A44CC196C}" dt="2026-08-04T21:04:33.208" v="613" actId="1076"/>
          <ac:picMkLst>
            <pc:docMk/>
            <pc:sldMk cId="0" sldId="257"/>
            <ac:picMk id="41" creationId="{34AA5EB2-FC7F-25DA-55D4-322B059B8348}"/>
          </ac:picMkLst>
        </pc:picChg>
      </pc:sldChg>
      <pc:sldChg chg="addSp delSp modSp mod">
        <pc:chgData name="Phan, Tiffany M Capt USAF USAFA DF/DFCS" userId="a0ed988f-3bd3-448a-ab68-f6eca8eadb00" providerId="ADAL" clId="{D74FDB2A-C6F9-423C-9DA7-5C8A44CC196C}" dt="2026-08-04T20:49:11.319" v="250" actId="27636"/>
        <pc:sldMkLst>
          <pc:docMk/>
          <pc:sldMk cId="0" sldId="258"/>
        </pc:sldMkLst>
        <pc:spChg chg="mod">
          <ac:chgData name="Phan, Tiffany M Capt USAF USAFA DF/DFCS" userId="a0ed988f-3bd3-448a-ab68-f6eca8eadb00" providerId="ADAL" clId="{D74FDB2A-C6F9-423C-9DA7-5C8A44CC196C}" dt="2026-08-04T20:49:11.314" v="248" actId="27636"/>
          <ac:spMkLst>
            <pc:docMk/>
            <pc:sldMk cId="0" sldId="258"/>
            <ac:spMk id="5" creationId="{00000000-0000-0000-0000-000000000000}"/>
          </ac:spMkLst>
        </pc:spChg>
        <pc:spChg chg="add del mod">
          <ac:chgData name="Phan, Tiffany M Capt USAF USAFA DF/DFCS" userId="a0ed988f-3bd3-448a-ab68-f6eca8eadb00" providerId="ADAL" clId="{D74FDB2A-C6F9-423C-9DA7-5C8A44CC196C}" dt="2026-08-04T20:45:02.280" v="102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319" v="250" actId="2763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314" v="249" actId="27636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49:31.712" v="257" actId="179"/>
        <pc:sldMkLst>
          <pc:docMk/>
          <pc:sldMk cId="0" sldId="259"/>
        </pc:sldMkLst>
        <pc:spChg chg="mod">
          <ac:chgData name="Phan, Tiffany M Capt USAF USAFA DF/DFCS" userId="a0ed988f-3bd3-448a-ab68-f6eca8eadb00" providerId="ADAL" clId="{D74FDB2A-C6F9-423C-9DA7-5C8A44CC196C}" dt="2026-08-04T20:49:11.123" v="209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31.712" v="257" actId="179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49:11.157" v="210" actId="27636"/>
        <pc:sldMkLst>
          <pc:docMk/>
          <pc:sldMk cId="0" sldId="260"/>
        </pc:sldMkLst>
        <pc:spChg chg="mod">
          <ac:chgData name="Phan, Tiffany M Capt USAF USAFA DF/DFCS" userId="a0ed988f-3bd3-448a-ab68-f6eca8eadb00" providerId="ADAL" clId="{D74FDB2A-C6F9-423C-9DA7-5C8A44CC196C}" dt="2026-08-04T20:49:11.157" v="210" actId="27636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50:20.007" v="268" actId="27636"/>
        <pc:sldMkLst>
          <pc:docMk/>
          <pc:sldMk cId="0" sldId="261"/>
        </pc:sldMkLst>
        <pc:spChg chg="mod">
          <ac:chgData name="Phan, Tiffany M Capt USAF USAFA DF/DFCS" userId="a0ed988f-3bd3-448a-ab68-f6eca8eadb00" providerId="ADAL" clId="{D74FDB2A-C6F9-423C-9DA7-5C8A44CC196C}" dt="2026-08-04T20:49:11.162" v="211" actId="276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56.463" v="259" actId="179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52.959" v="258" actId="179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50:20.007" v="268" actId="27636"/>
          <ac:spMkLst>
            <pc:docMk/>
            <pc:sldMk cId="0" sldId="261"/>
            <ac:spMk id="14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49:11.172" v="213" actId="27636"/>
        <pc:sldMkLst>
          <pc:docMk/>
          <pc:sldMk cId="0" sldId="262"/>
        </pc:sldMkLst>
        <pc:spChg chg="mod">
          <ac:chgData name="Phan, Tiffany M Capt USAF USAFA DF/DFCS" userId="a0ed988f-3bd3-448a-ab68-f6eca8eadb00" providerId="ADAL" clId="{D74FDB2A-C6F9-423C-9DA7-5C8A44CC196C}" dt="2026-08-04T20:49:11.172" v="213" actId="27636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49:11.189" v="219" actId="27636"/>
        <pc:sldMkLst>
          <pc:docMk/>
          <pc:sldMk cId="0" sldId="263"/>
        </pc:sldMkLst>
        <pc:spChg chg="mod">
          <ac:chgData name="Phan, Tiffany M Capt USAF USAFA DF/DFCS" userId="a0ed988f-3bd3-448a-ab68-f6eca8eadb00" providerId="ADAL" clId="{D74FDB2A-C6F9-423C-9DA7-5C8A44CC196C}" dt="2026-08-04T20:49:11.189" v="219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189" v="216" actId="276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188" v="215" actId="2763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189" v="217" actId="2763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183" v="214" actId="2763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189" v="218" actId="27636"/>
          <ac:spMkLst>
            <pc:docMk/>
            <pc:sldMk cId="0" sldId="263"/>
            <ac:spMk id="27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49:11.204" v="221" actId="27636"/>
        <pc:sldMkLst>
          <pc:docMk/>
          <pc:sldMk cId="0" sldId="264"/>
        </pc:sldMkLst>
        <pc:spChg chg="mod">
          <ac:chgData name="Phan, Tiffany M Capt USAF USAFA DF/DFCS" userId="a0ed988f-3bd3-448a-ab68-f6eca8eadb00" providerId="ADAL" clId="{D74FDB2A-C6F9-423C-9DA7-5C8A44CC196C}" dt="2026-08-04T20:49:11.196" v="220" actId="276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04" v="221" actId="27636"/>
          <ac:spMkLst>
            <pc:docMk/>
            <pc:sldMk cId="0" sldId="264"/>
            <ac:spMk id="11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49:11.219" v="226" actId="27636"/>
        <pc:sldMkLst>
          <pc:docMk/>
          <pc:sldMk cId="0" sldId="265"/>
        </pc:sldMkLst>
        <pc:spChg chg="mod">
          <ac:chgData name="Phan, Tiffany M Capt USAF USAFA DF/DFCS" userId="a0ed988f-3bd3-448a-ab68-f6eca8eadb00" providerId="ADAL" clId="{D74FDB2A-C6F9-423C-9DA7-5C8A44CC196C}" dt="2026-08-04T20:49:11.216" v="225" actId="276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16" v="224" actId="2763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14" v="222" actId="2763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14" v="223" actId="2763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19" v="226" actId="27636"/>
          <ac:spMkLst>
            <pc:docMk/>
            <pc:sldMk cId="0" sldId="265"/>
            <ac:spMk id="25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49:11.219" v="229" actId="27636"/>
        <pc:sldMkLst>
          <pc:docMk/>
          <pc:sldMk cId="0" sldId="266"/>
        </pc:sldMkLst>
        <pc:spChg chg="mod">
          <ac:chgData name="Phan, Tiffany M Capt USAF USAFA DF/DFCS" userId="a0ed988f-3bd3-448a-ab68-f6eca8eadb00" providerId="ADAL" clId="{D74FDB2A-C6F9-423C-9DA7-5C8A44CC196C}" dt="2026-08-04T20:49:11.219" v="228" actId="276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19" v="229" actId="2763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19" v="227" actId="27636"/>
          <ac:spMkLst>
            <pc:docMk/>
            <pc:sldMk cId="0" sldId="266"/>
            <ac:spMk id="26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49:11.238" v="235" actId="27636"/>
        <pc:sldMkLst>
          <pc:docMk/>
          <pc:sldMk cId="0" sldId="267"/>
        </pc:sldMkLst>
        <pc:spChg chg="mod">
          <ac:chgData name="Phan, Tiffany M Capt USAF USAFA DF/DFCS" userId="a0ed988f-3bd3-448a-ab68-f6eca8eadb00" providerId="ADAL" clId="{D74FDB2A-C6F9-423C-9DA7-5C8A44CC196C}" dt="2026-08-04T20:49:11.238" v="234" actId="276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38" v="233" actId="2763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38" v="235" actId="2763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38" v="231" actId="2763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38" v="230" actId="2763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38" v="232" actId="27636"/>
          <ac:spMkLst>
            <pc:docMk/>
            <pc:sldMk cId="0" sldId="267"/>
            <ac:spMk id="21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53:40.406" v="269" actId="179"/>
        <pc:sldMkLst>
          <pc:docMk/>
          <pc:sldMk cId="0" sldId="268"/>
        </pc:sldMkLst>
        <pc:spChg chg="mod">
          <ac:chgData name="Phan, Tiffany M Capt USAF USAFA DF/DFCS" userId="a0ed988f-3bd3-448a-ab68-f6eca8eadb00" providerId="ADAL" clId="{D74FDB2A-C6F9-423C-9DA7-5C8A44CC196C}" dt="2026-08-04T20:49:11.250" v="236" actId="27636"/>
          <ac:spMkLst>
            <pc:docMk/>
            <pc:sldMk cId="0" sldId="268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53:40.406" v="269" actId="179"/>
          <ac:spMkLst>
            <pc:docMk/>
            <pc:sldMk cId="0" sldId="268"/>
            <ac:spMk id="10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49:11.250" v="238" actId="27636"/>
        <pc:sldMkLst>
          <pc:docMk/>
          <pc:sldMk cId="0" sldId="269"/>
        </pc:sldMkLst>
        <pc:spChg chg="mod">
          <ac:chgData name="Phan, Tiffany M Capt USAF USAFA DF/DFCS" userId="a0ed988f-3bd3-448a-ab68-f6eca8eadb00" providerId="ADAL" clId="{D74FDB2A-C6F9-423C-9DA7-5C8A44CC196C}" dt="2026-08-04T20:49:11.250" v="237" actId="27636"/>
          <ac:spMkLst>
            <pc:docMk/>
            <pc:sldMk cId="0" sldId="269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50" v="238" actId="27636"/>
          <ac:spMkLst>
            <pc:docMk/>
            <pc:sldMk cId="0" sldId="269"/>
            <ac:spMk id="25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49:11.266" v="239" actId="27636"/>
        <pc:sldMkLst>
          <pc:docMk/>
          <pc:sldMk cId="0" sldId="270"/>
        </pc:sldMkLst>
        <pc:spChg chg="mod">
          <ac:chgData name="Phan, Tiffany M Capt USAF USAFA DF/DFCS" userId="a0ed988f-3bd3-448a-ab68-f6eca8eadb00" providerId="ADAL" clId="{D74FDB2A-C6F9-423C-9DA7-5C8A44CC196C}" dt="2026-08-04T20:49:11.266" v="239" actId="27636"/>
          <ac:spMkLst>
            <pc:docMk/>
            <pc:sldMk cId="0" sldId="270"/>
            <ac:spMk id="5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0:49:11.284" v="244" actId="27636"/>
        <pc:sldMkLst>
          <pc:docMk/>
          <pc:sldMk cId="0" sldId="271"/>
        </pc:sldMkLst>
        <pc:spChg chg="mod">
          <ac:chgData name="Phan, Tiffany M Capt USAF USAFA DF/DFCS" userId="a0ed988f-3bd3-448a-ab68-f6eca8eadb00" providerId="ADAL" clId="{D74FDB2A-C6F9-423C-9DA7-5C8A44CC196C}" dt="2026-08-04T20:49:11.281" v="240" actId="27636"/>
          <ac:spMkLst>
            <pc:docMk/>
            <pc:sldMk cId="0" sldId="271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84" v="242" actId="2763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84" v="243" actId="2763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84" v="241" actId="2763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0:49:11.284" v="244" actId="27636"/>
          <ac:spMkLst>
            <pc:docMk/>
            <pc:sldMk cId="0" sldId="271"/>
            <ac:spMk id="16" creationId="{00000000-0000-0000-0000-000000000000}"/>
          </ac:spMkLst>
        </pc:spChg>
      </pc:sldChg>
      <pc:sldChg chg="add">
        <pc:chgData name="Phan, Tiffany M Capt USAF USAFA DF/DFCS" userId="a0ed988f-3bd3-448a-ab68-f6eca8eadb00" providerId="ADAL" clId="{D74FDB2A-C6F9-423C-9DA7-5C8A44CC196C}" dt="2026-08-04T20:55:05.600" v="296" actId="2890"/>
        <pc:sldMkLst>
          <pc:docMk/>
          <pc:sldMk cId="2670368363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484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course arc: students already use AI; this course moves them toward understanding and designing AI systems. Emphasize evaluation as the Lesson 1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these directly to the syllabus lesson objectives. Tell students that today is less about memorizing definitions and more about developing a reliable evaluation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E2174-7674-AD91-78AA-8D7E7771B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5EADE-68B2-62DA-FED0-3ED6740E6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8152C-9FDC-A5B8-CF1E-6121BE643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these directly to the syllabus lesson objectives. Tell students that today is less about memorizing definitions and more about developing a reliable evaluation habit.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91812-FEAA-8A61-B5BB-9F89FDF71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94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Administrative slide. Do not linger. Use this to reinforce where students should look for course materials and remind them that AI use is governed by the syllabus/instructor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prompt live if possible. If not, paste a pre-generated answer. Have students silently write one reason to trust and one reason not to trust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think-pair-share. Push students to separate fluency from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nuance: the course is not anti-AI. The goal is to build systems and habits that make AI useful and trustworthy in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abstract philosophical definitions. Keep this operational: what is the system designed to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full course without going deep. This slide helps students understand why Lesson 1 starts with modern AI but the course does not stay only with LLMs.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 the room. Ask students why certain examples feel more or less intelligent. Use responses to distinguish behavior, autonomy, stakes, and evaluation burden.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strengths are conditional. They explain why AI is useful, not why it should be trusted blindly.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limitations do not make AI useless; they define the engineering and evaluation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students should photograph or write down. It previews the evaluation language they will use in later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bridges Lesson 1 to the search module. Students should see that many AI failures come from unmodeled objectives, missing state, and incorrect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avoid blanket answers. Trust depends on the task, the data, the stakes, and the verification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situates Lesson 1 in the semester arc. The “black box into design choices” language is useful for setting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pointing to Lesson 2. This slide should close the loop with the objectives and reinforce evaluation as a durable course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B515"/>
                </a:solidFill>
              </a:rPr>
              <a:t>CompSci 471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112471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062B49"/>
                </a:solidFill>
              </a:rPr>
              <a:t>Artificial Intelligence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49808" y="1874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B3440"/>
                </a:solidFill>
              </a:rPr>
              <a:t>Lesson 1: Intro to Artificial Intelligence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5054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5E93"/>
                </a:solidFill>
              </a:rPr>
              <a:t>Using AI  →  Understanding AI  →  Designing AI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92081" y="1417320"/>
            <a:ext cx="1742676" cy="914400"/>
          </a:xfrm>
          <a:prstGeom prst="chevron">
            <a:avLst/>
          </a:prstGeom>
          <a:solidFill>
            <a:srgbClr val="E6F0F8"/>
          </a:solidFill>
          <a:ln w="12700">
            <a:solidFill>
              <a:srgbClr val="E6F0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85749" y="1719072"/>
            <a:ext cx="1353312" cy="290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2B49"/>
                </a:solidFill>
              </a:rPr>
              <a:t>Use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83721" y="1417320"/>
            <a:ext cx="1742676" cy="914400"/>
          </a:xfrm>
          <a:prstGeom prst="chevron">
            <a:avLst/>
          </a:prstGeom>
          <a:solidFill>
            <a:srgbClr val="EDF4EA"/>
          </a:solidFill>
          <a:ln w="12700">
            <a:solidFill>
              <a:srgbClr val="EDF4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6086" y="1719072"/>
            <a:ext cx="1264615" cy="290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2B49"/>
                </a:solidFill>
              </a:rPr>
              <a:t>Understand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75361" y="1417320"/>
            <a:ext cx="1742676" cy="914400"/>
          </a:xfrm>
          <a:prstGeom prst="chevron">
            <a:avLst/>
          </a:prstGeom>
          <a:solidFill>
            <a:srgbClr val="FFF1C9"/>
          </a:solidFill>
          <a:ln w="12700">
            <a:solidFill>
              <a:srgbClr val="FFF1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44309" y="1719072"/>
            <a:ext cx="1325880" cy="290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2B49"/>
                </a:solidFill>
              </a:rPr>
              <a:t>Design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88352" y="3063240"/>
            <a:ext cx="379476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2B49"/>
                </a:solidFill>
              </a:rPr>
              <a:t>Learn to question AI before you rely on it.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" y="6236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6F"/>
                </a:solidFill>
              </a:rPr>
              <a:t>Fall 2026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FF1F072-368F-DAC1-DFCE-450BFEBFD1C9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2153943" y="3370308"/>
            <a:ext cx="2247598" cy="2249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 little about me….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2</a:t>
            </a:r>
            <a:endParaRPr lang="en-US" sz="850" dirty="0"/>
          </a:p>
        </p:txBody>
      </p:sp>
      <p:pic>
        <p:nvPicPr>
          <p:cNvPr id="19" name="Picture 2" descr="Texas UT Longhorns Metal Auto Emblem (Texas Flag Logo)">
            <a:extLst>
              <a:ext uri="{FF2B5EF4-FFF2-40B4-BE49-F238E27FC236}">
                <a16:creationId xmlns:a16="http://schemas.microsoft.com/office/drawing/2014/main" id="{71FB375E-4547-454B-B5E6-F6FBD8865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7830" y="5032166"/>
            <a:ext cx="1496650" cy="149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Air Force Institute of Technology - Wikipedia">
            <a:extLst>
              <a:ext uri="{FF2B5EF4-FFF2-40B4-BE49-F238E27FC236}">
                <a16:creationId xmlns:a16="http://schemas.microsoft.com/office/drawing/2014/main" id="{E1244B99-CD11-E0F1-11C1-C94FA2235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029" y="5245657"/>
            <a:ext cx="1374661" cy="135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333RD TRAINING SQUADRON &gt; Keesler Air Force Base &gt; Display">
            <a:extLst>
              <a:ext uri="{FF2B5EF4-FFF2-40B4-BE49-F238E27FC236}">
                <a16:creationId xmlns:a16="http://schemas.microsoft.com/office/drawing/2014/main" id="{BA6EEB50-6697-28EA-7BA3-9BBF785B1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3028299" y="5064265"/>
            <a:ext cx="1546462" cy="156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51st Operations Support Squadron &gt; Osan Air Base &gt; Display">
            <a:extLst>
              <a:ext uri="{FF2B5EF4-FFF2-40B4-BE49-F238E27FC236}">
                <a16:creationId xmlns:a16="http://schemas.microsoft.com/office/drawing/2014/main" id="{6401B5C4-6B57-2384-B3C3-19DA00AD5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4638048" y="5064265"/>
            <a:ext cx="1390254" cy="156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0" descr="3rd Test and Evaluation Squadron - Wikipedia">
            <a:extLst>
              <a:ext uri="{FF2B5EF4-FFF2-40B4-BE49-F238E27FC236}">
                <a16:creationId xmlns:a16="http://schemas.microsoft.com/office/drawing/2014/main" id="{63421FEB-44F7-1E2E-E419-9C43791607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/>
          <a:srcRect r="1619"/>
          <a:stretch>
            <a:fillRect/>
          </a:stretch>
        </p:blipFill>
        <p:spPr bwMode="auto">
          <a:xfrm>
            <a:off x="6130622" y="5093208"/>
            <a:ext cx="1338701" cy="150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Space Delta 12 - Test &amp; Evaluation">
            <a:extLst>
              <a:ext uri="{FF2B5EF4-FFF2-40B4-BE49-F238E27FC236}">
                <a16:creationId xmlns:a16="http://schemas.microsoft.com/office/drawing/2014/main" id="{D08FDC85-9B83-D41D-FF27-285FB3EE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292" y="5093208"/>
            <a:ext cx="1186618" cy="143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4" descr="Other Marks • United States Air Force Academy">
            <a:extLst>
              <a:ext uri="{FF2B5EF4-FFF2-40B4-BE49-F238E27FC236}">
                <a16:creationId xmlns:a16="http://schemas.microsoft.com/office/drawing/2014/main" id="{BEDDB2D0-19E8-74C7-D7A2-3EAD362C2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/>
        </p:blipFill>
        <p:spPr bwMode="auto">
          <a:xfrm>
            <a:off x="10407915" y="5067316"/>
            <a:ext cx="1593963" cy="156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Air Force Institute of Technology - Wikipedia">
            <a:extLst>
              <a:ext uri="{FF2B5EF4-FFF2-40B4-BE49-F238E27FC236}">
                <a16:creationId xmlns:a16="http://schemas.microsoft.com/office/drawing/2014/main" id="{2F91A365-28D8-36F0-1641-4DBCF3AA5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847" y="5316138"/>
            <a:ext cx="1088410" cy="107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Texas UT Longhorns Metal Auto Emblem (Texas Flag Logo)">
            <a:extLst>
              <a:ext uri="{FF2B5EF4-FFF2-40B4-BE49-F238E27FC236}">
                <a16:creationId xmlns:a16="http://schemas.microsoft.com/office/drawing/2014/main" id="{718C12EF-48D3-6B77-C23E-E5B9D5A8F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9345457" y="5449045"/>
            <a:ext cx="1071799" cy="107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3ACC29D-E4F6-3D9E-681B-127C4EE24A64}"/>
              </a:ext>
            </a:extLst>
          </p:cNvPr>
          <p:cNvSpPr txBox="1"/>
          <p:nvPr/>
        </p:nvSpPr>
        <p:spPr>
          <a:xfrm>
            <a:off x="594360" y="1812451"/>
            <a:ext cx="6100430" cy="28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a typeface="Avenir Book" charset="0"/>
                <a:cs typeface="Avenir Book" charset="0"/>
              </a:rPr>
              <a:t>Maj Tiffany M. Phan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ea typeface="Avenir Book" charset="0"/>
                <a:cs typeface="Avenir Book" charset="0"/>
              </a:rPr>
              <a:t>Office: </a:t>
            </a:r>
            <a:r>
              <a:rPr lang="en-US" sz="2000" dirty="0">
                <a:solidFill>
                  <a:srgbClr val="0070C0"/>
                </a:solidFill>
                <a:ea typeface="Avenir Book" charset="0"/>
                <a:cs typeface="Avenir Book" charset="0"/>
              </a:rPr>
              <a:t>Madera 405 (Mezzanine level)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ea typeface="Avenir Book" charset="0"/>
                <a:cs typeface="Avenir Book" charset="0"/>
              </a:rPr>
              <a:t>Email:  </a:t>
            </a:r>
            <a:r>
              <a:rPr lang="en-US" sz="2000" dirty="0">
                <a:solidFill>
                  <a:srgbClr val="0070C0"/>
                </a:solidFill>
                <a:ea typeface="Avenir Book" charset="0"/>
                <a:cs typeface="Avenir Book" charset="0"/>
              </a:rPr>
              <a:t>tiffany.phan@afacademy.af.edu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ea typeface="Avenir Book" charset="0"/>
                <a:cs typeface="Avenir Book" charset="0"/>
              </a:rPr>
              <a:t>Preferred Communications:  </a:t>
            </a:r>
            <a:r>
              <a:rPr lang="en-US" sz="2000" dirty="0">
                <a:solidFill>
                  <a:srgbClr val="0070C0"/>
                </a:solidFill>
                <a:ea typeface="Avenir Book" charset="0"/>
                <a:cs typeface="Avenir Book" charset="0"/>
              </a:rPr>
              <a:t>Microsoft Teams</a:t>
            </a:r>
            <a:r>
              <a:rPr lang="en-US" sz="2000" dirty="0">
                <a:ea typeface="Avenir Book" charset="0"/>
                <a:cs typeface="Avenir Book" charset="0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ea typeface="Avenir Book" charset="0"/>
                <a:cs typeface="Avenir Book" charset="0"/>
              </a:rPr>
              <a:t>Office Hours – check my Outlook calendar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ea typeface="Avenir Book" charset="0"/>
                <a:cs typeface="Avenir Book" charset="0"/>
              </a:rPr>
              <a:t>EI Preference – </a:t>
            </a:r>
            <a:r>
              <a:rPr lang="en-US" dirty="0">
                <a:ea typeface="Avenir Book" charset="0"/>
                <a:cs typeface="Avenir Book" charset="0"/>
              </a:rPr>
              <a:t>message me to schedule</a:t>
            </a:r>
            <a:endParaRPr lang="en-US" sz="2400" dirty="0">
              <a:latin typeface="+mj-lt"/>
              <a:ea typeface="Avenir Book" charset="0"/>
              <a:cs typeface="Avenir Book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4AA5EB2-FC7F-25DA-55D4-322B059B8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4708" y="681870"/>
            <a:ext cx="2158068" cy="287410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669D762-359F-4AFD-6EFB-34372DAD0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1212" y="3012776"/>
            <a:ext cx="2591672" cy="194599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3AFDB15-3CEE-6B6D-D1E4-E30D89ED6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46557" y="926723"/>
            <a:ext cx="2174287" cy="2894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9FEBF-5545-369D-1E38-8B86DC74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97118F-5235-C853-81CC-D1988B299FD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D7581AE-ADBE-A54B-56FE-46A9607279F7}"/>
              </a:ext>
            </a:extLst>
          </p:cNvPr>
          <p:cNvSpPr/>
          <p:nvPr/>
        </p:nvSpPr>
        <p:spPr>
          <a:xfrm>
            <a:off x="1124712" y="2450592"/>
            <a:ext cx="0" cy="233172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303F73E-82EE-C1D8-6EB1-DF798C981530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1B16B4-EE7E-0607-CC01-86B3C7EE6C4A}"/>
              </a:ext>
            </a:extLst>
          </p:cNvPr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287D80-30C9-BE1A-C86D-5E136F3439AC}"/>
              </a:ext>
            </a:extLst>
          </p:cNvPr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70D6EB-551F-99DF-72DD-E4B4CFA6F8E4}"/>
              </a:ext>
            </a:extLst>
          </p:cNvPr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By the end of Lesson 1, students should be able to…</a:t>
            </a: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CBFD624-DF89-CD42-76F7-A6BD3C1E15D6}"/>
              </a:ext>
            </a:extLst>
          </p:cNvPr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C86FDA5-7AAB-C341-C3FA-08A5567D926C}"/>
              </a:ext>
            </a:extLst>
          </p:cNvPr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48D7911-4300-DD42-22FF-2A5B9D5FBABC}"/>
              </a:ext>
            </a:extLst>
          </p:cNvPr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FFC02F2-A2FC-8C17-F57C-B70CAF1724F2}"/>
              </a:ext>
            </a:extLst>
          </p:cNvPr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solidFill>
            <a:srgbClr val="FDB515"/>
          </a:solidFill>
          <a:ln>
            <a:solidFill>
              <a:srgbClr val="FDB5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6F8BE18-E624-7D05-EC26-A7DEF4FBAF66}"/>
              </a:ext>
            </a:extLst>
          </p:cNvPr>
          <p:cNvSpPr/>
          <p:nvPr/>
        </p:nvSpPr>
        <p:spPr>
          <a:xfrm>
            <a:off x="1572768" y="18562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Describe what AI systems do using concrete examples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A0EBBB0-9C41-C896-D58B-9C2350584B75}"/>
              </a:ext>
            </a:extLst>
          </p:cNvPr>
          <p:cNvSpPr/>
          <p:nvPr/>
        </p:nvSpPr>
        <p:spPr>
          <a:xfrm>
            <a:off x="868680" y="3154680"/>
            <a:ext cx="502920" cy="502920"/>
          </a:xfrm>
          <a:prstGeom prst="rect">
            <a:avLst/>
          </a:prstGeom>
          <a:solidFill>
            <a:srgbClr val="FDB515"/>
          </a:solidFill>
          <a:ln>
            <a:solidFill>
              <a:srgbClr val="FDB5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A595375-299C-C85C-CECA-2C72E86C2C3C}"/>
              </a:ext>
            </a:extLst>
          </p:cNvPr>
          <p:cNvSpPr/>
          <p:nvPr/>
        </p:nvSpPr>
        <p:spPr>
          <a:xfrm>
            <a:off x="1572768" y="309067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Identify strengths and limitations of modern AI systems</a:t>
            </a:r>
            <a:endParaRPr lang="en-US" sz="2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087950C-6A38-2232-8697-2D840F1AF712}"/>
              </a:ext>
            </a:extLst>
          </p:cNvPr>
          <p:cNvSpPr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solidFill>
            <a:srgbClr val="FDB515"/>
          </a:solidFill>
          <a:ln>
            <a:solidFill>
              <a:srgbClr val="FDB5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029D4AA-2C9F-6366-80B1-262E7031B1C9}"/>
              </a:ext>
            </a:extLst>
          </p:cNvPr>
          <p:cNvSpPr/>
          <p:nvPr/>
        </p:nvSpPr>
        <p:spPr>
          <a:xfrm>
            <a:off x="1572768" y="432511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Explain why AI outputs require evaluation and cannot be blindly trusted</a:t>
            </a:r>
            <a:endParaRPr lang="en-US" sz="2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D9E29F0-D2C8-1ED9-52DB-DDE86D58DA9B}"/>
              </a:ext>
            </a:extLst>
          </p:cNvPr>
          <p:cNvSpPr/>
          <p:nvPr/>
        </p:nvSpPr>
        <p:spPr>
          <a:xfrm>
            <a:off x="914400" y="5486400"/>
            <a:ext cx="10149840" cy="502920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62B49"/>
                </a:solidFill>
              </a:rPr>
              <a:t>Main habit: ask “how do I know?” before acting on an AI output.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670368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startup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Get oriented with the course.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2B49"/>
                </a:solidFill>
              </a:rPr>
              <a:t>Before we start using AI as a case study: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68680" y="2423160"/>
            <a:ext cx="128016" cy="65836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2404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430"/>
                </a:solidFill>
              </a:rPr>
              <a:t>Blackboard enrollment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480560" y="24231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6F"/>
                </a:solidFill>
              </a:rPr>
              <a:t>Confirm you can see course announcements, assignments, and quizzes.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3456432"/>
            <a:ext cx="128016" cy="65836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3000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430"/>
                </a:solidFill>
              </a:rPr>
              <a:t>Syllabus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480560" y="34564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6F"/>
                </a:solidFill>
              </a:rPr>
              <a:t>Know the grading structure, AI-use policy, and assessment rhythm.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4489704"/>
            <a:ext cx="128016" cy="65836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4471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430"/>
                </a:solidFill>
              </a:rPr>
              <a:t>GitHub Teachbook / slides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480560" y="44897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6F"/>
                </a:solidFill>
              </a:rPr>
              <a:t>This is where the open course materials will live.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715000"/>
            <a:ext cx="9966960" cy="411480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Default assumption: Level 0 GenAI unless your instructor says otherwise.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Let’s ask an AI system a question. Your job is to decide whether you trust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B515"/>
                </a:solidFill>
              </a:rPr>
              <a:t>Prompt to try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212848"/>
            <a:ext cx="548640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E2EA"/>
            </a:solidFill>
          </a:ln>
        </p:spPr>
        <p:txBody>
          <a:bodyPr wrap="square" lIns="2286" tIns="2286" rIns="2286" bIns="2286" rtlCol="0" anchor="ctr">
            <a:normAutofit fontScale="92500"/>
          </a:bodyPr>
          <a:lstStyle/>
          <a:p>
            <a:pPr marL="117475">
              <a:buNone/>
            </a:pPr>
            <a:r>
              <a:rPr lang="en-US" sz="2200" b="1" dirty="0">
                <a:solidFill>
                  <a:srgbClr val="1B2430"/>
                </a:solidFill>
              </a:rPr>
              <a:t>Decide whether an autonomous drone should fly directly through a mountain pass or take a longer route around it. Make a single decision.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037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B515"/>
                </a:solidFill>
              </a:rPr>
              <a:t>Watch for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03720" y="2148840"/>
            <a:ext cx="4389120" cy="2651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2100" dirty="0">
                <a:solidFill>
                  <a:srgbClr val="1B2430"/>
                </a:solidFill>
              </a:rPr>
              <a:t>Does it invent missing information?</a:t>
            </a:r>
            <a:endParaRPr lang="en-US" sz="2100" dirty="0"/>
          </a:p>
          <a:p>
            <a:r>
              <a:rPr lang="en-US" sz="2100" dirty="0">
                <a:solidFill>
                  <a:srgbClr val="1B2430"/>
                </a:solidFill>
              </a:rPr>
              <a:t>Does it sound more certain than the evidence allows?</a:t>
            </a:r>
            <a:endParaRPr lang="en-US" sz="2100" dirty="0"/>
          </a:p>
          <a:p>
            <a:r>
              <a:rPr lang="en-US" sz="2100" dirty="0">
                <a:solidFill>
                  <a:srgbClr val="1B2430"/>
                </a:solidFill>
              </a:rPr>
              <a:t>Does it mention verification or risk?</a:t>
            </a:r>
            <a:endParaRPr lang="en-US" sz="2100" dirty="0"/>
          </a:p>
          <a:p>
            <a:r>
              <a:rPr lang="en-US" sz="2100" dirty="0">
                <a:solidFill>
                  <a:srgbClr val="1B2430"/>
                </a:solidFill>
              </a:rPr>
              <a:t>What would a real system need before acting?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97280" y="5440680"/>
            <a:ext cx="9966960" cy="502920"/>
          </a:xfrm>
          <a:prstGeom prst="rect">
            <a:avLst/>
          </a:prstGeom>
          <a:solidFill>
            <a:srgbClr val="FFE6A5"/>
          </a:solidFill>
          <a:ln>
            <a:solidFill>
              <a:srgbClr val="FFE6A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2B49"/>
                </a:solidFill>
              </a:rPr>
              <a:t>You are not evaluating style. You are evaluating trust.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trust test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 quick frame for evaluating any AI output.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1874520" cy="1188720"/>
          </a:xfrm>
          <a:prstGeom prst="hexagon">
            <a:avLst/>
          </a:prstGeom>
          <a:solidFill>
            <a:srgbClr val="FFF3CE"/>
          </a:solidFill>
          <a:ln w="1524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3408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Correct?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Can we verify the claim?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816352" y="2404872"/>
            <a:ext cx="658368" cy="393192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11880" y="2011680"/>
            <a:ext cx="1874520" cy="1188720"/>
          </a:xfrm>
          <a:prstGeom prst="hexagon">
            <a:avLst/>
          </a:prstGeom>
          <a:solidFill>
            <a:srgbClr val="EAF2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9040" y="23408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Complete?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1188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What information is missing?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50992" y="2404872"/>
            <a:ext cx="658368" cy="393192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46520" y="2011680"/>
            <a:ext cx="1874520" cy="1188720"/>
          </a:xfrm>
          <a:prstGeom prst="hexagon">
            <a:avLst/>
          </a:prstGeom>
          <a:solidFill>
            <a:srgbClr val="FFF3CE"/>
          </a:solidFill>
          <a:ln w="1524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23408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Consistent?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Do the assumptions match the situation?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485632" y="2404872"/>
            <a:ext cx="658368" cy="393192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81160" y="2011680"/>
            <a:ext cx="1874520" cy="1188720"/>
          </a:xfrm>
          <a:prstGeom prst="hexagon">
            <a:avLst/>
          </a:prstGeom>
          <a:solidFill>
            <a:srgbClr val="EAF2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418320" y="23408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Safe enough?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8116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What happens if it is wrong?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0120" y="5047488"/>
            <a:ext cx="10149840" cy="713232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Class question: which step is easiest to skip when an answer sounds fluent?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just happened?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AI can look intelligent before it is reliable.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2B49"/>
                </a:solidFill>
              </a:rPr>
              <a:t>The confidence trap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484632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1D5E93"/>
            </a:solidFill>
          </a:ln>
        </p:spPr>
        <p:txBody>
          <a:bodyPr wrap="square" lIns="2286" tIns="2286" rIns="2286" bIns="2286" rtlCol="0" anchor="ctr">
            <a:normAutofit lnSpcReduction="10000"/>
          </a:bodyPr>
          <a:lstStyle/>
          <a:p>
            <a:pPr marL="117475">
              <a:buNone/>
            </a:pPr>
            <a:r>
              <a:rPr lang="en-US" sz="2500" b="1" dirty="0">
                <a:solidFill>
                  <a:srgbClr val="1B2430"/>
                </a:solidFill>
              </a:rPr>
              <a:t>A system can produce an answer that is fluent, specific, and useful-looking…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880360" y="3593592"/>
            <a:ext cx="594360" cy="749808"/>
          </a:xfrm>
          <a:prstGeom prst="down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48463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6403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117475">
              <a:buNone/>
            </a:pPr>
            <a:r>
              <a:rPr lang="en-US" sz="2500" b="1" dirty="0">
                <a:solidFill>
                  <a:srgbClr val="1B2430"/>
                </a:solidFill>
              </a:rPr>
              <a:t>…while still being incomplete, misleading, or wrong.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492240" y="2176272"/>
            <a:ext cx="4831080" cy="3102580"/>
          </a:xfrm>
          <a:prstGeom prst="rect">
            <a:avLst/>
          </a:prstGeom>
          <a:solidFill>
            <a:srgbClr val="FFE6A5"/>
          </a:solidFill>
          <a:ln>
            <a:solidFill>
              <a:srgbClr val="FFE6A5">
                <a:alpha val="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2B49"/>
                </a:solidFill>
              </a:rPr>
              <a:t>The lesson is not </a:t>
            </a:r>
            <a:br>
              <a:rPr lang="en-US" sz="3200" b="1" dirty="0">
                <a:solidFill>
                  <a:srgbClr val="062B49"/>
                </a:solidFill>
              </a:rPr>
            </a:br>
            <a:r>
              <a:rPr lang="en-US" sz="3200" b="1" dirty="0">
                <a:solidFill>
                  <a:srgbClr val="062B49"/>
                </a:solidFill>
              </a:rPr>
              <a:t>“AI is bad.”</a:t>
            </a:r>
            <a:br>
              <a:rPr lang="en-US" sz="3200" b="1" dirty="0">
                <a:solidFill>
                  <a:srgbClr val="062B49"/>
                </a:solidFill>
              </a:rPr>
            </a:b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62B49"/>
                </a:solidFill>
              </a:rPr>
              <a:t>The lesson is </a:t>
            </a:r>
            <a:br>
              <a:rPr lang="en-US" sz="3200" b="1" dirty="0">
                <a:solidFill>
                  <a:srgbClr val="062B49"/>
                </a:solidFill>
              </a:rPr>
            </a:br>
            <a:r>
              <a:rPr lang="en-US" sz="3200" b="1" dirty="0">
                <a:solidFill>
                  <a:srgbClr val="062B49"/>
                </a:solidFill>
              </a:rPr>
              <a:t>“AI requires evaluation.”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artificial intelligence?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For this course, define AI through what systems are designed to 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62B49"/>
                </a:solidFill>
              </a:rPr>
              <a:t>AI systems are designed to…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Solve problems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05840" y="3182112"/>
            <a:ext cx="1965960" cy="0"/>
          </a:xfrm>
          <a:prstGeom prst="line">
            <a:avLst/>
          </a:prstGeom>
          <a:noFill/>
          <a:ln w="3048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01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6F"/>
                </a:solidFill>
              </a:rPr>
              <a:t>find routes, schedules, plans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Make decisions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583680" y="3182112"/>
            <a:ext cx="1965960" cy="0"/>
          </a:xfrm>
          <a:prstGeom prst="line">
            <a:avLst/>
          </a:prstGeom>
          <a:noFill/>
          <a:ln w="3048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3401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6F"/>
                </a:solidFill>
              </a:rPr>
              <a:t>select actions under constraints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4160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Learn from data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05840" y="4782312"/>
            <a:ext cx="1965960" cy="0"/>
          </a:xfrm>
          <a:prstGeom prst="line">
            <a:avLst/>
          </a:prstGeom>
          <a:noFill/>
          <a:ln w="3048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5001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6F"/>
                </a:solidFill>
              </a:rPr>
              <a:t>detect patterns and update models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4160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Reason under uncertainty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583680" y="4782312"/>
            <a:ext cx="1965960" cy="0"/>
          </a:xfrm>
          <a:prstGeom prst="line">
            <a:avLst/>
          </a:prstGeom>
          <a:noFill/>
          <a:ln w="3048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5001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6F"/>
                </a:solidFill>
              </a:rPr>
              <a:t>estimate what is likely or risky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is more than LLMs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Large language models are one important type of AI, not the whole field.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1627632" cy="960120"/>
          </a:xfrm>
          <a:prstGeom prst="rect">
            <a:avLst/>
          </a:prstGeom>
          <a:solidFill>
            <a:srgbClr val="E6F0F8"/>
          </a:solidFill>
          <a:ln w="1651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Search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171907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80" dirty="0">
                <a:solidFill>
                  <a:srgbClr val="51606F"/>
                </a:solidFill>
              </a:rPr>
              <a:t>states, actions, goals</a:t>
            </a:r>
            <a:endParaRPr lang="en-US" sz="1480" dirty="0"/>
          </a:p>
        </p:txBody>
      </p:sp>
      <p:sp>
        <p:nvSpPr>
          <p:cNvPr id="13" name="Shape 11"/>
          <p:cNvSpPr/>
          <p:nvPr/>
        </p:nvSpPr>
        <p:spPr>
          <a:xfrm>
            <a:off x="2468880" y="2633472"/>
            <a:ext cx="411480" cy="320040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71800" y="2331720"/>
            <a:ext cx="1627632" cy="960120"/>
          </a:xfrm>
          <a:prstGeom prst="rect">
            <a:avLst/>
          </a:prstGeom>
          <a:solidFill>
            <a:srgbClr val="E6F0F8"/>
          </a:solidFill>
          <a:ln w="1651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17520" y="257860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Decision-making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26080" y="3611880"/>
            <a:ext cx="171907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80" dirty="0">
                <a:solidFill>
                  <a:srgbClr val="51606F"/>
                </a:solidFill>
              </a:rPr>
              <a:t>rewards, policies</a:t>
            </a:r>
            <a:endParaRPr lang="en-US" sz="1480" dirty="0"/>
          </a:p>
        </p:txBody>
      </p:sp>
      <p:sp>
        <p:nvSpPr>
          <p:cNvPr id="17" name="Shape 15"/>
          <p:cNvSpPr/>
          <p:nvPr/>
        </p:nvSpPr>
        <p:spPr>
          <a:xfrm>
            <a:off x="4754880" y="2633472"/>
            <a:ext cx="411480" cy="320040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57800" y="2331720"/>
            <a:ext cx="1627632" cy="960120"/>
          </a:xfrm>
          <a:prstGeom prst="rect">
            <a:avLst/>
          </a:prstGeom>
          <a:solidFill>
            <a:srgbClr val="E6F0F8"/>
          </a:solidFill>
          <a:ln w="1651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0" y="257860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Uncertainty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212080" y="3611880"/>
            <a:ext cx="171907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80" dirty="0">
                <a:solidFill>
                  <a:srgbClr val="51606F"/>
                </a:solidFill>
              </a:rPr>
              <a:t>probability, inference</a:t>
            </a:r>
            <a:endParaRPr lang="en-US" sz="1480" dirty="0"/>
          </a:p>
        </p:txBody>
      </p:sp>
      <p:sp>
        <p:nvSpPr>
          <p:cNvPr id="21" name="Shape 19"/>
          <p:cNvSpPr/>
          <p:nvPr/>
        </p:nvSpPr>
        <p:spPr>
          <a:xfrm>
            <a:off x="7040880" y="2633472"/>
            <a:ext cx="411480" cy="320040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543800" y="2331720"/>
            <a:ext cx="1627632" cy="960120"/>
          </a:xfrm>
          <a:prstGeom prst="rect">
            <a:avLst/>
          </a:prstGeom>
          <a:solidFill>
            <a:srgbClr val="E6F0F8"/>
          </a:solidFill>
          <a:ln w="1651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89520" y="257860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Learning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98080" y="3611880"/>
            <a:ext cx="171907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80" dirty="0">
                <a:solidFill>
                  <a:srgbClr val="51606F"/>
                </a:solidFill>
              </a:rPr>
              <a:t>models from data</a:t>
            </a:r>
            <a:endParaRPr lang="en-US" sz="1480" dirty="0"/>
          </a:p>
        </p:txBody>
      </p:sp>
      <p:sp>
        <p:nvSpPr>
          <p:cNvPr id="25" name="Shape 23"/>
          <p:cNvSpPr/>
          <p:nvPr/>
        </p:nvSpPr>
        <p:spPr>
          <a:xfrm>
            <a:off x="9326880" y="2633472"/>
            <a:ext cx="411480" cy="320040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829800" y="2331720"/>
            <a:ext cx="1627632" cy="960120"/>
          </a:xfrm>
          <a:prstGeom prst="rect">
            <a:avLst/>
          </a:prstGeom>
          <a:solidFill>
            <a:srgbClr val="FFE6A5"/>
          </a:solidFill>
          <a:ln w="1651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75520" y="257860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Modern AI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784080" y="3611880"/>
            <a:ext cx="171907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80" dirty="0">
                <a:solidFill>
                  <a:srgbClr val="51606F"/>
                </a:solidFill>
              </a:rPr>
              <a:t>LLMs, RAG, agents</a:t>
            </a:r>
            <a:endParaRPr lang="en-US" sz="1480" dirty="0"/>
          </a:p>
        </p:txBody>
      </p:sp>
      <p:sp>
        <p:nvSpPr>
          <p:cNvPr id="29" name="Text 27"/>
          <p:cNvSpPr/>
          <p:nvPr/>
        </p:nvSpPr>
        <p:spPr>
          <a:xfrm>
            <a:off x="914400" y="5212080"/>
            <a:ext cx="10241280" cy="749808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Course theme: select the right AI technique for the problem, then evaluate its behavior.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 of AI in the real world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Which of these feels the most intelligent? Which would you trust the least?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92040" y="2194560"/>
            <a:ext cx="2423160" cy="1325880"/>
          </a:xfrm>
          <a:prstGeom prst="ellipse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30952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AI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system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14400" y="1600200"/>
            <a:ext cx="2971800" cy="658368"/>
          </a:xfrm>
          <a:prstGeom prst="rect">
            <a:avLst/>
          </a:prstGeom>
          <a:solidFill>
            <a:srgbClr val="E6F0F8"/>
          </a:solidFill>
          <a:ln w="15240">
            <a:solidFill>
              <a:srgbClr val="1D5E9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62B49"/>
                </a:solidFill>
              </a:rPr>
              <a:t>Drone route planning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046720" y="1600200"/>
            <a:ext cx="2971800" cy="658368"/>
          </a:xfrm>
          <a:prstGeom prst="rect">
            <a:avLst/>
          </a:prstGeom>
          <a:solidFill>
            <a:srgbClr val="EAF2F8"/>
          </a:solidFill>
          <a:ln w="15240">
            <a:solidFill>
              <a:srgbClr val="FDB51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62B49"/>
                </a:solidFill>
              </a:rPr>
              <a:t>Cyber alert triage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2971800" cy="658368"/>
          </a:xfrm>
          <a:prstGeom prst="rect">
            <a:avLst/>
          </a:prstGeom>
          <a:solidFill>
            <a:srgbClr val="FFF1C9"/>
          </a:solidFill>
          <a:ln w="15240">
            <a:solidFill>
              <a:srgbClr val="FDB51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62B49"/>
                </a:solidFill>
              </a:rPr>
              <a:t>Aircraft maintenance prediction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138160" y="4160520"/>
            <a:ext cx="2971800" cy="658368"/>
          </a:xfrm>
          <a:prstGeom prst="rect">
            <a:avLst/>
          </a:prstGeom>
          <a:solidFill>
            <a:srgbClr val="FFF1C9"/>
          </a:solidFill>
          <a:ln w="15240">
            <a:solidFill>
              <a:srgbClr val="FDB51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62B49"/>
                </a:solidFill>
              </a:rPr>
              <a:t>Medical image support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389120" y="5074920"/>
            <a:ext cx="2971800" cy="658368"/>
          </a:xfrm>
          <a:prstGeom prst="rect">
            <a:avLst/>
          </a:prstGeom>
          <a:solidFill>
            <a:srgbClr val="EAF2F8"/>
          </a:solidFill>
          <a:ln w="15240">
            <a:solidFill>
              <a:srgbClr val="FDB51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62B49"/>
                </a:solidFill>
              </a:rPr>
              <a:t>Language assistant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Strengths of AI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Modern AI systems are powerful when the task structure fits their strengths.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2B49"/>
                </a:solidFill>
              </a:rPr>
              <a:t>Scale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48840" y="1874520"/>
            <a:ext cx="813816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48840" y="1874520"/>
            <a:ext cx="7975397" cy="347472"/>
          </a:xfrm>
          <a:prstGeom prst="rect">
            <a:avLst/>
          </a:prstGeom>
          <a:solidFill>
            <a:srgbClr val="1D5E93"/>
          </a:solidFill>
          <a:ln w="12700">
            <a:solidFill>
              <a:srgbClr val="1D5E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48840" y="2322576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51606F"/>
                </a:solidFill>
              </a:rPr>
              <a:t>process more data than humans can inspect manually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914400" y="276148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2B49"/>
                </a:solidFill>
              </a:rPr>
              <a:t>Patterns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148840" y="2715768"/>
            <a:ext cx="813816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48840" y="2715768"/>
            <a:ext cx="7080199" cy="347472"/>
          </a:xfrm>
          <a:prstGeom prst="rect">
            <a:avLst/>
          </a:prstGeom>
          <a:solidFill>
            <a:srgbClr val="1D5E93"/>
          </a:solidFill>
          <a:ln w="12700">
            <a:solidFill>
              <a:srgbClr val="1D5E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48840" y="3163824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51606F"/>
                </a:solidFill>
              </a:rPr>
              <a:t>find statistical structure in noisy inputs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914400" y="36027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2B49"/>
                </a:solidFill>
              </a:rPr>
              <a:t>Speed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148840" y="3557016"/>
            <a:ext cx="813816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48840" y="3557016"/>
            <a:ext cx="6836054" cy="347472"/>
          </a:xfrm>
          <a:prstGeom prst="rect">
            <a:avLst/>
          </a:prstGeom>
          <a:solidFill>
            <a:srgbClr val="1D5E93"/>
          </a:solidFill>
          <a:ln w="12700">
            <a:solidFill>
              <a:srgbClr val="1D5E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48840" y="4005072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51606F"/>
                </a:solidFill>
              </a:rPr>
              <a:t>generate candidate answers quickly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914400" y="444398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2B49"/>
                </a:solidFill>
              </a:rPr>
              <a:t>Repetition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148840" y="4398264"/>
            <a:ext cx="813816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148840" y="4398264"/>
            <a:ext cx="7242962" cy="347472"/>
          </a:xfrm>
          <a:prstGeom prst="rect">
            <a:avLst/>
          </a:prstGeom>
          <a:solidFill>
            <a:srgbClr val="1D5E93"/>
          </a:solidFill>
          <a:ln w="12700">
            <a:solidFill>
              <a:srgbClr val="1D5E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48840" y="4846320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51606F"/>
                </a:solidFill>
              </a:rPr>
              <a:t>apply the same rule or model consistently</a:t>
            </a:r>
            <a:endParaRPr lang="en-US" sz="1580" dirty="0"/>
          </a:p>
        </p:txBody>
      </p:sp>
      <p:sp>
        <p:nvSpPr>
          <p:cNvPr id="26" name="Text 24"/>
          <p:cNvSpPr/>
          <p:nvPr/>
        </p:nvSpPr>
        <p:spPr>
          <a:xfrm>
            <a:off x="1097280" y="5413248"/>
            <a:ext cx="9921240" cy="713232"/>
          </a:xfrm>
          <a:prstGeom prst="rect">
            <a:avLst/>
          </a:prstGeom>
          <a:solidFill>
            <a:srgbClr val="FFE6A5"/>
          </a:solidFill>
          <a:ln>
            <a:solidFill>
              <a:srgbClr val="FFE6A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Strength ≠ trust. It means the system may be useful under the right constraints.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of AI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The same systems can fail in ways that are hard to notice.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6403A"/>
                </a:solidFill>
              </a:rPr>
              <a:t>Plausibility vs. truth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22585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B2430"/>
                </a:solidFill>
              </a:rPr>
              <a:t>An answer can sound right without being right.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68680" y="2761488"/>
            <a:ext cx="44348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9535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6403A"/>
                </a:solidFill>
              </a:rPr>
              <a:t>Missing grounding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B2430"/>
                </a:solidFill>
              </a:rPr>
              <a:t>The model may not know what is physically or operationally true.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44348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0325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6403A"/>
                </a:solidFill>
              </a:rPr>
              <a:t>Input sensitivity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44165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B2430"/>
                </a:solidFill>
              </a:rPr>
              <a:t>Small wording changes can shift the output.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868680" y="4919472"/>
            <a:ext cx="44348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18745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2B49"/>
                </a:solidFill>
              </a:rPr>
              <a:t>Hallucination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22585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B2430"/>
                </a:solidFill>
              </a:rPr>
              <a:t>It may invent facts, sources, or constraints.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6446520" y="2761488"/>
            <a:ext cx="44348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29535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2B49"/>
                </a:solidFill>
              </a:rPr>
              <a:t>Edge cases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46520" y="33375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B2430"/>
                </a:solidFill>
              </a:rPr>
              <a:t>It can behave poorly outside familiar patterns.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6446520" y="3840480"/>
            <a:ext cx="44348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40325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2B49"/>
                </a:solidFill>
              </a:rPr>
              <a:t>Unstated assumptions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46520" y="44165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B2430"/>
                </a:solidFill>
              </a:rPr>
              <a:t>It may hide uncertainty behind confident language.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6446520" y="4919472"/>
            <a:ext cx="44348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checklist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Use this when an AI answer “looks good.”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60120" y="1920240"/>
            <a:ext cx="10241280" cy="475488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2029968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Before acting on an AI output, ask: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743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2B49"/>
                </a:solidFill>
              </a:rPr>
              <a:t>1. Logic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0" y="276148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B2430"/>
                </a:solidFill>
              </a:rPr>
              <a:t>Is the reasoning internally consistent?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3101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2B49"/>
                </a:solidFill>
              </a:rPr>
              <a:t>2. Evidence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0" y="332841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B2430"/>
                </a:solidFill>
              </a:rPr>
              <a:t>Can the claims be verified?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8770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2B49"/>
                </a:solidFill>
              </a:rPr>
              <a:t>3. Assumptions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00400" y="38953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B2430"/>
                </a:solidFill>
              </a:rPr>
              <a:t>What had to be assumed?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444398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2B49"/>
                </a:solidFill>
              </a:rPr>
              <a:t>4. Missing info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00400" y="44622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B2430"/>
                </a:solidFill>
              </a:rPr>
              <a:t>What did the answer ignore?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5010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2B49"/>
                </a:solidFill>
              </a:rPr>
              <a:t>5. Stakes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00400" y="502920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B2430"/>
                </a:solidFill>
              </a:rPr>
              <a:t>What is the cost of being wrong?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DB515"/>
                </a:solidFill>
              </a:rPr>
              <a:t>This checklist will come back throughout the course.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Mini-debrief: spot the risk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Use the checklist on a concrete AI-style recommendation.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525780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B6403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117475">
              <a:buNone/>
            </a:pPr>
            <a:r>
              <a:rPr lang="en-US" sz="2300" b="1" dirty="0">
                <a:solidFill>
                  <a:srgbClr val="1B2430"/>
                </a:solidFill>
              </a:rPr>
              <a:t>AI recommendation: “Take the direct drone route through the pass. It is the fastest and therefore the best option.”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629400" y="1783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2B49"/>
                </a:solidFill>
              </a:rPr>
              <a:t>What should make us pause?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29400" y="2331720"/>
            <a:ext cx="4389120" cy="2651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2000" dirty="0">
                <a:solidFill>
                  <a:srgbClr val="1B2430"/>
                </a:solidFill>
              </a:rPr>
              <a:t>Fastest is not always safest or best.</a:t>
            </a:r>
            <a:endParaRPr lang="en-US" sz="2000" dirty="0"/>
          </a:p>
          <a:p>
            <a:r>
              <a:rPr lang="en-US" sz="2000" dirty="0">
                <a:solidFill>
                  <a:srgbClr val="1B2430"/>
                </a:solidFill>
              </a:rPr>
              <a:t>Weather, battery, terrain, and rules are missing.</a:t>
            </a:r>
            <a:endParaRPr lang="en-US" sz="2000" dirty="0"/>
          </a:p>
          <a:p>
            <a:r>
              <a:rPr lang="en-US" sz="2000" dirty="0">
                <a:solidFill>
                  <a:srgbClr val="1B2430"/>
                </a:solidFill>
              </a:rPr>
              <a:t>“Best” depends on the objective and constraints.</a:t>
            </a:r>
            <a:endParaRPr lang="en-US" sz="2000" dirty="0"/>
          </a:p>
          <a:p>
            <a:r>
              <a:rPr lang="en-US" sz="2000" dirty="0">
                <a:solidFill>
                  <a:srgbClr val="1B2430"/>
                </a:solidFill>
              </a:rPr>
              <a:t>A real system would need verification data.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5376672"/>
            <a:ext cx="10241280" cy="749808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answers often skip the problem formulation step. That is where Lesson 4 begins.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and humans are different tools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The goal is not replacement; it is responsible system design.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3063240" cy="329184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Task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86200" y="1828800"/>
            <a:ext cx="3611880" cy="329184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0" y="1828800"/>
            <a:ext cx="3840480" cy="329184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Human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395728"/>
            <a:ext cx="3063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Pattern recognition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86200" y="2395728"/>
            <a:ext cx="36118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Often strong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98080" y="2395728"/>
            <a:ext cx="38404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Often variable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3072384"/>
            <a:ext cx="3063240" cy="438912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Context understanding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86200" y="3072384"/>
            <a:ext cx="3611880" cy="438912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Often weak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98080" y="3072384"/>
            <a:ext cx="3840480" cy="438912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Often strong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3749040"/>
            <a:ext cx="3063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Consistency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886200" y="3749040"/>
            <a:ext cx="36118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Often strong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98080" y="3749040"/>
            <a:ext cx="38404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Can vary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4425696"/>
            <a:ext cx="3063240" cy="438912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Judgment under stakes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886200" y="4425696"/>
            <a:ext cx="3611880" cy="438912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Needs design + oversight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98080" y="4425696"/>
            <a:ext cx="3840480" cy="438912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Needs training + accountability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4400" y="5623560"/>
            <a:ext cx="10195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62B49"/>
                </a:solidFill>
              </a:rPr>
              <a:t>Discussion: where should we rely on AI, where should we verify, and where should we not automate?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overview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The semester turns AI from a black box into a set of design choices.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62B49"/>
                </a:solidFill>
              </a:rPr>
              <a:t>Represent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657600" y="1874520"/>
            <a:ext cx="777240" cy="0"/>
          </a:xfrm>
          <a:prstGeom prst="line">
            <a:avLst/>
          </a:prstGeom>
          <a:noFill/>
          <a:ln w="3175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70078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B2430"/>
                </a:solidFill>
              </a:rPr>
              <a:t>states, actions, goals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24963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62B49"/>
                </a:solidFill>
              </a:rPr>
              <a:t>Search &amp; decide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657600" y="2679192"/>
            <a:ext cx="777240" cy="0"/>
          </a:xfrm>
          <a:prstGeom prst="line">
            <a:avLst/>
          </a:prstGeom>
          <a:noFill/>
          <a:ln w="3175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250545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B2430"/>
                </a:solidFill>
              </a:rPr>
              <a:t>frontiers, heuristics, games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4400" y="33009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62B49"/>
                </a:solidFill>
              </a:rPr>
              <a:t>Reason under uncertainty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657600" y="3483864"/>
            <a:ext cx="777240" cy="0"/>
          </a:xfrm>
          <a:prstGeom prst="line">
            <a:avLst/>
          </a:prstGeom>
          <a:noFill/>
          <a:ln w="3175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331012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B2430"/>
                </a:solidFill>
              </a:rPr>
              <a:t>probability, Bayes, temporal models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4400" y="410565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62B49"/>
                </a:solidFill>
              </a:rPr>
              <a:t>Learn from data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0" y="4288536"/>
            <a:ext cx="777240" cy="0"/>
          </a:xfrm>
          <a:prstGeom prst="line">
            <a:avLst/>
          </a:prstGeom>
          <a:noFill/>
          <a:ln w="3175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17720" y="411480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B2430"/>
                </a:solidFill>
              </a:rPr>
              <a:t>classifiers, neural networks, deep learning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4400" y="49103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62B49"/>
                </a:solidFill>
              </a:rPr>
              <a:t>Build modern systems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657600" y="5093208"/>
            <a:ext cx="777240" cy="0"/>
          </a:xfrm>
          <a:prstGeom prst="line">
            <a:avLst/>
          </a:prstGeom>
          <a:noFill/>
          <a:ln w="3175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17720" y="491947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B2430"/>
                </a:solidFill>
              </a:rPr>
              <a:t>LLMs, RAG, agents, ethics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234440" y="580644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DB515"/>
                </a:solidFill>
              </a:rPr>
              <a:t>Using AI → Understanding AI → Designing AI</a:t>
            </a:r>
            <a:endParaRPr lang="en-US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What you should leave with today.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L01: Intro to Artificial Intelligence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2B49"/>
                </a:solidFill>
              </a:rPr>
              <a:t>AI is powerful, useful, and imperfect.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Concrete examples matter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639312"/>
            <a:ext cx="2788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AI is best understood by what the system is designed to do.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2971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Strengths and limits travel together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3639312"/>
            <a:ext cx="2788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The same capability can create risk when the context changes.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2971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Evaluation is a skill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3639312"/>
            <a:ext cx="2788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430"/>
                </a:solidFill>
              </a:rPr>
              <a:t>Do not confuse confident output with verified knowledge.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376672"/>
            <a:ext cx="10195560" cy="749808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Next class: Anatomy of AI Systems — what is actually inside an AI system?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1731</Words>
  <Application>Microsoft Office PowerPoint</Application>
  <PresentationFormat>Widescreen</PresentationFormat>
  <Paragraphs>252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Avenir Book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CompSci 471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471 Lesson 1 Intro to Artificial Intelligence</dc:title>
  <dc:subject>Lesson 1: Intro to Artificial Intelligence</dc:subject>
  <dc:creator>CS 471</dc:creator>
  <cp:lastModifiedBy>Phan, Tiffany M Capt USAF USAFA DF/DFCS</cp:lastModifiedBy>
  <cp:revision>1</cp:revision>
  <dcterms:created xsi:type="dcterms:W3CDTF">2026-08-04T20:16:56Z</dcterms:created>
  <dcterms:modified xsi:type="dcterms:W3CDTF">2026-08-04T21:05:15Z</dcterms:modified>
</cp:coreProperties>
</file>